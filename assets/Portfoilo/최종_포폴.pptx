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3" r:id="rId6"/>
    <p:sldId id="304" r:id="rId7"/>
    <p:sldId id="266" r:id="rId8"/>
    <p:sldId id="272" r:id="rId9"/>
    <p:sldId id="268" r:id="rId10"/>
    <p:sldId id="282" r:id="rId11"/>
    <p:sldId id="283" r:id="rId12"/>
    <p:sldId id="288" r:id="rId13"/>
    <p:sldId id="292" r:id="rId14"/>
    <p:sldId id="294" r:id="rId15"/>
    <p:sldId id="295" r:id="rId16"/>
    <p:sldId id="297" r:id="rId17"/>
    <p:sldId id="298" r:id="rId18"/>
    <p:sldId id="299" r:id="rId19"/>
    <p:sldId id="300" r:id="rId20"/>
    <p:sldId id="301" r:id="rId21"/>
    <p:sldId id="302" r:id="rId22"/>
    <p:sldId id="303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404040"/>
    <a:srgbClr val="00CED1"/>
    <a:srgbClr val="008080"/>
    <a:srgbClr val="000099"/>
    <a:srgbClr val="9933FF"/>
    <a:srgbClr val="FFFFCC"/>
    <a:srgbClr val="1A365D"/>
    <a:srgbClr val="0087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022" autoAdjust="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0210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9C586-1201-7E47-922E-653FB0385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179B91-143F-3DE9-3B35-691C9592F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825E38-347B-3425-0AB9-230F5994B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9ECC0-625C-9BFF-B370-F39E10E8F4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21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2428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7780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45347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91868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01810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72494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11706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59276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8673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95153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36911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67384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8423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69393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56914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Relationship Id="rId9" Type="http://schemas.openxmlformats.org/officeDocument/2006/relationships/hyperlink" Target="https://github.com/InfiSword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1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Relationship Id="rId14" Type="http://schemas.openxmlformats.org/officeDocument/2006/relationships/hyperlink" Target="https://www.youtube.com/watch?v=TTdIN2U3gnQ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1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1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33.png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1.png"/><Relationship Id="rId20" Type="http://schemas.openxmlformats.org/officeDocument/2006/relationships/hyperlink" Target="https://www.youtube.com/watch?v=LNJKQiQ8ahs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1.png"/><Relationship Id="rId15" Type="http://schemas.openxmlformats.org/officeDocument/2006/relationships/image" Target="../media/image30.png"/><Relationship Id="rId10" Type="http://schemas.openxmlformats.org/officeDocument/2006/relationships/image" Target="../media/image21.png"/><Relationship Id="rId19" Type="http://schemas.openxmlformats.org/officeDocument/2006/relationships/image" Target="../media/image34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Relationship Id="rId1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gif"/><Relationship Id="rId3" Type="http://schemas.openxmlformats.org/officeDocument/2006/relationships/image" Target="../media/image9.png"/><Relationship Id="rId7" Type="http://schemas.openxmlformats.org/officeDocument/2006/relationships/image" Target="../media/image36.png"/><Relationship Id="rId12" Type="http://schemas.openxmlformats.org/officeDocument/2006/relationships/image" Target="../media/image41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11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25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33.png"/><Relationship Id="rId26" Type="http://schemas.openxmlformats.org/officeDocument/2006/relationships/image" Target="../media/image40.png"/><Relationship Id="rId3" Type="http://schemas.openxmlformats.org/officeDocument/2006/relationships/image" Target="../media/image9.png"/><Relationship Id="rId21" Type="http://schemas.openxmlformats.org/officeDocument/2006/relationships/image" Target="../media/image35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32.png"/><Relationship Id="rId25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1.png"/><Relationship Id="rId20" Type="http://schemas.openxmlformats.org/officeDocument/2006/relationships/hyperlink" Target="https://www.youtube.com/watch?v=OGb1UzntLnI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8.png"/><Relationship Id="rId5" Type="http://schemas.openxmlformats.org/officeDocument/2006/relationships/image" Target="../media/image11.png"/><Relationship Id="rId15" Type="http://schemas.openxmlformats.org/officeDocument/2006/relationships/image" Target="../media/image30.png"/><Relationship Id="rId23" Type="http://schemas.openxmlformats.org/officeDocument/2006/relationships/image" Target="../media/image37.png"/><Relationship Id="rId10" Type="http://schemas.openxmlformats.org/officeDocument/2006/relationships/image" Target="../media/image21.png"/><Relationship Id="rId19" Type="http://schemas.openxmlformats.org/officeDocument/2006/relationships/image" Target="../media/image34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Relationship Id="rId14" Type="http://schemas.openxmlformats.org/officeDocument/2006/relationships/image" Target="../media/image29.png"/><Relationship Id="rId22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6.png"/><Relationship Id="rId3" Type="http://schemas.openxmlformats.org/officeDocument/2006/relationships/image" Target="../media/image9.png"/><Relationship Id="rId7" Type="http://schemas.openxmlformats.org/officeDocument/2006/relationships/image" Target="../media/image36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11.png"/><Relationship Id="rId10" Type="http://schemas.openxmlformats.org/officeDocument/2006/relationships/image" Target="../media/image39.png"/><Relationship Id="rId4" Type="http://schemas.openxmlformats.org/officeDocument/2006/relationships/image" Target="../media/image25.png"/><Relationship Id="rId9" Type="http://schemas.openxmlformats.org/officeDocument/2006/relationships/image" Target="../media/image38.png"/><Relationship Id="rId1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33.png"/><Relationship Id="rId26" Type="http://schemas.openxmlformats.org/officeDocument/2006/relationships/image" Target="../media/image40.png"/><Relationship Id="rId3" Type="http://schemas.openxmlformats.org/officeDocument/2006/relationships/image" Target="../media/image9.png"/><Relationship Id="rId21" Type="http://schemas.openxmlformats.org/officeDocument/2006/relationships/image" Target="../media/image35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32.png"/><Relationship Id="rId25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31.png"/><Relationship Id="rId20" Type="http://schemas.openxmlformats.org/officeDocument/2006/relationships/hyperlink" Target="https://www.youtube.com/watch?v=EWD2YidSgp0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8.png"/><Relationship Id="rId5" Type="http://schemas.openxmlformats.org/officeDocument/2006/relationships/image" Target="../media/image11.png"/><Relationship Id="rId15" Type="http://schemas.openxmlformats.org/officeDocument/2006/relationships/image" Target="../media/image30.png"/><Relationship Id="rId23" Type="http://schemas.openxmlformats.org/officeDocument/2006/relationships/image" Target="../media/image37.png"/><Relationship Id="rId10" Type="http://schemas.openxmlformats.org/officeDocument/2006/relationships/image" Target="../media/image21.png"/><Relationship Id="rId19" Type="http://schemas.openxmlformats.org/officeDocument/2006/relationships/image" Target="../media/image34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Relationship Id="rId14" Type="http://schemas.openxmlformats.org/officeDocument/2006/relationships/image" Target="../media/image29.png"/><Relationship Id="rId22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9.png"/><Relationship Id="rId3" Type="http://schemas.openxmlformats.org/officeDocument/2006/relationships/image" Target="../media/image9.png"/><Relationship Id="rId7" Type="http://schemas.openxmlformats.org/officeDocument/2006/relationships/image" Target="../media/image36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11.png"/><Relationship Id="rId10" Type="http://schemas.openxmlformats.org/officeDocument/2006/relationships/image" Target="../media/image39.png"/><Relationship Id="rId4" Type="http://schemas.openxmlformats.org/officeDocument/2006/relationships/image" Target="../media/image25.png"/><Relationship Id="rId9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51.png"/><Relationship Id="rId3" Type="http://schemas.openxmlformats.org/officeDocument/2006/relationships/image" Target="../media/image9.png"/><Relationship Id="rId7" Type="http://schemas.openxmlformats.org/officeDocument/2006/relationships/image" Target="../media/image36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11.png"/><Relationship Id="rId10" Type="http://schemas.openxmlformats.org/officeDocument/2006/relationships/image" Target="../media/image39.png"/><Relationship Id="rId4" Type="http://schemas.openxmlformats.org/officeDocument/2006/relationships/image" Target="../media/image25.png"/><Relationship Id="rId9" Type="http://schemas.openxmlformats.org/officeDocument/2006/relationships/image" Target="../media/image38.png"/><Relationship Id="rId14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54.png"/><Relationship Id="rId3" Type="http://schemas.openxmlformats.org/officeDocument/2006/relationships/image" Target="../media/image9.png"/><Relationship Id="rId7" Type="http://schemas.openxmlformats.org/officeDocument/2006/relationships/image" Target="../media/image36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11.png"/><Relationship Id="rId15" Type="http://schemas.openxmlformats.org/officeDocument/2006/relationships/image" Target="../media/image56.png"/><Relationship Id="rId10" Type="http://schemas.openxmlformats.org/officeDocument/2006/relationships/image" Target="../media/image39.png"/><Relationship Id="rId4" Type="http://schemas.openxmlformats.org/officeDocument/2006/relationships/image" Target="../media/image25.png"/><Relationship Id="rId9" Type="http://schemas.openxmlformats.org/officeDocument/2006/relationships/image" Target="../media/image38.png"/><Relationship Id="rId1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60.png"/><Relationship Id="rId3" Type="http://schemas.openxmlformats.org/officeDocument/2006/relationships/image" Target="../media/image9.png"/><Relationship Id="rId7" Type="http://schemas.openxmlformats.org/officeDocument/2006/relationships/image" Target="../media/image36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11.png"/><Relationship Id="rId15" Type="http://schemas.openxmlformats.org/officeDocument/2006/relationships/image" Target="../media/image62.png"/><Relationship Id="rId10" Type="http://schemas.openxmlformats.org/officeDocument/2006/relationships/image" Target="../media/image39.png"/><Relationship Id="rId4" Type="http://schemas.openxmlformats.org/officeDocument/2006/relationships/image" Target="../media/image25.png"/><Relationship Id="rId9" Type="http://schemas.openxmlformats.org/officeDocument/2006/relationships/image" Target="../media/image38.png"/><Relationship Id="rId14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33.png"/><Relationship Id="rId26" Type="http://schemas.openxmlformats.org/officeDocument/2006/relationships/image" Target="../media/image65.png"/><Relationship Id="rId3" Type="http://schemas.openxmlformats.org/officeDocument/2006/relationships/image" Target="../media/image9.png"/><Relationship Id="rId21" Type="http://schemas.openxmlformats.org/officeDocument/2006/relationships/image" Target="../media/image36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9.png"/><Relationship Id="rId5" Type="http://schemas.openxmlformats.org/officeDocument/2006/relationships/image" Target="../media/image11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10" Type="http://schemas.openxmlformats.org/officeDocument/2006/relationships/image" Target="../media/image21.png"/><Relationship Id="rId19" Type="http://schemas.openxmlformats.org/officeDocument/2006/relationships/hyperlink" Target="https://www.youtube.com/watch?v=5oXijTkkfQk" TargetMode="External"/><Relationship Id="rId4" Type="http://schemas.openxmlformats.org/officeDocument/2006/relationships/image" Target="../media/image16.png"/><Relationship Id="rId9" Type="http://schemas.openxmlformats.org/officeDocument/2006/relationships/image" Target="../media/image20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33.png"/><Relationship Id="rId26" Type="http://schemas.openxmlformats.org/officeDocument/2006/relationships/image" Target="../media/image66.png"/><Relationship Id="rId3" Type="http://schemas.openxmlformats.org/officeDocument/2006/relationships/image" Target="../media/image9.png"/><Relationship Id="rId21" Type="http://schemas.openxmlformats.org/officeDocument/2006/relationships/image" Target="../media/image36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9.png"/><Relationship Id="rId5" Type="http://schemas.openxmlformats.org/officeDocument/2006/relationships/image" Target="../media/image11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10" Type="http://schemas.openxmlformats.org/officeDocument/2006/relationships/image" Target="../media/image21.png"/><Relationship Id="rId19" Type="http://schemas.openxmlformats.org/officeDocument/2006/relationships/hyperlink" Target="https://verse8.io/c6C4f9v" TargetMode="External"/><Relationship Id="rId4" Type="http://schemas.openxmlformats.org/officeDocument/2006/relationships/image" Target="../media/image16.png"/><Relationship Id="rId9" Type="http://schemas.openxmlformats.org/officeDocument/2006/relationships/image" Target="../media/image20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33.png"/><Relationship Id="rId26" Type="http://schemas.openxmlformats.org/officeDocument/2006/relationships/image" Target="../media/image66.png"/><Relationship Id="rId3" Type="http://schemas.openxmlformats.org/officeDocument/2006/relationships/image" Target="../media/image9.png"/><Relationship Id="rId21" Type="http://schemas.openxmlformats.org/officeDocument/2006/relationships/image" Target="../media/image36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9.png"/><Relationship Id="rId5" Type="http://schemas.openxmlformats.org/officeDocument/2006/relationships/image" Target="../media/image11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10" Type="http://schemas.openxmlformats.org/officeDocument/2006/relationships/image" Target="../media/image21.png"/><Relationship Id="rId19" Type="http://schemas.openxmlformats.org/officeDocument/2006/relationships/hyperlink" Target="https://www.youtube.com/watch?v=83lMfQY1Rwo" TargetMode="External"/><Relationship Id="rId4" Type="http://schemas.openxmlformats.org/officeDocument/2006/relationships/image" Target="../media/image16.png"/><Relationship Id="rId9" Type="http://schemas.openxmlformats.org/officeDocument/2006/relationships/image" Target="../media/image20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Relationship Id="rId27" Type="http://schemas.openxmlformats.org/officeDocument/2006/relationships/image" Target="../media/image6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33.png"/><Relationship Id="rId26" Type="http://schemas.openxmlformats.org/officeDocument/2006/relationships/image" Target="../media/image68.png"/><Relationship Id="rId3" Type="http://schemas.openxmlformats.org/officeDocument/2006/relationships/image" Target="../media/image9.png"/><Relationship Id="rId21" Type="http://schemas.openxmlformats.org/officeDocument/2006/relationships/image" Target="../media/image36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9.png"/><Relationship Id="rId5" Type="http://schemas.openxmlformats.org/officeDocument/2006/relationships/image" Target="../media/image11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10" Type="http://schemas.openxmlformats.org/officeDocument/2006/relationships/image" Target="../media/image21.png"/><Relationship Id="rId19" Type="http://schemas.openxmlformats.org/officeDocument/2006/relationships/hyperlink" Target="https://www.youtube.com/watch?v=iz2g9ujFx-A" TargetMode="External"/><Relationship Id="rId4" Type="http://schemas.openxmlformats.org/officeDocument/2006/relationships/image" Target="../media/image16.png"/><Relationship Id="rId9" Type="http://schemas.openxmlformats.org/officeDocument/2006/relationships/image" Target="../media/image20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33.png"/><Relationship Id="rId26" Type="http://schemas.openxmlformats.org/officeDocument/2006/relationships/image" Target="../media/image69.png"/><Relationship Id="rId3" Type="http://schemas.openxmlformats.org/officeDocument/2006/relationships/image" Target="../media/image9.png"/><Relationship Id="rId21" Type="http://schemas.openxmlformats.org/officeDocument/2006/relationships/image" Target="../media/image36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9.png"/><Relationship Id="rId5" Type="http://schemas.openxmlformats.org/officeDocument/2006/relationships/image" Target="../media/image11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10" Type="http://schemas.openxmlformats.org/officeDocument/2006/relationships/image" Target="../media/image21.png"/><Relationship Id="rId19" Type="http://schemas.openxmlformats.org/officeDocument/2006/relationships/hyperlink" Target="https://www.youtube.com/shorts/Z-IKELImAMo" TargetMode="External"/><Relationship Id="rId4" Type="http://schemas.openxmlformats.org/officeDocument/2006/relationships/image" Target="../media/image16.png"/><Relationship Id="rId9" Type="http://schemas.openxmlformats.org/officeDocument/2006/relationships/image" Target="../media/image20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33.png"/><Relationship Id="rId26" Type="http://schemas.openxmlformats.org/officeDocument/2006/relationships/image" Target="../media/image70.png"/><Relationship Id="rId3" Type="http://schemas.openxmlformats.org/officeDocument/2006/relationships/image" Target="../media/image9.png"/><Relationship Id="rId21" Type="http://schemas.openxmlformats.org/officeDocument/2006/relationships/image" Target="../media/image36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9.png"/><Relationship Id="rId5" Type="http://schemas.openxmlformats.org/officeDocument/2006/relationships/image" Target="../media/image11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10" Type="http://schemas.openxmlformats.org/officeDocument/2006/relationships/image" Target="../media/image21.png"/><Relationship Id="rId19" Type="http://schemas.openxmlformats.org/officeDocument/2006/relationships/hyperlink" Target="https://www.youtube.com/watch?v=XoW4OQZUVJs" TargetMode="External"/><Relationship Id="rId4" Type="http://schemas.openxmlformats.org/officeDocument/2006/relationships/image" Target="../media/image16.png"/><Relationship Id="rId9" Type="http://schemas.openxmlformats.org/officeDocument/2006/relationships/image" Target="../media/image20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1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gradFill flip="none" rotWithShape="1">
            <a:gsLst>
              <a:gs pos="100000">
                <a:srgbClr val="4472C4"/>
              </a:gs>
              <a:gs pos="0">
                <a:schemeClr val="accent5"/>
              </a:gs>
              <a:gs pos="0">
                <a:srgbClr val="85A3D8"/>
              </a:gs>
              <a:gs pos="21000">
                <a:schemeClr val="accent1"/>
              </a:gs>
              <a:gs pos="100000">
                <a:schemeClr val="accent1"/>
              </a:gs>
            </a:gsLst>
            <a:lin ang="3600000" scaled="0"/>
            <a:tileRect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429000"/>
            <a:ext cx="12191695" cy="2286000"/>
          </a:xfrm>
          <a:prstGeom prst="rect">
            <a:avLst/>
          </a:prstGeom>
          <a:gradFill flip="none" rotWithShape="1">
            <a:gsLst>
              <a:gs pos="73000">
                <a:srgbClr val="002060"/>
              </a:gs>
              <a:gs pos="0">
                <a:schemeClr val="accent1"/>
              </a:gs>
            </a:gsLst>
            <a:lin ang="5400000" scaled="0"/>
            <a:tileRect/>
          </a:gradFill>
          <a:ln w="12700">
            <a:noFill/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91695" cy="1143000"/>
          </a:xfrm>
          <a:prstGeom prst="rect">
            <a:avLst/>
          </a:prstGeom>
          <a:solidFill>
            <a:srgbClr val="001F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gen-dedup-c0ef265bbe70951592467ef7aeb8d3f8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6086246" y="952805"/>
            <a:ext cx="19202" cy="4762195"/>
          </a:xfrm>
          <a:prstGeom prst="rect">
            <a:avLst/>
          </a:prstGeom>
        </p:spPr>
      </p:pic>
      <p:pic>
        <p:nvPicPr>
          <p:cNvPr id="8" name="Image 1" descr="gen-dedup-98bd865fe2df6b904ed24c2fe6c0f034.png"/>
          <p:cNvPicPr>
            <a:picLocks noChangeAspect="1"/>
          </p:cNvPicPr>
          <p:nvPr/>
        </p:nvPicPr>
        <p:blipFill>
          <a:blip r:embed="rId4"/>
          <a:srcRect l="-13" r="-13"/>
          <a:stretch/>
        </p:blipFill>
        <p:spPr>
          <a:xfrm>
            <a:off x="6476695" y="2667305"/>
            <a:ext cx="5181905" cy="1561795"/>
          </a:xfrm>
          <a:prstGeom prst="rect">
            <a:avLst/>
          </a:prstGeom>
        </p:spPr>
      </p:pic>
      <p:pic>
        <p:nvPicPr>
          <p:cNvPr id="9" name="Image 2" descr="gen-dedup-73525ef31dc5ad2f8798d310a672c1a9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0" y="5715000"/>
            <a:ext cx="12191695" cy="1920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667805" y="2857500"/>
            <a:ext cx="847649" cy="1181405"/>
          </a:xfrm>
          <a:prstGeom prst="roundRect">
            <a:avLst>
              <a:gd name="adj" fmla="val 19393"/>
            </a:avLst>
          </a:prstGeom>
          <a:solidFill>
            <a:srgbClr val="4A90E2"/>
          </a:solidFill>
          <a:ln w="25400">
            <a:solidFill>
              <a:srgbClr val="FFE66D"/>
            </a:solidFill>
            <a:prstDash val="solid"/>
          </a:ln>
        </p:spPr>
      </p:sp>
      <p:pic>
        <p:nvPicPr>
          <p:cNvPr id="11" name="Image 3" descr="gen-dedup-6ca4ce2c60311e3849bdfe56cd137382.png"/>
          <p:cNvPicPr>
            <a:picLocks noChangeAspect="1"/>
          </p:cNvPicPr>
          <p:nvPr/>
        </p:nvPicPr>
        <p:blipFill>
          <a:blip r:embed="rId6"/>
          <a:srcRect l="-34" r="-34"/>
          <a:stretch/>
        </p:blipFill>
        <p:spPr>
          <a:xfrm>
            <a:off x="7619695" y="3666744"/>
            <a:ext cx="2115007" cy="323698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810598" y="366674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2BB24C"/>
          </a:solidFill>
          <a:ln w="25400">
            <a:solidFill>
              <a:srgbClr val="8FE99F"/>
            </a:solidFill>
            <a:prstDash val="solid"/>
          </a:ln>
        </p:spPr>
      </p:sp>
      <p:pic>
        <p:nvPicPr>
          <p:cNvPr id="13" name="Image 4" descr="gen-dedup-d1120f5f5c0cf9f3138152ba4121a1a7.png"/>
          <p:cNvPicPr>
            <a:picLocks noChangeAspect="1"/>
          </p:cNvPicPr>
          <p:nvPr/>
        </p:nvPicPr>
        <p:blipFill>
          <a:blip r:embed="rId7"/>
          <a:srcRect t="-113" b="-113"/>
          <a:stretch/>
        </p:blipFill>
        <p:spPr>
          <a:xfrm>
            <a:off x="9829800" y="3685946"/>
            <a:ext cx="342900" cy="15453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10239451" y="3666744"/>
            <a:ext cx="381305" cy="381305"/>
          </a:xfrm>
          <a:prstGeom prst="ellipse">
            <a:avLst/>
          </a:prstGeom>
          <a:solidFill>
            <a:srgbClr val="2E5C8C"/>
          </a:solidFill>
          <a:ln w="25400">
            <a:solidFill>
              <a:srgbClr val="8FAED4"/>
            </a:solidFill>
            <a:prstDash val="solid"/>
          </a:ln>
        </p:spPr>
      </p:sp>
      <p:pic>
        <p:nvPicPr>
          <p:cNvPr id="15" name="Image 5" descr="gen-dedup-8d320f6b30d291393fafdd2a731fa9c9.png"/>
          <p:cNvPicPr>
            <a:picLocks noChangeAspect="1"/>
          </p:cNvPicPr>
          <p:nvPr/>
        </p:nvPicPr>
        <p:blipFill>
          <a:blip r:embed="rId8"/>
          <a:srcRect t="-113" b="-113"/>
          <a:stretch/>
        </p:blipFill>
        <p:spPr>
          <a:xfrm>
            <a:off x="10258654" y="3685946"/>
            <a:ext cx="342900" cy="154534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951889" y="2347265"/>
            <a:ext cx="4763110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6600" b="1" i="1" dirty="0" err="1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클라이언트</a:t>
            </a:r>
            <a:r>
              <a:rPr lang="en-US" altLang="ko-KR" sz="6600" b="1" i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6600" b="1" i="1" dirty="0" err="1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개발자</a:t>
            </a:r>
            <a:r>
              <a:rPr lang="en-US" altLang="ko-KR" sz="6600" b="1" i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altLang="ko-KR" sz="6600" b="1" i="1" dirty="0" err="1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기술</a:t>
            </a:r>
            <a:r>
              <a:rPr lang="en-US" altLang="ko-KR" sz="6600" b="1" i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6600" b="1" i="1" dirty="0" err="1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설명서</a:t>
            </a:r>
            <a:endParaRPr lang="en-US" altLang="ko-KR" sz="6600" i="1" dirty="0"/>
          </a:p>
        </p:txBody>
      </p:sp>
      <p:sp>
        <p:nvSpPr>
          <p:cNvPr id="20" name="Text 11"/>
          <p:cNvSpPr txBox="1"/>
          <p:nvPr/>
        </p:nvSpPr>
        <p:spPr>
          <a:xfrm>
            <a:off x="715975" y="4476902"/>
            <a:ext cx="52358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Click on your user name to begin</a:t>
            </a:r>
            <a:endParaRPr lang="en-US" sz="2100" dirty="0"/>
          </a:p>
        </p:txBody>
      </p:sp>
      <p:pic>
        <p:nvPicPr>
          <p:cNvPr id="21" name="Image 7" descr="gen-dedup-e169e92560a8b41f2f4c8d7b8fb9a799.png"/>
          <p:cNvPicPr>
            <a:picLocks noChangeAspect="1"/>
          </p:cNvPicPr>
          <p:nvPr/>
        </p:nvPicPr>
        <p:blipFill>
          <a:blip r:embed="rId9"/>
          <a:srcRect t="-12500" b="-12500"/>
          <a:stretch/>
        </p:blipFill>
        <p:spPr>
          <a:xfrm>
            <a:off x="6829654" y="3191256"/>
            <a:ext cx="476402" cy="476402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7619695" y="2952598"/>
            <a:ext cx="38103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8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User </a:t>
            </a:r>
            <a:r>
              <a:rPr lang="ko-KR" alt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이민혁</a:t>
            </a:r>
            <a:endParaRPr lang="en-US" sz="1800" dirty="0"/>
          </a:p>
        </p:txBody>
      </p:sp>
      <p:sp>
        <p:nvSpPr>
          <p:cNvPr id="23" name="Text 13"/>
          <p:cNvSpPr txBox="1"/>
          <p:nvPr/>
        </p:nvSpPr>
        <p:spPr>
          <a:xfrm>
            <a:off x="7619695" y="3286354"/>
            <a:ext cx="3810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Type your password</a:t>
            </a:r>
            <a:endParaRPr lang="en-US" sz="1100" dirty="0"/>
          </a:p>
        </p:txBody>
      </p:sp>
      <p:sp>
        <p:nvSpPr>
          <p:cNvPr id="24" name="Text 14"/>
          <p:cNvSpPr txBox="1"/>
          <p:nvPr/>
        </p:nvSpPr>
        <p:spPr>
          <a:xfrm>
            <a:off x="9887407" y="3666744"/>
            <a:ext cx="1911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Text 15"/>
          <p:cNvSpPr txBox="1"/>
          <p:nvPr/>
        </p:nvSpPr>
        <p:spPr>
          <a:xfrm>
            <a:off x="10355580" y="3666744"/>
            <a:ext cx="1106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26" name="Shape 16"/>
          <p:cNvSpPr/>
          <p:nvPr/>
        </p:nvSpPr>
        <p:spPr>
          <a:xfrm>
            <a:off x="381305" y="6191402"/>
            <a:ext cx="371246" cy="371246"/>
          </a:xfrm>
          <a:prstGeom prst="roundRect">
            <a:avLst>
              <a:gd name="adj" fmla="val 50524"/>
            </a:avLst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857707" y="6191402"/>
            <a:ext cx="2857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Turn off computer</a:t>
            </a:r>
            <a:endParaRPr lang="en-US" sz="2100" dirty="0"/>
          </a:p>
        </p:txBody>
      </p:sp>
      <p:sp>
        <p:nvSpPr>
          <p:cNvPr id="28" name="Text 18"/>
          <p:cNvSpPr txBox="1"/>
          <p:nvPr/>
        </p:nvSpPr>
        <p:spPr>
          <a:xfrm>
            <a:off x="6964985" y="6238951"/>
            <a:ext cx="484632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To add or change accounts go to Control Panel.</a:t>
            </a:r>
            <a:endParaRPr lang="en-US" sz="1300" dirty="0"/>
          </a:p>
        </p:txBody>
      </p:sp>
      <p:pic>
        <p:nvPicPr>
          <p:cNvPr id="29" name="Image 8" descr="gen-dedup-5ebd9a00e1386868d242c14024761457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57200" y="6267298"/>
            <a:ext cx="190195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76695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CCDE8001-AC68-260E-FEF2-A6613A1C91D7}"/>
              </a:ext>
            </a:extLst>
          </p:cNvPr>
          <p:cNvGrpSpPr/>
          <p:nvPr/>
        </p:nvGrpSpPr>
        <p:grpSpPr>
          <a:xfrm>
            <a:off x="267005" y="180000"/>
            <a:ext cx="11702995" cy="6120000"/>
            <a:chOff x="1080000" y="180000"/>
            <a:chExt cx="10890000" cy="6120000"/>
          </a:xfrm>
        </p:grpSpPr>
        <p:sp>
          <p:nvSpPr>
            <p:cNvPr id="18" name="Shape 10"/>
            <p:cNvSpPr/>
            <p:nvPr/>
          </p:nvSpPr>
          <p:spPr>
            <a:xfrm>
              <a:off x="1080000" y="180000"/>
              <a:ext cx="10890000" cy="6120000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FFFFFF"/>
              </a:solidFill>
              <a:prstDash val="solid"/>
            </a:ln>
          </p:spPr>
        </p: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7F268399-27B6-44B2-8D2A-372851F3ADFC}"/>
                </a:ext>
              </a:extLst>
            </p:cNvPr>
            <p:cNvGrpSpPr/>
            <p:nvPr/>
          </p:nvGrpSpPr>
          <p:grpSpPr>
            <a:xfrm>
              <a:off x="1105052" y="203759"/>
              <a:ext cx="10850400" cy="295200"/>
              <a:chOff x="1105052" y="203759"/>
              <a:chExt cx="10850400" cy="295200"/>
            </a:xfrm>
          </p:grpSpPr>
          <p:sp>
            <p:nvSpPr>
              <p:cNvPr id="19" name="Shape 11"/>
              <p:cNvSpPr/>
              <p:nvPr/>
            </p:nvSpPr>
            <p:spPr>
              <a:xfrm>
                <a:off x="1105052" y="203759"/>
                <a:ext cx="10850400" cy="295200"/>
              </a:xfrm>
              <a:prstGeom prst="rect">
                <a:avLst/>
              </a:prstGeom>
              <a:solidFill>
                <a:srgbClr val="00008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22" name="Text 14"/>
              <p:cNvSpPr txBox="1"/>
              <p:nvPr/>
            </p:nvSpPr>
            <p:spPr>
              <a:xfrm>
                <a:off x="1205658" y="232945"/>
                <a:ext cx="739872" cy="239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itchFamily="34" charset="-122"/>
                    <a:cs typeface="Arial" pitchFamily="34" charset="-120"/>
                  </a:rPr>
                  <a:t>목차.exe</a:t>
                </a:r>
                <a:endParaRPr lang="en-US" sz="1000" dirty="0"/>
              </a:p>
            </p:txBody>
          </p:sp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F2D39373-D404-3D66-1038-CD9FDA3BAC19}"/>
                  </a:ext>
                </a:extLst>
              </p:cNvPr>
              <p:cNvGrpSpPr/>
              <p:nvPr/>
            </p:nvGrpSpPr>
            <p:grpSpPr>
              <a:xfrm>
                <a:off x="11612689" y="221842"/>
                <a:ext cx="252000" cy="252000"/>
                <a:chOff x="10723458" y="309037"/>
                <a:chExt cx="252000" cy="252000"/>
              </a:xfrm>
            </p:grpSpPr>
            <p:sp>
              <p:nvSpPr>
                <p:cNvPr id="21" name="Shape 13"/>
                <p:cNvSpPr/>
                <p:nvPr/>
              </p:nvSpPr>
              <p:spPr>
                <a:xfrm>
                  <a:off x="10723458" y="309037"/>
                  <a:ext cx="252000" cy="252000"/>
                </a:xfrm>
                <a:prstGeom prst="rect">
                  <a:avLst/>
                </a:prstGeom>
                <a:solidFill>
                  <a:srgbClr val="C0C0C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</p:sp>
            <p:sp>
              <p:nvSpPr>
                <p:cNvPr id="23" name="Text 15"/>
                <p:cNvSpPr txBox="1"/>
                <p:nvPr/>
              </p:nvSpPr>
              <p:spPr>
                <a:xfrm>
                  <a:off x="10802210" y="351349"/>
                  <a:ext cx="94495" cy="167375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900" b="1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Arial" pitchFamily="34" charset="-122"/>
                      <a:cs typeface="Arial" pitchFamily="34" charset="-120"/>
                    </a:rPr>
                    <a:t>X</a:t>
                  </a:r>
                  <a:endParaRPr lang="en-US" sz="900" dirty="0"/>
                </a:p>
              </p:txBody>
            </p:sp>
          </p:grpSp>
        </p:grp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30CD012F-74B0-464F-15F0-FB0BC4CA03AC}"/>
                </a:ext>
              </a:extLst>
            </p:cNvPr>
            <p:cNvGrpSpPr/>
            <p:nvPr/>
          </p:nvGrpSpPr>
          <p:grpSpPr>
            <a:xfrm>
              <a:off x="1205657" y="583200"/>
              <a:ext cx="10656000" cy="5544000"/>
              <a:chOff x="1205657" y="583200"/>
              <a:chExt cx="10656000" cy="5544000"/>
            </a:xfrm>
          </p:grpSpPr>
          <p:sp>
            <p:nvSpPr>
              <p:cNvPr id="20" name="Shape 12"/>
              <p:cNvSpPr/>
              <p:nvPr/>
            </p:nvSpPr>
            <p:spPr>
              <a:xfrm>
                <a:off x="1205657" y="583200"/>
                <a:ext cx="10656000" cy="5544000"/>
              </a:xfrm>
              <a:prstGeom prst="rect">
                <a:avLst/>
              </a:prstGeom>
              <a:solidFill>
                <a:srgbClr val="1E6FBD"/>
              </a:solidFill>
              <a:ln w="25400">
                <a:solidFill>
                  <a:srgbClr val="808080"/>
                </a:solidFill>
                <a:prstDash val="solid"/>
              </a:ln>
            </p:spPr>
          </p:sp>
          <p:sp>
            <p:nvSpPr>
              <p:cNvPr id="24" name="Text 16"/>
              <p:cNvSpPr txBox="1"/>
              <p:nvPr/>
            </p:nvSpPr>
            <p:spPr>
              <a:xfrm>
                <a:off x="1205658" y="736559"/>
                <a:ext cx="10639690" cy="534125"/>
              </a:xfrm>
              <a:prstGeom prst="rect">
                <a:avLst/>
              </a:prstGeom>
              <a:solidFill>
                <a:srgbClr val="0087C5"/>
              </a:solidFill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3600" b="1" dirty="0">
                    <a:solidFill>
                      <a:srgbClr val="E0E0FF"/>
                    </a:solidFill>
                    <a:latin typeface="Nanum Gothic Coding" pitchFamily="34" charset="0"/>
                    <a:ea typeface="Nanum Gothic Coding" pitchFamily="34" charset="-122"/>
                    <a:cs typeface="Nanum Gothic Coding" pitchFamily="34" charset="-120"/>
                  </a:rPr>
                  <a:t>목차</a:t>
                </a:r>
                <a:endParaRPr lang="en-US" sz="3600" dirty="0"/>
              </a:p>
            </p:txBody>
          </p:sp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C308D309-954B-DFA0-BA58-B795B331E7CC}"/>
                  </a:ext>
                </a:extLst>
              </p:cNvPr>
              <p:cNvGrpSpPr/>
              <p:nvPr/>
            </p:nvGrpSpPr>
            <p:grpSpPr>
              <a:xfrm>
                <a:off x="1708289" y="1424061"/>
                <a:ext cx="9634429" cy="4274064"/>
                <a:chOff x="1708289" y="1424061"/>
                <a:chExt cx="9634429" cy="4274064"/>
              </a:xfrm>
            </p:grpSpPr>
            <p:sp>
              <p:nvSpPr>
                <p:cNvPr id="25" name="Text 17"/>
                <p:cNvSpPr txBox="1"/>
                <p:nvPr/>
              </p:nvSpPr>
              <p:spPr>
                <a:xfrm>
                  <a:off x="1708289" y="1424061"/>
                  <a:ext cx="1238797" cy="323679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8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0. 프로필</a:t>
                  </a:r>
                  <a:endParaRPr lang="en-US" sz="1800" dirty="0"/>
                </a:p>
              </p:txBody>
            </p:sp>
            <p:grpSp>
              <p:nvGrpSpPr>
                <p:cNvPr id="55" name="그룹 54">
                  <a:extLst>
                    <a:ext uri="{FF2B5EF4-FFF2-40B4-BE49-F238E27FC236}">
                      <a16:creationId xmlns:a16="http://schemas.microsoft.com/office/drawing/2014/main" id="{A8C4B8DA-D393-451A-3EAF-1997AB566D21}"/>
                    </a:ext>
                  </a:extLst>
                </p:cNvPr>
                <p:cNvGrpSpPr/>
                <p:nvPr/>
              </p:nvGrpSpPr>
              <p:grpSpPr>
                <a:xfrm>
                  <a:off x="1708289" y="2036168"/>
                  <a:ext cx="9634429" cy="554421"/>
                  <a:chOff x="1708289" y="2036168"/>
                  <a:chExt cx="9634429" cy="554421"/>
                </a:xfrm>
              </p:grpSpPr>
              <p:sp>
                <p:nvSpPr>
                  <p:cNvPr id="26" name="Text 18"/>
                  <p:cNvSpPr txBox="1"/>
                  <p:nvPr/>
                </p:nvSpPr>
                <p:spPr>
                  <a:xfrm>
                    <a:off x="1708289" y="2036168"/>
                    <a:ext cx="9634429" cy="323679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800" dirty="0">
                        <a:solidFill>
                          <a:srgbClr val="FFFFFF"/>
                        </a:solidFill>
                        <a:latin typeface="Nanum Gothic Coding" pitchFamily="34" charset="0"/>
                        <a:ea typeface="Nanum Gothic Coding" pitchFamily="34" charset="-122"/>
                        <a:cs typeface="Nanum Gothic Coding" pitchFamily="34" charset="-120"/>
                      </a:rPr>
                      <a:t>1. WinAPI Don't Starve 모작</a:t>
                    </a:r>
                    <a:endParaRPr lang="en-US" sz="1800" dirty="0"/>
                  </a:p>
                </p:txBody>
              </p:sp>
              <p:sp>
                <p:nvSpPr>
                  <p:cNvPr id="27" name="Text 19"/>
                  <p:cNvSpPr txBox="1"/>
                  <p:nvPr/>
                </p:nvSpPr>
                <p:spPr>
                  <a:xfrm>
                    <a:off x="1708289" y="2412191"/>
                    <a:ext cx="9634429" cy="17839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200" dirty="0">
                        <a:solidFill>
                          <a:srgbClr val="E0E0FF"/>
                        </a:solidFill>
                        <a:latin typeface="Nanum Gothic Coding" pitchFamily="34" charset="0"/>
                        <a:ea typeface="Nanum Gothic Coding" pitchFamily="34" charset="-122"/>
                        <a:cs typeface="Nanum Gothic Coding" pitchFamily="34" charset="-120"/>
                      </a:rPr>
                      <a:t>[C++, WinAPI] – </a:t>
                    </a:r>
                    <a:r>
                      <a:rPr lang="ko-KR" altLang="en-US" sz="1200" dirty="0">
                        <a:solidFill>
                          <a:srgbClr val="E0E0FF"/>
                        </a:solidFill>
                        <a:latin typeface="Nanum Gothic Coding" pitchFamily="34" charset="0"/>
                        <a:ea typeface="Nanum Gothic Coding" pitchFamily="34" charset="-122"/>
                        <a:cs typeface="Nanum Gothic Coding" pitchFamily="34" charset="-120"/>
                      </a:rPr>
                      <a:t>오브젝트 순회 </a:t>
                    </a:r>
                    <a:r>
                      <a:rPr lang="en-US" sz="1200" dirty="0" err="1">
                        <a:solidFill>
                          <a:srgbClr val="E0E0FF"/>
                        </a:solidFill>
                        <a:latin typeface="Nanum Gothic Coding" pitchFamily="34" charset="0"/>
                        <a:ea typeface="Nanum Gothic Coding" pitchFamily="34" charset="-122"/>
                        <a:cs typeface="Nanum Gothic Coding" pitchFamily="34" charset="-120"/>
                      </a:rPr>
                      <a:t>이슈</a:t>
                    </a:r>
                    <a:r>
                      <a:rPr lang="en-US" sz="1200" dirty="0">
                        <a:solidFill>
                          <a:srgbClr val="E0E0FF"/>
                        </a:solidFill>
                        <a:latin typeface="Nanum Gothic Coding" pitchFamily="34" charset="0"/>
                        <a:ea typeface="Nanum Gothic Coding" pitchFamily="34" charset="-122"/>
                        <a:cs typeface="Nanum Gothic Coding" pitchFamily="34" charset="-120"/>
                      </a:rPr>
                      <a:t> </a:t>
                    </a:r>
                    <a:r>
                      <a:rPr lang="en-US" sz="1200" dirty="0" err="1">
                        <a:solidFill>
                          <a:srgbClr val="E0E0FF"/>
                        </a:solidFill>
                        <a:latin typeface="Nanum Gothic Coding" pitchFamily="34" charset="0"/>
                        <a:ea typeface="Nanum Gothic Coding" pitchFamily="34" charset="-122"/>
                        <a:cs typeface="Nanum Gothic Coding" pitchFamily="34" charset="-120"/>
                      </a:rPr>
                      <a:t>해결</a:t>
                    </a:r>
                    <a:endParaRPr lang="en-US" sz="1200" dirty="0"/>
                  </a:p>
                </p:txBody>
              </p:sp>
            </p:grpSp>
            <p:grpSp>
              <p:nvGrpSpPr>
                <p:cNvPr id="56" name="그룹 55">
                  <a:extLst>
                    <a:ext uri="{FF2B5EF4-FFF2-40B4-BE49-F238E27FC236}">
                      <a16:creationId xmlns:a16="http://schemas.microsoft.com/office/drawing/2014/main" id="{D4827405-FC76-2647-C016-13D88A3C0152}"/>
                    </a:ext>
                  </a:extLst>
                </p:cNvPr>
                <p:cNvGrpSpPr/>
                <p:nvPr/>
              </p:nvGrpSpPr>
              <p:grpSpPr>
                <a:xfrm>
                  <a:off x="1708289" y="2870469"/>
                  <a:ext cx="9634429" cy="554422"/>
                  <a:chOff x="1708289" y="2870469"/>
                  <a:chExt cx="9634429" cy="554422"/>
                </a:xfrm>
              </p:grpSpPr>
              <p:sp>
                <p:nvSpPr>
                  <p:cNvPr id="28" name="Text 20"/>
                  <p:cNvSpPr txBox="1"/>
                  <p:nvPr/>
                </p:nvSpPr>
                <p:spPr>
                  <a:xfrm>
                    <a:off x="1708289" y="2870469"/>
                    <a:ext cx="9634429" cy="323679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800" dirty="0">
                        <a:solidFill>
                          <a:srgbClr val="FFFFFF"/>
                        </a:solidFill>
                        <a:latin typeface="Nanum Gothic Coding" pitchFamily="34" charset="0"/>
                        <a:ea typeface="Nanum Gothic Coding" pitchFamily="34" charset="-122"/>
                        <a:cs typeface="Nanum Gothic Coding" pitchFamily="34" charset="-120"/>
                      </a:rPr>
                      <a:t>2. File Tower Defence</a:t>
                    </a:r>
                    <a:endParaRPr lang="en-US" sz="1800" dirty="0"/>
                  </a:p>
                </p:txBody>
              </p:sp>
              <p:sp>
                <p:nvSpPr>
                  <p:cNvPr id="29" name="Text 21"/>
                  <p:cNvSpPr txBox="1"/>
                  <p:nvPr/>
                </p:nvSpPr>
                <p:spPr>
                  <a:xfrm>
                    <a:off x="1708289" y="3246493"/>
                    <a:ext cx="9634429" cy="17839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200" dirty="0">
                        <a:solidFill>
                          <a:srgbClr val="E0E0FF"/>
                        </a:solidFill>
                        <a:latin typeface="Nanum Gothic Coding" pitchFamily="34" charset="0"/>
                        <a:ea typeface="Nanum Gothic Coding" pitchFamily="34" charset="-122"/>
                        <a:cs typeface="Nanum Gothic Coding" pitchFamily="34" charset="-120"/>
                      </a:rPr>
                      <a:t>[C#, Unity] - 좌표계 변환 이슈 해결, 유닛 이벤트 처리</a:t>
                    </a:r>
                    <a:endParaRPr lang="en-US" sz="1200" dirty="0"/>
                  </a:p>
                </p:txBody>
              </p:sp>
            </p:grpSp>
            <p:grpSp>
              <p:nvGrpSpPr>
                <p:cNvPr id="57" name="그룹 56">
                  <a:extLst>
                    <a:ext uri="{FF2B5EF4-FFF2-40B4-BE49-F238E27FC236}">
                      <a16:creationId xmlns:a16="http://schemas.microsoft.com/office/drawing/2014/main" id="{B74044F1-F035-40A4-1F70-6CBF26B45114}"/>
                    </a:ext>
                  </a:extLst>
                </p:cNvPr>
                <p:cNvGrpSpPr/>
                <p:nvPr/>
              </p:nvGrpSpPr>
              <p:grpSpPr>
                <a:xfrm>
                  <a:off x="1708289" y="3705842"/>
                  <a:ext cx="9634429" cy="554422"/>
                  <a:chOff x="1708289" y="3705842"/>
                  <a:chExt cx="9634429" cy="554422"/>
                </a:xfrm>
              </p:grpSpPr>
              <p:sp>
                <p:nvSpPr>
                  <p:cNvPr id="30" name="Text 22"/>
                  <p:cNvSpPr txBox="1"/>
                  <p:nvPr/>
                </p:nvSpPr>
                <p:spPr>
                  <a:xfrm>
                    <a:off x="1708289" y="3705842"/>
                    <a:ext cx="9634429" cy="323679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800" dirty="0">
                        <a:solidFill>
                          <a:srgbClr val="FFFFFF"/>
                        </a:solidFill>
                        <a:latin typeface="Nanum Gothic Coding" pitchFamily="34" charset="0"/>
                        <a:ea typeface="Nanum Gothic Coding" pitchFamily="34" charset="-122"/>
                        <a:cs typeface="Nanum Gothic Coding" pitchFamily="34" charset="-120"/>
                      </a:rPr>
                      <a:t>3. Car Racing Simulation</a:t>
                    </a:r>
                    <a:endParaRPr lang="en-US" sz="1800" dirty="0"/>
                  </a:p>
                </p:txBody>
              </p:sp>
              <p:sp>
                <p:nvSpPr>
                  <p:cNvPr id="31" name="Text 23"/>
                  <p:cNvSpPr txBox="1"/>
                  <p:nvPr/>
                </p:nvSpPr>
                <p:spPr>
                  <a:xfrm>
                    <a:off x="1708289" y="4081866"/>
                    <a:ext cx="9634429" cy="17839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200" dirty="0">
                        <a:solidFill>
                          <a:srgbClr val="E0E0FF"/>
                        </a:solidFill>
                        <a:latin typeface="Nanum Gothic Coding" pitchFamily="34" charset="0"/>
                        <a:ea typeface="Nanum Gothic Coding" pitchFamily="34" charset="-122"/>
                        <a:cs typeface="Nanum Gothic Coding" pitchFamily="34" charset="-120"/>
                      </a:rPr>
                      <a:t>[C#, Unity, ML-Agent] - 학습환경 및 보상 로직 설계, 역주행 이슈 해결</a:t>
                    </a:r>
                    <a:endParaRPr lang="en-US" sz="1200" dirty="0"/>
                  </a:p>
                </p:txBody>
              </p:sp>
            </p:grpSp>
            <p:grpSp>
              <p:nvGrpSpPr>
                <p:cNvPr id="58" name="그룹 57">
                  <a:extLst>
                    <a:ext uri="{FF2B5EF4-FFF2-40B4-BE49-F238E27FC236}">
                      <a16:creationId xmlns:a16="http://schemas.microsoft.com/office/drawing/2014/main" id="{E85D0D7D-7974-DE2C-724E-7AE7785E9E4E}"/>
                    </a:ext>
                  </a:extLst>
                </p:cNvPr>
                <p:cNvGrpSpPr/>
                <p:nvPr/>
              </p:nvGrpSpPr>
              <p:grpSpPr>
                <a:xfrm>
                  <a:off x="1708289" y="4540144"/>
                  <a:ext cx="9634429" cy="554422"/>
                  <a:chOff x="1708289" y="4540144"/>
                  <a:chExt cx="9634429" cy="554422"/>
                </a:xfrm>
              </p:grpSpPr>
              <p:sp>
                <p:nvSpPr>
                  <p:cNvPr id="32" name="Text 24"/>
                  <p:cNvSpPr txBox="1"/>
                  <p:nvPr/>
                </p:nvSpPr>
                <p:spPr>
                  <a:xfrm>
                    <a:off x="1708289" y="4540144"/>
                    <a:ext cx="9634429" cy="323679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800" dirty="0">
                        <a:solidFill>
                          <a:srgbClr val="FFFFFF"/>
                        </a:solidFill>
                        <a:latin typeface="Nanum Gothic Coding" pitchFamily="34" charset="0"/>
                        <a:ea typeface="Nanum Gothic Coding" pitchFamily="34" charset="-122"/>
                        <a:cs typeface="Nanum Gothic Coding" pitchFamily="34" charset="-120"/>
                      </a:rPr>
                      <a:t>4. World First Kill</a:t>
                    </a:r>
                    <a:endParaRPr lang="en-US" sz="1800" dirty="0"/>
                  </a:p>
                </p:txBody>
              </p:sp>
              <p:sp>
                <p:nvSpPr>
                  <p:cNvPr id="33" name="Text 25"/>
                  <p:cNvSpPr txBox="1"/>
                  <p:nvPr/>
                </p:nvSpPr>
                <p:spPr>
                  <a:xfrm>
                    <a:off x="1708289" y="4916168"/>
                    <a:ext cx="9634429" cy="17839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200" dirty="0">
                        <a:solidFill>
                          <a:srgbClr val="E0E0FF"/>
                        </a:solidFill>
                        <a:latin typeface="Nanum Gothic Coding" pitchFamily="34" charset="0"/>
                        <a:ea typeface="Nanum Gothic Coding" pitchFamily="34" charset="-122"/>
                        <a:cs typeface="Nanum Gothic Coding" pitchFamily="34" charset="-120"/>
                      </a:rPr>
                      <a:t>[C#, Unity] - CSV 데이터 다운로드/파싱, Seed/Token 세이브 로드</a:t>
                    </a:r>
                    <a:endParaRPr lang="en-US" sz="1200" dirty="0"/>
                  </a:p>
                </p:txBody>
              </p:sp>
            </p:grpSp>
            <p:sp>
              <p:nvSpPr>
                <p:cNvPr id="34" name="Text 26"/>
                <p:cNvSpPr txBox="1"/>
                <p:nvPr/>
              </p:nvSpPr>
              <p:spPr>
                <a:xfrm>
                  <a:off x="1708289" y="5374446"/>
                  <a:ext cx="9634429" cy="323679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8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5. 기타 언급 및 프로젝트</a:t>
                  </a:r>
                  <a:endParaRPr lang="en-US" sz="1800" dirty="0"/>
                </a:p>
              </p:txBody>
            </p:sp>
          </p:grpSp>
        </p:grpSp>
      </p:grpSp>
      <p:sp>
        <p:nvSpPr>
          <p:cNvPr id="35" name="Shape 27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36" name="Shape 28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10477195" y="6534302"/>
            <a:ext cx="1619402" cy="267005"/>
          </a:xfrm>
          <a:prstGeom prst="rect">
            <a:avLst/>
          </a:prstGeom>
          <a:solidFill>
            <a:srgbClr val="C0C0C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40" name="Image 6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342900" y="6515100"/>
            <a:ext cx="476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lang="en-US" sz="1000" dirty="0"/>
          </a:p>
        </p:txBody>
      </p:sp>
      <p:pic>
        <p:nvPicPr>
          <p:cNvPr id="42" name="Image 7" descr="gen-dedup-fa2260681cb8ffb9a320c7029c733df7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238098" y="6515100"/>
            <a:ext cx="1334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목차.exe</a:t>
            </a:r>
            <a:endParaRPr lang="en-US" sz="900" dirty="0"/>
          </a:p>
        </p:txBody>
      </p:sp>
      <p:pic>
        <p:nvPicPr>
          <p:cNvPr id="44" name="Image 8" descr="gen-dedup-7740a029182e5c65b65e33d2aaed94e2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10573207" y="6590995"/>
            <a:ext cx="152705" cy="152705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0810951" y="6534302"/>
            <a:ext cx="11914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10:00 AM</a:t>
            </a:r>
            <a:endParaRPr lang="en-US" sz="1000" dirty="0"/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A3C55E95-8186-4F36-9241-F176963F3804}"/>
              </a:ext>
            </a:extLst>
          </p:cNvPr>
          <p:cNvCxnSpPr>
            <a:cxnSpLocks/>
          </p:cNvCxnSpPr>
          <p:nvPr/>
        </p:nvCxnSpPr>
        <p:spPr>
          <a:xfrm>
            <a:off x="2667305" y="1581666"/>
            <a:ext cx="7082176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E5A9D3C1-DD89-40FF-A905-E090E1E7D899}"/>
              </a:ext>
            </a:extLst>
          </p:cNvPr>
          <p:cNvCxnSpPr>
            <a:cxnSpLocks/>
          </p:cNvCxnSpPr>
          <p:nvPr/>
        </p:nvCxnSpPr>
        <p:spPr>
          <a:xfrm>
            <a:off x="4654683" y="2197444"/>
            <a:ext cx="5094798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BAB52581-E94A-4B0D-802E-C573888845A4}"/>
              </a:ext>
            </a:extLst>
          </p:cNvPr>
          <p:cNvCxnSpPr>
            <a:cxnSpLocks/>
          </p:cNvCxnSpPr>
          <p:nvPr/>
        </p:nvCxnSpPr>
        <p:spPr>
          <a:xfrm>
            <a:off x="4016251" y="3060357"/>
            <a:ext cx="5733230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76250065-1043-4809-8022-70F937580954}"/>
              </a:ext>
            </a:extLst>
          </p:cNvPr>
          <p:cNvCxnSpPr>
            <a:cxnSpLocks/>
          </p:cNvCxnSpPr>
          <p:nvPr/>
        </p:nvCxnSpPr>
        <p:spPr>
          <a:xfrm>
            <a:off x="4335468" y="3886200"/>
            <a:ext cx="5414013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115153D9-4B4B-4E25-AC16-034B02365CA3}"/>
              </a:ext>
            </a:extLst>
          </p:cNvPr>
          <p:cNvCxnSpPr>
            <a:cxnSpLocks/>
          </p:cNvCxnSpPr>
          <p:nvPr/>
        </p:nvCxnSpPr>
        <p:spPr>
          <a:xfrm>
            <a:off x="3456079" y="4687329"/>
            <a:ext cx="6293402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4C420C66-2C66-4216-B95E-355F353B5D83}"/>
              </a:ext>
            </a:extLst>
          </p:cNvPr>
          <p:cNvCxnSpPr>
            <a:cxnSpLocks/>
          </p:cNvCxnSpPr>
          <p:nvPr/>
        </p:nvCxnSpPr>
        <p:spPr>
          <a:xfrm flipV="1">
            <a:off x="4183793" y="5467865"/>
            <a:ext cx="5565688" cy="51486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2D7D796-1BA9-460D-A286-73A19704183F}"/>
              </a:ext>
            </a:extLst>
          </p:cNvPr>
          <p:cNvSpPr txBox="1"/>
          <p:nvPr/>
        </p:nvSpPr>
        <p:spPr>
          <a:xfrm>
            <a:off x="9749481" y="2021824"/>
            <a:ext cx="116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4~10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4B8D293-0F2A-45F0-A536-B65487A267A4}"/>
              </a:ext>
            </a:extLst>
          </p:cNvPr>
          <p:cNvSpPr txBox="1"/>
          <p:nvPr/>
        </p:nvSpPr>
        <p:spPr>
          <a:xfrm>
            <a:off x="9749481" y="2868834"/>
            <a:ext cx="116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11~16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B149C9E-7453-4469-AE7E-50516170CE57}"/>
              </a:ext>
            </a:extLst>
          </p:cNvPr>
          <p:cNvSpPr txBox="1"/>
          <p:nvPr/>
        </p:nvSpPr>
        <p:spPr>
          <a:xfrm>
            <a:off x="9749481" y="3719187"/>
            <a:ext cx="116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17~26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157A1A8-FF0E-4488-9DB9-292B8F64692E}"/>
              </a:ext>
            </a:extLst>
          </p:cNvPr>
          <p:cNvSpPr txBox="1"/>
          <p:nvPr/>
        </p:nvSpPr>
        <p:spPr>
          <a:xfrm>
            <a:off x="9749481" y="4495407"/>
            <a:ext cx="116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27~37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A968F18-9AE8-4117-81E5-B8B5A5E3EADF}"/>
              </a:ext>
            </a:extLst>
          </p:cNvPr>
          <p:cNvSpPr txBox="1"/>
          <p:nvPr/>
        </p:nvSpPr>
        <p:spPr>
          <a:xfrm>
            <a:off x="9749481" y="5301961"/>
            <a:ext cx="116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38~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5906165-54A5-4964-B15D-074531B10EF2}"/>
              </a:ext>
            </a:extLst>
          </p:cNvPr>
          <p:cNvSpPr txBox="1"/>
          <p:nvPr/>
        </p:nvSpPr>
        <p:spPr>
          <a:xfrm>
            <a:off x="9749481" y="1393823"/>
            <a:ext cx="116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76695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87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97" name="Shape 88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89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9" name="Shape 90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00" name="Shape 91"/>
          <p:cNvSpPr/>
          <p:nvPr/>
        </p:nvSpPr>
        <p:spPr>
          <a:xfrm>
            <a:off x="10477195" y="6534302"/>
            <a:ext cx="1619402" cy="267005"/>
          </a:xfrm>
          <a:prstGeom prst="rect">
            <a:avLst/>
          </a:prstGeom>
          <a:solidFill>
            <a:srgbClr val="C0C0C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101" name="Image 7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102" name="Text 92"/>
          <p:cNvSpPr txBox="1"/>
          <p:nvPr/>
        </p:nvSpPr>
        <p:spPr>
          <a:xfrm>
            <a:off x="342900" y="6515100"/>
            <a:ext cx="4764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lang="en-US" sz="1000" dirty="0"/>
          </a:p>
        </p:txBody>
      </p:sp>
      <p:pic>
        <p:nvPicPr>
          <p:cNvPr id="103" name="Image 8" descr="gen-dedup-0e00a6cb611c2cf90ae5a210f714b78b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104" name="Text 93"/>
          <p:cNvSpPr txBox="1"/>
          <p:nvPr/>
        </p:nvSpPr>
        <p:spPr>
          <a:xfrm>
            <a:off x="1238098" y="6515100"/>
            <a:ext cx="1334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프로필.exe</a:t>
            </a:r>
            <a:endParaRPr lang="en-US" sz="900" dirty="0"/>
          </a:p>
        </p:txBody>
      </p:sp>
      <p:pic>
        <p:nvPicPr>
          <p:cNvPr id="105" name="Image 9" descr="gen-dedup-7740a029182e5c65b65e33d2aaed94e2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10573207" y="6590995"/>
            <a:ext cx="152705" cy="152705"/>
          </a:xfrm>
          <a:prstGeom prst="rect">
            <a:avLst/>
          </a:prstGeom>
        </p:spPr>
      </p:pic>
      <p:sp>
        <p:nvSpPr>
          <p:cNvPr id="106" name="Text 94"/>
          <p:cNvSpPr txBox="1"/>
          <p:nvPr/>
        </p:nvSpPr>
        <p:spPr>
          <a:xfrm>
            <a:off x="10810951" y="6534302"/>
            <a:ext cx="11914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10:00 AM</a:t>
            </a:r>
            <a:endParaRPr lang="en-US" sz="10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EC840D7-ECE5-E8AD-357B-EB2764C9771E}"/>
              </a:ext>
            </a:extLst>
          </p:cNvPr>
          <p:cNvGrpSpPr/>
          <p:nvPr/>
        </p:nvGrpSpPr>
        <p:grpSpPr>
          <a:xfrm>
            <a:off x="186612" y="180000"/>
            <a:ext cx="11783388" cy="6120000"/>
            <a:chOff x="186612" y="180000"/>
            <a:chExt cx="11783388" cy="6120000"/>
          </a:xfrm>
        </p:grpSpPr>
        <p:grpSp>
          <p:nvGrpSpPr>
            <p:cNvPr id="263" name="그룹 262">
              <a:extLst>
                <a:ext uri="{FF2B5EF4-FFF2-40B4-BE49-F238E27FC236}">
                  <a16:creationId xmlns:a16="http://schemas.microsoft.com/office/drawing/2014/main" id="{C558AD4F-CED2-93A3-F7AB-5D598C7A1083}"/>
                </a:ext>
              </a:extLst>
            </p:cNvPr>
            <p:cNvGrpSpPr/>
            <p:nvPr/>
          </p:nvGrpSpPr>
          <p:grpSpPr>
            <a:xfrm>
              <a:off x="186612" y="180000"/>
              <a:ext cx="11783388" cy="6120000"/>
              <a:chOff x="1066899" y="211981"/>
              <a:chExt cx="10890000" cy="6120000"/>
            </a:xfrm>
          </p:grpSpPr>
          <p:sp>
            <p:nvSpPr>
              <p:cNvPr id="17" name="Shape 10"/>
              <p:cNvSpPr/>
              <p:nvPr/>
            </p:nvSpPr>
            <p:spPr>
              <a:xfrm>
                <a:off x="1066899" y="211981"/>
                <a:ext cx="10890000" cy="6120000"/>
              </a:xfrm>
              <a:prstGeom prst="rect">
                <a:avLst/>
              </a:prstGeom>
              <a:solidFill>
                <a:srgbClr val="C0C0C0"/>
              </a:solidFill>
              <a:ln w="25400">
                <a:solidFill>
                  <a:srgbClr val="FFFFFF"/>
                </a:solidFill>
                <a:prstDash val="solid"/>
              </a:ln>
            </p:spPr>
          </p:sp>
          <p:grpSp>
            <p:nvGrpSpPr>
              <p:cNvPr id="262" name="그룹 261">
                <a:extLst>
                  <a:ext uri="{FF2B5EF4-FFF2-40B4-BE49-F238E27FC236}">
                    <a16:creationId xmlns:a16="http://schemas.microsoft.com/office/drawing/2014/main" id="{6B600EB2-B07C-083D-DA38-2311FA27A3A2}"/>
                  </a:ext>
                </a:extLst>
              </p:cNvPr>
              <p:cNvGrpSpPr/>
              <p:nvPr/>
            </p:nvGrpSpPr>
            <p:grpSpPr>
              <a:xfrm>
                <a:off x="1092099" y="237181"/>
                <a:ext cx="10850622" cy="295770"/>
                <a:chOff x="865047" y="138069"/>
                <a:chExt cx="10850622" cy="295770"/>
              </a:xfrm>
            </p:grpSpPr>
            <p:sp>
              <p:nvSpPr>
                <p:cNvPr id="18" name="Shape 11"/>
                <p:cNvSpPr/>
                <p:nvPr/>
              </p:nvSpPr>
              <p:spPr>
                <a:xfrm>
                  <a:off x="865047" y="138069"/>
                  <a:ext cx="10850622" cy="295770"/>
                </a:xfrm>
                <a:prstGeom prst="rect">
                  <a:avLst/>
                </a:prstGeom>
                <a:solidFill>
                  <a:srgbClr val="000080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43" name="Text 36"/>
                <p:cNvSpPr txBox="1"/>
                <p:nvPr/>
              </p:nvSpPr>
              <p:spPr>
                <a:xfrm>
                  <a:off x="957044" y="176343"/>
                  <a:ext cx="842885" cy="211699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000" b="1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rial" pitchFamily="34" charset="-122"/>
                      <a:cs typeface="Arial" pitchFamily="34" charset="-120"/>
                    </a:rPr>
                    <a:t>프로필.exe</a:t>
                  </a:r>
                  <a:endParaRPr lang="en-US" sz="1000" dirty="0"/>
                </a:p>
              </p:txBody>
            </p:sp>
            <p:grpSp>
              <p:nvGrpSpPr>
                <p:cNvPr id="260" name="그룹 259">
                  <a:extLst>
                    <a:ext uri="{FF2B5EF4-FFF2-40B4-BE49-F238E27FC236}">
                      <a16:creationId xmlns:a16="http://schemas.microsoft.com/office/drawing/2014/main" id="{DC1E3589-8CA7-CCED-3A0C-AA128A71ECCB}"/>
                    </a:ext>
                  </a:extLst>
                </p:cNvPr>
                <p:cNvGrpSpPr/>
                <p:nvPr/>
              </p:nvGrpSpPr>
              <p:grpSpPr>
                <a:xfrm>
                  <a:off x="11373447" y="152468"/>
                  <a:ext cx="252000" cy="252000"/>
                  <a:chOff x="11776681" y="139569"/>
                  <a:chExt cx="252000" cy="252000"/>
                </a:xfrm>
              </p:grpSpPr>
              <p:sp>
                <p:nvSpPr>
                  <p:cNvPr id="20" name="Shape 13"/>
                  <p:cNvSpPr/>
                  <p:nvPr/>
                </p:nvSpPr>
                <p:spPr>
                  <a:xfrm>
                    <a:off x="11776681" y="139569"/>
                    <a:ext cx="252000" cy="252000"/>
                  </a:xfrm>
                  <a:prstGeom prst="rect">
                    <a:avLst/>
                  </a:prstGeom>
                  <a:solidFill>
                    <a:srgbClr val="C0C0C0"/>
                  </a:solidFill>
                  <a:ln w="12700">
                    <a:solidFill>
                      <a:srgbClr val="FFFFFF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44" name="Text 37"/>
                  <p:cNvSpPr txBox="1"/>
                  <p:nvPr/>
                </p:nvSpPr>
                <p:spPr>
                  <a:xfrm>
                    <a:off x="11853657" y="194359"/>
                    <a:ext cx="89662" cy="149867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900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itchFamily="34" charset="-122"/>
                        <a:cs typeface="Arial" pitchFamily="34" charset="-120"/>
                      </a:rPr>
                      <a:t>X</a:t>
                    </a:r>
                    <a:endParaRPr lang="en-US" sz="900" dirty="0"/>
                  </a:p>
                </p:txBody>
              </p:sp>
            </p:grpSp>
          </p:grpSp>
        </p:grpSp>
        <p:sp>
          <p:nvSpPr>
            <p:cNvPr id="19" name="Shape 12"/>
            <p:cNvSpPr/>
            <p:nvPr/>
          </p:nvSpPr>
          <p:spPr>
            <a:xfrm>
              <a:off x="313424" y="583928"/>
              <a:ext cx="11529766" cy="5544000"/>
            </a:xfrm>
            <a:prstGeom prst="rect">
              <a:avLst/>
            </a:prstGeom>
            <a:solidFill>
              <a:srgbClr val="2E6BBD"/>
            </a:solidFill>
            <a:ln w="2540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grpSp>
          <p:nvGrpSpPr>
            <p:cNvPr id="238" name="그룹 237">
              <a:extLst>
                <a:ext uri="{FF2B5EF4-FFF2-40B4-BE49-F238E27FC236}">
                  <a16:creationId xmlns:a16="http://schemas.microsoft.com/office/drawing/2014/main" id="{294C0910-3DF6-221D-5CE1-739BE460994B}"/>
                </a:ext>
              </a:extLst>
            </p:cNvPr>
            <p:cNvGrpSpPr/>
            <p:nvPr/>
          </p:nvGrpSpPr>
          <p:grpSpPr>
            <a:xfrm>
              <a:off x="3423381" y="937826"/>
              <a:ext cx="3698857" cy="628511"/>
              <a:chOff x="4047644" y="934252"/>
              <a:chExt cx="3477706" cy="636937"/>
            </a:xfrm>
          </p:grpSpPr>
          <p:sp>
            <p:nvSpPr>
              <p:cNvPr id="54" name="Text 47"/>
              <p:cNvSpPr txBox="1"/>
              <p:nvPr/>
            </p:nvSpPr>
            <p:spPr>
              <a:xfrm>
                <a:off x="4047644" y="934252"/>
                <a:ext cx="3477706" cy="2145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b="1" dirty="0">
                    <a:solidFill>
                      <a:srgbClr val="FFFFFF"/>
                    </a:solidFill>
                    <a:latin typeface="Nanum Gothic Coding" pitchFamily="34" charset="0"/>
                    <a:ea typeface="Nanum Gothic Coding" pitchFamily="34" charset="-122"/>
                    <a:cs typeface="Nanum Gothic Coding" pitchFamily="34" charset="-120"/>
                  </a:rPr>
                  <a:t>학력/교육 이력</a:t>
                </a:r>
                <a:endParaRPr lang="en-US" dirty="0"/>
              </a:p>
            </p:txBody>
          </p:sp>
          <p:grpSp>
            <p:nvGrpSpPr>
              <p:cNvPr id="219" name="그룹 218">
                <a:extLst>
                  <a:ext uri="{FF2B5EF4-FFF2-40B4-BE49-F238E27FC236}">
                    <a16:creationId xmlns:a16="http://schemas.microsoft.com/office/drawing/2014/main" id="{F8BA2083-8CA1-2393-EEF8-95E1AF402FA9}"/>
                  </a:ext>
                </a:extLst>
              </p:cNvPr>
              <p:cNvGrpSpPr/>
              <p:nvPr/>
            </p:nvGrpSpPr>
            <p:grpSpPr>
              <a:xfrm>
                <a:off x="4047644" y="1264469"/>
                <a:ext cx="3415265" cy="306720"/>
                <a:chOff x="4047644" y="1264469"/>
                <a:chExt cx="3415265" cy="306720"/>
              </a:xfrm>
            </p:grpSpPr>
            <p:sp>
              <p:nvSpPr>
                <p:cNvPr id="22" name="Shape 15"/>
                <p:cNvSpPr/>
                <p:nvPr/>
              </p:nvSpPr>
              <p:spPr>
                <a:xfrm>
                  <a:off x="4047644" y="1264469"/>
                  <a:ext cx="1440301" cy="306720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2021.03~ </a:t>
                  </a:r>
                  <a:r>
                    <a:rPr lang="en-US" altLang="ko-KR" sz="1400" b="1" dirty="0" err="1">
                      <a:solidFill>
                        <a:srgbClr val="000000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현재</a:t>
                  </a:r>
                  <a:endPara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" name="Text 49"/>
                <p:cNvSpPr txBox="1"/>
                <p:nvPr/>
              </p:nvSpPr>
              <p:spPr>
                <a:xfrm>
                  <a:off x="5600928" y="1264469"/>
                  <a:ext cx="1861981" cy="26857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ko-KR" altLang="en-US" sz="1200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Nanum Gothic Coding" pitchFamily="34" charset="-122"/>
                      <a:cs typeface="Arial" panose="020B0604020202020204" pitchFamily="34" charset="0"/>
                    </a:rPr>
                    <a:t>동명대학교 재학</a:t>
                  </a:r>
                  <a:endParaRPr lang="en-US" sz="12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29" name="그룹 228">
              <a:extLst>
                <a:ext uri="{FF2B5EF4-FFF2-40B4-BE49-F238E27FC236}">
                  <a16:creationId xmlns:a16="http://schemas.microsoft.com/office/drawing/2014/main" id="{00E8C3E9-0010-5BE3-7AE2-DB4F95ED5E5D}"/>
                </a:ext>
              </a:extLst>
            </p:cNvPr>
            <p:cNvGrpSpPr/>
            <p:nvPr/>
          </p:nvGrpSpPr>
          <p:grpSpPr>
            <a:xfrm>
              <a:off x="3423381" y="2184790"/>
              <a:ext cx="3990228" cy="2866445"/>
              <a:chOff x="4047644" y="2197934"/>
              <a:chExt cx="3751656" cy="2904875"/>
            </a:xfrm>
          </p:grpSpPr>
          <p:sp>
            <p:nvSpPr>
              <p:cNvPr id="57" name="Text 50"/>
              <p:cNvSpPr txBox="1"/>
              <p:nvPr/>
            </p:nvSpPr>
            <p:spPr>
              <a:xfrm>
                <a:off x="4047644" y="2197934"/>
                <a:ext cx="3477706" cy="2145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b="1" dirty="0">
                    <a:solidFill>
                      <a:srgbClr val="FFFFFF"/>
                    </a:solidFill>
                    <a:latin typeface="Nanum Gothic Coding" pitchFamily="34" charset="0"/>
                    <a:ea typeface="Nanum Gothic Coding" pitchFamily="34" charset="-122"/>
                    <a:cs typeface="Nanum Gothic Coding" pitchFamily="34" charset="-120"/>
                  </a:rPr>
                  <a:t>활동</a:t>
                </a:r>
                <a:endParaRPr lang="en-US" dirty="0"/>
              </a:p>
            </p:txBody>
          </p:sp>
          <p:grpSp>
            <p:nvGrpSpPr>
              <p:cNvPr id="222" name="그룹 221">
                <a:extLst>
                  <a:ext uri="{FF2B5EF4-FFF2-40B4-BE49-F238E27FC236}">
                    <a16:creationId xmlns:a16="http://schemas.microsoft.com/office/drawing/2014/main" id="{F96585EE-0C50-31C9-91B8-7289318C5D5D}"/>
                  </a:ext>
                </a:extLst>
              </p:cNvPr>
              <p:cNvGrpSpPr/>
              <p:nvPr/>
            </p:nvGrpSpPr>
            <p:grpSpPr>
              <a:xfrm>
                <a:off x="4047644" y="2509185"/>
                <a:ext cx="3617387" cy="342161"/>
                <a:chOff x="4047644" y="2509185"/>
                <a:chExt cx="3617387" cy="342161"/>
              </a:xfrm>
            </p:grpSpPr>
            <p:sp>
              <p:nvSpPr>
                <p:cNvPr id="23" name="Shape 16"/>
                <p:cNvSpPr/>
                <p:nvPr/>
              </p:nvSpPr>
              <p:spPr>
                <a:xfrm>
                  <a:off x="4047644" y="2509185"/>
                  <a:ext cx="1440301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2024 ~ </a:t>
                  </a:r>
                  <a:r>
                    <a:rPr lang="ko-KR" altLang="en-US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현재</a:t>
                  </a:r>
                </a:p>
              </p:txBody>
            </p:sp>
            <p:sp>
              <p:nvSpPr>
                <p:cNvPr id="59" name="Text 52"/>
                <p:cNvSpPr txBox="1"/>
                <p:nvPr/>
              </p:nvSpPr>
              <p:spPr>
                <a:xfrm>
                  <a:off x="5628972" y="2509185"/>
                  <a:ext cx="2036059" cy="278179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 err="1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UpTrand</a:t>
                  </a: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 동아리 활동</a:t>
                  </a:r>
                  <a:endParaRPr lang="en-US" sz="1200" dirty="0"/>
                </a:p>
              </p:txBody>
            </p:sp>
          </p:grpSp>
          <p:grpSp>
            <p:nvGrpSpPr>
              <p:cNvPr id="223" name="그룹 222">
                <a:extLst>
                  <a:ext uri="{FF2B5EF4-FFF2-40B4-BE49-F238E27FC236}">
                    <a16:creationId xmlns:a16="http://schemas.microsoft.com/office/drawing/2014/main" id="{338738FD-536B-3F2A-52D3-7F7352941081}"/>
                  </a:ext>
                </a:extLst>
              </p:cNvPr>
              <p:cNvGrpSpPr/>
              <p:nvPr/>
            </p:nvGrpSpPr>
            <p:grpSpPr>
              <a:xfrm>
                <a:off x="4047644" y="2884186"/>
                <a:ext cx="3583246" cy="342161"/>
                <a:chOff x="4047644" y="2884186"/>
                <a:chExt cx="3583246" cy="342161"/>
              </a:xfrm>
            </p:grpSpPr>
            <p:sp>
              <p:nvSpPr>
                <p:cNvPr id="24" name="Shape 17"/>
                <p:cNvSpPr/>
                <p:nvPr/>
              </p:nvSpPr>
              <p:spPr>
                <a:xfrm>
                  <a:off x="4047644" y="2884186"/>
                  <a:ext cx="1440301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100" b="1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2025.03 ~ 2026.03</a:t>
                  </a:r>
                  <a:endParaRPr lang="en-US" altLang="ko-KR" sz="11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1" name="Text 54"/>
                <p:cNvSpPr txBox="1"/>
                <p:nvPr/>
              </p:nvSpPr>
              <p:spPr>
                <a:xfrm>
                  <a:off x="5594831" y="2884186"/>
                  <a:ext cx="2036059" cy="278179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 err="1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UpTrand</a:t>
                  </a: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 동아리 회장 운영</a:t>
                  </a:r>
                  <a:endParaRPr lang="en-US" sz="1200" dirty="0"/>
                </a:p>
              </p:txBody>
            </p:sp>
          </p:grpSp>
          <p:grpSp>
            <p:nvGrpSpPr>
              <p:cNvPr id="224" name="그룹 223">
                <a:extLst>
                  <a:ext uri="{FF2B5EF4-FFF2-40B4-BE49-F238E27FC236}">
                    <a16:creationId xmlns:a16="http://schemas.microsoft.com/office/drawing/2014/main" id="{27FED955-0C20-A425-6E01-123FBE718533}"/>
                  </a:ext>
                </a:extLst>
              </p:cNvPr>
              <p:cNvGrpSpPr/>
              <p:nvPr/>
            </p:nvGrpSpPr>
            <p:grpSpPr>
              <a:xfrm>
                <a:off x="4047644" y="3259187"/>
                <a:ext cx="3617387" cy="342161"/>
                <a:chOff x="4047644" y="3259187"/>
                <a:chExt cx="3617387" cy="342161"/>
              </a:xfrm>
            </p:grpSpPr>
            <p:sp>
              <p:nvSpPr>
                <p:cNvPr id="25" name="Shape 18"/>
                <p:cNvSpPr/>
                <p:nvPr/>
              </p:nvSpPr>
              <p:spPr>
                <a:xfrm>
                  <a:off x="4047644" y="3259187"/>
                  <a:ext cx="1440301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2026.01</a:t>
                  </a:r>
                  <a:endParaRPr lang="ko-KR" altLang="en-US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3" name="Text 56"/>
                <p:cNvSpPr txBox="1"/>
                <p:nvPr/>
              </p:nvSpPr>
              <p:spPr>
                <a:xfrm>
                  <a:off x="5628972" y="3259187"/>
                  <a:ext cx="2036059" cy="278179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MACH GAME JAM</a:t>
                  </a:r>
                  <a:endParaRPr lang="en-US" sz="1200" dirty="0"/>
                </a:p>
              </p:txBody>
            </p:sp>
          </p:grpSp>
          <p:grpSp>
            <p:nvGrpSpPr>
              <p:cNvPr id="225" name="그룹 224">
                <a:extLst>
                  <a:ext uri="{FF2B5EF4-FFF2-40B4-BE49-F238E27FC236}">
                    <a16:creationId xmlns:a16="http://schemas.microsoft.com/office/drawing/2014/main" id="{8FF04F8F-9FBF-423F-EED0-F2A99347BE3C}"/>
                  </a:ext>
                </a:extLst>
              </p:cNvPr>
              <p:cNvGrpSpPr/>
              <p:nvPr/>
            </p:nvGrpSpPr>
            <p:grpSpPr>
              <a:xfrm>
                <a:off x="4047644" y="3634186"/>
                <a:ext cx="3610048" cy="342161"/>
                <a:chOff x="4047644" y="3634186"/>
                <a:chExt cx="3610048" cy="342161"/>
              </a:xfrm>
            </p:grpSpPr>
            <p:sp>
              <p:nvSpPr>
                <p:cNvPr id="26" name="Shape 19"/>
                <p:cNvSpPr/>
                <p:nvPr/>
              </p:nvSpPr>
              <p:spPr>
                <a:xfrm>
                  <a:off x="4047644" y="3634186"/>
                  <a:ext cx="1440301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2026.01</a:t>
                  </a:r>
                  <a:endParaRPr lang="ko-KR" altLang="en-US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5" name="Text 58"/>
                <p:cNvSpPr txBox="1"/>
                <p:nvPr/>
              </p:nvSpPr>
              <p:spPr>
                <a:xfrm>
                  <a:off x="5621633" y="3634186"/>
                  <a:ext cx="2036059" cy="278179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GGJ 글로벌 게임잼</a:t>
                  </a:r>
                  <a:endParaRPr lang="en-US" sz="1200" dirty="0"/>
                </a:p>
              </p:txBody>
            </p:sp>
          </p:grpSp>
          <p:grpSp>
            <p:nvGrpSpPr>
              <p:cNvPr id="226" name="그룹 225">
                <a:extLst>
                  <a:ext uri="{FF2B5EF4-FFF2-40B4-BE49-F238E27FC236}">
                    <a16:creationId xmlns:a16="http://schemas.microsoft.com/office/drawing/2014/main" id="{51AB0727-E023-223E-CAAC-4E7523B74A32}"/>
                  </a:ext>
                </a:extLst>
              </p:cNvPr>
              <p:cNvGrpSpPr/>
              <p:nvPr/>
            </p:nvGrpSpPr>
            <p:grpSpPr>
              <a:xfrm>
                <a:off x="4047644" y="4009187"/>
                <a:ext cx="3751656" cy="342161"/>
                <a:chOff x="4047644" y="4009187"/>
                <a:chExt cx="3751656" cy="342161"/>
              </a:xfrm>
            </p:grpSpPr>
            <p:sp>
              <p:nvSpPr>
                <p:cNvPr id="27" name="Shape 20"/>
                <p:cNvSpPr/>
                <p:nvPr/>
              </p:nvSpPr>
              <p:spPr>
                <a:xfrm>
                  <a:off x="4047644" y="4009187"/>
                  <a:ext cx="1440301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2025</a:t>
                  </a:r>
                  <a:endParaRPr lang="ko-KR" altLang="en-US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7" name="Text 60"/>
                <p:cNvSpPr txBox="1"/>
                <p:nvPr/>
              </p:nvSpPr>
              <p:spPr>
                <a:xfrm>
                  <a:off x="5617557" y="4009187"/>
                  <a:ext cx="2181743" cy="278179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서울 코믹 월드 인디 부스 참여</a:t>
                  </a:r>
                  <a:endParaRPr lang="en-US" sz="1200" dirty="0"/>
                </a:p>
              </p:txBody>
            </p:sp>
          </p:grpSp>
          <p:grpSp>
            <p:nvGrpSpPr>
              <p:cNvPr id="227" name="그룹 226">
                <a:extLst>
                  <a:ext uri="{FF2B5EF4-FFF2-40B4-BE49-F238E27FC236}">
                    <a16:creationId xmlns:a16="http://schemas.microsoft.com/office/drawing/2014/main" id="{437FD499-AB2B-40CE-C1A0-1907F9A20E6A}"/>
                  </a:ext>
                </a:extLst>
              </p:cNvPr>
              <p:cNvGrpSpPr/>
              <p:nvPr/>
            </p:nvGrpSpPr>
            <p:grpSpPr>
              <a:xfrm>
                <a:off x="4047644" y="4375509"/>
                <a:ext cx="3501217" cy="364405"/>
                <a:chOff x="4047644" y="4375509"/>
                <a:chExt cx="3501217" cy="364405"/>
              </a:xfrm>
            </p:grpSpPr>
            <p:sp>
              <p:nvSpPr>
                <p:cNvPr id="28" name="Shape 21"/>
                <p:cNvSpPr/>
                <p:nvPr/>
              </p:nvSpPr>
              <p:spPr>
                <a:xfrm>
                  <a:off x="4047644" y="4384185"/>
                  <a:ext cx="1440301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2025</a:t>
                  </a:r>
                  <a:endParaRPr lang="ko-KR" altLang="en-US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9" name="Text 62"/>
                <p:cNvSpPr txBox="1"/>
                <p:nvPr/>
              </p:nvSpPr>
              <p:spPr>
                <a:xfrm>
                  <a:off x="5612106" y="4375509"/>
                  <a:ext cx="1936755" cy="364405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지스타 학교 부스 전시 </a:t>
                  </a:r>
                  <a:r>
                    <a:rPr lang="en-US" sz="1200" dirty="0" err="1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참여</a:t>
                  </a: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,</a:t>
                  </a:r>
                  <a:r>
                    <a:rPr lang="en-US" sz="1200" dirty="0"/>
                    <a:t> </a:t>
                  </a:r>
                  <a:r>
                    <a:rPr lang="en-US" sz="1200" dirty="0" err="1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인디</a:t>
                  </a: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 </a:t>
                  </a:r>
                  <a:r>
                    <a:rPr lang="en-US" sz="1200" dirty="0" err="1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쇼케이스</a:t>
                  </a: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 부스 참여</a:t>
                  </a:r>
                  <a:endParaRPr lang="en-US" sz="1200" dirty="0"/>
                </a:p>
              </p:txBody>
            </p:sp>
          </p:grpSp>
          <p:grpSp>
            <p:nvGrpSpPr>
              <p:cNvPr id="228" name="그룹 227">
                <a:extLst>
                  <a:ext uri="{FF2B5EF4-FFF2-40B4-BE49-F238E27FC236}">
                    <a16:creationId xmlns:a16="http://schemas.microsoft.com/office/drawing/2014/main" id="{AB74FE13-ADFD-15A0-F59F-75F302074564}"/>
                  </a:ext>
                </a:extLst>
              </p:cNvPr>
              <p:cNvGrpSpPr/>
              <p:nvPr/>
            </p:nvGrpSpPr>
            <p:grpSpPr>
              <a:xfrm>
                <a:off x="4047644" y="4760648"/>
                <a:ext cx="3605972" cy="342161"/>
                <a:chOff x="4047644" y="4760648"/>
                <a:chExt cx="3605972" cy="342161"/>
              </a:xfrm>
            </p:grpSpPr>
            <p:sp>
              <p:nvSpPr>
                <p:cNvPr id="29" name="Shape 22"/>
                <p:cNvSpPr/>
                <p:nvPr/>
              </p:nvSpPr>
              <p:spPr>
                <a:xfrm>
                  <a:off x="4047644" y="4760648"/>
                  <a:ext cx="1439349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2024</a:t>
                  </a:r>
                  <a:endParaRPr lang="ko-KR" altLang="en-US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1" name="Text 64"/>
                <p:cNvSpPr txBox="1"/>
                <p:nvPr/>
              </p:nvSpPr>
              <p:spPr>
                <a:xfrm>
                  <a:off x="5617557" y="4809253"/>
                  <a:ext cx="2036059" cy="278179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지스타 학교 부스 전시 참여</a:t>
                  </a:r>
                  <a:endParaRPr lang="en-US" sz="1200" dirty="0"/>
                </a:p>
              </p:txBody>
            </p:sp>
          </p:grpSp>
        </p:grpSp>
        <p:grpSp>
          <p:nvGrpSpPr>
            <p:cNvPr id="244" name="그룹 243">
              <a:extLst>
                <a:ext uri="{FF2B5EF4-FFF2-40B4-BE49-F238E27FC236}">
                  <a16:creationId xmlns:a16="http://schemas.microsoft.com/office/drawing/2014/main" id="{1A70E870-BA2D-E084-9248-FCEA6833DECB}"/>
                </a:ext>
              </a:extLst>
            </p:cNvPr>
            <p:cNvGrpSpPr/>
            <p:nvPr/>
          </p:nvGrpSpPr>
          <p:grpSpPr>
            <a:xfrm>
              <a:off x="3423381" y="5215105"/>
              <a:ext cx="3698859" cy="716909"/>
              <a:chOff x="4047644" y="5268877"/>
              <a:chExt cx="3477707" cy="726520"/>
            </a:xfrm>
          </p:grpSpPr>
          <p:sp>
            <p:nvSpPr>
              <p:cNvPr id="72" name="Text 65"/>
              <p:cNvSpPr txBox="1"/>
              <p:nvPr/>
            </p:nvSpPr>
            <p:spPr>
              <a:xfrm>
                <a:off x="4047644" y="5268877"/>
                <a:ext cx="3477707" cy="2145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500" b="1" dirty="0">
                    <a:solidFill>
                      <a:srgbClr val="FFFFFF"/>
                    </a:solidFill>
                    <a:latin typeface="Nanum Gothic Coding" pitchFamily="34" charset="0"/>
                    <a:ea typeface="Nanum Gothic Coding" pitchFamily="34" charset="-122"/>
                    <a:cs typeface="Nanum Gothic Coding" pitchFamily="34" charset="-120"/>
                  </a:rPr>
                  <a:t>기술</a:t>
                </a:r>
                <a:endParaRPr lang="en-US" sz="1500" dirty="0"/>
              </a:p>
            </p:txBody>
          </p:sp>
          <p:grpSp>
            <p:nvGrpSpPr>
              <p:cNvPr id="239" name="그룹 238">
                <a:extLst>
                  <a:ext uri="{FF2B5EF4-FFF2-40B4-BE49-F238E27FC236}">
                    <a16:creationId xmlns:a16="http://schemas.microsoft.com/office/drawing/2014/main" id="{10150861-1FBB-AEB6-3908-AFDD642A9CE3}"/>
                  </a:ext>
                </a:extLst>
              </p:cNvPr>
              <p:cNvGrpSpPr/>
              <p:nvPr/>
            </p:nvGrpSpPr>
            <p:grpSpPr>
              <a:xfrm>
                <a:off x="4078697" y="5567351"/>
                <a:ext cx="397752" cy="428046"/>
                <a:chOff x="4078697" y="5567351"/>
                <a:chExt cx="397752" cy="428046"/>
              </a:xfrm>
            </p:grpSpPr>
            <p:sp>
              <p:nvSpPr>
                <p:cNvPr id="30" name="Shape 23"/>
                <p:cNvSpPr/>
                <p:nvPr/>
              </p:nvSpPr>
              <p:spPr>
                <a:xfrm>
                  <a:off x="4078697" y="5567351"/>
                  <a:ext cx="397752" cy="428046"/>
                </a:xfrm>
                <a:prstGeom prst="roundRect">
                  <a:avLst>
                    <a:gd name="adj" fmla="val 47962"/>
                  </a:avLst>
                </a:prstGeom>
                <a:solidFill>
                  <a:srgbClr val="FFFFFF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73" name="Text 66"/>
                <p:cNvSpPr txBox="1"/>
                <p:nvPr/>
              </p:nvSpPr>
              <p:spPr>
                <a:xfrm>
                  <a:off x="4183623" y="5615596"/>
                  <a:ext cx="188861" cy="33155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900" b="1" dirty="0">
                      <a:solidFill>
                        <a:srgbClr val="00599C"/>
                      </a:solidFill>
                      <a:latin typeface="Arial" panose="020B0604020202020204" pitchFamily="34" charset="0"/>
                      <a:ea typeface="Arial" pitchFamily="34" charset="-122"/>
                      <a:cs typeface="Arial" pitchFamily="34" charset="-120"/>
                    </a:rPr>
                    <a:t>C</a:t>
                  </a:r>
                  <a:endParaRPr lang="en-US" sz="1900" dirty="0"/>
                </a:p>
              </p:txBody>
            </p:sp>
          </p:grpSp>
          <p:grpSp>
            <p:nvGrpSpPr>
              <p:cNvPr id="240" name="그룹 239">
                <a:extLst>
                  <a:ext uri="{FF2B5EF4-FFF2-40B4-BE49-F238E27FC236}">
                    <a16:creationId xmlns:a16="http://schemas.microsoft.com/office/drawing/2014/main" id="{41BDF65E-E3F1-CF63-2A3C-1A4567E6D8F0}"/>
                  </a:ext>
                </a:extLst>
              </p:cNvPr>
              <p:cNvGrpSpPr/>
              <p:nvPr/>
            </p:nvGrpSpPr>
            <p:grpSpPr>
              <a:xfrm>
                <a:off x="4574696" y="5567351"/>
                <a:ext cx="397752" cy="428046"/>
                <a:chOff x="4574696" y="5567351"/>
                <a:chExt cx="397752" cy="428046"/>
              </a:xfrm>
            </p:grpSpPr>
            <p:sp>
              <p:nvSpPr>
                <p:cNvPr id="31" name="Shape 24"/>
                <p:cNvSpPr/>
                <p:nvPr/>
              </p:nvSpPr>
              <p:spPr>
                <a:xfrm>
                  <a:off x="4574696" y="5567351"/>
                  <a:ext cx="397752" cy="428046"/>
                </a:xfrm>
                <a:prstGeom prst="roundRect">
                  <a:avLst>
                    <a:gd name="adj" fmla="val 47962"/>
                  </a:avLst>
                </a:prstGeom>
                <a:solidFill>
                  <a:srgbClr val="FFFFFF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pic>
              <p:nvPicPr>
                <p:cNvPr id="74" name="Image 5" descr="gen-dedup-fc2647d0e6014f880e8fdd19e327decc.png"/>
                <p:cNvPicPr>
                  <a:picLocks noChangeAspect="1"/>
                </p:cNvPicPr>
                <p:nvPr/>
              </p:nvPicPr>
              <p:blipFill>
                <a:blip r:embed="rId6"/>
                <a:srcRect l="-7143" r="-7143"/>
                <a:stretch/>
              </p:blipFill>
              <p:spPr>
                <a:xfrm>
                  <a:off x="4624298" y="5621755"/>
                  <a:ext cx="298552" cy="321291"/>
                </a:xfrm>
                <a:prstGeom prst="rect">
                  <a:avLst/>
                </a:prstGeom>
              </p:spPr>
            </p:pic>
          </p:grpSp>
          <p:grpSp>
            <p:nvGrpSpPr>
              <p:cNvPr id="241" name="그룹 240">
                <a:extLst>
                  <a:ext uri="{FF2B5EF4-FFF2-40B4-BE49-F238E27FC236}">
                    <a16:creationId xmlns:a16="http://schemas.microsoft.com/office/drawing/2014/main" id="{913E7036-92A1-A9E5-2931-2E517A70360D}"/>
                  </a:ext>
                </a:extLst>
              </p:cNvPr>
              <p:cNvGrpSpPr/>
              <p:nvPr/>
            </p:nvGrpSpPr>
            <p:grpSpPr>
              <a:xfrm>
                <a:off x="5071647" y="5567351"/>
                <a:ext cx="397752" cy="428046"/>
                <a:chOff x="5071647" y="5567351"/>
                <a:chExt cx="397752" cy="428046"/>
              </a:xfrm>
            </p:grpSpPr>
            <p:sp>
              <p:nvSpPr>
                <p:cNvPr id="32" name="Shape 25"/>
                <p:cNvSpPr/>
                <p:nvPr/>
              </p:nvSpPr>
              <p:spPr>
                <a:xfrm>
                  <a:off x="5071647" y="5567351"/>
                  <a:ext cx="397752" cy="428046"/>
                </a:xfrm>
                <a:prstGeom prst="roundRect">
                  <a:avLst>
                    <a:gd name="adj" fmla="val 47962"/>
                  </a:avLst>
                </a:prstGeom>
                <a:solidFill>
                  <a:srgbClr val="FFFFFF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75" name="Text 67"/>
                <p:cNvSpPr txBox="1"/>
                <p:nvPr/>
              </p:nvSpPr>
              <p:spPr>
                <a:xfrm>
                  <a:off x="5143187" y="5658709"/>
                  <a:ext cx="258491" cy="24635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500" b="1" dirty="0">
                      <a:solidFill>
                        <a:srgbClr val="5C2D91"/>
                      </a:solidFill>
                      <a:latin typeface="Arial" panose="020B0604020202020204" pitchFamily="34" charset="0"/>
                      <a:ea typeface="Arial" pitchFamily="34" charset="-122"/>
                      <a:cs typeface="Arial" pitchFamily="34" charset="-120"/>
                    </a:rPr>
                    <a:t>C#</a:t>
                  </a:r>
                  <a:endParaRPr lang="en-US" sz="1500" dirty="0"/>
                </a:p>
              </p:txBody>
            </p:sp>
          </p:grpSp>
          <p:grpSp>
            <p:nvGrpSpPr>
              <p:cNvPr id="243" name="그룹 242">
                <a:extLst>
                  <a:ext uri="{FF2B5EF4-FFF2-40B4-BE49-F238E27FC236}">
                    <a16:creationId xmlns:a16="http://schemas.microsoft.com/office/drawing/2014/main" id="{1153CA37-9DF0-8D67-8F4D-412C855CF4CE}"/>
                  </a:ext>
                </a:extLst>
              </p:cNvPr>
              <p:cNvGrpSpPr/>
              <p:nvPr/>
            </p:nvGrpSpPr>
            <p:grpSpPr>
              <a:xfrm>
                <a:off x="6017100" y="5557600"/>
                <a:ext cx="397752" cy="428046"/>
                <a:chOff x="6017100" y="5557600"/>
                <a:chExt cx="397752" cy="428046"/>
              </a:xfrm>
            </p:grpSpPr>
            <p:sp>
              <p:nvSpPr>
                <p:cNvPr id="33" name="Shape 26"/>
                <p:cNvSpPr/>
                <p:nvPr/>
              </p:nvSpPr>
              <p:spPr>
                <a:xfrm>
                  <a:off x="6017100" y="5557600"/>
                  <a:ext cx="397752" cy="428046"/>
                </a:xfrm>
                <a:prstGeom prst="roundRect">
                  <a:avLst>
                    <a:gd name="adj" fmla="val 47962"/>
                  </a:avLst>
                </a:prstGeom>
                <a:solidFill>
                  <a:srgbClr val="FFFFFF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pic>
              <p:nvPicPr>
                <p:cNvPr id="76" name="Image 6" descr="gen-dedup-a38bbb54004a611ce4bf74e5fb0ad39a.png"/>
                <p:cNvPicPr>
                  <a:picLocks noChangeAspect="1"/>
                </p:cNvPicPr>
                <p:nvPr/>
              </p:nvPicPr>
              <p:blipFill>
                <a:blip r:embed="rId7"/>
                <a:srcRect l="-7143" r="-7143"/>
                <a:stretch/>
              </p:blipFill>
              <p:spPr>
                <a:xfrm>
                  <a:off x="6066701" y="5610978"/>
                  <a:ext cx="298552" cy="321291"/>
                </a:xfrm>
                <a:prstGeom prst="rect">
                  <a:avLst/>
                </a:prstGeom>
              </p:spPr>
            </p:pic>
          </p:grpSp>
          <p:grpSp>
            <p:nvGrpSpPr>
              <p:cNvPr id="242" name="그룹 241">
                <a:extLst>
                  <a:ext uri="{FF2B5EF4-FFF2-40B4-BE49-F238E27FC236}">
                    <a16:creationId xmlns:a16="http://schemas.microsoft.com/office/drawing/2014/main" id="{382CB9D1-7906-1BDE-9973-0AE7ED6BE0BB}"/>
                  </a:ext>
                </a:extLst>
              </p:cNvPr>
              <p:cNvGrpSpPr/>
              <p:nvPr/>
            </p:nvGrpSpPr>
            <p:grpSpPr>
              <a:xfrm>
                <a:off x="5559868" y="5557600"/>
                <a:ext cx="397752" cy="428046"/>
                <a:chOff x="5559868" y="5557600"/>
                <a:chExt cx="397752" cy="428046"/>
              </a:xfrm>
            </p:grpSpPr>
            <p:sp>
              <p:nvSpPr>
                <p:cNvPr id="34" name="Shape 27"/>
                <p:cNvSpPr/>
                <p:nvPr/>
              </p:nvSpPr>
              <p:spPr>
                <a:xfrm>
                  <a:off x="5559868" y="5557600"/>
                  <a:ext cx="397752" cy="428046"/>
                </a:xfrm>
                <a:prstGeom prst="roundRect">
                  <a:avLst>
                    <a:gd name="adj" fmla="val 47962"/>
                  </a:avLst>
                </a:prstGeom>
                <a:solidFill>
                  <a:srgbClr val="FFFFFF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77" name="Text 68"/>
                <p:cNvSpPr txBox="1"/>
                <p:nvPr/>
              </p:nvSpPr>
              <p:spPr>
                <a:xfrm>
                  <a:off x="5608513" y="5675647"/>
                  <a:ext cx="308091" cy="19298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b="1" dirty="0">
                      <a:solidFill>
                        <a:srgbClr val="00599C"/>
                      </a:solidFill>
                      <a:latin typeface="Arial" panose="020B0604020202020204" pitchFamily="34" charset="0"/>
                      <a:ea typeface="Arial" pitchFamily="34" charset="-122"/>
                      <a:cs typeface="Arial" pitchFamily="34" charset="-120"/>
                    </a:rPr>
                    <a:t>C++</a:t>
                  </a:r>
                  <a:endParaRPr lang="en-US" sz="1200" dirty="0"/>
                </a:p>
              </p:txBody>
            </p:sp>
          </p:grpSp>
        </p:grpSp>
        <p:grpSp>
          <p:nvGrpSpPr>
            <p:cNvPr id="237" name="그룹 236">
              <a:extLst>
                <a:ext uri="{FF2B5EF4-FFF2-40B4-BE49-F238E27FC236}">
                  <a16:creationId xmlns:a16="http://schemas.microsoft.com/office/drawing/2014/main" id="{3328CC0A-02FA-335E-7BC4-08E15BD759EF}"/>
                </a:ext>
              </a:extLst>
            </p:cNvPr>
            <p:cNvGrpSpPr/>
            <p:nvPr/>
          </p:nvGrpSpPr>
          <p:grpSpPr>
            <a:xfrm>
              <a:off x="7673535" y="937826"/>
              <a:ext cx="3807450" cy="1086586"/>
              <a:chOff x="8043685" y="934252"/>
              <a:chExt cx="3579806" cy="1101154"/>
            </a:xfrm>
          </p:grpSpPr>
          <p:sp>
            <p:nvSpPr>
              <p:cNvPr id="78" name="Text 69"/>
              <p:cNvSpPr txBox="1"/>
              <p:nvPr/>
            </p:nvSpPr>
            <p:spPr>
              <a:xfrm>
                <a:off x="8043685" y="934252"/>
                <a:ext cx="3477706" cy="2145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ko-KR" alt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자격증</a:t>
                </a:r>
                <a:endParaRPr lang="en-US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18" name="그룹 217">
                <a:extLst>
                  <a:ext uri="{FF2B5EF4-FFF2-40B4-BE49-F238E27FC236}">
                    <a16:creationId xmlns:a16="http://schemas.microsoft.com/office/drawing/2014/main" id="{C958BB30-49D2-14AF-A337-BDC9E4DBD92D}"/>
                  </a:ext>
                </a:extLst>
              </p:cNvPr>
              <p:cNvGrpSpPr/>
              <p:nvPr/>
            </p:nvGrpSpPr>
            <p:grpSpPr>
              <a:xfrm>
                <a:off x="8043685" y="1264469"/>
                <a:ext cx="3579806" cy="342161"/>
                <a:chOff x="8043685" y="1264469"/>
                <a:chExt cx="3579806" cy="342161"/>
              </a:xfrm>
            </p:grpSpPr>
            <p:sp>
              <p:nvSpPr>
                <p:cNvPr id="35" name="Shape 28"/>
                <p:cNvSpPr/>
                <p:nvPr/>
              </p:nvSpPr>
              <p:spPr>
                <a:xfrm>
                  <a:off x="8043685" y="1264469"/>
                  <a:ext cx="944303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2023.04</a:t>
                  </a:r>
                  <a:endParaRPr lang="ko-KR" altLang="en-US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0" name="Text 71"/>
                <p:cNvSpPr txBox="1"/>
                <p:nvPr/>
              </p:nvSpPr>
              <p:spPr>
                <a:xfrm>
                  <a:off x="9089134" y="1264469"/>
                  <a:ext cx="2534357" cy="27817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정보처리기능사</a:t>
                  </a:r>
                  <a:endParaRPr lang="en-US" sz="1200" dirty="0"/>
                </a:p>
              </p:txBody>
            </p:sp>
          </p:grpSp>
          <p:grpSp>
            <p:nvGrpSpPr>
              <p:cNvPr id="217" name="그룹 216">
                <a:extLst>
                  <a:ext uri="{FF2B5EF4-FFF2-40B4-BE49-F238E27FC236}">
                    <a16:creationId xmlns:a16="http://schemas.microsoft.com/office/drawing/2014/main" id="{6BCE95C8-F5DA-6B25-2D0B-27A8EF70BC2B}"/>
                  </a:ext>
                </a:extLst>
              </p:cNvPr>
              <p:cNvGrpSpPr/>
              <p:nvPr/>
            </p:nvGrpSpPr>
            <p:grpSpPr>
              <a:xfrm>
                <a:off x="8043685" y="1693245"/>
                <a:ext cx="3579806" cy="342161"/>
                <a:chOff x="8043685" y="1647181"/>
                <a:chExt cx="3579806" cy="342161"/>
              </a:xfrm>
            </p:grpSpPr>
            <p:sp>
              <p:nvSpPr>
                <p:cNvPr id="36" name="Shape 29"/>
                <p:cNvSpPr/>
                <p:nvPr/>
              </p:nvSpPr>
              <p:spPr>
                <a:xfrm>
                  <a:off x="8043685" y="1647181"/>
                  <a:ext cx="944303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2024.09</a:t>
                  </a:r>
                  <a:endParaRPr lang="ko-KR" altLang="en-US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2" name="Text 73"/>
                <p:cNvSpPr txBox="1"/>
                <p:nvPr/>
              </p:nvSpPr>
              <p:spPr>
                <a:xfrm>
                  <a:off x="9089134" y="1647972"/>
                  <a:ext cx="2534357" cy="27817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프롬프트 디자이너</a:t>
                  </a:r>
                  <a:endParaRPr lang="en-US" sz="1200" dirty="0"/>
                </a:p>
              </p:txBody>
            </p:sp>
          </p:grpSp>
        </p:grpSp>
        <p:grpSp>
          <p:nvGrpSpPr>
            <p:cNvPr id="236" name="그룹 235">
              <a:extLst>
                <a:ext uri="{FF2B5EF4-FFF2-40B4-BE49-F238E27FC236}">
                  <a16:creationId xmlns:a16="http://schemas.microsoft.com/office/drawing/2014/main" id="{3C98023C-FDFD-DF15-44B3-5959E9830BEC}"/>
                </a:ext>
              </a:extLst>
            </p:cNvPr>
            <p:cNvGrpSpPr/>
            <p:nvPr/>
          </p:nvGrpSpPr>
          <p:grpSpPr>
            <a:xfrm>
              <a:off x="7673535" y="2184790"/>
              <a:ext cx="4014409" cy="2494962"/>
              <a:chOff x="8043685" y="2197934"/>
              <a:chExt cx="3774391" cy="2528412"/>
            </a:xfrm>
          </p:grpSpPr>
          <p:sp>
            <p:nvSpPr>
              <p:cNvPr id="83" name="Text 74"/>
              <p:cNvSpPr txBox="1"/>
              <p:nvPr/>
            </p:nvSpPr>
            <p:spPr>
              <a:xfrm>
                <a:off x="8043685" y="2197934"/>
                <a:ext cx="3477706" cy="2145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ko-KR" altLang="en-US" b="1" dirty="0">
                    <a:solidFill>
                      <a:srgbClr val="FFFFFF"/>
                    </a:solidFill>
                    <a:latin typeface="Nanum Gothic Coding" pitchFamily="34" charset="0"/>
                    <a:ea typeface="Nanum Gothic Coding" pitchFamily="34" charset="-122"/>
                    <a:cs typeface="Nanum Gothic Coding" pitchFamily="34" charset="-120"/>
                  </a:rPr>
                  <a:t>수상이력</a:t>
                </a:r>
                <a:endParaRPr lang="en-US" dirty="0"/>
              </a:p>
            </p:txBody>
          </p:sp>
          <p:grpSp>
            <p:nvGrpSpPr>
              <p:cNvPr id="230" name="그룹 229">
                <a:extLst>
                  <a:ext uri="{FF2B5EF4-FFF2-40B4-BE49-F238E27FC236}">
                    <a16:creationId xmlns:a16="http://schemas.microsoft.com/office/drawing/2014/main" id="{4081792D-15D6-19EF-003F-B2F60E0817BD}"/>
                  </a:ext>
                </a:extLst>
              </p:cNvPr>
              <p:cNvGrpSpPr/>
              <p:nvPr/>
            </p:nvGrpSpPr>
            <p:grpSpPr>
              <a:xfrm>
                <a:off x="8072341" y="2509185"/>
                <a:ext cx="3726658" cy="342161"/>
                <a:chOff x="8072341" y="2509185"/>
                <a:chExt cx="3726658" cy="342161"/>
              </a:xfrm>
            </p:grpSpPr>
            <p:sp>
              <p:nvSpPr>
                <p:cNvPr id="37" name="Shape 30"/>
                <p:cNvSpPr/>
                <p:nvPr/>
              </p:nvSpPr>
              <p:spPr>
                <a:xfrm>
                  <a:off x="8072341" y="2509185"/>
                  <a:ext cx="944303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2025</a:t>
                  </a:r>
                  <a:endParaRPr lang="ko-KR" altLang="en-US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5" name="Text 76"/>
                <p:cNvSpPr txBox="1"/>
                <p:nvPr/>
              </p:nvSpPr>
              <p:spPr>
                <a:xfrm>
                  <a:off x="9115843" y="2509185"/>
                  <a:ext cx="2683156" cy="27817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제3회 TU Game Challenge 우수상</a:t>
                  </a:r>
                  <a:endParaRPr lang="en-US" sz="1200" dirty="0"/>
                </a:p>
              </p:txBody>
            </p:sp>
          </p:grpSp>
          <p:grpSp>
            <p:nvGrpSpPr>
              <p:cNvPr id="231" name="그룹 230">
                <a:extLst>
                  <a:ext uri="{FF2B5EF4-FFF2-40B4-BE49-F238E27FC236}">
                    <a16:creationId xmlns:a16="http://schemas.microsoft.com/office/drawing/2014/main" id="{D01DD39A-B55F-37C0-235D-35B0EAB1015F}"/>
                  </a:ext>
                </a:extLst>
              </p:cNvPr>
              <p:cNvGrpSpPr/>
              <p:nvPr/>
            </p:nvGrpSpPr>
            <p:grpSpPr>
              <a:xfrm>
                <a:off x="8072341" y="2884186"/>
                <a:ext cx="3726658" cy="364405"/>
                <a:chOff x="8072341" y="2884186"/>
                <a:chExt cx="3726658" cy="364405"/>
              </a:xfrm>
            </p:grpSpPr>
            <p:sp>
              <p:nvSpPr>
                <p:cNvPr id="38" name="Shape 31"/>
                <p:cNvSpPr/>
                <p:nvPr/>
              </p:nvSpPr>
              <p:spPr>
                <a:xfrm>
                  <a:off x="8072341" y="2884186"/>
                  <a:ext cx="944303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/>
                    <a:t>2025</a:t>
                  </a:r>
                  <a:endParaRPr lang="ko-KR" altLang="en-US" sz="1400" b="1" dirty="0"/>
                </a:p>
              </p:txBody>
            </p:sp>
            <p:sp>
              <p:nvSpPr>
                <p:cNvPr id="87" name="Text 78"/>
                <p:cNvSpPr txBox="1"/>
                <p:nvPr/>
              </p:nvSpPr>
              <p:spPr>
                <a:xfrm>
                  <a:off x="9115843" y="2884186"/>
                  <a:ext cx="2683156" cy="364405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지스타 </a:t>
                  </a:r>
                  <a:r>
                    <a:rPr lang="en-US" sz="1200" dirty="0" err="1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인디어워즈</a:t>
                  </a:r>
                  <a:r>
                    <a:rPr lang="en-US" sz="1200" dirty="0">
                      <a:solidFill>
                        <a:schemeClr val="bg1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 Best</a:t>
                  </a:r>
                  <a:r>
                    <a:rPr lang="en-US" sz="120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200" dirty="0">
                      <a:solidFill>
                        <a:schemeClr val="bg1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Experimental Game</a:t>
                  </a:r>
                  <a:endParaRPr lang="en-US" sz="12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232" name="그룹 231">
                <a:extLst>
                  <a:ext uri="{FF2B5EF4-FFF2-40B4-BE49-F238E27FC236}">
                    <a16:creationId xmlns:a16="http://schemas.microsoft.com/office/drawing/2014/main" id="{7A8F0AA2-9212-3649-7E8F-33E5077D6477}"/>
                  </a:ext>
                </a:extLst>
              </p:cNvPr>
              <p:cNvGrpSpPr/>
              <p:nvPr/>
            </p:nvGrpSpPr>
            <p:grpSpPr>
              <a:xfrm>
                <a:off x="8072341" y="3259187"/>
                <a:ext cx="3726658" cy="342161"/>
                <a:chOff x="8072341" y="3259187"/>
                <a:chExt cx="3726658" cy="342161"/>
              </a:xfrm>
            </p:grpSpPr>
            <p:sp>
              <p:nvSpPr>
                <p:cNvPr id="39" name="Shape 32"/>
                <p:cNvSpPr/>
                <p:nvPr/>
              </p:nvSpPr>
              <p:spPr>
                <a:xfrm>
                  <a:off x="8072341" y="3259187"/>
                  <a:ext cx="944303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/>
                    <a:t>2025</a:t>
                  </a:r>
                  <a:endParaRPr lang="ko-KR" altLang="en-US" sz="1400" b="1" dirty="0"/>
                </a:p>
              </p:txBody>
            </p:sp>
            <p:sp>
              <p:nvSpPr>
                <p:cNvPr id="89" name="Text 80"/>
                <p:cNvSpPr txBox="1"/>
                <p:nvPr/>
              </p:nvSpPr>
              <p:spPr>
                <a:xfrm>
                  <a:off x="9115843" y="3259187"/>
                  <a:ext cx="2683156" cy="27817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창업아이디어 경진대회 우수상</a:t>
                  </a:r>
                  <a:endParaRPr lang="en-US" sz="1200" dirty="0"/>
                </a:p>
              </p:txBody>
            </p:sp>
          </p:grpSp>
          <p:grpSp>
            <p:nvGrpSpPr>
              <p:cNvPr id="233" name="그룹 232">
                <a:extLst>
                  <a:ext uri="{FF2B5EF4-FFF2-40B4-BE49-F238E27FC236}">
                    <a16:creationId xmlns:a16="http://schemas.microsoft.com/office/drawing/2014/main" id="{0FAFA8E5-896E-37AD-2A82-A378723C82DD}"/>
                  </a:ext>
                </a:extLst>
              </p:cNvPr>
              <p:cNvGrpSpPr/>
              <p:nvPr/>
            </p:nvGrpSpPr>
            <p:grpSpPr>
              <a:xfrm>
                <a:off x="8072341" y="3634186"/>
                <a:ext cx="3726656" cy="342161"/>
                <a:chOff x="8072341" y="3634186"/>
                <a:chExt cx="3726656" cy="342161"/>
              </a:xfrm>
            </p:grpSpPr>
            <p:sp>
              <p:nvSpPr>
                <p:cNvPr id="40" name="Shape 33"/>
                <p:cNvSpPr/>
                <p:nvPr/>
              </p:nvSpPr>
              <p:spPr>
                <a:xfrm>
                  <a:off x="8072341" y="3634186"/>
                  <a:ext cx="944303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/>
                    <a:t>2025</a:t>
                  </a:r>
                  <a:endParaRPr lang="ko-KR" altLang="en-US" sz="1400" b="1" dirty="0"/>
                </a:p>
              </p:txBody>
            </p:sp>
            <p:sp>
              <p:nvSpPr>
                <p:cNvPr id="91" name="Text 82"/>
                <p:cNvSpPr txBox="1"/>
                <p:nvPr/>
              </p:nvSpPr>
              <p:spPr>
                <a:xfrm>
                  <a:off x="9115841" y="3634186"/>
                  <a:ext cx="2683156" cy="27817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부산지역인재 장학금 IT분야 수여</a:t>
                  </a:r>
                  <a:endParaRPr lang="en-US" sz="1200" dirty="0"/>
                </a:p>
              </p:txBody>
            </p:sp>
          </p:grpSp>
          <p:grpSp>
            <p:nvGrpSpPr>
              <p:cNvPr id="234" name="그룹 233">
                <a:extLst>
                  <a:ext uri="{FF2B5EF4-FFF2-40B4-BE49-F238E27FC236}">
                    <a16:creationId xmlns:a16="http://schemas.microsoft.com/office/drawing/2014/main" id="{654A73BF-56DE-B303-08DB-807AD0618151}"/>
                  </a:ext>
                </a:extLst>
              </p:cNvPr>
              <p:cNvGrpSpPr/>
              <p:nvPr/>
            </p:nvGrpSpPr>
            <p:grpSpPr>
              <a:xfrm>
                <a:off x="8072341" y="4009187"/>
                <a:ext cx="3726656" cy="342161"/>
                <a:chOff x="8072341" y="4009187"/>
                <a:chExt cx="3726656" cy="342161"/>
              </a:xfrm>
            </p:grpSpPr>
            <p:sp>
              <p:nvSpPr>
                <p:cNvPr id="41" name="Shape 34"/>
                <p:cNvSpPr/>
                <p:nvPr/>
              </p:nvSpPr>
              <p:spPr>
                <a:xfrm>
                  <a:off x="8072341" y="4009187"/>
                  <a:ext cx="944303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/>
                    <a:t>2025</a:t>
                  </a:r>
                  <a:endParaRPr lang="ko-KR" altLang="en-US" sz="1400" b="1" dirty="0"/>
                </a:p>
              </p:txBody>
            </p:sp>
            <p:sp>
              <p:nvSpPr>
                <p:cNvPr id="93" name="Text 84"/>
                <p:cNvSpPr txBox="1"/>
                <p:nvPr/>
              </p:nvSpPr>
              <p:spPr>
                <a:xfrm>
                  <a:off x="9115841" y="4009187"/>
                  <a:ext cx="2683156" cy="27817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대동장학재단 장학금 수여</a:t>
                  </a:r>
                  <a:endParaRPr lang="en-US" sz="1200" dirty="0"/>
                </a:p>
              </p:txBody>
            </p:sp>
          </p:grpSp>
          <p:grpSp>
            <p:nvGrpSpPr>
              <p:cNvPr id="235" name="그룹 234">
                <a:extLst>
                  <a:ext uri="{FF2B5EF4-FFF2-40B4-BE49-F238E27FC236}">
                    <a16:creationId xmlns:a16="http://schemas.microsoft.com/office/drawing/2014/main" id="{EFADA170-C630-AE76-72BC-8623AA2C2FB9}"/>
                  </a:ext>
                </a:extLst>
              </p:cNvPr>
              <p:cNvGrpSpPr/>
              <p:nvPr/>
            </p:nvGrpSpPr>
            <p:grpSpPr>
              <a:xfrm>
                <a:off x="8072341" y="4384185"/>
                <a:ext cx="3745735" cy="342161"/>
                <a:chOff x="8072341" y="4384185"/>
                <a:chExt cx="3745735" cy="342161"/>
              </a:xfrm>
            </p:grpSpPr>
            <p:sp>
              <p:nvSpPr>
                <p:cNvPr id="42" name="Shape 35"/>
                <p:cNvSpPr/>
                <p:nvPr/>
              </p:nvSpPr>
              <p:spPr>
                <a:xfrm>
                  <a:off x="8072341" y="4384185"/>
                  <a:ext cx="944303" cy="342161"/>
                </a:xfrm>
                <a:prstGeom prst="rect">
                  <a:avLst/>
                </a:prstGeom>
                <a:solidFill>
                  <a:srgbClr val="E0E0E0"/>
                </a:solidFill>
                <a:ln w="12700">
                  <a:solidFill>
                    <a:srgbClr val="FFFFFF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altLang="ko-KR" sz="1400" b="1" dirty="0"/>
                    <a:t>2021</a:t>
                  </a:r>
                  <a:endParaRPr lang="ko-KR" altLang="en-US" sz="1400" b="1" dirty="0"/>
                </a:p>
              </p:txBody>
            </p:sp>
            <p:sp>
              <p:nvSpPr>
                <p:cNvPr id="95" name="Text 86"/>
                <p:cNvSpPr txBox="1"/>
                <p:nvPr/>
              </p:nvSpPr>
              <p:spPr>
                <a:xfrm>
                  <a:off x="9134920" y="4384185"/>
                  <a:ext cx="2683156" cy="27817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200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TU-SEED 리빙랩 경진대회 입상</a:t>
                  </a:r>
                  <a:endParaRPr lang="en-US" sz="1200" dirty="0"/>
                </a:p>
              </p:txBody>
            </p:sp>
          </p:grpSp>
        </p:grp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ED1AACE-9D40-4D5E-A10A-B9395CD9B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92719" y="915759"/>
              <a:ext cx="1988712" cy="2498927"/>
            </a:xfrm>
            <a:prstGeom prst="rect">
              <a:avLst/>
            </a:prstGeom>
          </p:spPr>
        </p:pic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AF4D08E8-079E-1D9B-FB02-DFBAE29A032D}"/>
                </a:ext>
              </a:extLst>
            </p:cNvPr>
            <p:cNvGrpSpPr/>
            <p:nvPr/>
          </p:nvGrpSpPr>
          <p:grpSpPr>
            <a:xfrm>
              <a:off x="687994" y="3866235"/>
              <a:ext cx="2559848" cy="1451158"/>
              <a:chOff x="687994" y="3866235"/>
              <a:chExt cx="2559848" cy="1451158"/>
            </a:xfrm>
          </p:grpSpPr>
          <p:grpSp>
            <p:nvGrpSpPr>
              <p:cNvPr id="216" name="그룹 215">
                <a:extLst>
                  <a:ext uri="{FF2B5EF4-FFF2-40B4-BE49-F238E27FC236}">
                    <a16:creationId xmlns:a16="http://schemas.microsoft.com/office/drawing/2014/main" id="{C572F4E2-24DA-DA13-77E8-FA473EB968E3}"/>
                  </a:ext>
                </a:extLst>
              </p:cNvPr>
              <p:cNvGrpSpPr/>
              <p:nvPr/>
            </p:nvGrpSpPr>
            <p:grpSpPr>
              <a:xfrm>
                <a:off x="687994" y="3866235"/>
                <a:ext cx="2431328" cy="1147373"/>
                <a:chOff x="1475803" y="4612674"/>
                <a:chExt cx="2285961" cy="1162755"/>
              </a:xfrm>
            </p:grpSpPr>
            <p:sp>
              <p:nvSpPr>
                <p:cNvPr id="47" name="Text 40"/>
                <p:cNvSpPr txBox="1"/>
                <p:nvPr/>
              </p:nvSpPr>
              <p:spPr>
                <a:xfrm>
                  <a:off x="1475803" y="4612674"/>
                  <a:ext cx="2186205" cy="21453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500" b="1" dirty="0" err="1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개인</a:t>
                  </a:r>
                  <a:r>
                    <a:rPr lang="en-US" sz="1500" b="1" dirty="0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 </a:t>
                  </a:r>
                  <a:r>
                    <a:rPr lang="en-US" sz="1500" b="1" dirty="0" err="1">
                      <a:solidFill>
                        <a:srgbClr val="FFFFFF"/>
                      </a:solidFill>
                      <a:latin typeface="Nanum Gothic Coding" pitchFamily="34" charset="0"/>
                      <a:ea typeface="Nanum Gothic Coding" pitchFamily="34" charset="-122"/>
                      <a:cs typeface="Nanum Gothic Coding" pitchFamily="34" charset="-120"/>
                    </a:rPr>
                    <a:t>정보</a:t>
                  </a:r>
                  <a:endParaRPr lang="en-US" sz="1500" dirty="0"/>
                </a:p>
              </p:txBody>
            </p:sp>
            <p:grpSp>
              <p:nvGrpSpPr>
                <p:cNvPr id="212" name="그룹 211">
                  <a:extLst>
                    <a:ext uri="{FF2B5EF4-FFF2-40B4-BE49-F238E27FC236}">
                      <a16:creationId xmlns:a16="http://schemas.microsoft.com/office/drawing/2014/main" id="{6CA92BF4-26E4-0FE1-CBA7-1F3CE89CFD74}"/>
                    </a:ext>
                  </a:extLst>
                </p:cNvPr>
                <p:cNvGrpSpPr/>
                <p:nvPr/>
              </p:nvGrpSpPr>
              <p:grpSpPr>
                <a:xfrm>
                  <a:off x="1475803" y="4996371"/>
                  <a:ext cx="1045968" cy="180617"/>
                  <a:chOff x="1475803" y="4996371"/>
                  <a:chExt cx="1045968" cy="180617"/>
                </a:xfrm>
              </p:grpSpPr>
              <p:sp>
                <p:nvSpPr>
                  <p:cNvPr id="48" name="Text 41"/>
                  <p:cNvSpPr txBox="1"/>
                  <p:nvPr/>
                </p:nvSpPr>
                <p:spPr>
                  <a:xfrm>
                    <a:off x="1475803" y="5015829"/>
                    <a:ext cx="596151" cy="161159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200" dirty="0">
                        <a:solidFill>
                          <a:srgbClr val="FFFFFF"/>
                        </a:solidFill>
                        <a:latin typeface="Nanum Gothic Coding" pitchFamily="34" charset="0"/>
                        <a:ea typeface="Nanum Gothic Coding" pitchFamily="34" charset="-122"/>
                        <a:cs typeface="Nanum Gothic Coding" pitchFamily="34" charset="-120"/>
                      </a:rPr>
                      <a:t>이름</a:t>
                    </a:r>
                    <a:endParaRPr lang="en-US" sz="1200" dirty="0"/>
                  </a:p>
                </p:txBody>
              </p:sp>
              <p:sp>
                <p:nvSpPr>
                  <p:cNvPr id="49" name="Text 42"/>
                  <p:cNvSpPr txBox="1"/>
                  <p:nvPr/>
                </p:nvSpPr>
                <p:spPr>
                  <a:xfrm>
                    <a:off x="2063927" y="4996371"/>
                    <a:ext cx="457844" cy="161159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200" b="1" dirty="0">
                        <a:solidFill>
                          <a:srgbClr val="FFFFFF"/>
                        </a:solidFill>
                        <a:latin typeface="Nanum Gothic Coding" pitchFamily="34" charset="0"/>
                        <a:ea typeface="Nanum Gothic Coding" pitchFamily="34" charset="-122"/>
                        <a:cs typeface="Nanum Gothic Coding" pitchFamily="34" charset="-120"/>
                      </a:rPr>
                      <a:t>이민혁</a:t>
                    </a:r>
                    <a:endParaRPr lang="en-US" sz="1200" dirty="0"/>
                  </a:p>
                </p:txBody>
              </p:sp>
            </p:grpSp>
            <p:grpSp>
              <p:nvGrpSpPr>
                <p:cNvPr id="213" name="그룹 212">
                  <a:extLst>
                    <a:ext uri="{FF2B5EF4-FFF2-40B4-BE49-F238E27FC236}">
                      <a16:creationId xmlns:a16="http://schemas.microsoft.com/office/drawing/2014/main" id="{062662A7-BC4A-9F20-D91A-C87FF2EEDBBA}"/>
                    </a:ext>
                  </a:extLst>
                </p:cNvPr>
                <p:cNvGrpSpPr/>
                <p:nvPr/>
              </p:nvGrpSpPr>
              <p:grpSpPr>
                <a:xfrm>
                  <a:off x="1475803" y="5284813"/>
                  <a:ext cx="2285961" cy="190883"/>
                  <a:chOff x="1475803" y="5284813"/>
                  <a:chExt cx="2285961" cy="190883"/>
                </a:xfrm>
              </p:grpSpPr>
              <p:sp>
                <p:nvSpPr>
                  <p:cNvPr id="50" name="Text 43"/>
                  <p:cNvSpPr txBox="1"/>
                  <p:nvPr/>
                </p:nvSpPr>
                <p:spPr>
                  <a:xfrm>
                    <a:off x="1475803" y="5304273"/>
                    <a:ext cx="596151" cy="171423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200" dirty="0">
                        <a:solidFill>
                          <a:srgbClr val="FFFFFF"/>
                        </a:solidFill>
                        <a:latin typeface="Nanum Gothic Coding" pitchFamily="34" charset="0"/>
                        <a:ea typeface="Nanum Gothic Coding" pitchFamily="34" charset="-122"/>
                        <a:cs typeface="Nanum Gothic Coding" pitchFamily="34" charset="-120"/>
                      </a:rPr>
                      <a:t>이메일</a:t>
                    </a:r>
                    <a:endParaRPr lang="en-US" sz="1200" dirty="0"/>
                  </a:p>
                </p:txBody>
              </p:sp>
              <p:sp>
                <p:nvSpPr>
                  <p:cNvPr id="51" name="Text 44"/>
                  <p:cNvSpPr txBox="1"/>
                  <p:nvPr/>
                </p:nvSpPr>
                <p:spPr>
                  <a:xfrm>
                    <a:off x="2063926" y="5284813"/>
                    <a:ext cx="1697838" cy="171423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20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Arial" pitchFamily="34" charset="-122"/>
                        <a:cs typeface="Arial" pitchFamily="34" charset="-120"/>
                      </a:rPr>
                      <a:t>self4688@gmail.com</a:t>
                    </a:r>
                    <a:endParaRPr lang="en-US" sz="1200" dirty="0"/>
                  </a:p>
                </p:txBody>
              </p:sp>
            </p:grpSp>
            <p:grpSp>
              <p:nvGrpSpPr>
                <p:cNvPr id="214" name="그룹 213">
                  <a:extLst>
                    <a:ext uri="{FF2B5EF4-FFF2-40B4-BE49-F238E27FC236}">
                      <a16:creationId xmlns:a16="http://schemas.microsoft.com/office/drawing/2014/main" id="{42323709-70F5-6D3F-3372-9FADA054AD44}"/>
                    </a:ext>
                  </a:extLst>
                </p:cNvPr>
                <p:cNvGrpSpPr/>
                <p:nvPr/>
              </p:nvGrpSpPr>
              <p:grpSpPr>
                <a:xfrm>
                  <a:off x="1475803" y="5584546"/>
                  <a:ext cx="1814763" cy="190883"/>
                  <a:chOff x="1475803" y="5584546"/>
                  <a:chExt cx="1814763" cy="190883"/>
                </a:xfrm>
              </p:grpSpPr>
              <p:sp>
                <p:nvSpPr>
                  <p:cNvPr id="52" name="Text 45"/>
                  <p:cNvSpPr txBox="1"/>
                  <p:nvPr/>
                </p:nvSpPr>
                <p:spPr>
                  <a:xfrm>
                    <a:off x="1475803" y="5604006"/>
                    <a:ext cx="596151" cy="171423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200" dirty="0">
                        <a:solidFill>
                          <a:srgbClr val="FFFFFF"/>
                        </a:solidFill>
                        <a:latin typeface="Nanum Gothic Coding" pitchFamily="34" charset="0"/>
                        <a:ea typeface="Nanum Gothic Coding" pitchFamily="34" charset="-122"/>
                        <a:cs typeface="Nanum Gothic Coding" pitchFamily="34" charset="-120"/>
                      </a:rPr>
                      <a:t>번호</a:t>
                    </a:r>
                    <a:endParaRPr lang="en-US" sz="1200" dirty="0"/>
                  </a:p>
                </p:txBody>
              </p:sp>
              <p:sp>
                <p:nvSpPr>
                  <p:cNvPr id="53" name="Text 46"/>
                  <p:cNvSpPr txBox="1"/>
                  <p:nvPr/>
                </p:nvSpPr>
                <p:spPr>
                  <a:xfrm>
                    <a:off x="2063926" y="5584546"/>
                    <a:ext cx="1226640" cy="171423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200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Arial" pitchFamily="34" charset="-122"/>
                        <a:cs typeface="Arial" pitchFamily="34" charset="-120"/>
                      </a:rPr>
                      <a:t>010-2058-3532</a:t>
                    </a:r>
                    <a:endParaRPr lang="en-US" sz="1200" dirty="0"/>
                  </a:p>
                </p:txBody>
              </p:sp>
            </p:grpSp>
          </p:grpSp>
          <p:sp>
            <p:nvSpPr>
              <p:cNvPr id="126" name="Text 45">
                <a:extLst>
                  <a:ext uri="{FF2B5EF4-FFF2-40B4-BE49-F238E27FC236}">
                    <a16:creationId xmlns:a16="http://schemas.microsoft.com/office/drawing/2014/main" id="{65BC8066-F5C7-4F87-8519-AAB4704A54EF}"/>
                  </a:ext>
                </a:extLst>
              </p:cNvPr>
              <p:cNvSpPr txBox="1"/>
              <p:nvPr/>
            </p:nvSpPr>
            <p:spPr>
              <a:xfrm>
                <a:off x="687994" y="5148238"/>
                <a:ext cx="634061" cy="16915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ko-KR" altLang="en-US" sz="1200" dirty="0" err="1">
                    <a:solidFill>
                      <a:schemeClr val="bg1"/>
                    </a:solidFill>
                  </a:rPr>
                  <a:t>깃허브</a:t>
                </a:r>
                <a:endParaRPr lang="en-US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7" name="Text 46">
                <a:extLst>
                  <a:ext uri="{FF2B5EF4-FFF2-40B4-BE49-F238E27FC236}">
                    <a16:creationId xmlns:a16="http://schemas.microsoft.com/office/drawing/2014/main" id="{F7EDE0FD-8D7C-4A88-A2EC-C89BD9E76E01}"/>
                  </a:ext>
                </a:extLst>
              </p:cNvPr>
              <p:cNvSpPr txBox="1"/>
              <p:nvPr/>
            </p:nvSpPr>
            <p:spPr>
              <a:xfrm>
                <a:off x="1313517" y="5129035"/>
                <a:ext cx="1934325" cy="16915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itchFamily="34" charset="-122"/>
                    <a:cs typeface="Arial" pitchFamily="34" charset="-120"/>
                    <a:hlinkClick r:id="rId9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https://github.com/InfiSword</a:t>
                </a:r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02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131" name="Shape 103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04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3" name="Shape 105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34" name="Shape 106"/>
          <p:cNvSpPr/>
          <p:nvPr/>
        </p:nvSpPr>
        <p:spPr>
          <a:xfrm>
            <a:off x="10477195" y="6534302"/>
            <a:ext cx="1619402" cy="267005"/>
          </a:xfrm>
          <a:prstGeom prst="rect">
            <a:avLst/>
          </a:prstGeom>
          <a:solidFill>
            <a:srgbClr val="C0C0C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135" name="Image 25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136" name="Text 107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lang="en-US" sz="1000" dirty="0"/>
          </a:p>
        </p:txBody>
      </p:sp>
      <p:pic>
        <p:nvPicPr>
          <p:cNvPr id="137" name="Image 26" descr="gen-dedup-1027b540a23f27953c8b221c66837c2b.png"/>
          <p:cNvPicPr>
            <a:picLocks noChangeAspect="1"/>
          </p:cNvPicPr>
          <p:nvPr/>
        </p:nvPicPr>
        <p:blipFill>
          <a:blip r:embed="rId4"/>
          <a:srcRect t="-6250" b="-6250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138" name="Text 108"/>
          <p:cNvSpPr txBox="1"/>
          <p:nvPr/>
        </p:nvSpPr>
        <p:spPr>
          <a:xfrm>
            <a:off x="1238098" y="6577279"/>
            <a:ext cx="143743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탐색 중 - Projects</a:t>
            </a:r>
            <a:endParaRPr lang="en-US" sz="900" dirty="0"/>
          </a:p>
        </p:txBody>
      </p:sp>
      <p:pic>
        <p:nvPicPr>
          <p:cNvPr id="139" name="Image 27" descr="gen-dedup-7740a029182e5c65b65e33d2aaed94e2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10573207" y="6590995"/>
            <a:ext cx="152705" cy="152705"/>
          </a:xfrm>
          <a:prstGeom prst="rect">
            <a:avLst/>
          </a:prstGeom>
        </p:spPr>
      </p:pic>
      <p:sp>
        <p:nvSpPr>
          <p:cNvPr id="140" name="Text 109"/>
          <p:cNvSpPr txBox="1"/>
          <p:nvPr/>
        </p:nvSpPr>
        <p:spPr>
          <a:xfrm>
            <a:off x="11124590" y="6590995"/>
            <a:ext cx="7260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10:00 AM</a:t>
            </a:r>
            <a:endParaRPr lang="en-US" sz="1000" dirty="0"/>
          </a:p>
        </p:txBody>
      </p:sp>
      <p:sp>
        <p:nvSpPr>
          <p:cNvPr id="103" name="Shape 10">
            <a:extLst>
              <a:ext uri="{FF2B5EF4-FFF2-40B4-BE49-F238E27FC236}">
                <a16:creationId xmlns:a16="http://schemas.microsoft.com/office/drawing/2014/main" id="{14A75B8D-58B7-472B-BBE7-FDD8817C001B}"/>
              </a:ext>
            </a:extLst>
          </p:cNvPr>
          <p:cNvSpPr/>
          <p:nvPr/>
        </p:nvSpPr>
        <p:spPr>
          <a:xfrm>
            <a:off x="661626" y="166485"/>
            <a:ext cx="10890197" cy="6084503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1" name="Shape 15">
            <a:extLst>
              <a:ext uri="{FF2B5EF4-FFF2-40B4-BE49-F238E27FC236}">
                <a16:creationId xmlns:a16="http://schemas.microsoft.com/office/drawing/2014/main" id="{C21C50EE-23E3-464C-A24A-63BA82DF84D4}"/>
              </a:ext>
            </a:extLst>
          </p:cNvPr>
          <p:cNvSpPr/>
          <p:nvPr/>
        </p:nvSpPr>
        <p:spPr>
          <a:xfrm>
            <a:off x="701182" y="1560309"/>
            <a:ext cx="10812027" cy="4648743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E65B657-856D-1E2A-31B9-614924527E31}"/>
              </a:ext>
            </a:extLst>
          </p:cNvPr>
          <p:cNvGrpSpPr/>
          <p:nvPr/>
        </p:nvGrpSpPr>
        <p:grpSpPr>
          <a:xfrm>
            <a:off x="681405" y="196889"/>
            <a:ext cx="10850641" cy="1372857"/>
            <a:chOff x="831321" y="26288"/>
            <a:chExt cx="10850641" cy="1372857"/>
          </a:xfrm>
        </p:grpSpPr>
        <p:sp>
          <p:nvSpPr>
            <p:cNvPr id="104" name="Shape 11">
              <a:extLst>
                <a:ext uri="{FF2B5EF4-FFF2-40B4-BE49-F238E27FC236}">
                  <a16:creationId xmlns:a16="http://schemas.microsoft.com/office/drawing/2014/main" id="{71A388DE-101E-4470-BFD4-A6A63EA671A5}"/>
                </a:ext>
              </a:extLst>
            </p:cNvPr>
            <p:cNvSpPr/>
            <p:nvPr/>
          </p:nvSpPr>
          <p:spPr>
            <a:xfrm>
              <a:off x="831321" y="26288"/>
              <a:ext cx="10850641" cy="291545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105" name="Image 5" descr="gen-dedup-23665c0bc8193eed4b19e05b81a508d3.png">
              <a:extLst>
                <a:ext uri="{FF2B5EF4-FFF2-40B4-BE49-F238E27FC236}">
                  <a16:creationId xmlns:a16="http://schemas.microsoft.com/office/drawing/2014/main" id="{2293A2AB-329A-4D4D-A2B3-1C7504C12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-399" b="-399"/>
            <a:stretch/>
          </p:blipFill>
          <p:spPr>
            <a:xfrm>
              <a:off x="831321" y="567443"/>
              <a:ext cx="10850641" cy="41935"/>
            </a:xfrm>
            <a:prstGeom prst="rect">
              <a:avLst/>
            </a:prstGeom>
          </p:spPr>
        </p:pic>
        <p:sp>
          <p:nvSpPr>
            <p:cNvPr id="106" name="Shape 12">
              <a:extLst>
                <a:ext uri="{FF2B5EF4-FFF2-40B4-BE49-F238E27FC236}">
                  <a16:creationId xmlns:a16="http://schemas.microsoft.com/office/drawing/2014/main" id="{BF7862CB-A48A-41ED-BB49-4572C79D2442}"/>
                </a:ext>
              </a:extLst>
            </p:cNvPr>
            <p:cNvSpPr/>
            <p:nvPr/>
          </p:nvSpPr>
          <p:spPr>
            <a:xfrm>
              <a:off x="831321" y="588410"/>
              <a:ext cx="10850641" cy="41635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107" name="Image 6" descr="gen-dedup-23665c0bc8193eed4b19e05b81a508d3.png">
              <a:extLst>
                <a:ext uri="{FF2B5EF4-FFF2-40B4-BE49-F238E27FC236}">
                  <a16:creationId xmlns:a16="http://schemas.microsoft.com/office/drawing/2014/main" id="{20ABEAB4-CC5E-4191-B75F-C98135769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-399" b="-399"/>
            <a:stretch/>
          </p:blipFill>
          <p:spPr>
            <a:xfrm>
              <a:off x="831321" y="1003762"/>
              <a:ext cx="10850641" cy="41935"/>
            </a:xfrm>
            <a:prstGeom prst="rect">
              <a:avLst/>
            </a:prstGeom>
          </p:spPr>
        </p:pic>
        <p:sp>
          <p:nvSpPr>
            <p:cNvPr id="108" name="Shape 13">
              <a:extLst>
                <a:ext uri="{FF2B5EF4-FFF2-40B4-BE49-F238E27FC236}">
                  <a16:creationId xmlns:a16="http://schemas.microsoft.com/office/drawing/2014/main" id="{778C56FF-CFDC-45C0-B015-6894EB626093}"/>
                </a:ext>
              </a:extLst>
            </p:cNvPr>
            <p:cNvSpPr/>
            <p:nvPr/>
          </p:nvSpPr>
          <p:spPr>
            <a:xfrm>
              <a:off x="831321" y="1024729"/>
              <a:ext cx="10850641" cy="332481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109" name="Image 7" descr="gen-dedup-23665c0bc8193eed4b19e05b81a508d3.png">
              <a:extLst>
                <a:ext uri="{FF2B5EF4-FFF2-40B4-BE49-F238E27FC236}">
                  <a16:creationId xmlns:a16="http://schemas.microsoft.com/office/drawing/2014/main" id="{8EAD3060-1BC9-4720-89D3-B2F118FDE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-399" b="-399"/>
            <a:stretch/>
          </p:blipFill>
          <p:spPr>
            <a:xfrm>
              <a:off x="831321" y="1357210"/>
              <a:ext cx="10850641" cy="41935"/>
            </a:xfrm>
            <a:prstGeom prst="rect">
              <a:avLst/>
            </a:prstGeom>
          </p:spPr>
        </p:pic>
        <p:sp>
          <p:nvSpPr>
            <p:cNvPr id="113" name="Shape 17">
              <a:extLst>
                <a:ext uri="{FF2B5EF4-FFF2-40B4-BE49-F238E27FC236}">
                  <a16:creationId xmlns:a16="http://schemas.microsoft.com/office/drawing/2014/main" id="{91B29A68-FFAE-4CAE-892D-A568DC5821A1}"/>
                </a:ext>
              </a:extLst>
            </p:cNvPr>
            <p:cNvSpPr/>
            <p:nvPr/>
          </p:nvSpPr>
          <p:spPr>
            <a:xfrm>
              <a:off x="10838096" y="57239"/>
              <a:ext cx="215676" cy="228644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14" name="Shape 18">
              <a:extLst>
                <a:ext uri="{FF2B5EF4-FFF2-40B4-BE49-F238E27FC236}">
                  <a16:creationId xmlns:a16="http://schemas.microsoft.com/office/drawing/2014/main" id="{5ED4C68E-2927-4286-A306-85C476D8C2C7}"/>
                </a:ext>
              </a:extLst>
            </p:cNvPr>
            <p:cNvSpPr/>
            <p:nvPr/>
          </p:nvSpPr>
          <p:spPr>
            <a:xfrm>
              <a:off x="11132884" y="57239"/>
              <a:ext cx="215676" cy="228644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15" name="Shape 19">
              <a:extLst>
                <a:ext uri="{FF2B5EF4-FFF2-40B4-BE49-F238E27FC236}">
                  <a16:creationId xmlns:a16="http://schemas.microsoft.com/office/drawing/2014/main" id="{629F123C-82EE-47C3-9DC8-E100143135E9}"/>
                </a:ext>
              </a:extLst>
            </p:cNvPr>
            <p:cNvSpPr/>
            <p:nvPr/>
          </p:nvSpPr>
          <p:spPr>
            <a:xfrm>
              <a:off x="11426730" y="57239"/>
              <a:ext cx="215676" cy="228644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16" name="Text 20">
              <a:extLst>
                <a:ext uri="{FF2B5EF4-FFF2-40B4-BE49-F238E27FC236}">
                  <a16:creationId xmlns:a16="http://schemas.microsoft.com/office/drawing/2014/main" id="{299A98B0-9D78-41C5-8B65-6BDFCC859999}"/>
                </a:ext>
              </a:extLst>
            </p:cNvPr>
            <p:cNvSpPr txBox="1"/>
            <p:nvPr/>
          </p:nvSpPr>
          <p:spPr>
            <a:xfrm>
              <a:off x="867642" y="343792"/>
              <a:ext cx="2908322" cy="1976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파일(F)   </a:t>
              </a:r>
              <a:r>
                <a:rPr lang="en-US" sz="900" dirty="0" err="1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편집</a:t>
              </a:r>
              <a:r>
                <a:rPr lang="en-US" sz="900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(E)   </a:t>
              </a:r>
              <a:r>
                <a:rPr lang="en-US" sz="900" dirty="0" err="1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보기</a:t>
              </a:r>
              <a:r>
                <a:rPr lang="en-US" sz="900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(V)   </a:t>
              </a:r>
              <a:r>
                <a:rPr lang="en-US" sz="900" dirty="0" err="1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도구</a:t>
              </a:r>
              <a:r>
                <a:rPr lang="en-US" sz="900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(T)   </a:t>
              </a:r>
              <a:r>
                <a:rPr lang="en-US" sz="900" dirty="0" err="1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도움말</a:t>
              </a:r>
              <a:r>
                <a:rPr lang="en-US" sz="900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(H)</a:t>
              </a:r>
              <a:endParaRPr lang="en-US" sz="900" dirty="0"/>
            </a:p>
          </p:txBody>
        </p:sp>
        <p:sp>
          <p:nvSpPr>
            <p:cNvPr id="117" name="Shape 21">
              <a:extLst>
                <a:ext uri="{FF2B5EF4-FFF2-40B4-BE49-F238E27FC236}">
                  <a16:creationId xmlns:a16="http://schemas.microsoft.com/office/drawing/2014/main" id="{BA430CC0-BC0A-472A-9F4E-CEDB0A52E19C}"/>
                </a:ext>
              </a:extLst>
            </p:cNvPr>
            <p:cNvSpPr/>
            <p:nvPr/>
          </p:nvSpPr>
          <p:spPr>
            <a:xfrm>
              <a:off x="910432" y="640329"/>
              <a:ext cx="313624" cy="332481"/>
            </a:xfrm>
            <a:prstGeom prst="rect">
              <a:avLst/>
            </a:prstGeom>
            <a:noFill/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18" name="Shape 22">
              <a:extLst>
                <a:ext uri="{FF2B5EF4-FFF2-40B4-BE49-F238E27FC236}">
                  <a16:creationId xmlns:a16="http://schemas.microsoft.com/office/drawing/2014/main" id="{D0F1BAB3-55DD-4B90-9514-6377C02A9076}"/>
                </a:ext>
              </a:extLst>
            </p:cNvPr>
            <p:cNvSpPr/>
            <p:nvPr/>
          </p:nvSpPr>
          <p:spPr>
            <a:xfrm>
              <a:off x="1253253" y="640329"/>
              <a:ext cx="313624" cy="332481"/>
            </a:xfrm>
            <a:prstGeom prst="rect">
              <a:avLst/>
            </a:prstGeom>
            <a:noFill/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19" name="Shape 23">
              <a:extLst>
                <a:ext uri="{FF2B5EF4-FFF2-40B4-BE49-F238E27FC236}">
                  <a16:creationId xmlns:a16="http://schemas.microsoft.com/office/drawing/2014/main" id="{413C9993-835C-4DCE-99EE-1A4B19C69446}"/>
                </a:ext>
              </a:extLst>
            </p:cNvPr>
            <p:cNvSpPr/>
            <p:nvPr/>
          </p:nvSpPr>
          <p:spPr>
            <a:xfrm>
              <a:off x="1597015" y="640329"/>
              <a:ext cx="313624" cy="332481"/>
            </a:xfrm>
            <a:prstGeom prst="rect">
              <a:avLst/>
            </a:prstGeom>
            <a:noFill/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22" name="Shape 25">
              <a:extLst>
                <a:ext uri="{FF2B5EF4-FFF2-40B4-BE49-F238E27FC236}">
                  <a16:creationId xmlns:a16="http://schemas.microsoft.com/office/drawing/2014/main" id="{F3567888-8960-4D67-8893-94ED42CC31E1}"/>
                </a:ext>
              </a:extLst>
            </p:cNvPr>
            <p:cNvSpPr/>
            <p:nvPr/>
          </p:nvSpPr>
          <p:spPr>
            <a:xfrm>
              <a:off x="1499066" y="1066664"/>
              <a:ext cx="9320193" cy="24961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808080"/>
              </a:solidFill>
              <a:prstDash val="solid"/>
            </a:ln>
          </p:spPr>
        </p:sp>
        <p:sp>
          <p:nvSpPr>
            <p:cNvPr id="123" name="Shape 26">
              <a:extLst>
                <a:ext uri="{FF2B5EF4-FFF2-40B4-BE49-F238E27FC236}">
                  <a16:creationId xmlns:a16="http://schemas.microsoft.com/office/drawing/2014/main" id="{F9BE2189-0E78-419A-8C1A-57E458CD3185}"/>
                </a:ext>
              </a:extLst>
            </p:cNvPr>
            <p:cNvSpPr/>
            <p:nvPr/>
          </p:nvSpPr>
          <p:spPr>
            <a:xfrm>
              <a:off x="10917208" y="1045696"/>
              <a:ext cx="686583" cy="270577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FFFFFF"/>
              </a:solidFill>
              <a:prstDash val="solid"/>
            </a:ln>
          </p:spPr>
        </p:sp>
        <p:pic>
          <p:nvPicPr>
            <p:cNvPr id="148" name="Image 8" descr="gen-dedup-7c02ed4669765158cb6410457d6288f7.png">
              <a:extLst>
                <a:ext uri="{FF2B5EF4-FFF2-40B4-BE49-F238E27FC236}">
                  <a16:creationId xmlns:a16="http://schemas.microsoft.com/office/drawing/2014/main" id="{2665EC4D-B367-4232-8285-18D4141E8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-6250" b="-6250"/>
            <a:stretch/>
          </p:blipFill>
          <p:spPr>
            <a:xfrm>
              <a:off x="890655" y="89190"/>
              <a:ext cx="157283" cy="166740"/>
            </a:xfrm>
            <a:prstGeom prst="rect">
              <a:avLst/>
            </a:prstGeom>
          </p:spPr>
        </p:pic>
        <p:sp>
          <p:nvSpPr>
            <p:cNvPr id="149" name="Text 36">
              <a:extLst>
                <a:ext uri="{FF2B5EF4-FFF2-40B4-BE49-F238E27FC236}">
                  <a16:creationId xmlns:a16="http://schemas.microsoft.com/office/drawing/2014/main" id="{E428AE1F-5E2A-45BC-8AD2-EAAD85DE2C03}"/>
                </a:ext>
              </a:extLst>
            </p:cNvPr>
            <p:cNvSpPr txBox="1"/>
            <p:nvPr/>
          </p:nvSpPr>
          <p:spPr>
            <a:xfrm>
              <a:off x="1155304" y="68223"/>
              <a:ext cx="1594491" cy="208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탐색 중 - Projects</a:t>
              </a:r>
              <a:endParaRPr lang="en-US" sz="1000" dirty="0"/>
            </a:p>
          </p:txBody>
        </p:sp>
        <p:sp>
          <p:nvSpPr>
            <p:cNvPr id="150" name="Text 37">
              <a:extLst>
                <a:ext uri="{FF2B5EF4-FFF2-40B4-BE49-F238E27FC236}">
                  <a16:creationId xmlns:a16="http://schemas.microsoft.com/office/drawing/2014/main" id="{B62B1CCF-70A3-4E76-BC3F-82C5DF2D170C}"/>
                </a:ext>
              </a:extLst>
            </p:cNvPr>
            <p:cNvSpPr txBox="1"/>
            <p:nvPr/>
          </p:nvSpPr>
          <p:spPr>
            <a:xfrm>
              <a:off x="10905906" y="83199"/>
              <a:ext cx="83822" cy="1457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_</a:t>
              </a:r>
              <a:endParaRPr lang="en-US" sz="900" dirty="0"/>
            </a:p>
          </p:txBody>
        </p:sp>
        <p:sp>
          <p:nvSpPr>
            <p:cNvPr id="151" name="Shape 38">
              <a:extLst>
                <a:ext uri="{FF2B5EF4-FFF2-40B4-BE49-F238E27FC236}">
                  <a16:creationId xmlns:a16="http://schemas.microsoft.com/office/drawing/2014/main" id="{D76E0BCC-364D-4EE0-BC3A-3858A77A42F3}"/>
                </a:ext>
              </a:extLst>
            </p:cNvPr>
            <p:cNvSpPr/>
            <p:nvPr/>
          </p:nvSpPr>
          <p:spPr>
            <a:xfrm>
              <a:off x="11181858" y="104166"/>
              <a:ext cx="117727" cy="13479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152" name="Shape 39">
              <a:extLst>
                <a:ext uri="{FF2B5EF4-FFF2-40B4-BE49-F238E27FC236}">
                  <a16:creationId xmlns:a16="http://schemas.microsoft.com/office/drawing/2014/main" id="{B2824EFA-3C56-436D-9EF5-EACB833A8EB2}"/>
                </a:ext>
              </a:extLst>
            </p:cNvPr>
            <p:cNvSpPr/>
            <p:nvPr/>
          </p:nvSpPr>
          <p:spPr>
            <a:xfrm>
              <a:off x="11181858" y="104166"/>
              <a:ext cx="117727" cy="20967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</p:sp>
        <p:sp>
          <p:nvSpPr>
            <p:cNvPr id="157" name="Text 40">
              <a:extLst>
                <a:ext uri="{FF2B5EF4-FFF2-40B4-BE49-F238E27FC236}">
                  <a16:creationId xmlns:a16="http://schemas.microsoft.com/office/drawing/2014/main" id="{73B04141-7F29-472D-BF63-5B332765C610}"/>
                </a:ext>
              </a:extLst>
            </p:cNvPr>
            <p:cNvSpPr txBox="1"/>
            <p:nvPr/>
          </p:nvSpPr>
          <p:spPr>
            <a:xfrm>
              <a:off x="11495482" y="99174"/>
              <a:ext cx="88531" cy="1457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X</a:t>
              </a:r>
              <a:endParaRPr lang="en-US" sz="900" dirty="0"/>
            </a:p>
          </p:txBody>
        </p:sp>
        <p:pic>
          <p:nvPicPr>
            <p:cNvPr id="158" name="Image 9" descr="gen-dedup-25afa46a09582202a40d6f31fc2ccf91.png">
              <a:extLst>
                <a:ext uri="{FF2B5EF4-FFF2-40B4-BE49-F238E27FC236}">
                  <a16:creationId xmlns:a16="http://schemas.microsoft.com/office/drawing/2014/main" id="{6D3A70D4-DA94-488E-BECC-BF8D28E43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-7143" r="-7143"/>
            <a:stretch/>
          </p:blipFill>
          <p:spPr>
            <a:xfrm>
              <a:off x="978243" y="713215"/>
              <a:ext cx="157283" cy="166740"/>
            </a:xfrm>
            <a:prstGeom prst="rect">
              <a:avLst/>
            </a:prstGeom>
          </p:spPr>
        </p:pic>
        <p:pic>
          <p:nvPicPr>
            <p:cNvPr id="159" name="Image 10" descr="gen-dedup-53d8cb32c6720cdad62ecd3793163a86.png">
              <a:extLst>
                <a:ext uri="{FF2B5EF4-FFF2-40B4-BE49-F238E27FC236}">
                  <a16:creationId xmlns:a16="http://schemas.microsoft.com/office/drawing/2014/main" id="{38CE9DD8-4C0F-46DC-B9A0-EA21C7095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-7143" r="-7143"/>
            <a:stretch/>
          </p:blipFill>
          <p:spPr>
            <a:xfrm>
              <a:off x="1322005" y="713215"/>
              <a:ext cx="157283" cy="166740"/>
            </a:xfrm>
            <a:prstGeom prst="rect">
              <a:avLst/>
            </a:prstGeom>
          </p:spPr>
        </p:pic>
        <p:pic>
          <p:nvPicPr>
            <p:cNvPr id="160" name="Image 11" descr="gen-dedup-fa17d56a867348b02c8a56abf7174658.png">
              <a:extLst>
                <a:ext uri="{FF2B5EF4-FFF2-40B4-BE49-F238E27FC236}">
                  <a16:creationId xmlns:a16="http://schemas.microsoft.com/office/drawing/2014/main" id="{922B725B-A15E-4516-BFD5-E5CBF5F33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-16666" r="-16666"/>
            <a:stretch/>
          </p:blipFill>
          <p:spPr>
            <a:xfrm>
              <a:off x="1665768" y="713215"/>
              <a:ext cx="157283" cy="166740"/>
            </a:xfrm>
            <a:prstGeom prst="rect">
              <a:avLst/>
            </a:prstGeom>
          </p:spPr>
        </p:pic>
        <p:pic>
          <p:nvPicPr>
            <p:cNvPr id="161" name="Image 12" descr="gen-dedup-013b38688217c28f0315b66cc4dba47b.png">
              <a:extLst>
                <a:ext uri="{FF2B5EF4-FFF2-40B4-BE49-F238E27FC236}">
                  <a16:creationId xmlns:a16="http://schemas.microsoft.com/office/drawing/2014/main" id="{D017ADA0-79CA-457C-8D33-D42315770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2185649" y="713215"/>
              <a:ext cx="157283" cy="166740"/>
            </a:xfrm>
            <a:prstGeom prst="rect">
              <a:avLst/>
            </a:prstGeom>
          </p:spPr>
        </p:pic>
        <p:pic>
          <p:nvPicPr>
            <p:cNvPr id="162" name="Image 13" descr="gen-dedup-3408d1960989eaff15e10127b414fcf2.png">
              <a:extLst>
                <a:ext uri="{FF2B5EF4-FFF2-40B4-BE49-F238E27FC236}">
                  <a16:creationId xmlns:a16="http://schemas.microsoft.com/office/drawing/2014/main" id="{99A1AEF4-E23A-47B4-A49D-1A8A656F8C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-7143" r="-7143"/>
            <a:stretch/>
          </p:blipFill>
          <p:spPr>
            <a:xfrm>
              <a:off x="2479496" y="713215"/>
              <a:ext cx="157283" cy="166740"/>
            </a:xfrm>
            <a:prstGeom prst="rect">
              <a:avLst/>
            </a:prstGeom>
          </p:spPr>
        </p:pic>
        <p:pic>
          <p:nvPicPr>
            <p:cNvPr id="163" name="Image 14" descr="gen-dedup-6e9e672aa626b1edf6db8640b2821839.png">
              <a:extLst>
                <a:ext uri="{FF2B5EF4-FFF2-40B4-BE49-F238E27FC236}">
                  <a16:creationId xmlns:a16="http://schemas.microsoft.com/office/drawing/2014/main" id="{C9550F90-0E01-4893-B835-77A2FB3C1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2774283" y="713215"/>
              <a:ext cx="157283" cy="166740"/>
            </a:xfrm>
            <a:prstGeom prst="rect">
              <a:avLst/>
            </a:prstGeom>
          </p:spPr>
        </p:pic>
        <p:sp>
          <p:nvSpPr>
            <p:cNvPr id="164" name="Text 41">
              <a:extLst>
                <a:ext uri="{FF2B5EF4-FFF2-40B4-BE49-F238E27FC236}">
                  <a16:creationId xmlns:a16="http://schemas.microsoft.com/office/drawing/2014/main" id="{0762294A-6332-409C-A4B5-45E26B375792}"/>
                </a:ext>
              </a:extLst>
            </p:cNvPr>
            <p:cNvSpPr txBox="1"/>
            <p:nvPr/>
          </p:nvSpPr>
          <p:spPr>
            <a:xfrm>
              <a:off x="910432" y="1092623"/>
              <a:ext cx="536834" cy="1976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주소(D)</a:t>
              </a:r>
              <a:endParaRPr lang="en-US" sz="900" dirty="0"/>
            </a:p>
          </p:txBody>
        </p:sp>
        <p:pic>
          <p:nvPicPr>
            <p:cNvPr id="165" name="Image 15" descr="gen-dedup-7c02ed4669765158cb6410457d6288f7.png">
              <a:extLst>
                <a:ext uri="{FF2B5EF4-FFF2-40B4-BE49-F238E27FC236}">
                  <a16:creationId xmlns:a16="http://schemas.microsoft.com/office/drawing/2014/main" id="{239474F9-BA3C-417F-8CE0-5EE537895D3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-6250" b="-6250"/>
            <a:stretch/>
          </p:blipFill>
          <p:spPr>
            <a:xfrm>
              <a:off x="1548041" y="1107600"/>
              <a:ext cx="157283" cy="166740"/>
            </a:xfrm>
            <a:prstGeom prst="rect">
              <a:avLst/>
            </a:prstGeom>
          </p:spPr>
        </p:pic>
        <p:sp>
          <p:nvSpPr>
            <p:cNvPr id="166" name="Text 42">
              <a:extLst>
                <a:ext uri="{FF2B5EF4-FFF2-40B4-BE49-F238E27FC236}">
                  <a16:creationId xmlns:a16="http://schemas.microsoft.com/office/drawing/2014/main" id="{2A6B50A8-5D43-45FB-875F-B4B2E68A3195}"/>
                </a:ext>
              </a:extLst>
            </p:cNvPr>
            <p:cNvSpPr txBox="1"/>
            <p:nvPr/>
          </p:nvSpPr>
          <p:spPr>
            <a:xfrm>
              <a:off x="1792913" y="1113590"/>
              <a:ext cx="2744447" cy="156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C:\Portfolio\Projects\WinAPI_DontStarve</a:t>
              </a:r>
              <a:endParaRPr lang="en-US" sz="900" dirty="0"/>
            </a:p>
          </p:txBody>
        </p:sp>
        <p:sp>
          <p:nvSpPr>
            <p:cNvPr id="167" name="Text 43">
              <a:extLst>
                <a:ext uri="{FF2B5EF4-FFF2-40B4-BE49-F238E27FC236}">
                  <a16:creationId xmlns:a16="http://schemas.microsoft.com/office/drawing/2014/main" id="{8C4F7CE9-8270-4468-851B-DDF88A52F141}"/>
                </a:ext>
              </a:extLst>
            </p:cNvPr>
            <p:cNvSpPr txBox="1"/>
            <p:nvPr/>
          </p:nvSpPr>
          <p:spPr>
            <a:xfrm>
              <a:off x="11151720" y="1092623"/>
              <a:ext cx="244872" cy="1777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이동</a:t>
              </a:r>
              <a:endParaRPr lang="en-US" sz="900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4611E6B0-ECF9-6E35-61A8-57D7E50DDEF7}"/>
              </a:ext>
            </a:extLst>
          </p:cNvPr>
          <p:cNvGrpSpPr/>
          <p:nvPr/>
        </p:nvGrpSpPr>
        <p:grpSpPr>
          <a:xfrm>
            <a:off x="681405" y="1576284"/>
            <a:ext cx="10813804" cy="312984"/>
            <a:chOff x="3635363" y="1517800"/>
            <a:chExt cx="8262000" cy="312984"/>
          </a:xfrm>
        </p:grpSpPr>
        <p:sp>
          <p:nvSpPr>
            <p:cNvPr id="126" name="Shape 29">
              <a:extLst>
                <a:ext uri="{FF2B5EF4-FFF2-40B4-BE49-F238E27FC236}">
                  <a16:creationId xmlns:a16="http://schemas.microsoft.com/office/drawing/2014/main" id="{C8E8281E-329E-4104-AF26-2BF462B61E3F}"/>
                </a:ext>
              </a:extLst>
            </p:cNvPr>
            <p:cNvSpPr/>
            <p:nvPr/>
          </p:nvSpPr>
          <p:spPr>
            <a:xfrm>
              <a:off x="3635363" y="1517800"/>
              <a:ext cx="8262000" cy="312984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89" name="Text 58">
              <a:extLst>
                <a:ext uri="{FF2B5EF4-FFF2-40B4-BE49-F238E27FC236}">
                  <a16:creationId xmlns:a16="http://schemas.microsoft.com/office/drawing/2014/main" id="{ADA0929B-6390-4236-84B5-CBBBC1E952F8}"/>
                </a:ext>
              </a:extLst>
            </p:cNvPr>
            <p:cNvSpPr txBox="1"/>
            <p:nvPr/>
          </p:nvSpPr>
          <p:spPr>
            <a:xfrm>
              <a:off x="3691554" y="1562216"/>
              <a:ext cx="2358078" cy="2132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WinAPI</a:t>
              </a:r>
              <a:r>
                <a:rPr lang="en-US" sz="1200" b="1" dirty="0">
                  <a:solidFill>
                    <a:srgbClr val="FFFFFF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 돈스타브 모작</a:t>
              </a:r>
              <a:endParaRPr lang="en-US" sz="1200" dirty="0"/>
            </a:p>
          </p:txBody>
        </p:sp>
      </p:grpSp>
      <p:graphicFrame>
        <p:nvGraphicFramePr>
          <p:cNvPr id="190" name="Table 0">
            <a:extLst>
              <a:ext uri="{FF2B5EF4-FFF2-40B4-BE49-F238E27FC236}">
                <a16:creationId xmlns:a16="http://schemas.microsoft.com/office/drawing/2014/main" id="{17C5AF9B-F49B-46DE-BE64-BBD629004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891888"/>
              </p:ext>
            </p:extLst>
          </p:nvPr>
        </p:nvGraphicFramePr>
        <p:xfrm>
          <a:off x="754951" y="1936306"/>
          <a:ext cx="6550918" cy="4178286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982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3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5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플랫폼</a:t>
                      </a:r>
                      <a:endParaRPr lang="en-US" sz="1400" dirty="0">
                        <a:latin typeface="Arial" panose="020B06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PC(Windows)</a:t>
                      </a:r>
                      <a:endParaRPr lang="en-US" sz="1400" dirty="0">
                        <a:latin typeface="Arial" panose="020B06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개발 인원</a:t>
                      </a:r>
                      <a:endParaRPr lang="en-US" sz="1400" dirty="0">
                        <a:latin typeface="Arial" panose="020B06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1인(개인)</a:t>
                      </a:r>
                      <a:endParaRPr lang="en-US" sz="1400" dirty="0">
                        <a:latin typeface="Arial" panose="020B06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개발 기간</a:t>
                      </a:r>
                      <a:endParaRPr lang="en-US" sz="1400" dirty="0">
                        <a:latin typeface="Arial" panose="020B06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2025. 12. 05 ~ 2026. 02. 04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(대략 2달)</a:t>
                      </a:r>
                      <a:endParaRPr lang="en-US" sz="1400" dirty="0">
                        <a:latin typeface="Arial" panose="020B06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개발 도구</a:t>
                      </a:r>
                      <a:endParaRPr lang="en-US" sz="1400" dirty="0">
                        <a:latin typeface="Arial" panose="020B06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C++, WinAPI</a:t>
                      </a:r>
                      <a:endParaRPr lang="en-US" sz="1400" dirty="0">
                        <a:latin typeface="Arial" panose="020B06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동영상 링크</a:t>
                      </a:r>
                      <a:endParaRPr lang="en-US" sz="1400" dirty="0">
                        <a:latin typeface="Arial" panose="020B06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EE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  <a:hlinkClick r:id="rId14"/>
                        </a:rPr>
                        <a:t>유튜브 링크</a:t>
                      </a:r>
                      <a:endParaRPr lang="en-US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0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요약</a:t>
                      </a:r>
                      <a:endParaRPr lang="en-US" sz="1400" dirty="0">
                        <a:latin typeface="Arial" panose="020B06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95098" marB="950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플레이어는 마우스 조작을 통하여 이동, 상호작용을 할 수 있으며, 최종 목표인 최종 보스 몬스터를 쓰러트리는 것을 목적으로 한다.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최종 보스 몬스터를 쓰러트리기 위해서 플레이어는 재화를 수집하여, 한정된 자원으로 아이템을 만들어 보스에 도전할 수 있다.</a:t>
                      </a:r>
                      <a:endParaRPr lang="en-US" sz="1400" dirty="0"/>
                    </a:p>
                  </a:txBody>
                  <a:tcPr marL="95098" marR="95098" marT="95098" marB="950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0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동기</a:t>
                      </a:r>
                      <a:endParaRPr lang="en-US" sz="1400" dirty="0">
                        <a:latin typeface="Arial" panose="020B0604020202020204" pitchFamily="34" charset="0"/>
                        <a:ea typeface="Arial" charset="0"/>
                        <a:cs typeface="Arial" charset="0"/>
                      </a:endParaRPr>
                    </a:p>
                  </a:txBody>
                  <a:tcPr marL="95098" marR="95098" marT="95098" marB="950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게임 엔진을 의존하지 않고, WinAPI를 이용하여 완전 밑바닥부터 게임을 만들어보고자 모작에 도전하게 되었다.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itchFamily="34" charset="-120"/>
                        </a:rPr>
                        <a:t>게임 실행의 전체적인 파이프라인을 파악하고, 이를 스스로 설계해보고자 하여 시작하게 되었다.</a:t>
                      </a:r>
                      <a:endParaRPr lang="en-US" sz="1400" dirty="0"/>
                    </a:p>
                  </a:txBody>
                  <a:tcPr marL="95098" marR="95098" marT="95098" marB="950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76695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35" name="Shape 29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10477195" y="6534302"/>
            <a:ext cx="1619402" cy="267005"/>
          </a:xfrm>
          <a:prstGeom prst="rect">
            <a:avLst/>
          </a:prstGeom>
          <a:solidFill>
            <a:srgbClr val="C0C0C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39" name="Image 4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lang="en-US" sz="1000" dirty="0"/>
          </a:p>
        </p:txBody>
      </p:sp>
      <p:pic>
        <p:nvPicPr>
          <p:cNvPr id="41" name="Image 5" descr="gen-dedup-ba9d3020b28ee88c3f41e8c221d65fea.png"/>
          <p:cNvPicPr>
            <a:picLocks noChangeAspect="1"/>
          </p:cNvPicPr>
          <p:nvPr/>
        </p:nvPicPr>
        <p:blipFill>
          <a:blip r:embed="rId4"/>
          <a:srcRect l="-16666" r="-16666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1238098" y="6577279"/>
            <a:ext cx="13578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WinAPI_DontStarve</a:t>
            </a:r>
            <a:r>
              <a:rPr lang="en-US" sz="9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.exe</a:t>
            </a:r>
            <a:endParaRPr lang="en-US" sz="900" b="1" dirty="0"/>
          </a:p>
        </p:txBody>
      </p:sp>
      <p:pic>
        <p:nvPicPr>
          <p:cNvPr id="43" name="Image 6" descr="gen-dedup-7740a029182e5c65b65e33d2aaed94e2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10573207" y="6590995"/>
            <a:ext cx="152705" cy="152705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11124590" y="6590995"/>
            <a:ext cx="7260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00:00 AM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267005" y="108000"/>
            <a:ext cx="11666995" cy="6292800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89193" y="128108"/>
            <a:ext cx="11622618" cy="279592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99079" y="514799"/>
            <a:ext cx="11435584" cy="5811355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625472" y="157791"/>
            <a:ext cx="241962" cy="21927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96665" y="706442"/>
            <a:ext cx="11006619" cy="498861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96665" y="2748425"/>
            <a:ext cx="11006619" cy="3475093"/>
          </a:xfrm>
          <a:prstGeom prst="rect">
            <a:avLst/>
          </a:prstGeom>
          <a:solidFill>
            <a:srgbClr val="E8E8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31834" y="167366"/>
            <a:ext cx="1690563" cy="200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WinAPI_DontStarve</a:t>
            </a: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.exe</a:t>
            </a:r>
            <a:endParaRPr lang="en-US" sz="1000" b="1" dirty="0"/>
          </a:p>
        </p:txBody>
      </p:sp>
      <p:sp>
        <p:nvSpPr>
          <p:cNvPr id="25" name="Text 20"/>
          <p:cNvSpPr txBox="1"/>
          <p:nvPr/>
        </p:nvSpPr>
        <p:spPr>
          <a:xfrm>
            <a:off x="11701548" y="198006"/>
            <a:ext cx="99321" cy="139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1697643" y="855814"/>
            <a:ext cx="8805718" cy="200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그리드 공간 분할 </a:t>
            </a:r>
            <a:r>
              <a:rPr lang="ko-KR" altLang="en-US" sz="2400" b="1" dirty="0" err="1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컬링</a:t>
            </a:r>
            <a:r>
              <a:rPr lang="ko-KR" altLang="en-US" sz="2400" b="1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 설계</a:t>
            </a:r>
            <a:endParaRPr lang="en-US" sz="24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CE9822D-72A2-6292-7EA3-9B1419B83A66}"/>
              </a:ext>
            </a:extLst>
          </p:cNvPr>
          <p:cNvGrpSpPr/>
          <p:nvPr/>
        </p:nvGrpSpPr>
        <p:grpSpPr>
          <a:xfrm>
            <a:off x="596665" y="1312403"/>
            <a:ext cx="5499335" cy="1396045"/>
            <a:chOff x="596665" y="1312403"/>
            <a:chExt cx="11006619" cy="1396045"/>
          </a:xfrm>
        </p:grpSpPr>
        <p:sp>
          <p:nvSpPr>
            <p:cNvPr id="18" name="Shape 13"/>
            <p:cNvSpPr/>
            <p:nvPr/>
          </p:nvSpPr>
          <p:spPr>
            <a:xfrm>
              <a:off x="596665" y="1312403"/>
              <a:ext cx="11006619" cy="1396045"/>
            </a:xfrm>
            <a:prstGeom prst="rect">
              <a:avLst/>
            </a:prstGeom>
            <a:solidFill>
              <a:srgbClr val="E8E8E8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28" name="Text 23"/>
            <p:cNvSpPr txBox="1"/>
            <p:nvPr/>
          </p:nvSpPr>
          <p:spPr>
            <a:xfrm>
              <a:off x="817494" y="1800731"/>
              <a:ext cx="10566016" cy="7181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dirty="0" err="1"/>
                <a:t>맵에</a:t>
              </a:r>
              <a:r>
                <a:rPr lang="ko-KR" altLang="en-US" dirty="0"/>
                <a:t> 배치되는 오브젝트가 </a:t>
              </a:r>
              <a:r>
                <a:rPr lang="en-US" altLang="ko-KR" dirty="0"/>
                <a:t>1,000~10,000</a:t>
              </a:r>
              <a:r>
                <a:rPr lang="ko-KR" altLang="en-US" dirty="0"/>
                <a:t>개로 늘어남에 따라 </a:t>
              </a:r>
              <a:r>
                <a:rPr lang="ko-KR" altLang="en-US" dirty="0" err="1"/>
                <a:t>뷰포트</a:t>
              </a:r>
              <a:r>
                <a:rPr lang="ko-KR" altLang="en-US" dirty="0"/>
                <a:t> 내 검사 후보를 찾기 위한 루프 비용 과다 발생</a:t>
              </a:r>
              <a:r>
                <a:rPr lang="en-US" altLang="ko-KR" dirty="0"/>
                <a:t>.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838DF21A-BE25-4546-9792-99FA5780F682}"/>
                </a:ext>
              </a:extLst>
            </p:cNvPr>
            <p:cNvGrpSpPr/>
            <p:nvPr/>
          </p:nvGrpSpPr>
          <p:grpSpPr>
            <a:xfrm>
              <a:off x="641041" y="1352618"/>
              <a:ext cx="10917864" cy="299699"/>
              <a:chOff x="641041" y="1352618"/>
              <a:chExt cx="10917864" cy="299699"/>
            </a:xfrm>
          </p:grpSpPr>
          <p:sp>
            <p:nvSpPr>
              <p:cNvPr id="21" name="Shape 16"/>
              <p:cNvSpPr/>
              <p:nvPr/>
            </p:nvSpPr>
            <p:spPr>
              <a:xfrm>
                <a:off x="641041" y="1352618"/>
                <a:ext cx="10917864" cy="299699"/>
              </a:xfrm>
              <a:prstGeom prst="rect">
                <a:avLst/>
              </a:prstGeom>
              <a:solidFill>
                <a:srgbClr val="00008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5" name="Text 21">
                <a:extLst>
                  <a:ext uri="{FF2B5EF4-FFF2-40B4-BE49-F238E27FC236}">
                    <a16:creationId xmlns:a16="http://schemas.microsoft.com/office/drawing/2014/main" id="{87D476CB-62CF-7359-7EF3-0EB12CC5752A}"/>
                  </a:ext>
                </a:extLst>
              </p:cNvPr>
              <p:cNvSpPr txBox="1"/>
              <p:nvPr/>
            </p:nvSpPr>
            <p:spPr>
              <a:xfrm>
                <a:off x="1697643" y="1411025"/>
                <a:ext cx="8805718" cy="20011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ko-KR" altLang="en-US" sz="1500" dirty="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문제 상황</a:t>
                </a:r>
                <a:endParaRPr lang="en-US" sz="1500" dirty="0">
                  <a:solidFill>
                    <a:srgbClr val="FFFF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C58F9FC-6A91-1CE6-FA42-3E0DF4EFE6CF}"/>
              </a:ext>
            </a:extLst>
          </p:cNvPr>
          <p:cNvGrpSpPr/>
          <p:nvPr/>
        </p:nvGrpSpPr>
        <p:grpSpPr>
          <a:xfrm>
            <a:off x="6079147" y="1312641"/>
            <a:ext cx="5499335" cy="1396045"/>
            <a:chOff x="596665" y="1312403"/>
            <a:chExt cx="11006619" cy="1396045"/>
          </a:xfrm>
        </p:grpSpPr>
        <p:sp>
          <p:nvSpPr>
            <p:cNvPr id="9" name="Shape 13">
              <a:extLst>
                <a:ext uri="{FF2B5EF4-FFF2-40B4-BE49-F238E27FC236}">
                  <a16:creationId xmlns:a16="http://schemas.microsoft.com/office/drawing/2014/main" id="{A713595B-13DB-27AB-D83D-7A6D8E90AC34}"/>
                </a:ext>
              </a:extLst>
            </p:cNvPr>
            <p:cNvSpPr/>
            <p:nvPr/>
          </p:nvSpPr>
          <p:spPr>
            <a:xfrm>
              <a:off x="596665" y="1312403"/>
              <a:ext cx="11006619" cy="1396045"/>
            </a:xfrm>
            <a:prstGeom prst="rect">
              <a:avLst/>
            </a:prstGeom>
            <a:solidFill>
              <a:srgbClr val="E8E8E8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10" name="Text 23">
              <a:extLst>
                <a:ext uri="{FF2B5EF4-FFF2-40B4-BE49-F238E27FC236}">
                  <a16:creationId xmlns:a16="http://schemas.microsoft.com/office/drawing/2014/main" id="{66C16570-E204-68EB-0B01-6B0EF61F6E57}"/>
                </a:ext>
              </a:extLst>
            </p:cNvPr>
            <p:cNvSpPr txBox="1"/>
            <p:nvPr/>
          </p:nvSpPr>
          <p:spPr>
            <a:xfrm>
              <a:off x="817494" y="1667838"/>
              <a:ext cx="10566017" cy="9980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600" dirty="0"/>
                <a:t>맵 전체를 </a:t>
              </a:r>
              <a:r>
                <a:rPr lang="en-US" altLang="ko-KR" sz="1600" dirty="0"/>
                <a:t>GRID_CELL_SIZE </a:t>
              </a:r>
              <a:r>
                <a:rPr lang="ko-KR" altLang="en-US" sz="1600" dirty="0"/>
                <a:t>픽셀 크기의 </a:t>
              </a:r>
              <a:endParaRPr lang="en-US" altLang="ko-KR" sz="1600" dirty="0"/>
            </a:p>
            <a:p>
              <a:r>
                <a:rPr lang="ko-KR" altLang="en-US" sz="1600" dirty="0"/>
                <a:t>정적 </a:t>
              </a:r>
              <a:r>
                <a:rPr lang="en-US" altLang="ko-KR" sz="1600" dirty="0"/>
                <a:t>2D </a:t>
              </a:r>
              <a:r>
                <a:rPr lang="ko-KR" altLang="en-US" sz="1600" dirty="0"/>
                <a:t>배열</a:t>
              </a:r>
              <a:r>
                <a:rPr lang="en-US" altLang="ko-KR" sz="1600" dirty="0"/>
                <a:t>(</a:t>
              </a:r>
              <a:r>
                <a:rPr lang="en-US" altLang="ko-KR" sz="1600" dirty="0" err="1"/>
                <a:t>m_spatialGrid</a:t>
              </a:r>
              <a:r>
                <a:rPr lang="en-US" altLang="ko-KR" sz="1600" dirty="0"/>
                <a:t>)</a:t>
              </a:r>
              <a:r>
                <a:rPr lang="ko-KR" altLang="en-US" sz="1600" dirty="0"/>
                <a:t>로 분할 관리</a:t>
              </a:r>
              <a:r>
                <a:rPr lang="en-US" altLang="ko-KR" sz="1600" dirty="0"/>
                <a:t>. </a:t>
              </a:r>
            </a:p>
            <a:p>
              <a:r>
                <a:rPr lang="ko-KR" altLang="en-US" sz="1600" dirty="0"/>
                <a:t>오브젝트 이동 시 셀 경계를 교차할 때만 </a:t>
              </a:r>
              <a:r>
                <a:rPr lang="en-US" altLang="ko-KR" sz="1600" dirty="0" err="1"/>
                <a:t>LateUpdate</a:t>
              </a:r>
              <a:r>
                <a:rPr lang="en-US" altLang="ko-KR" sz="1600" dirty="0"/>
                <a:t>()</a:t>
              </a:r>
              <a:r>
                <a:rPr lang="ko-KR" altLang="en-US" sz="1600" dirty="0"/>
                <a:t>에서 호출하고 정보를 갱신하도록 </a:t>
              </a:r>
              <a:r>
                <a:rPr lang="en-US" altLang="ko-KR" sz="1600" dirty="0" err="1"/>
                <a:t>UpdateObjectGrid</a:t>
              </a:r>
              <a:r>
                <a:rPr lang="en-US" altLang="ko-KR" sz="1600" dirty="0"/>
                <a:t>() </a:t>
              </a:r>
              <a:r>
                <a:rPr lang="ko-KR" altLang="en-US" sz="1600" dirty="0"/>
                <a:t>구현</a:t>
              </a: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3B9440C-6F11-407D-7605-FCD2523068C8}"/>
                </a:ext>
              </a:extLst>
            </p:cNvPr>
            <p:cNvGrpSpPr/>
            <p:nvPr/>
          </p:nvGrpSpPr>
          <p:grpSpPr>
            <a:xfrm>
              <a:off x="641042" y="1352618"/>
              <a:ext cx="10917865" cy="299699"/>
              <a:chOff x="641042" y="1352618"/>
              <a:chExt cx="10917865" cy="299699"/>
            </a:xfrm>
          </p:grpSpPr>
          <p:sp>
            <p:nvSpPr>
              <p:cNvPr id="12" name="Shape 16">
                <a:extLst>
                  <a:ext uri="{FF2B5EF4-FFF2-40B4-BE49-F238E27FC236}">
                    <a16:creationId xmlns:a16="http://schemas.microsoft.com/office/drawing/2014/main" id="{64569794-EBCD-3E4A-7087-87F9FA4B8754}"/>
                  </a:ext>
                </a:extLst>
              </p:cNvPr>
              <p:cNvSpPr/>
              <p:nvPr/>
            </p:nvSpPr>
            <p:spPr>
              <a:xfrm>
                <a:off x="641042" y="1352618"/>
                <a:ext cx="10917865" cy="299699"/>
              </a:xfrm>
              <a:prstGeom prst="rect">
                <a:avLst/>
              </a:prstGeom>
              <a:solidFill>
                <a:srgbClr val="00008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20" name="Text 21">
                <a:extLst>
                  <a:ext uri="{FF2B5EF4-FFF2-40B4-BE49-F238E27FC236}">
                    <a16:creationId xmlns:a16="http://schemas.microsoft.com/office/drawing/2014/main" id="{CB42E7EC-3D3D-8425-B194-8FDA21848B33}"/>
                  </a:ext>
                </a:extLst>
              </p:cNvPr>
              <p:cNvSpPr txBox="1"/>
              <p:nvPr/>
            </p:nvSpPr>
            <p:spPr>
              <a:xfrm>
                <a:off x="1697643" y="1411025"/>
                <a:ext cx="8805718" cy="20011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ko-KR" altLang="en-US" sz="1500" dirty="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구현 해결책</a:t>
                </a:r>
                <a:endParaRPr lang="en-US" sz="1500" dirty="0">
                  <a:solidFill>
                    <a:srgbClr val="FFFF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53" name="그림 52">
            <a:extLst>
              <a:ext uri="{FF2B5EF4-FFF2-40B4-BE49-F238E27FC236}">
                <a16:creationId xmlns:a16="http://schemas.microsoft.com/office/drawing/2014/main" id="{2A010179-72E9-D566-5A22-75C65D41CB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" y="2798592"/>
            <a:ext cx="5446549" cy="3424925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AA2CD541-70B7-9600-2102-F413381A45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2798594"/>
            <a:ext cx="5468722" cy="34249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0A86D-D6DA-8EC4-95C2-BD9C6FE67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28FD5A0-3A0D-14E8-859D-EB3D52F248D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B856ABA-FF9C-D228-0BDD-9971AA84124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555356E-64C9-577B-7E7D-BA7C05378124}"/>
              </a:ext>
            </a:extLst>
          </p:cNvPr>
          <p:cNvSpPr/>
          <p:nvPr/>
        </p:nvSpPr>
        <p:spPr>
          <a:xfrm>
            <a:off x="0" y="0"/>
            <a:ext cx="12191695" cy="6476695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15079082-E9C9-7024-A642-8EBC4E7E69DD}"/>
              </a:ext>
            </a:extLst>
          </p:cNvPr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35" name="Shape 29">
            <a:extLst>
              <a:ext uri="{FF2B5EF4-FFF2-40B4-BE49-F238E27FC236}">
                <a16:creationId xmlns:a16="http://schemas.microsoft.com/office/drawing/2014/main" id="{4FD23AB4-F03E-1E82-A77F-FBD3EFB64B58}"/>
              </a:ext>
            </a:extLst>
          </p:cNvPr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0">
            <a:extLst>
              <a:ext uri="{FF2B5EF4-FFF2-40B4-BE49-F238E27FC236}">
                <a16:creationId xmlns:a16="http://schemas.microsoft.com/office/drawing/2014/main" id="{2658119F-7305-FDD6-146D-DB51CF025BC9}"/>
              </a:ext>
            </a:extLst>
          </p:cNvPr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16C5EAE1-F063-D495-0AA8-056858A1A838}"/>
              </a:ext>
            </a:extLst>
          </p:cNvPr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F444DC82-8E24-05E5-DD31-4B4139547937}"/>
              </a:ext>
            </a:extLst>
          </p:cNvPr>
          <p:cNvSpPr/>
          <p:nvPr/>
        </p:nvSpPr>
        <p:spPr>
          <a:xfrm>
            <a:off x="10477195" y="6534302"/>
            <a:ext cx="1619402" cy="267005"/>
          </a:xfrm>
          <a:prstGeom prst="rect">
            <a:avLst/>
          </a:prstGeom>
          <a:solidFill>
            <a:srgbClr val="C0C0C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39" name="Image 4" descr="gen-dedup-b7042822c590cf1066a472ff1b5b8f45.png">
            <a:extLst>
              <a:ext uri="{FF2B5EF4-FFF2-40B4-BE49-F238E27FC236}">
                <a16:creationId xmlns:a16="http://schemas.microsoft.com/office/drawing/2014/main" id="{66457919-6B7E-ABE3-F689-F290CFC166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40" name="Text 33">
            <a:extLst>
              <a:ext uri="{FF2B5EF4-FFF2-40B4-BE49-F238E27FC236}">
                <a16:creationId xmlns:a16="http://schemas.microsoft.com/office/drawing/2014/main" id="{5E0E3F17-8086-85CA-4D1A-D90C1F70BCCA}"/>
              </a:ext>
            </a:extLst>
          </p:cNvPr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lang="en-US" sz="1000" dirty="0"/>
          </a:p>
        </p:txBody>
      </p:sp>
      <p:pic>
        <p:nvPicPr>
          <p:cNvPr id="41" name="Image 5" descr="gen-dedup-ba9d3020b28ee88c3f41e8c221d65fea.png">
            <a:extLst>
              <a:ext uri="{FF2B5EF4-FFF2-40B4-BE49-F238E27FC236}">
                <a16:creationId xmlns:a16="http://schemas.microsoft.com/office/drawing/2014/main" id="{644711D0-9C9A-9BB1-28CD-6DE57A5295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6666" r="-16666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42" name="Text 34">
            <a:extLst>
              <a:ext uri="{FF2B5EF4-FFF2-40B4-BE49-F238E27FC236}">
                <a16:creationId xmlns:a16="http://schemas.microsoft.com/office/drawing/2014/main" id="{C87FEE6D-D6A0-C110-178A-8FE93E7EC2E2}"/>
              </a:ext>
            </a:extLst>
          </p:cNvPr>
          <p:cNvSpPr txBox="1"/>
          <p:nvPr/>
        </p:nvSpPr>
        <p:spPr>
          <a:xfrm>
            <a:off x="1238098" y="6577279"/>
            <a:ext cx="13578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WinAPI_DontStarve</a:t>
            </a:r>
            <a:r>
              <a:rPr lang="en-US" sz="9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.exe</a:t>
            </a:r>
            <a:endParaRPr lang="en-US" sz="900" b="1" dirty="0"/>
          </a:p>
        </p:txBody>
      </p:sp>
      <p:pic>
        <p:nvPicPr>
          <p:cNvPr id="43" name="Image 6" descr="gen-dedup-7740a029182e5c65b65e33d2aaed94e2.png">
            <a:extLst>
              <a:ext uri="{FF2B5EF4-FFF2-40B4-BE49-F238E27FC236}">
                <a16:creationId xmlns:a16="http://schemas.microsoft.com/office/drawing/2014/main" id="{5AB13DB1-0E98-45D2-D68A-CBF9989999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10573207" y="6590995"/>
            <a:ext cx="152705" cy="152705"/>
          </a:xfrm>
          <a:prstGeom prst="rect">
            <a:avLst/>
          </a:prstGeom>
        </p:spPr>
      </p:pic>
      <p:sp>
        <p:nvSpPr>
          <p:cNvPr id="44" name="Text 35">
            <a:extLst>
              <a:ext uri="{FF2B5EF4-FFF2-40B4-BE49-F238E27FC236}">
                <a16:creationId xmlns:a16="http://schemas.microsoft.com/office/drawing/2014/main" id="{5952E2BA-F7EB-1007-8FD2-2541029E7112}"/>
              </a:ext>
            </a:extLst>
          </p:cNvPr>
          <p:cNvSpPr txBox="1"/>
          <p:nvPr/>
        </p:nvSpPr>
        <p:spPr>
          <a:xfrm>
            <a:off x="11124590" y="6590995"/>
            <a:ext cx="7260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00:00 AM</a:t>
            </a:r>
            <a:endParaRPr lang="en-US" sz="1000" dirty="0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6CD6A77-34CC-DE54-DE4E-A43D8BE402B4}"/>
              </a:ext>
            </a:extLst>
          </p:cNvPr>
          <p:cNvGrpSpPr/>
          <p:nvPr/>
        </p:nvGrpSpPr>
        <p:grpSpPr>
          <a:xfrm>
            <a:off x="114300" y="108000"/>
            <a:ext cx="11982297" cy="6292800"/>
            <a:chOff x="267005" y="108000"/>
            <a:chExt cx="11666995" cy="6292800"/>
          </a:xfrm>
        </p:grpSpPr>
        <p:sp>
          <p:nvSpPr>
            <p:cNvPr id="13" name="Shape 8">
              <a:extLst>
                <a:ext uri="{FF2B5EF4-FFF2-40B4-BE49-F238E27FC236}">
                  <a16:creationId xmlns:a16="http://schemas.microsoft.com/office/drawing/2014/main" id="{CF696AC3-BBB3-887A-9341-78088507AB76}"/>
                </a:ext>
              </a:extLst>
            </p:cNvPr>
            <p:cNvSpPr/>
            <p:nvPr/>
          </p:nvSpPr>
          <p:spPr>
            <a:xfrm>
              <a:off x="267005" y="108000"/>
              <a:ext cx="11666995" cy="6292800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14" name="Shape 9">
              <a:extLst>
                <a:ext uri="{FF2B5EF4-FFF2-40B4-BE49-F238E27FC236}">
                  <a16:creationId xmlns:a16="http://schemas.microsoft.com/office/drawing/2014/main" id="{61551D2E-A15D-9079-F0DC-897160206348}"/>
                </a:ext>
              </a:extLst>
            </p:cNvPr>
            <p:cNvSpPr/>
            <p:nvPr/>
          </p:nvSpPr>
          <p:spPr>
            <a:xfrm>
              <a:off x="289193" y="128108"/>
              <a:ext cx="11622618" cy="279592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5" name="Shape 10">
              <a:extLst>
                <a:ext uri="{FF2B5EF4-FFF2-40B4-BE49-F238E27FC236}">
                  <a16:creationId xmlns:a16="http://schemas.microsoft.com/office/drawing/2014/main" id="{DACAA991-E545-5635-945D-7AFA653F4E20}"/>
                </a:ext>
              </a:extLst>
            </p:cNvPr>
            <p:cNvSpPr/>
            <p:nvPr/>
          </p:nvSpPr>
          <p:spPr>
            <a:xfrm>
              <a:off x="399079" y="514799"/>
              <a:ext cx="11435584" cy="5811355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808080"/>
              </a:solidFill>
              <a:prstDash val="solid"/>
            </a:ln>
          </p:spPr>
        </p:sp>
        <p:sp>
          <p:nvSpPr>
            <p:cNvPr id="16" name="Shape 11">
              <a:extLst>
                <a:ext uri="{FF2B5EF4-FFF2-40B4-BE49-F238E27FC236}">
                  <a16:creationId xmlns:a16="http://schemas.microsoft.com/office/drawing/2014/main" id="{5E8CFA83-57FF-AAF6-84E3-FE18EBA17AA8}"/>
                </a:ext>
              </a:extLst>
            </p:cNvPr>
            <p:cNvSpPr/>
            <p:nvPr/>
          </p:nvSpPr>
          <p:spPr>
            <a:xfrm>
              <a:off x="11625472" y="157791"/>
              <a:ext cx="241962" cy="21927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7" name="Shape 12">
              <a:extLst>
                <a:ext uri="{FF2B5EF4-FFF2-40B4-BE49-F238E27FC236}">
                  <a16:creationId xmlns:a16="http://schemas.microsoft.com/office/drawing/2014/main" id="{E32CD2AE-C008-64CE-3EA6-6D6BCBAD249B}"/>
                </a:ext>
              </a:extLst>
            </p:cNvPr>
            <p:cNvSpPr/>
            <p:nvPr/>
          </p:nvSpPr>
          <p:spPr>
            <a:xfrm>
              <a:off x="596665" y="706442"/>
              <a:ext cx="11006619" cy="498861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9" name="Shape 14">
              <a:extLst>
                <a:ext uri="{FF2B5EF4-FFF2-40B4-BE49-F238E27FC236}">
                  <a16:creationId xmlns:a16="http://schemas.microsoft.com/office/drawing/2014/main" id="{57A149AD-8FD0-5383-EC10-26FE341CBC16}"/>
                </a:ext>
              </a:extLst>
            </p:cNvPr>
            <p:cNvSpPr/>
            <p:nvPr/>
          </p:nvSpPr>
          <p:spPr>
            <a:xfrm>
              <a:off x="596665" y="2595423"/>
              <a:ext cx="11006619" cy="3628096"/>
            </a:xfrm>
            <a:prstGeom prst="rect">
              <a:avLst/>
            </a:prstGeom>
            <a:solidFill>
              <a:srgbClr val="E8E8E8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24" name="Text 19">
              <a:extLst>
                <a:ext uri="{FF2B5EF4-FFF2-40B4-BE49-F238E27FC236}">
                  <a16:creationId xmlns:a16="http://schemas.microsoft.com/office/drawing/2014/main" id="{C0173F5E-897E-E354-AF8B-146ADA9B5426}"/>
                </a:ext>
              </a:extLst>
            </p:cNvPr>
            <p:cNvSpPr txBox="1"/>
            <p:nvPr/>
          </p:nvSpPr>
          <p:spPr>
            <a:xfrm>
              <a:off x="431834" y="167366"/>
              <a:ext cx="1690563" cy="2001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000" b="1" dirty="0">
                  <a:solidFill>
                    <a:schemeClr val="bg1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WinAPI_DontStarve</a:t>
              </a:r>
              <a:r>
                <a:rPr lang="en-US" sz="1000" b="1" dirty="0">
                  <a:solidFill>
                    <a:srgbClr val="FFFFFF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.exe</a:t>
              </a:r>
              <a:endParaRPr lang="en-US" sz="1000" b="1" dirty="0"/>
            </a:p>
          </p:txBody>
        </p:sp>
        <p:sp>
          <p:nvSpPr>
            <p:cNvPr id="25" name="Text 20">
              <a:extLst>
                <a:ext uri="{FF2B5EF4-FFF2-40B4-BE49-F238E27FC236}">
                  <a16:creationId xmlns:a16="http://schemas.microsoft.com/office/drawing/2014/main" id="{70B6087D-4A06-B1D9-93D2-F42C484436DF}"/>
                </a:ext>
              </a:extLst>
            </p:cNvPr>
            <p:cNvSpPr txBox="1"/>
            <p:nvPr/>
          </p:nvSpPr>
          <p:spPr>
            <a:xfrm>
              <a:off x="11701548" y="198006"/>
              <a:ext cx="99321" cy="1397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X</a:t>
              </a:r>
              <a:endParaRPr lang="en-US" sz="900" dirty="0"/>
            </a:p>
          </p:txBody>
        </p:sp>
        <p:sp>
          <p:nvSpPr>
            <p:cNvPr id="26" name="Text 21">
              <a:extLst>
                <a:ext uri="{FF2B5EF4-FFF2-40B4-BE49-F238E27FC236}">
                  <a16:creationId xmlns:a16="http://schemas.microsoft.com/office/drawing/2014/main" id="{D566A307-1E41-4CDD-3082-82E45F542911}"/>
                </a:ext>
              </a:extLst>
            </p:cNvPr>
            <p:cNvSpPr txBox="1"/>
            <p:nvPr/>
          </p:nvSpPr>
          <p:spPr>
            <a:xfrm>
              <a:off x="1697643" y="855814"/>
              <a:ext cx="8805718" cy="2001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2400" b="1" dirty="0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카메라 가시 범위 </a:t>
              </a:r>
              <a:r>
                <a:rPr lang="ko-KR" altLang="en-US" sz="2400" b="1" dirty="0" err="1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컬링</a:t>
              </a:r>
              <a:endParaRPr lang="en-US" sz="2400" dirty="0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A34D5CE5-230F-1CC4-9C03-612259D83373}"/>
                </a:ext>
              </a:extLst>
            </p:cNvPr>
            <p:cNvGrpSpPr/>
            <p:nvPr/>
          </p:nvGrpSpPr>
          <p:grpSpPr>
            <a:xfrm>
              <a:off x="596665" y="1261039"/>
              <a:ext cx="10981817" cy="1208082"/>
              <a:chOff x="596665" y="1260801"/>
              <a:chExt cx="11006619" cy="1208082"/>
            </a:xfrm>
          </p:grpSpPr>
          <p:sp>
            <p:nvSpPr>
              <p:cNvPr id="9" name="Shape 13">
                <a:extLst>
                  <a:ext uri="{FF2B5EF4-FFF2-40B4-BE49-F238E27FC236}">
                    <a16:creationId xmlns:a16="http://schemas.microsoft.com/office/drawing/2014/main" id="{B11FD9B4-B3B8-FFBA-88E5-A6C875613EF0}"/>
                  </a:ext>
                </a:extLst>
              </p:cNvPr>
              <p:cNvSpPr/>
              <p:nvPr/>
            </p:nvSpPr>
            <p:spPr>
              <a:xfrm>
                <a:off x="596665" y="1260801"/>
                <a:ext cx="11006619" cy="1208082"/>
              </a:xfrm>
              <a:prstGeom prst="rect">
                <a:avLst/>
              </a:prstGeom>
              <a:solidFill>
                <a:srgbClr val="E8E8E8"/>
              </a:solidFill>
              <a:ln w="25400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0" name="Text 23">
                <a:extLst>
                  <a:ext uri="{FF2B5EF4-FFF2-40B4-BE49-F238E27FC236}">
                    <a16:creationId xmlns:a16="http://schemas.microsoft.com/office/drawing/2014/main" id="{EA3878E6-C71C-24FC-7944-6B2F85053854}"/>
                  </a:ext>
                </a:extLst>
              </p:cNvPr>
              <p:cNvSpPr txBox="1"/>
              <p:nvPr/>
            </p:nvSpPr>
            <p:spPr>
              <a:xfrm>
                <a:off x="817494" y="1557732"/>
                <a:ext cx="10566017" cy="8880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ko-KR" altLang="en-US" dirty="0"/>
                  <a:t>윈도우 화면 크기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카메라 </a:t>
                </a:r>
                <a:r>
                  <a:rPr lang="ko-KR" altLang="en-US" dirty="0" err="1"/>
                  <a:t>뷰포트</a:t>
                </a:r>
                <a:r>
                  <a:rPr lang="ko-KR" altLang="en-US" dirty="0"/>
                  <a:t> 영역 </a:t>
                </a:r>
                <a:r>
                  <a:rPr lang="en-US" altLang="ko-KR" dirty="0" err="1"/>
                  <a:t>Rect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와 겹치는 격자</a:t>
                </a:r>
                <a:r>
                  <a:rPr lang="en-US" altLang="ko-KR" dirty="0"/>
                  <a:t>(Cell) </a:t>
                </a:r>
                <a:r>
                  <a:rPr lang="ko-KR" altLang="en-US" dirty="0"/>
                  <a:t>범위만 찾아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렌더링 대상을 선별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 </a:t>
                </a:r>
                <a:r>
                  <a:rPr lang="en-US" altLang="ko-KR" dirty="0" err="1"/>
                  <a:t>QueryObjectsInRectArea</a:t>
                </a:r>
                <a:r>
                  <a:rPr lang="ko-KR" altLang="en-US" dirty="0"/>
                  <a:t>에 해당 </a:t>
                </a:r>
                <a:r>
                  <a:rPr lang="ko-KR" altLang="en-US" dirty="0" err="1"/>
                  <a:t>뷰포트</a:t>
                </a:r>
                <a:r>
                  <a:rPr lang="ko-KR" altLang="en-US" dirty="0"/>
                  <a:t> 영역과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추적중인 격자 범위 내에서 존재하는 오브젝트를 </a:t>
                </a:r>
                <a:r>
                  <a:rPr lang="en-US" altLang="ko-KR" dirty="0" err="1"/>
                  <a:t>VisibleBuffer</a:t>
                </a:r>
                <a:r>
                  <a:rPr lang="ko-KR" altLang="en-US" dirty="0"/>
                  <a:t>에 저장하여 이를 렌더링하도록 진행함</a:t>
                </a:r>
                <a:endParaRPr lang="en-US" altLang="ko-KR" dirty="0"/>
              </a:p>
            </p:txBody>
          </p: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60F1DAEA-D9DD-C5E5-5C2B-F4B0289BDB59}"/>
                  </a:ext>
                </a:extLst>
              </p:cNvPr>
              <p:cNvGrpSpPr/>
              <p:nvPr/>
            </p:nvGrpSpPr>
            <p:grpSpPr>
              <a:xfrm>
                <a:off x="653470" y="1269880"/>
                <a:ext cx="10917865" cy="299699"/>
                <a:chOff x="653470" y="1269880"/>
                <a:chExt cx="10917865" cy="299699"/>
              </a:xfrm>
            </p:grpSpPr>
            <p:sp>
              <p:nvSpPr>
                <p:cNvPr id="12" name="Shape 16">
                  <a:extLst>
                    <a:ext uri="{FF2B5EF4-FFF2-40B4-BE49-F238E27FC236}">
                      <a16:creationId xmlns:a16="http://schemas.microsoft.com/office/drawing/2014/main" id="{F633799D-4C03-01BF-48F8-0AC397DAD9A9}"/>
                    </a:ext>
                  </a:extLst>
                </p:cNvPr>
                <p:cNvSpPr/>
                <p:nvPr/>
              </p:nvSpPr>
              <p:spPr>
                <a:xfrm>
                  <a:off x="653470" y="1269880"/>
                  <a:ext cx="10917865" cy="299699"/>
                </a:xfrm>
                <a:prstGeom prst="rect">
                  <a:avLst/>
                </a:prstGeom>
                <a:solidFill>
                  <a:srgbClr val="000080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20" name="Text 21">
                  <a:extLst>
                    <a:ext uri="{FF2B5EF4-FFF2-40B4-BE49-F238E27FC236}">
                      <a16:creationId xmlns:a16="http://schemas.microsoft.com/office/drawing/2014/main" id="{19DCFE1E-89EF-18F6-6027-1C23FD00C5CA}"/>
                    </a:ext>
                  </a:extLst>
                </p:cNvPr>
                <p:cNvSpPr txBox="1"/>
                <p:nvPr/>
              </p:nvSpPr>
              <p:spPr>
                <a:xfrm>
                  <a:off x="1660741" y="1319208"/>
                  <a:ext cx="8805718" cy="200119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ko-KR" altLang="en-US" sz="2000" dirty="0">
                      <a:solidFill>
                        <a:srgbClr val="FFFF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설명</a:t>
                  </a:r>
                  <a:endParaRPr lang="en-US" sz="2000" dirty="0">
                    <a:solidFill>
                      <a:srgbClr val="FFFF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pic>
        <p:nvPicPr>
          <p:cNvPr id="23" name="그림 22">
            <a:extLst>
              <a:ext uri="{FF2B5EF4-FFF2-40B4-BE49-F238E27FC236}">
                <a16:creationId xmlns:a16="http://schemas.microsoft.com/office/drawing/2014/main" id="{408CF17B-73D0-2988-4904-AFCFA65843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078" y="2531300"/>
            <a:ext cx="7162702" cy="369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459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02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131" name="Shape 103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04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3" name="Shape 105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34" name="Shape 106"/>
          <p:cNvSpPr/>
          <p:nvPr/>
        </p:nvSpPr>
        <p:spPr>
          <a:xfrm>
            <a:off x="10477195" y="6534302"/>
            <a:ext cx="1619402" cy="267005"/>
          </a:xfrm>
          <a:prstGeom prst="rect">
            <a:avLst/>
          </a:prstGeom>
          <a:solidFill>
            <a:srgbClr val="C0C0C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135" name="Image 25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136" name="Text 107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lang="en-US" sz="1000" dirty="0"/>
          </a:p>
        </p:txBody>
      </p:sp>
      <p:pic>
        <p:nvPicPr>
          <p:cNvPr id="137" name="Image 26" descr="gen-dedup-1027b540a23f27953c8b221c66837c2b.png"/>
          <p:cNvPicPr>
            <a:picLocks noChangeAspect="1"/>
          </p:cNvPicPr>
          <p:nvPr/>
        </p:nvPicPr>
        <p:blipFill>
          <a:blip r:embed="rId4"/>
          <a:srcRect t="-6250" b="-6250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138" name="Text 108"/>
          <p:cNvSpPr txBox="1"/>
          <p:nvPr/>
        </p:nvSpPr>
        <p:spPr>
          <a:xfrm>
            <a:off x="1238098" y="6577279"/>
            <a:ext cx="143743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탐색 중 - Projects</a:t>
            </a:r>
            <a:endParaRPr lang="en-US" sz="900" dirty="0"/>
          </a:p>
        </p:txBody>
      </p:sp>
      <p:pic>
        <p:nvPicPr>
          <p:cNvPr id="139" name="Image 27" descr="gen-dedup-7740a029182e5c65b65e33d2aaed94e2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10573207" y="6590995"/>
            <a:ext cx="152705" cy="152705"/>
          </a:xfrm>
          <a:prstGeom prst="rect">
            <a:avLst/>
          </a:prstGeom>
        </p:spPr>
      </p:pic>
      <p:sp>
        <p:nvSpPr>
          <p:cNvPr id="140" name="Text 109"/>
          <p:cNvSpPr txBox="1"/>
          <p:nvPr/>
        </p:nvSpPr>
        <p:spPr>
          <a:xfrm>
            <a:off x="11124590" y="6590995"/>
            <a:ext cx="7260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10:00 AM</a:t>
            </a:r>
            <a:endParaRPr lang="en-US" sz="1000" dirty="0"/>
          </a:p>
        </p:txBody>
      </p:sp>
      <p:sp>
        <p:nvSpPr>
          <p:cNvPr id="103" name="Shape 10">
            <a:extLst>
              <a:ext uri="{FF2B5EF4-FFF2-40B4-BE49-F238E27FC236}">
                <a16:creationId xmlns:a16="http://schemas.microsoft.com/office/drawing/2014/main" id="{14A75B8D-58B7-472B-BBE7-FDD8817C001B}"/>
              </a:ext>
            </a:extLst>
          </p:cNvPr>
          <p:cNvSpPr/>
          <p:nvPr/>
        </p:nvSpPr>
        <p:spPr>
          <a:xfrm>
            <a:off x="1044001" y="108001"/>
            <a:ext cx="10890197" cy="6084503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4" name="Shape 11">
            <a:extLst>
              <a:ext uri="{FF2B5EF4-FFF2-40B4-BE49-F238E27FC236}">
                <a16:creationId xmlns:a16="http://schemas.microsoft.com/office/drawing/2014/main" id="{71A388DE-101E-4470-BFD4-A6A63EA671A5}"/>
              </a:ext>
            </a:extLst>
          </p:cNvPr>
          <p:cNvSpPr/>
          <p:nvPr/>
        </p:nvSpPr>
        <p:spPr>
          <a:xfrm>
            <a:off x="1063780" y="128969"/>
            <a:ext cx="10850641" cy="291545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5" name="Image 5" descr="gen-dedup-23665c0bc8193eed4b19e05b81a508d3.png">
            <a:extLst>
              <a:ext uri="{FF2B5EF4-FFF2-40B4-BE49-F238E27FC236}">
                <a16:creationId xmlns:a16="http://schemas.microsoft.com/office/drawing/2014/main" id="{2293A2AB-329A-4D4D-A2B3-1C7504C127F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063780" y="670124"/>
            <a:ext cx="10850641" cy="41935"/>
          </a:xfrm>
          <a:prstGeom prst="rect">
            <a:avLst/>
          </a:prstGeom>
        </p:spPr>
      </p:pic>
      <p:sp>
        <p:nvSpPr>
          <p:cNvPr id="106" name="Shape 12">
            <a:extLst>
              <a:ext uri="{FF2B5EF4-FFF2-40B4-BE49-F238E27FC236}">
                <a16:creationId xmlns:a16="http://schemas.microsoft.com/office/drawing/2014/main" id="{BF7862CB-A48A-41ED-BB49-4572C79D2442}"/>
              </a:ext>
            </a:extLst>
          </p:cNvPr>
          <p:cNvSpPr/>
          <p:nvPr/>
        </p:nvSpPr>
        <p:spPr>
          <a:xfrm>
            <a:off x="1063780" y="691091"/>
            <a:ext cx="10850641" cy="41635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7" name="Image 6" descr="gen-dedup-23665c0bc8193eed4b19e05b81a508d3.png">
            <a:extLst>
              <a:ext uri="{FF2B5EF4-FFF2-40B4-BE49-F238E27FC236}">
                <a16:creationId xmlns:a16="http://schemas.microsoft.com/office/drawing/2014/main" id="{20ABEAB4-CC5E-4191-B75F-C98135769AD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063780" y="1106443"/>
            <a:ext cx="10850641" cy="41935"/>
          </a:xfrm>
          <a:prstGeom prst="rect">
            <a:avLst/>
          </a:prstGeom>
        </p:spPr>
      </p:pic>
      <p:sp>
        <p:nvSpPr>
          <p:cNvPr id="108" name="Shape 13">
            <a:extLst>
              <a:ext uri="{FF2B5EF4-FFF2-40B4-BE49-F238E27FC236}">
                <a16:creationId xmlns:a16="http://schemas.microsoft.com/office/drawing/2014/main" id="{778C56FF-CFDC-45C0-B015-6894EB626093}"/>
              </a:ext>
            </a:extLst>
          </p:cNvPr>
          <p:cNvSpPr/>
          <p:nvPr/>
        </p:nvSpPr>
        <p:spPr>
          <a:xfrm>
            <a:off x="1063780" y="1127410"/>
            <a:ext cx="10850641" cy="332481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9" name="Image 7" descr="gen-dedup-23665c0bc8193eed4b19e05b81a508d3.png">
            <a:extLst>
              <a:ext uri="{FF2B5EF4-FFF2-40B4-BE49-F238E27FC236}">
                <a16:creationId xmlns:a16="http://schemas.microsoft.com/office/drawing/2014/main" id="{8EAD3060-1BC9-4720-89D3-B2F118FDED5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063780" y="1459891"/>
            <a:ext cx="10850641" cy="41935"/>
          </a:xfrm>
          <a:prstGeom prst="rect">
            <a:avLst/>
          </a:prstGeom>
        </p:spPr>
      </p:pic>
      <p:sp>
        <p:nvSpPr>
          <p:cNvPr id="110" name="Shape 14">
            <a:extLst>
              <a:ext uri="{FF2B5EF4-FFF2-40B4-BE49-F238E27FC236}">
                <a16:creationId xmlns:a16="http://schemas.microsoft.com/office/drawing/2014/main" id="{42389CBE-477E-4B1E-A4DE-6467CBB7EFEB}"/>
              </a:ext>
            </a:extLst>
          </p:cNvPr>
          <p:cNvSpPr/>
          <p:nvPr/>
        </p:nvSpPr>
        <p:spPr>
          <a:xfrm>
            <a:off x="1083557" y="1501826"/>
            <a:ext cx="2452485" cy="4368182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11" name="Shape 15">
            <a:extLst>
              <a:ext uri="{FF2B5EF4-FFF2-40B4-BE49-F238E27FC236}">
                <a16:creationId xmlns:a16="http://schemas.microsoft.com/office/drawing/2014/main" id="{C21C50EE-23E3-464C-A24A-63BA82DF84D4}"/>
              </a:ext>
            </a:extLst>
          </p:cNvPr>
          <p:cNvSpPr/>
          <p:nvPr/>
        </p:nvSpPr>
        <p:spPr>
          <a:xfrm>
            <a:off x="3595376" y="1501826"/>
            <a:ext cx="8300208" cy="4368182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12" name="Shape 16">
            <a:extLst>
              <a:ext uri="{FF2B5EF4-FFF2-40B4-BE49-F238E27FC236}">
                <a16:creationId xmlns:a16="http://schemas.microsoft.com/office/drawing/2014/main" id="{F20FF41E-0C07-442E-8C60-91349F8FAB6F}"/>
              </a:ext>
            </a:extLst>
          </p:cNvPr>
          <p:cNvSpPr/>
          <p:nvPr/>
        </p:nvSpPr>
        <p:spPr>
          <a:xfrm>
            <a:off x="1063780" y="5890974"/>
            <a:ext cx="10850641" cy="27057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3" name="Shape 17">
            <a:extLst>
              <a:ext uri="{FF2B5EF4-FFF2-40B4-BE49-F238E27FC236}">
                <a16:creationId xmlns:a16="http://schemas.microsoft.com/office/drawing/2014/main" id="{91B29A68-FFAE-4CAE-892D-A568DC5821A1}"/>
              </a:ext>
            </a:extLst>
          </p:cNvPr>
          <p:cNvSpPr/>
          <p:nvPr/>
        </p:nvSpPr>
        <p:spPr>
          <a:xfrm>
            <a:off x="11070555" y="159920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4" name="Shape 18">
            <a:extLst>
              <a:ext uri="{FF2B5EF4-FFF2-40B4-BE49-F238E27FC236}">
                <a16:creationId xmlns:a16="http://schemas.microsoft.com/office/drawing/2014/main" id="{5ED4C68E-2927-4286-A306-85C476D8C2C7}"/>
              </a:ext>
            </a:extLst>
          </p:cNvPr>
          <p:cNvSpPr/>
          <p:nvPr/>
        </p:nvSpPr>
        <p:spPr>
          <a:xfrm>
            <a:off x="11365343" y="159920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5" name="Shape 19">
            <a:extLst>
              <a:ext uri="{FF2B5EF4-FFF2-40B4-BE49-F238E27FC236}">
                <a16:creationId xmlns:a16="http://schemas.microsoft.com/office/drawing/2014/main" id="{629F123C-82EE-47C3-9DC8-E100143135E9}"/>
              </a:ext>
            </a:extLst>
          </p:cNvPr>
          <p:cNvSpPr/>
          <p:nvPr/>
        </p:nvSpPr>
        <p:spPr>
          <a:xfrm>
            <a:off x="11659189" y="159920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6" name="Text 20">
            <a:extLst>
              <a:ext uri="{FF2B5EF4-FFF2-40B4-BE49-F238E27FC236}">
                <a16:creationId xmlns:a16="http://schemas.microsoft.com/office/drawing/2014/main" id="{299A98B0-9D78-41C5-8B65-6BDFCC859999}"/>
              </a:ext>
            </a:extLst>
          </p:cNvPr>
          <p:cNvSpPr txBox="1"/>
          <p:nvPr/>
        </p:nvSpPr>
        <p:spPr>
          <a:xfrm>
            <a:off x="1100101" y="446473"/>
            <a:ext cx="2908322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파일(F)   </a:t>
            </a:r>
            <a:r>
              <a:rPr lang="en-US" sz="9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편집</a:t>
            </a: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(E)   </a:t>
            </a:r>
            <a:r>
              <a:rPr lang="en-US" sz="9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보기</a:t>
            </a: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(V)   </a:t>
            </a:r>
            <a:r>
              <a:rPr lang="en-US" sz="9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도구</a:t>
            </a: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(T)   </a:t>
            </a:r>
            <a:r>
              <a:rPr lang="en-US" sz="9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도움말</a:t>
            </a: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(H)</a:t>
            </a:r>
            <a:endParaRPr lang="en-US" sz="900" dirty="0"/>
          </a:p>
        </p:txBody>
      </p:sp>
      <p:sp>
        <p:nvSpPr>
          <p:cNvPr id="117" name="Shape 21">
            <a:extLst>
              <a:ext uri="{FF2B5EF4-FFF2-40B4-BE49-F238E27FC236}">
                <a16:creationId xmlns:a16="http://schemas.microsoft.com/office/drawing/2014/main" id="{BA430CC0-BC0A-472A-9F4E-CEDB0A52E19C}"/>
              </a:ext>
            </a:extLst>
          </p:cNvPr>
          <p:cNvSpPr/>
          <p:nvPr/>
        </p:nvSpPr>
        <p:spPr>
          <a:xfrm>
            <a:off x="1142891" y="743010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8" name="Shape 22">
            <a:extLst>
              <a:ext uri="{FF2B5EF4-FFF2-40B4-BE49-F238E27FC236}">
                <a16:creationId xmlns:a16="http://schemas.microsoft.com/office/drawing/2014/main" id="{D0F1BAB3-55DD-4B90-9514-6377C02A9076}"/>
              </a:ext>
            </a:extLst>
          </p:cNvPr>
          <p:cNvSpPr/>
          <p:nvPr/>
        </p:nvSpPr>
        <p:spPr>
          <a:xfrm>
            <a:off x="1485712" y="743010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9" name="Shape 23">
            <a:extLst>
              <a:ext uri="{FF2B5EF4-FFF2-40B4-BE49-F238E27FC236}">
                <a16:creationId xmlns:a16="http://schemas.microsoft.com/office/drawing/2014/main" id="{413C9993-835C-4DCE-99EE-1A4B19C69446}"/>
              </a:ext>
            </a:extLst>
          </p:cNvPr>
          <p:cNvSpPr/>
          <p:nvPr/>
        </p:nvSpPr>
        <p:spPr>
          <a:xfrm>
            <a:off x="1829474" y="743010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22" name="Shape 25">
            <a:extLst>
              <a:ext uri="{FF2B5EF4-FFF2-40B4-BE49-F238E27FC236}">
                <a16:creationId xmlns:a16="http://schemas.microsoft.com/office/drawing/2014/main" id="{F3567888-8960-4D67-8893-94ED42CC31E1}"/>
              </a:ext>
            </a:extLst>
          </p:cNvPr>
          <p:cNvSpPr/>
          <p:nvPr/>
        </p:nvSpPr>
        <p:spPr>
          <a:xfrm>
            <a:off x="1731525" y="1169345"/>
            <a:ext cx="9320193" cy="249610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23" name="Shape 26">
            <a:extLst>
              <a:ext uri="{FF2B5EF4-FFF2-40B4-BE49-F238E27FC236}">
                <a16:creationId xmlns:a16="http://schemas.microsoft.com/office/drawing/2014/main" id="{F9BE2189-0E78-419A-8C1A-57E458CD3185}"/>
              </a:ext>
            </a:extLst>
          </p:cNvPr>
          <p:cNvSpPr/>
          <p:nvPr/>
        </p:nvSpPr>
        <p:spPr>
          <a:xfrm>
            <a:off x="11149667" y="1148377"/>
            <a:ext cx="686583" cy="27057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4" name="Shape 27">
            <a:extLst>
              <a:ext uri="{FF2B5EF4-FFF2-40B4-BE49-F238E27FC236}">
                <a16:creationId xmlns:a16="http://schemas.microsoft.com/office/drawing/2014/main" id="{3BF4B2C6-B1E4-4F82-81A6-F664E976AAD4}"/>
              </a:ext>
            </a:extLst>
          </p:cNvPr>
          <p:cNvSpPr/>
          <p:nvPr/>
        </p:nvSpPr>
        <p:spPr>
          <a:xfrm>
            <a:off x="3359922" y="1522793"/>
            <a:ext cx="166701" cy="4326247"/>
          </a:xfrm>
          <a:prstGeom prst="rect">
            <a:avLst/>
          </a:prstGeom>
          <a:solidFill>
            <a:srgbClr val="DFDFDF"/>
          </a:solidFill>
          <a:ln/>
        </p:spPr>
      </p:sp>
      <p:sp>
        <p:nvSpPr>
          <p:cNvPr id="125" name="Shape 28">
            <a:extLst>
              <a:ext uri="{FF2B5EF4-FFF2-40B4-BE49-F238E27FC236}">
                <a16:creationId xmlns:a16="http://schemas.microsoft.com/office/drawing/2014/main" id="{D31BEC5E-DE7B-485B-92B6-010A35214FB6}"/>
              </a:ext>
            </a:extLst>
          </p:cNvPr>
          <p:cNvSpPr/>
          <p:nvPr/>
        </p:nvSpPr>
        <p:spPr>
          <a:xfrm>
            <a:off x="3359922" y="1522793"/>
            <a:ext cx="9418" cy="4326247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>
                <a:alpha val="0"/>
              </a:srgbClr>
            </a:solidFill>
            <a:prstDash val="solid"/>
          </a:ln>
        </p:spPr>
      </p:sp>
      <p:sp>
        <p:nvSpPr>
          <p:cNvPr id="127" name="Shape 30">
            <a:extLst>
              <a:ext uri="{FF2B5EF4-FFF2-40B4-BE49-F238E27FC236}">
                <a16:creationId xmlns:a16="http://schemas.microsoft.com/office/drawing/2014/main" id="{916FC1B2-F896-4360-AE9D-1DA7A8004F60}"/>
              </a:ext>
            </a:extLst>
          </p:cNvPr>
          <p:cNvSpPr/>
          <p:nvPr/>
        </p:nvSpPr>
        <p:spPr>
          <a:xfrm>
            <a:off x="1083557" y="5932909"/>
            <a:ext cx="2452485" cy="187707"/>
          </a:xfrm>
          <a:prstGeom prst="rect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141" name="Shape 31">
            <a:extLst>
              <a:ext uri="{FF2B5EF4-FFF2-40B4-BE49-F238E27FC236}">
                <a16:creationId xmlns:a16="http://schemas.microsoft.com/office/drawing/2014/main" id="{91123D67-B5E3-49E4-99D0-DFCAAC3F8CCA}"/>
              </a:ext>
            </a:extLst>
          </p:cNvPr>
          <p:cNvSpPr/>
          <p:nvPr/>
        </p:nvSpPr>
        <p:spPr>
          <a:xfrm>
            <a:off x="3555820" y="5932909"/>
            <a:ext cx="8338823" cy="187707"/>
          </a:xfrm>
          <a:prstGeom prst="rect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142" name="Shape 32">
            <a:extLst>
              <a:ext uri="{FF2B5EF4-FFF2-40B4-BE49-F238E27FC236}">
                <a16:creationId xmlns:a16="http://schemas.microsoft.com/office/drawing/2014/main" id="{354B1A02-7FFC-47B5-9696-E585EB5A9885}"/>
              </a:ext>
            </a:extLst>
          </p:cNvPr>
          <p:cNvSpPr/>
          <p:nvPr/>
        </p:nvSpPr>
        <p:spPr>
          <a:xfrm>
            <a:off x="3359922" y="1522793"/>
            <a:ext cx="157283" cy="16674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5" name="Shape 33">
            <a:extLst>
              <a:ext uri="{FF2B5EF4-FFF2-40B4-BE49-F238E27FC236}">
                <a16:creationId xmlns:a16="http://schemas.microsoft.com/office/drawing/2014/main" id="{DA473C0B-5729-4FD8-AD5B-3C1C059BA00F}"/>
              </a:ext>
            </a:extLst>
          </p:cNvPr>
          <p:cNvSpPr/>
          <p:nvPr/>
        </p:nvSpPr>
        <p:spPr>
          <a:xfrm>
            <a:off x="3359922" y="1689533"/>
            <a:ext cx="157283" cy="831702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6" name="Shape 34">
            <a:extLst>
              <a:ext uri="{FF2B5EF4-FFF2-40B4-BE49-F238E27FC236}">
                <a16:creationId xmlns:a16="http://schemas.microsoft.com/office/drawing/2014/main" id="{A4F36E1F-4507-4CC5-9346-4FBE0AD7F22F}"/>
              </a:ext>
            </a:extLst>
          </p:cNvPr>
          <p:cNvSpPr/>
          <p:nvPr/>
        </p:nvSpPr>
        <p:spPr>
          <a:xfrm>
            <a:off x="3359922" y="5683299"/>
            <a:ext cx="157283" cy="16674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8" name="Image 8" descr="gen-dedup-7c02ed4669765158cb6410457d6288f7.png">
            <a:extLst>
              <a:ext uri="{FF2B5EF4-FFF2-40B4-BE49-F238E27FC236}">
                <a16:creationId xmlns:a16="http://schemas.microsoft.com/office/drawing/2014/main" id="{2665EC4D-B367-4232-8285-18D4141E819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6250" b="-6250"/>
          <a:stretch/>
        </p:blipFill>
        <p:spPr>
          <a:xfrm>
            <a:off x="1123114" y="191871"/>
            <a:ext cx="157283" cy="166740"/>
          </a:xfrm>
          <a:prstGeom prst="rect">
            <a:avLst/>
          </a:prstGeom>
        </p:spPr>
      </p:pic>
      <p:sp>
        <p:nvSpPr>
          <p:cNvPr id="149" name="Text 36">
            <a:extLst>
              <a:ext uri="{FF2B5EF4-FFF2-40B4-BE49-F238E27FC236}">
                <a16:creationId xmlns:a16="http://schemas.microsoft.com/office/drawing/2014/main" id="{E428AE1F-5E2A-45BC-8AD2-EAAD85DE2C03}"/>
              </a:ext>
            </a:extLst>
          </p:cNvPr>
          <p:cNvSpPr txBox="1"/>
          <p:nvPr/>
        </p:nvSpPr>
        <p:spPr>
          <a:xfrm>
            <a:off x="1387763" y="170904"/>
            <a:ext cx="1594491" cy="20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탐색 중 - Projects</a:t>
            </a:r>
            <a:endParaRPr lang="en-US" sz="1000" dirty="0"/>
          </a:p>
        </p:txBody>
      </p:sp>
      <p:sp>
        <p:nvSpPr>
          <p:cNvPr id="150" name="Text 37">
            <a:extLst>
              <a:ext uri="{FF2B5EF4-FFF2-40B4-BE49-F238E27FC236}">
                <a16:creationId xmlns:a16="http://schemas.microsoft.com/office/drawing/2014/main" id="{B62B1CCF-70A3-4E76-BC3F-82C5DF2D170C}"/>
              </a:ext>
            </a:extLst>
          </p:cNvPr>
          <p:cNvSpPr txBox="1"/>
          <p:nvPr/>
        </p:nvSpPr>
        <p:spPr>
          <a:xfrm>
            <a:off x="11138365" y="185880"/>
            <a:ext cx="83822" cy="14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_</a:t>
            </a:r>
            <a:endParaRPr lang="en-US" sz="900" dirty="0"/>
          </a:p>
        </p:txBody>
      </p:sp>
      <p:sp>
        <p:nvSpPr>
          <p:cNvPr id="151" name="Shape 38">
            <a:extLst>
              <a:ext uri="{FF2B5EF4-FFF2-40B4-BE49-F238E27FC236}">
                <a16:creationId xmlns:a16="http://schemas.microsoft.com/office/drawing/2014/main" id="{D76E0BCC-364D-4EE0-BC3A-3858A77A42F3}"/>
              </a:ext>
            </a:extLst>
          </p:cNvPr>
          <p:cNvSpPr/>
          <p:nvPr/>
        </p:nvSpPr>
        <p:spPr>
          <a:xfrm>
            <a:off x="11414317" y="206847"/>
            <a:ext cx="117727" cy="13479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52" name="Shape 39">
            <a:extLst>
              <a:ext uri="{FF2B5EF4-FFF2-40B4-BE49-F238E27FC236}">
                <a16:creationId xmlns:a16="http://schemas.microsoft.com/office/drawing/2014/main" id="{B2824EFA-3C56-436D-9EF5-EACB833A8EB2}"/>
              </a:ext>
            </a:extLst>
          </p:cNvPr>
          <p:cNvSpPr/>
          <p:nvPr/>
        </p:nvSpPr>
        <p:spPr>
          <a:xfrm>
            <a:off x="11414317" y="206847"/>
            <a:ext cx="117727" cy="20967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Text 40">
            <a:extLst>
              <a:ext uri="{FF2B5EF4-FFF2-40B4-BE49-F238E27FC236}">
                <a16:creationId xmlns:a16="http://schemas.microsoft.com/office/drawing/2014/main" id="{73B04141-7F29-472D-BF63-5B332765C610}"/>
              </a:ext>
            </a:extLst>
          </p:cNvPr>
          <p:cNvSpPr txBox="1"/>
          <p:nvPr/>
        </p:nvSpPr>
        <p:spPr>
          <a:xfrm>
            <a:off x="11727941" y="201855"/>
            <a:ext cx="88531" cy="14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pic>
        <p:nvPicPr>
          <p:cNvPr id="158" name="Image 9" descr="gen-dedup-25afa46a09582202a40d6f31fc2ccf91.png">
            <a:extLst>
              <a:ext uri="{FF2B5EF4-FFF2-40B4-BE49-F238E27FC236}">
                <a16:creationId xmlns:a16="http://schemas.microsoft.com/office/drawing/2014/main" id="{6D3A70D4-DA94-488E-BECC-BF8D28E4351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1210702" y="815896"/>
            <a:ext cx="157283" cy="166740"/>
          </a:xfrm>
          <a:prstGeom prst="rect">
            <a:avLst/>
          </a:prstGeom>
        </p:spPr>
      </p:pic>
      <p:pic>
        <p:nvPicPr>
          <p:cNvPr id="159" name="Image 10" descr="gen-dedup-53d8cb32c6720cdad62ecd3793163a86.png">
            <a:extLst>
              <a:ext uri="{FF2B5EF4-FFF2-40B4-BE49-F238E27FC236}">
                <a16:creationId xmlns:a16="http://schemas.microsoft.com/office/drawing/2014/main" id="{38CE9DD8-4C0F-46DC-B9A0-EA21C7095C9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7143" r="-7143"/>
          <a:stretch/>
        </p:blipFill>
        <p:spPr>
          <a:xfrm>
            <a:off x="1554464" y="815896"/>
            <a:ext cx="157283" cy="166740"/>
          </a:xfrm>
          <a:prstGeom prst="rect">
            <a:avLst/>
          </a:prstGeom>
        </p:spPr>
      </p:pic>
      <p:pic>
        <p:nvPicPr>
          <p:cNvPr id="160" name="Image 11" descr="gen-dedup-fa17d56a867348b02c8a56abf7174658.png">
            <a:extLst>
              <a:ext uri="{FF2B5EF4-FFF2-40B4-BE49-F238E27FC236}">
                <a16:creationId xmlns:a16="http://schemas.microsoft.com/office/drawing/2014/main" id="{922B725B-A15E-4516-BFD5-E5CBF5F3301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16666" r="-16666"/>
          <a:stretch/>
        </p:blipFill>
        <p:spPr>
          <a:xfrm>
            <a:off x="1898227" y="815896"/>
            <a:ext cx="157283" cy="166740"/>
          </a:xfrm>
          <a:prstGeom prst="rect">
            <a:avLst/>
          </a:prstGeom>
        </p:spPr>
      </p:pic>
      <p:pic>
        <p:nvPicPr>
          <p:cNvPr id="161" name="Image 12" descr="gen-dedup-013b38688217c28f0315b66cc4dba47b.png">
            <a:extLst>
              <a:ext uri="{FF2B5EF4-FFF2-40B4-BE49-F238E27FC236}">
                <a16:creationId xmlns:a16="http://schemas.microsoft.com/office/drawing/2014/main" id="{D017ADA0-79CA-457C-8D33-D4231577065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2418108" y="815896"/>
            <a:ext cx="157283" cy="166740"/>
          </a:xfrm>
          <a:prstGeom prst="rect">
            <a:avLst/>
          </a:prstGeom>
        </p:spPr>
      </p:pic>
      <p:pic>
        <p:nvPicPr>
          <p:cNvPr id="162" name="Image 13" descr="gen-dedup-3408d1960989eaff15e10127b414fcf2.png">
            <a:extLst>
              <a:ext uri="{FF2B5EF4-FFF2-40B4-BE49-F238E27FC236}">
                <a16:creationId xmlns:a16="http://schemas.microsoft.com/office/drawing/2014/main" id="{99A1AEF4-E23A-47B4-A49D-1A8A656F8CA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7143" r="-7143"/>
          <a:stretch/>
        </p:blipFill>
        <p:spPr>
          <a:xfrm>
            <a:off x="2711955" y="815896"/>
            <a:ext cx="157283" cy="166740"/>
          </a:xfrm>
          <a:prstGeom prst="rect">
            <a:avLst/>
          </a:prstGeom>
        </p:spPr>
      </p:pic>
      <p:pic>
        <p:nvPicPr>
          <p:cNvPr id="163" name="Image 14" descr="gen-dedup-6e9e672aa626b1edf6db8640b2821839.png">
            <a:extLst>
              <a:ext uri="{FF2B5EF4-FFF2-40B4-BE49-F238E27FC236}">
                <a16:creationId xmlns:a16="http://schemas.microsoft.com/office/drawing/2014/main" id="{C9550F90-0E01-4893-B835-77A2FB3C1F4E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3006742" y="815896"/>
            <a:ext cx="157283" cy="166740"/>
          </a:xfrm>
          <a:prstGeom prst="rect">
            <a:avLst/>
          </a:prstGeom>
        </p:spPr>
      </p:pic>
      <p:sp>
        <p:nvSpPr>
          <p:cNvPr id="164" name="Text 41">
            <a:extLst>
              <a:ext uri="{FF2B5EF4-FFF2-40B4-BE49-F238E27FC236}">
                <a16:creationId xmlns:a16="http://schemas.microsoft.com/office/drawing/2014/main" id="{0762294A-6332-409C-A4B5-45E26B375792}"/>
              </a:ext>
            </a:extLst>
          </p:cNvPr>
          <p:cNvSpPr txBox="1"/>
          <p:nvPr/>
        </p:nvSpPr>
        <p:spPr>
          <a:xfrm>
            <a:off x="1142891" y="1195304"/>
            <a:ext cx="536834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주소(D)</a:t>
            </a:r>
            <a:endParaRPr lang="en-US" sz="900" dirty="0"/>
          </a:p>
        </p:txBody>
      </p:sp>
      <p:pic>
        <p:nvPicPr>
          <p:cNvPr id="165" name="Image 15" descr="gen-dedup-7c02ed4669765158cb6410457d6288f7.png">
            <a:extLst>
              <a:ext uri="{FF2B5EF4-FFF2-40B4-BE49-F238E27FC236}">
                <a16:creationId xmlns:a16="http://schemas.microsoft.com/office/drawing/2014/main" id="{239474F9-BA3C-417F-8CE0-5EE537895D3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6250" b="-6250"/>
          <a:stretch/>
        </p:blipFill>
        <p:spPr>
          <a:xfrm>
            <a:off x="1780500" y="1210281"/>
            <a:ext cx="157283" cy="166740"/>
          </a:xfrm>
          <a:prstGeom prst="rect">
            <a:avLst/>
          </a:prstGeom>
        </p:spPr>
      </p:pic>
      <p:sp>
        <p:nvSpPr>
          <p:cNvPr id="166" name="Text 42">
            <a:extLst>
              <a:ext uri="{FF2B5EF4-FFF2-40B4-BE49-F238E27FC236}">
                <a16:creationId xmlns:a16="http://schemas.microsoft.com/office/drawing/2014/main" id="{2A6B50A8-5D43-45FB-875F-B4B2E68A3195}"/>
              </a:ext>
            </a:extLst>
          </p:cNvPr>
          <p:cNvSpPr txBox="1"/>
          <p:nvPr/>
        </p:nvSpPr>
        <p:spPr>
          <a:xfrm>
            <a:off x="2025372" y="1216271"/>
            <a:ext cx="3451503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C:\Portfolio\Projects\</a:t>
            </a:r>
            <a:r>
              <a:rPr lang="en-US" altLang="ko-KR" sz="900" dirty="0"/>
              <a:t>File Tower </a:t>
            </a:r>
            <a:r>
              <a:rPr lang="en-US" altLang="ko-KR" sz="900" dirty="0" err="1"/>
              <a:t>Defence</a:t>
            </a:r>
            <a:endParaRPr lang="en-US" altLang="ko-KR" sz="900" dirty="0"/>
          </a:p>
        </p:txBody>
      </p:sp>
      <p:sp>
        <p:nvSpPr>
          <p:cNvPr id="167" name="Text 43">
            <a:extLst>
              <a:ext uri="{FF2B5EF4-FFF2-40B4-BE49-F238E27FC236}">
                <a16:creationId xmlns:a16="http://schemas.microsoft.com/office/drawing/2014/main" id="{8C4F7CE9-8270-4468-851B-DDF88A52F141}"/>
              </a:ext>
            </a:extLst>
          </p:cNvPr>
          <p:cNvSpPr txBox="1"/>
          <p:nvPr/>
        </p:nvSpPr>
        <p:spPr>
          <a:xfrm>
            <a:off x="11384179" y="1195304"/>
            <a:ext cx="244872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이동</a:t>
            </a:r>
            <a:endParaRPr lang="en-US" sz="900" dirty="0"/>
          </a:p>
        </p:txBody>
      </p:sp>
      <p:sp>
        <p:nvSpPr>
          <p:cNvPr id="168" name="Text 44">
            <a:extLst>
              <a:ext uri="{FF2B5EF4-FFF2-40B4-BE49-F238E27FC236}">
                <a16:creationId xmlns:a16="http://schemas.microsoft.com/office/drawing/2014/main" id="{16B13CC4-BA5A-44FF-8E47-E60E04A8820A}"/>
              </a:ext>
            </a:extLst>
          </p:cNvPr>
          <p:cNvSpPr txBox="1"/>
          <p:nvPr/>
        </p:nvSpPr>
        <p:spPr>
          <a:xfrm>
            <a:off x="1142891" y="1600671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800" dirty="0"/>
          </a:p>
        </p:txBody>
      </p:sp>
      <p:pic>
        <p:nvPicPr>
          <p:cNvPr id="169" name="Image 16" descr="gen-dedup-71f3cd3c0f5149b77a7c51df2d1a7eab.png">
            <a:extLst>
              <a:ext uri="{FF2B5EF4-FFF2-40B4-BE49-F238E27FC236}">
                <a16:creationId xmlns:a16="http://schemas.microsoft.com/office/drawing/2014/main" id="{5722AD78-CE8C-4097-B8F2-1C40233E278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6250" b="-6250"/>
          <a:stretch/>
        </p:blipFill>
        <p:spPr>
          <a:xfrm>
            <a:off x="1309593" y="1590687"/>
            <a:ext cx="137504" cy="145772"/>
          </a:xfrm>
          <a:prstGeom prst="rect">
            <a:avLst/>
          </a:prstGeom>
        </p:spPr>
      </p:pic>
      <p:sp>
        <p:nvSpPr>
          <p:cNvPr id="170" name="Text 45">
            <a:extLst>
              <a:ext uri="{FF2B5EF4-FFF2-40B4-BE49-F238E27FC236}">
                <a16:creationId xmlns:a16="http://schemas.microsoft.com/office/drawing/2014/main" id="{E8856BC4-07FF-4558-A9F5-EFB404064BD4}"/>
              </a:ext>
            </a:extLst>
          </p:cNvPr>
          <p:cNvSpPr txBox="1"/>
          <p:nvPr/>
        </p:nvSpPr>
        <p:spPr>
          <a:xfrm>
            <a:off x="1496072" y="1564728"/>
            <a:ext cx="607470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내 컴퓨터</a:t>
            </a:r>
            <a:endParaRPr lang="en-US" sz="900" dirty="0"/>
          </a:p>
        </p:txBody>
      </p:sp>
      <p:sp>
        <p:nvSpPr>
          <p:cNvPr id="171" name="Text 46">
            <a:extLst>
              <a:ext uri="{FF2B5EF4-FFF2-40B4-BE49-F238E27FC236}">
                <a16:creationId xmlns:a16="http://schemas.microsoft.com/office/drawing/2014/main" id="{E7449BCD-C7B7-4C95-AF68-25995EF1A200}"/>
              </a:ext>
            </a:extLst>
          </p:cNvPr>
          <p:cNvSpPr txBox="1"/>
          <p:nvPr/>
        </p:nvSpPr>
        <p:spPr>
          <a:xfrm>
            <a:off x="1338789" y="1881234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800" dirty="0"/>
          </a:p>
        </p:txBody>
      </p:sp>
      <p:pic>
        <p:nvPicPr>
          <p:cNvPr id="172" name="Image 17" descr="gen-dedup-e3bb1bdbf10fa3b8ada790141c1d3212.png">
            <a:extLst>
              <a:ext uri="{FF2B5EF4-FFF2-40B4-BE49-F238E27FC236}">
                <a16:creationId xmlns:a16="http://schemas.microsoft.com/office/drawing/2014/main" id="{24284AD3-13CD-4AEE-B86A-48EEFCA4E465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505490" y="1871249"/>
            <a:ext cx="137504" cy="145772"/>
          </a:xfrm>
          <a:prstGeom prst="rect">
            <a:avLst/>
          </a:prstGeom>
        </p:spPr>
      </p:pic>
      <p:sp>
        <p:nvSpPr>
          <p:cNvPr id="173" name="Text 47">
            <a:extLst>
              <a:ext uri="{FF2B5EF4-FFF2-40B4-BE49-F238E27FC236}">
                <a16:creationId xmlns:a16="http://schemas.microsoft.com/office/drawing/2014/main" id="{9A638C46-6AA2-4807-8EB6-3B39C7503EAB}"/>
              </a:ext>
            </a:extLst>
          </p:cNvPr>
          <p:cNvSpPr txBox="1"/>
          <p:nvPr/>
        </p:nvSpPr>
        <p:spPr>
          <a:xfrm>
            <a:off x="1691969" y="1845289"/>
            <a:ext cx="982312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C: 로컬 디스크</a:t>
            </a:r>
            <a:endParaRPr lang="en-US" sz="900" dirty="0"/>
          </a:p>
        </p:txBody>
      </p:sp>
      <p:sp>
        <p:nvSpPr>
          <p:cNvPr id="174" name="Text 48">
            <a:extLst>
              <a:ext uri="{FF2B5EF4-FFF2-40B4-BE49-F238E27FC236}">
                <a16:creationId xmlns:a16="http://schemas.microsoft.com/office/drawing/2014/main" id="{323AFC2D-633A-482D-BAFB-FD8F3EB4DDFB}"/>
              </a:ext>
            </a:extLst>
          </p:cNvPr>
          <p:cNvSpPr txBox="1"/>
          <p:nvPr/>
        </p:nvSpPr>
        <p:spPr>
          <a:xfrm>
            <a:off x="1534687" y="2141827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800" dirty="0"/>
          </a:p>
        </p:txBody>
      </p:sp>
      <p:pic>
        <p:nvPicPr>
          <p:cNvPr id="175" name="Image 18" descr="gen-dedup-ba01fa70a70d7d3a77dc83183451dc86.png">
            <a:extLst>
              <a:ext uri="{FF2B5EF4-FFF2-40B4-BE49-F238E27FC236}">
                <a16:creationId xmlns:a16="http://schemas.microsoft.com/office/drawing/2014/main" id="{6BB5E545-5BF5-498F-817C-752D4F6D61D6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701387" y="2130844"/>
            <a:ext cx="137504" cy="145772"/>
          </a:xfrm>
          <a:prstGeom prst="rect">
            <a:avLst/>
          </a:prstGeom>
        </p:spPr>
      </p:pic>
      <p:sp>
        <p:nvSpPr>
          <p:cNvPr id="176" name="Text 49">
            <a:extLst>
              <a:ext uri="{FF2B5EF4-FFF2-40B4-BE49-F238E27FC236}">
                <a16:creationId xmlns:a16="http://schemas.microsoft.com/office/drawing/2014/main" id="{1E3BD229-5997-4AB9-8C0F-C468BC742636}"/>
              </a:ext>
            </a:extLst>
          </p:cNvPr>
          <p:cNvSpPr txBox="1"/>
          <p:nvPr/>
        </p:nvSpPr>
        <p:spPr>
          <a:xfrm>
            <a:off x="1887867" y="2125852"/>
            <a:ext cx="760044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900" dirty="0"/>
          </a:p>
        </p:txBody>
      </p:sp>
      <p:sp>
        <p:nvSpPr>
          <p:cNvPr id="177" name="Text 50">
            <a:extLst>
              <a:ext uri="{FF2B5EF4-FFF2-40B4-BE49-F238E27FC236}">
                <a16:creationId xmlns:a16="http://schemas.microsoft.com/office/drawing/2014/main" id="{723C73E9-4A4E-4F42-AE7A-87E8358A822A}"/>
              </a:ext>
            </a:extLst>
          </p:cNvPr>
          <p:cNvSpPr txBox="1"/>
          <p:nvPr/>
        </p:nvSpPr>
        <p:spPr>
          <a:xfrm>
            <a:off x="1731525" y="2380455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</a:t>
            </a:r>
            <a:endParaRPr lang="en-US" sz="800" dirty="0"/>
          </a:p>
        </p:txBody>
      </p:sp>
      <p:pic>
        <p:nvPicPr>
          <p:cNvPr id="178" name="Image 19" descr="gen-dedup-164d010ae7e53d534a0b3104348ed19a.png">
            <a:extLst>
              <a:ext uri="{FF2B5EF4-FFF2-40B4-BE49-F238E27FC236}">
                <a16:creationId xmlns:a16="http://schemas.microsoft.com/office/drawing/2014/main" id="{9743F858-A590-4BB3-808D-215064351692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-6250" b="-6250"/>
          <a:stretch/>
        </p:blipFill>
        <p:spPr>
          <a:xfrm>
            <a:off x="1898227" y="2370470"/>
            <a:ext cx="137504" cy="145772"/>
          </a:xfrm>
          <a:prstGeom prst="rect">
            <a:avLst/>
          </a:prstGeom>
        </p:spPr>
      </p:pic>
      <p:sp>
        <p:nvSpPr>
          <p:cNvPr id="179" name="Text 51">
            <a:extLst>
              <a:ext uri="{FF2B5EF4-FFF2-40B4-BE49-F238E27FC236}">
                <a16:creationId xmlns:a16="http://schemas.microsoft.com/office/drawing/2014/main" id="{91A6C390-EF73-4B4E-9448-4A092525C527}"/>
              </a:ext>
            </a:extLst>
          </p:cNvPr>
          <p:cNvSpPr txBox="1"/>
          <p:nvPr/>
        </p:nvSpPr>
        <p:spPr>
          <a:xfrm>
            <a:off x="2084706" y="2365478"/>
            <a:ext cx="681874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900" dirty="0"/>
          </a:p>
        </p:txBody>
      </p:sp>
      <p:sp>
        <p:nvSpPr>
          <p:cNvPr id="180" name="Shape 52">
            <a:extLst>
              <a:ext uri="{FF2B5EF4-FFF2-40B4-BE49-F238E27FC236}">
                <a16:creationId xmlns:a16="http://schemas.microsoft.com/office/drawing/2014/main" id="{64A3B9A6-8696-4451-88B1-C3DE0AFFCA24}"/>
              </a:ext>
            </a:extLst>
          </p:cNvPr>
          <p:cNvSpPr/>
          <p:nvPr/>
        </p:nvSpPr>
        <p:spPr>
          <a:xfrm>
            <a:off x="1086203" y="2865689"/>
            <a:ext cx="2276364" cy="155756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Text 53">
            <a:extLst>
              <a:ext uri="{FF2B5EF4-FFF2-40B4-BE49-F238E27FC236}">
                <a16:creationId xmlns:a16="http://schemas.microsoft.com/office/drawing/2014/main" id="{CAF9D105-2730-4456-BD86-A00FA06DCDA1}"/>
              </a:ext>
            </a:extLst>
          </p:cNvPr>
          <p:cNvSpPr txBox="1"/>
          <p:nvPr/>
        </p:nvSpPr>
        <p:spPr>
          <a:xfrm>
            <a:off x="2280603" y="2604105"/>
            <a:ext cx="1472055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WinAPI_DontStarve</a:t>
            </a:r>
            <a:endParaRPr lang="en-US" sz="900" dirty="0"/>
          </a:p>
        </p:txBody>
      </p:sp>
      <p:pic>
        <p:nvPicPr>
          <p:cNvPr id="183" name="Image 21" descr="gen-dedup-2302e8a913f082daf4055bce75fbff92.png">
            <a:extLst>
              <a:ext uri="{FF2B5EF4-FFF2-40B4-BE49-F238E27FC236}">
                <a16:creationId xmlns:a16="http://schemas.microsoft.com/office/drawing/2014/main" id="{84D0CCAD-71D2-440D-B1DE-D8B05BC99660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1794" y="2615089"/>
            <a:ext cx="137504" cy="145772"/>
          </a:xfrm>
          <a:prstGeom prst="rect">
            <a:avLst/>
          </a:prstGeom>
        </p:spPr>
      </p:pic>
      <p:pic>
        <p:nvPicPr>
          <p:cNvPr id="181" name="Image 20" descr="gen-dedup-7b3a43cc425eedfd0625165e094889b2.png">
            <a:extLst>
              <a:ext uri="{FF2B5EF4-FFF2-40B4-BE49-F238E27FC236}">
                <a16:creationId xmlns:a16="http://schemas.microsoft.com/office/drawing/2014/main" id="{474C4BB9-402A-426A-8DC2-FE30E2469527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-16667" r="-16667"/>
          <a:stretch/>
        </p:blipFill>
        <p:spPr>
          <a:xfrm>
            <a:off x="2091794" y="2879082"/>
            <a:ext cx="137504" cy="145772"/>
          </a:xfrm>
          <a:prstGeom prst="rect">
            <a:avLst/>
          </a:prstGeom>
        </p:spPr>
      </p:pic>
      <p:sp>
        <p:nvSpPr>
          <p:cNvPr id="184" name="Text 54">
            <a:extLst>
              <a:ext uri="{FF2B5EF4-FFF2-40B4-BE49-F238E27FC236}">
                <a16:creationId xmlns:a16="http://schemas.microsoft.com/office/drawing/2014/main" id="{31E9B7CF-593C-4A81-9275-E23FA6F6FF6D}"/>
              </a:ext>
            </a:extLst>
          </p:cNvPr>
          <p:cNvSpPr txBox="1"/>
          <p:nvPr/>
        </p:nvSpPr>
        <p:spPr>
          <a:xfrm>
            <a:off x="2280603" y="2869617"/>
            <a:ext cx="976709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/>
                </a:solidFill>
              </a:rPr>
              <a:t>File Tower </a:t>
            </a:r>
            <a:r>
              <a:rPr lang="en-US" sz="900" dirty="0" err="1">
                <a:solidFill>
                  <a:schemeClr val="bg1"/>
                </a:solidFill>
              </a:rPr>
              <a:t>Defence</a:t>
            </a:r>
            <a:endParaRPr lang="en-US" sz="900" dirty="0">
              <a:solidFill>
                <a:schemeClr val="bg1"/>
              </a:solidFill>
            </a:endParaRPr>
          </a:p>
        </p:txBody>
      </p:sp>
      <p:pic>
        <p:nvPicPr>
          <p:cNvPr id="185" name="Image 22" descr="gen-dedup-2302e8a913f082daf4055bce75fbff92.png">
            <a:extLst>
              <a:ext uri="{FF2B5EF4-FFF2-40B4-BE49-F238E27FC236}">
                <a16:creationId xmlns:a16="http://schemas.microsoft.com/office/drawing/2014/main" id="{A18364CD-242D-46EE-BC7A-AAB0C31013B5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1794" y="3143075"/>
            <a:ext cx="137504" cy="145772"/>
          </a:xfrm>
          <a:prstGeom prst="rect">
            <a:avLst/>
          </a:prstGeom>
        </p:spPr>
      </p:pic>
      <p:sp>
        <p:nvSpPr>
          <p:cNvPr id="186" name="Text 55">
            <a:extLst>
              <a:ext uri="{FF2B5EF4-FFF2-40B4-BE49-F238E27FC236}">
                <a16:creationId xmlns:a16="http://schemas.microsoft.com/office/drawing/2014/main" id="{90569763-24C7-4A44-99BB-8107D5A4F9AE}"/>
              </a:ext>
            </a:extLst>
          </p:cNvPr>
          <p:cNvSpPr txBox="1"/>
          <p:nvPr/>
        </p:nvSpPr>
        <p:spPr>
          <a:xfrm>
            <a:off x="2280602" y="3133272"/>
            <a:ext cx="1079319" cy="15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/>
              <a:t>Car Racing Simulation</a:t>
            </a:r>
          </a:p>
        </p:txBody>
      </p:sp>
      <p:sp>
        <p:nvSpPr>
          <p:cNvPr id="187" name="Text 56">
            <a:extLst>
              <a:ext uri="{FF2B5EF4-FFF2-40B4-BE49-F238E27FC236}">
                <a16:creationId xmlns:a16="http://schemas.microsoft.com/office/drawing/2014/main" id="{866DB103-F61D-4F55-8CB2-0DCECDF562DE}"/>
              </a:ext>
            </a:extLst>
          </p:cNvPr>
          <p:cNvSpPr txBox="1"/>
          <p:nvPr/>
        </p:nvSpPr>
        <p:spPr>
          <a:xfrm>
            <a:off x="3389118" y="1517801"/>
            <a:ext cx="98890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▲</a:t>
            </a:r>
            <a:endParaRPr lang="en-US" sz="800" dirty="0"/>
          </a:p>
        </p:txBody>
      </p:sp>
      <p:sp>
        <p:nvSpPr>
          <p:cNvPr id="188" name="Text 57">
            <a:extLst>
              <a:ext uri="{FF2B5EF4-FFF2-40B4-BE49-F238E27FC236}">
                <a16:creationId xmlns:a16="http://schemas.microsoft.com/office/drawing/2014/main" id="{07972270-EEB3-4E57-A275-58C3789BD728}"/>
              </a:ext>
            </a:extLst>
          </p:cNvPr>
          <p:cNvSpPr txBox="1"/>
          <p:nvPr/>
        </p:nvSpPr>
        <p:spPr>
          <a:xfrm>
            <a:off x="3389118" y="5677309"/>
            <a:ext cx="98890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</a:t>
            </a:r>
            <a:endParaRPr lang="en-US" sz="800" dirty="0"/>
          </a:p>
        </p:txBody>
      </p:sp>
      <p:sp>
        <p:nvSpPr>
          <p:cNvPr id="191" name="Text 59">
            <a:extLst>
              <a:ext uri="{FF2B5EF4-FFF2-40B4-BE49-F238E27FC236}">
                <a16:creationId xmlns:a16="http://schemas.microsoft.com/office/drawing/2014/main" id="{F370B7F2-545A-4C3C-AE52-60FFDC3BC6C9}"/>
              </a:ext>
            </a:extLst>
          </p:cNvPr>
          <p:cNvSpPr txBox="1"/>
          <p:nvPr/>
        </p:nvSpPr>
        <p:spPr>
          <a:xfrm>
            <a:off x="1142891" y="5937901"/>
            <a:ext cx="515173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5개 개체</a:t>
            </a:r>
            <a:endParaRPr lang="en-US" sz="900" dirty="0"/>
          </a:p>
        </p:txBody>
      </p:sp>
      <p:sp>
        <p:nvSpPr>
          <p:cNvPr id="192" name="Text 60">
            <a:extLst>
              <a:ext uri="{FF2B5EF4-FFF2-40B4-BE49-F238E27FC236}">
                <a16:creationId xmlns:a16="http://schemas.microsoft.com/office/drawing/2014/main" id="{56BEFB76-4CFC-42A7-B9E8-E085EEAF66E4}"/>
              </a:ext>
            </a:extLst>
          </p:cNvPr>
          <p:cNvSpPr txBox="1"/>
          <p:nvPr/>
        </p:nvSpPr>
        <p:spPr>
          <a:xfrm>
            <a:off x="3644351" y="5937901"/>
            <a:ext cx="2312154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1개 항목 </a:t>
            </a:r>
            <a:r>
              <a:rPr lang="en-US" sz="9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선택됨</a:t>
            </a: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altLang="ko-KR" sz="900" b="1" dirty="0"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File Tower </a:t>
            </a:r>
            <a:r>
              <a:rPr lang="en-US" altLang="ko-KR" sz="900" b="1" dirty="0" err="1"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Defence</a:t>
            </a: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900" dirty="0"/>
          </a:p>
        </p:txBody>
      </p:sp>
      <p:sp>
        <p:nvSpPr>
          <p:cNvPr id="126" name="Shape 29">
            <a:extLst>
              <a:ext uri="{FF2B5EF4-FFF2-40B4-BE49-F238E27FC236}">
                <a16:creationId xmlns:a16="http://schemas.microsoft.com/office/drawing/2014/main" id="{C8E8281E-329E-4104-AF26-2BF462B61E3F}"/>
              </a:ext>
            </a:extLst>
          </p:cNvPr>
          <p:cNvSpPr/>
          <p:nvPr/>
        </p:nvSpPr>
        <p:spPr>
          <a:xfrm>
            <a:off x="3615584" y="1517800"/>
            <a:ext cx="8262000" cy="312984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89" name="Text 58">
            <a:extLst>
              <a:ext uri="{FF2B5EF4-FFF2-40B4-BE49-F238E27FC236}">
                <a16:creationId xmlns:a16="http://schemas.microsoft.com/office/drawing/2014/main" id="{ADA0929B-6390-4236-84B5-CBBBC1E952F8}"/>
              </a:ext>
            </a:extLst>
          </p:cNvPr>
          <p:cNvSpPr txBox="1"/>
          <p:nvPr/>
        </p:nvSpPr>
        <p:spPr>
          <a:xfrm>
            <a:off x="3680571" y="1569538"/>
            <a:ext cx="2358078" cy="21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상세</a:t>
            </a: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정보</a:t>
            </a: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– File Tower </a:t>
            </a:r>
            <a:r>
              <a:rPr lang="en-US" sz="1200" b="1" dirty="0" err="1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Defence</a:t>
            </a:r>
            <a:endParaRPr lang="en-US" sz="1200" dirty="0"/>
          </a:p>
        </p:txBody>
      </p:sp>
      <p:graphicFrame>
        <p:nvGraphicFramePr>
          <p:cNvPr id="190" name="Table 0">
            <a:extLst>
              <a:ext uri="{FF2B5EF4-FFF2-40B4-BE49-F238E27FC236}">
                <a16:creationId xmlns:a16="http://schemas.microsoft.com/office/drawing/2014/main" id="{17C5AF9B-F49B-46DE-BE64-BBD629004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211200"/>
              </p:ext>
            </p:extLst>
          </p:nvPr>
        </p:nvGraphicFramePr>
        <p:xfrm>
          <a:off x="3680571" y="1992100"/>
          <a:ext cx="8091719" cy="3775367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214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4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96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33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32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플랫폼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PC(Windows)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장르</a:t>
                      </a:r>
                      <a:endParaRPr lang="ko-KR" sz="14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로그 </a:t>
                      </a:r>
                      <a:r>
                        <a:rPr lang="ko-KR" altLang="en-US" sz="14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라이크</a:t>
                      </a:r>
                      <a:r>
                        <a:rPr lang="ko-KR" altLang="en-US" sz="1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타워 디펜스</a:t>
                      </a:r>
                      <a:endParaRPr lang="ko-KR" sz="14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2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인원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4인(</a:t>
                      </a:r>
                      <a:r>
                        <a:rPr lang="ko-KR" alt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기획</a:t>
                      </a:r>
                      <a:r>
                        <a:rPr lang="en-US" altLang="ko-KR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1,</a:t>
                      </a:r>
                      <a:r>
                        <a:rPr lang="ko-KR" altLang="en-US" sz="1400" baseline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플밍</a:t>
                      </a:r>
                      <a:r>
                        <a:rPr lang="en-US" altLang="ko-KR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2,</a:t>
                      </a:r>
                      <a:r>
                        <a:rPr lang="ko-KR" alt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아트</a:t>
                      </a:r>
                      <a:r>
                        <a:rPr lang="en-US" altLang="ko-KR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)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기간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2025. 05 ~ </a:t>
                      </a:r>
                      <a:r>
                        <a:rPr lang="ko-KR" alt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현재</a:t>
                      </a:r>
                      <a:endParaRPr lang="en-US" sz="1400" baseline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itchFamily="34" charset="-122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2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도구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C#, Unity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동영상 링크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 err="1">
                          <a:solidFill>
                            <a:srgbClr val="0000EE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  <a:hlinkClick r:id="rId20"/>
                        </a:rPr>
                        <a:t>유튜브</a:t>
                      </a:r>
                      <a:r>
                        <a:rPr lang="en-US" sz="1400" baseline="0" dirty="0">
                          <a:solidFill>
                            <a:srgbClr val="0000EE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  <a:hlinkClick r:id="rId20"/>
                        </a:rPr>
                        <a:t> 링크</a:t>
                      </a:r>
                      <a:endParaRPr lang="en-US" sz="14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7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요약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95098" marB="950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n-US" altLang="ko-KR" sz="1400" dirty="0"/>
                        <a:t>indows OS</a:t>
                      </a:r>
                      <a:r>
                        <a:rPr lang="ko-KR" altLang="en-US" sz="1400" dirty="0"/>
                        <a:t>와 파일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확장자를 컨셉으로 하여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주어진 경로에 </a:t>
                      </a:r>
                      <a:endParaRPr lang="en-US" altLang="ko-KR" sz="1400" dirty="0"/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바이러스를 막는 디펜스 게임이다</a:t>
                      </a:r>
                      <a:r>
                        <a:rPr lang="en-US" altLang="ko-KR" sz="1400" dirty="0"/>
                        <a:t>.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 플레이어는 라운드를 클리어하여 얻은 재화를 통해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더 상위인 파일을 해금하거나 영구적으로 파일들의 위력을 높일 수 있다</a:t>
                      </a:r>
                      <a:r>
                        <a:rPr lang="en-US" altLang="ko-KR" sz="1400" dirty="0"/>
                        <a:t>. </a:t>
                      </a:r>
                    </a:p>
                  </a:txBody>
                  <a:tcPr marL="95098" marR="95098" marT="95098" marB="950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7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charset="0"/>
                          <a:cs typeface="Arial" panose="020B0604020202020204" pitchFamily="34" charset="0"/>
                        </a:rPr>
                        <a:t>역할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95098" marB="950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파일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바이러스</a:t>
                      </a:r>
                      <a:r>
                        <a:rPr lang="en-US" altLang="ko-KR" sz="1400" dirty="0"/>
                        <a:t>/UI </a:t>
                      </a:r>
                      <a:r>
                        <a:rPr lang="ko-KR" altLang="en-US" sz="1400" dirty="0"/>
                        <a:t>입력 및 상호작용 이벤트 시스템 설계</a:t>
                      </a:r>
                      <a:endParaRPr lang="en-US" altLang="ko-KR" sz="1400" dirty="0"/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버프 파일 유닛의 버프 부여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해제 로직 설계</a:t>
                      </a:r>
                      <a:endParaRPr lang="en-US" altLang="ko-KR" sz="1400" dirty="0"/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그리드 기반 오브젝트 배치 시스템 설계</a:t>
                      </a:r>
                      <a:endParaRPr lang="en-US" altLang="ko-KR" sz="1400" dirty="0"/>
                    </a:p>
                  </a:txBody>
                  <a:tcPr marL="95098" marR="95098" marT="95098" marB="950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1" name="Image 22" descr="gen-dedup-2302e8a913f082daf4055bce75fbff92.png">
            <a:extLst>
              <a:ext uri="{FF2B5EF4-FFF2-40B4-BE49-F238E27FC236}">
                <a16:creationId xmlns:a16="http://schemas.microsoft.com/office/drawing/2014/main" id="{D4457459-CEDB-FBC0-F26E-E26EE78F0221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1794" y="3407068"/>
            <a:ext cx="137835" cy="148774"/>
          </a:xfrm>
          <a:prstGeom prst="rect">
            <a:avLst/>
          </a:prstGeom>
        </p:spPr>
      </p:pic>
      <p:sp>
        <p:nvSpPr>
          <p:cNvPr id="42" name="Text 55">
            <a:extLst>
              <a:ext uri="{FF2B5EF4-FFF2-40B4-BE49-F238E27FC236}">
                <a16:creationId xmlns:a16="http://schemas.microsoft.com/office/drawing/2014/main" id="{156B8AB8-E0C1-DC86-9D04-EA2864B6EAFA}"/>
              </a:ext>
            </a:extLst>
          </p:cNvPr>
          <p:cNvSpPr txBox="1"/>
          <p:nvPr/>
        </p:nvSpPr>
        <p:spPr>
          <a:xfrm>
            <a:off x="2297835" y="3391933"/>
            <a:ext cx="1081917" cy="15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/>
              <a:t>World First Kill</a:t>
            </a:r>
          </a:p>
        </p:txBody>
      </p:sp>
      <p:sp>
        <p:nvSpPr>
          <p:cNvPr id="44" name="Text 55">
            <a:extLst>
              <a:ext uri="{FF2B5EF4-FFF2-40B4-BE49-F238E27FC236}">
                <a16:creationId xmlns:a16="http://schemas.microsoft.com/office/drawing/2014/main" id="{10548B94-AED8-2DE4-5428-A123E913F333}"/>
              </a:ext>
            </a:extLst>
          </p:cNvPr>
          <p:cNvSpPr txBox="1"/>
          <p:nvPr/>
        </p:nvSpPr>
        <p:spPr>
          <a:xfrm>
            <a:off x="2297835" y="3653721"/>
            <a:ext cx="1081917" cy="15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dirty="0"/>
              <a:t>기타 프로젝트</a:t>
            </a:r>
            <a:endParaRPr lang="en-US" sz="900" dirty="0"/>
          </a:p>
        </p:txBody>
      </p:sp>
      <p:pic>
        <p:nvPicPr>
          <p:cNvPr id="121" name="Image 18" descr="gen-dedup-ba01fa70a70d7d3a77dc83183451dc86.png">
            <a:extLst>
              <a:ext uri="{FF2B5EF4-FFF2-40B4-BE49-F238E27FC236}">
                <a16:creationId xmlns:a16="http://schemas.microsoft.com/office/drawing/2014/main" id="{82A0263B-3EE6-4C8E-9452-34E7BE50B673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2091794" y="3674064"/>
            <a:ext cx="137504" cy="14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169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76695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7FE073A-820D-C76A-6572-137FA8E151EA}"/>
              </a:ext>
            </a:extLst>
          </p:cNvPr>
          <p:cNvGrpSpPr/>
          <p:nvPr/>
        </p:nvGrpSpPr>
        <p:grpSpPr>
          <a:xfrm>
            <a:off x="1044000" y="108000"/>
            <a:ext cx="10920520" cy="6084503"/>
            <a:chOff x="1524305" y="571500"/>
            <a:chExt cx="10096805" cy="5715000"/>
          </a:xfrm>
        </p:grpSpPr>
        <p:sp>
          <p:nvSpPr>
            <p:cNvPr id="13" name="Shape 8"/>
            <p:cNvSpPr/>
            <p:nvPr/>
          </p:nvSpPr>
          <p:spPr>
            <a:xfrm>
              <a:off x="1524305" y="571500"/>
              <a:ext cx="10096805" cy="5715000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14" name="Shape 9"/>
            <p:cNvSpPr/>
            <p:nvPr/>
          </p:nvSpPr>
          <p:spPr>
            <a:xfrm>
              <a:off x="1543507" y="590702"/>
              <a:ext cx="10058400" cy="267005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5" name="Shape 10"/>
            <p:cNvSpPr/>
            <p:nvPr/>
          </p:nvSpPr>
          <p:spPr>
            <a:xfrm>
              <a:off x="1638605" y="952805"/>
              <a:ext cx="9868205" cy="523859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808080"/>
              </a:solidFill>
              <a:prstDash val="solid"/>
            </a:ln>
          </p:spPr>
        </p:sp>
        <p:sp>
          <p:nvSpPr>
            <p:cNvPr id="16" name="Shape 11"/>
            <p:cNvSpPr/>
            <p:nvPr/>
          </p:nvSpPr>
          <p:spPr>
            <a:xfrm>
              <a:off x="11354105" y="619049"/>
              <a:ext cx="209398" cy="209398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7" name="Shape 12"/>
            <p:cNvSpPr/>
            <p:nvPr/>
          </p:nvSpPr>
          <p:spPr>
            <a:xfrm>
              <a:off x="1809598" y="1012633"/>
              <a:ext cx="9544506" cy="216035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23" name="Text 18"/>
            <p:cNvSpPr txBox="1"/>
            <p:nvPr/>
          </p:nvSpPr>
          <p:spPr>
            <a:xfrm>
              <a:off x="1666951" y="629107"/>
              <a:ext cx="146304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000" b="1" dirty="0">
                  <a:solidFill>
                    <a:srgbClr val="FFFFFF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File Tower Defence.exe</a:t>
              </a:r>
              <a:endParaRPr lang="en-US" altLang="ko-KR" sz="1000" b="1" dirty="0"/>
            </a:p>
          </p:txBody>
        </p:sp>
        <p:sp>
          <p:nvSpPr>
            <p:cNvPr id="24" name="Text 19"/>
            <p:cNvSpPr txBox="1"/>
            <p:nvPr/>
          </p:nvSpPr>
          <p:spPr>
            <a:xfrm>
              <a:off x="11419942" y="657454"/>
              <a:ext cx="85954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Arial" panose="020B0604020202020204" pitchFamily="34" charset="0"/>
                  <a:ea typeface="Arial" pitchFamily="34" charset="-122"/>
                  <a:cs typeface="Arial" pitchFamily="34" charset="-120"/>
                </a:rPr>
                <a:t>X</a:t>
              </a:r>
              <a:endParaRPr lang="en-US" sz="900" dirty="0"/>
            </a:p>
          </p:txBody>
        </p:sp>
        <p:sp>
          <p:nvSpPr>
            <p:cNvPr id="25" name="Text 20"/>
            <p:cNvSpPr txBox="1"/>
            <p:nvPr/>
          </p:nvSpPr>
          <p:spPr>
            <a:xfrm>
              <a:off x="3150692" y="1071141"/>
              <a:ext cx="7222303" cy="1161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1600" b="1" dirty="0" err="1">
                  <a:solidFill>
                    <a:srgbClr val="FFFFFF"/>
                  </a:solidFill>
                  <a:latin typeface="Nanum Gothic" pitchFamily="34" charset="0"/>
                  <a:ea typeface="Nanum Gothic" pitchFamily="34" charset="-122"/>
                  <a:cs typeface="Nanum Gothic" pitchFamily="34" charset="-120"/>
                </a:rPr>
                <a:t>문제</a:t>
              </a:r>
              <a:r>
                <a:rPr lang="en-US" altLang="ko-KR" sz="1600" b="1" dirty="0">
                  <a:solidFill>
                    <a:srgbClr val="FFFFFF"/>
                  </a:solidFill>
                  <a:latin typeface="Nanum Gothic" pitchFamily="34" charset="0"/>
                  <a:ea typeface="Nanum Gothic" pitchFamily="34" charset="-122"/>
                  <a:cs typeface="Nanum Gothic" pitchFamily="34" charset="-120"/>
                </a:rPr>
                <a:t> </a:t>
              </a:r>
              <a:r>
                <a:rPr lang="en-US" altLang="ko-KR" sz="1600" b="1" dirty="0" err="1">
                  <a:solidFill>
                    <a:srgbClr val="FFFFFF"/>
                  </a:solidFill>
                  <a:latin typeface="Nanum Gothic" pitchFamily="34" charset="0"/>
                  <a:ea typeface="Nanum Gothic" pitchFamily="34" charset="-122"/>
                  <a:cs typeface="Nanum Gothic" pitchFamily="34" charset="-120"/>
                </a:rPr>
                <a:t>해결</a:t>
              </a:r>
              <a:r>
                <a:rPr lang="en-US" altLang="ko-KR" sz="1600" b="1" dirty="0">
                  <a:solidFill>
                    <a:srgbClr val="FFFFFF"/>
                  </a:solidFill>
                  <a:latin typeface="Nanum Gothic" pitchFamily="34" charset="0"/>
                  <a:ea typeface="Nanum Gothic" pitchFamily="34" charset="-122"/>
                  <a:cs typeface="Nanum Gothic" pitchFamily="34" charset="-120"/>
                </a:rPr>
                <a:t> </a:t>
              </a:r>
              <a:r>
                <a:rPr lang="ko-KR" altLang="en-US" sz="1600" b="1" dirty="0">
                  <a:solidFill>
                    <a:srgbClr val="FFFFFF"/>
                  </a:solidFill>
                  <a:latin typeface="Nanum Gothic" pitchFamily="34" charset="0"/>
                  <a:ea typeface="Nanum Gothic" pitchFamily="34" charset="-122"/>
                  <a:cs typeface="Nanum Gothic" pitchFamily="34" charset="-120"/>
                </a:rPr>
                <a:t>결과</a:t>
              </a:r>
              <a:endParaRPr lang="en-US" altLang="ko-KR" sz="1600" dirty="0"/>
            </a:p>
          </p:txBody>
        </p:sp>
      </p:grpSp>
      <p:sp>
        <p:nvSpPr>
          <p:cNvPr id="35" name="Shape 27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36" name="Shape 28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10477195" y="6534302"/>
            <a:ext cx="1619402" cy="267005"/>
          </a:xfrm>
          <a:prstGeom prst="rect">
            <a:avLst/>
          </a:prstGeom>
          <a:solidFill>
            <a:srgbClr val="C0C0C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40" name="Image 6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lang="en-US" sz="1000" dirty="0"/>
          </a:p>
        </p:txBody>
      </p:sp>
      <p:pic>
        <p:nvPicPr>
          <p:cNvPr id="42" name="Image 7" descr="gen-dedup-ba9d3020b28ee88c3f41e8c221d65fea.png"/>
          <p:cNvPicPr>
            <a:picLocks noChangeAspect="1"/>
          </p:cNvPicPr>
          <p:nvPr/>
        </p:nvPicPr>
        <p:blipFill>
          <a:blip r:embed="rId4"/>
          <a:srcRect l="-16666" r="-16666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238098" y="6577279"/>
            <a:ext cx="13578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게임_개발_내용.exe</a:t>
            </a:r>
            <a:endParaRPr lang="en-US" sz="900" dirty="0"/>
          </a:p>
        </p:txBody>
      </p:sp>
      <p:pic>
        <p:nvPicPr>
          <p:cNvPr id="44" name="Image 8" descr="gen-dedup-7740a029182e5c65b65e33d2aaed94e2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10573207" y="6590995"/>
            <a:ext cx="152705" cy="152705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1124590" y="6590995"/>
            <a:ext cx="7260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10:00 AM</a:t>
            </a:r>
            <a:endParaRPr lang="en-US" sz="1000" dirty="0"/>
          </a:p>
        </p:txBody>
      </p:sp>
      <p:sp>
        <p:nvSpPr>
          <p:cNvPr id="47" name="Shape 3">
            <a:extLst>
              <a:ext uri="{FF2B5EF4-FFF2-40B4-BE49-F238E27FC236}">
                <a16:creationId xmlns:a16="http://schemas.microsoft.com/office/drawing/2014/main" id="{D3CD7A0C-665C-5D8C-085F-9D543D30C474}"/>
              </a:ext>
            </a:extLst>
          </p:cNvPr>
          <p:cNvSpPr/>
          <p:nvPr/>
        </p:nvSpPr>
        <p:spPr>
          <a:xfrm>
            <a:off x="250546" y="4467759"/>
            <a:ext cx="629107" cy="590702"/>
          </a:xfrm>
          <a:prstGeom prst="rect">
            <a:avLst/>
          </a:prstGeom>
          <a:solidFill>
            <a:srgbClr val="000080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8" name="Image 0" descr="gen-dedup-57ee6a1f0d650d3a975db06a8ec6cc96.png">
            <a:extLst>
              <a:ext uri="{FF2B5EF4-FFF2-40B4-BE49-F238E27FC236}">
                <a16:creationId xmlns:a16="http://schemas.microsoft.com/office/drawing/2014/main" id="{834D1F6C-0CDF-E7F3-E820-C37BB85E345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6250" b="-6250"/>
          <a:stretch/>
        </p:blipFill>
        <p:spPr>
          <a:xfrm>
            <a:off x="381305" y="1047902"/>
            <a:ext cx="381305" cy="381305"/>
          </a:xfrm>
          <a:prstGeom prst="rect">
            <a:avLst/>
          </a:prstGeom>
        </p:spPr>
      </p:pic>
      <p:sp>
        <p:nvSpPr>
          <p:cNvPr id="49" name="Text 5">
            <a:extLst>
              <a:ext uri="{FF2B5EF4-FFF2-40B4-BE49-F238E27FC236}">
                <a16:creationId xmlns:a16="http://schemas.microsoft.com/office/drawing/2014/main" id="{E01929AB-F8B3-4F14-E09C-CBEBBC65A31F}"/>
              </a:ext>
            </a:extLst>
          </p:cNvPr>
          <p:cNvSpPr txBox="1"/>
          <p:nvPr/>
        </p:nvSpPr>
        <p:spPr>
          <a:xfrm>
            <a:off x="269748" y="1485900"/>
            <a:ext cx="609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내 컴퓨터</a:t>
            </a:r>
            <a:endParaRPr lang="en-US" sz="1000" dirty="0"/>
          </a:p>
        </p:txBody>
      </p:sp>
      <p:sp>
        <p:nvSpPr>
          <p:cNvPr id="50" name="Text 6">
            <a:extLst>
              <a:ext uri="{FF2B5EF4-FFF2-40B4-BE49-F238E27FC236}">
                <a16:creationId xmlns:a16="http://schemas.microsoft.com/office/drawing/2014/main" id="{2B0E25B6-D57D-78C1-B47D-A27041DAC1A1}"/>
              </a:ext>
            </a:extLst>
          </p:cNvPr>
          <p:cNvSpPr txBox="1"/>
          <p:nvPr/>
        </p:nvSpPr>
        <p:spPr>
          <a:xfrm>
            <a:off x="226771" y="2391156"/>
            <a:ext cx="695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포트폴리오</a:t>
            </a:r>
            <a:endParaRPr lang="en-US" sz="1000" dirty="0"/>
          </a:p>
        </p:txBody>
      </p:sp>
      <p:pic>
        <p:nvPicPr>
          <p:cNvPr id="51" name="Image 2" descr="gen-dedup-313e4be3ff4060006731241b7cc55ba4.png">
            <a:extLst>
              <a:ext uri="{FF2B5EF4-FFF2-40B4-BE49-F238E27FC236}">
                <a16:creationId xmlns:a16="http://schemas.microsoft.com/office/drawing/2014/main" id="{D2181919-D947-B1C1-2070-0C0E6697E16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81305" y="2809951"/>
            <a:ext cx="381305" cy="381305"/>
          </a:xfrm>
          <a:prstGeom prst="rect">
            <a:avLst/>
          </a:prstGeom>
        </p:spPr>
      </p:pic>
      <p:sp>
        <p:nvSpPr>
          <p:cNvPr id="52" name="Text 7">
            <a:extLst>
              <a:ext uri="{FF2B5EF4-FFF2-40B4-BE49-F238E27FC236}">
                <a16:creationId xmlns:a16="http://schemas.microsoft.com/office/drawing/2014/main" id="{E0B063D8-0476-320A-A594-D61E083CD81B}"/>
              </a:ext>
            </a:extLst>
          </p:cNvPr>
          <p:cNvSpPr txBox="1"/>
          <p:nvPr/>
        </p:nvSpPr>
        <p:spPr>
          <a:xfrm>
            <a:off x="419710" y="3191256"/>
            <a:ext cx="342900" cy="24780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tIns="25400" rIns="38100" bIns="2540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1000" dirty="0"/>
          </a:p>
        </p:txBody>
      </p:sp>
      <p:pic>
        <p:nvPicPr>
          <p:cNvPr id="53" name="Image 3" descr="gen-dedup-ef6105ed2e63baeb37694681937bef0b.png">
            <a:extLst>
              <a:ext uri="{FF2B5EF4-FFF2-40B4-BE49-F238E27FC236}">
                <a16:creationId xmlns:a16="http://schemas.microsoft.com/office/drawing/2014/main" id="{083003E3-FCE9-C3EB-A38B-966D9A8CA36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381305" y="3715207"/>
            <a:ext cx="381305" cy="381305"/>
          </a:xfrm>
          <a:prstGeom prst="rect">
            <a:avLst/>
          </a:prstGeom>
        </p:spPr>
      </p:pic>
      <p:sp>
        <p:nvSpPr>
          <p:cNvPr id="54" name="Text 8">
            <a:extLst>
              <a:ext uri="{FF2B5EF4-FFF2-40B4-BE49-F238E27FC236}">
                <a16:creationId xmlns:a16="http://schemas.microsoft.com/office/drawing/2014/main" id="{7D57BE65-648F-A850-C469-0BDBC2C9032E}"/>
              </a:ext>
            </a:extLst>
          </p:cNvPr>
          <p:cNvSpPr txBox="1"/>
          <p:nvPr/>
        </p:nvSpPr>
        <p:spPr>
          <a:xfrm>
            <a:off x="349301" y="4153205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프로필</a:t>
            </a:r>
            <a:endParaRPr lang="en-US" sz="1000" dirty="0"/>
          </a:p>
        </p:txBody>
      </p:sp>
      <p:pic>
        <p:nvPicPr>
          <p:cNvPr id="55" name="Image 4" descr="gen-dedup-9fdbec92b016124fd02e3850a5123f8c.png">
            <a:extLst>
              <a:ext uri="{FF2B5EF4-FFF2-40B4-BE49-F238E27FC236}">
                <a16:creationId xmlns:a16="http://schemas.microsoft.com/office/drawing/2014/main" id="{B4534DA8-E254-C2E1-3BA5-725871AC31B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81305" y="4572000"/>
            <a:ext cx="381305" cy="381305"/>
          </a:xfrm>
          <a:prstGeom prst="rect">
            <a:avLst/>
          </a:prstGeom>
        </p:spPr>
      </p:pic>
      <p:sp>
        <p:nvSpPr>
          <p:cNvPr id="56" name="Text 9">
            <a:extLst>
              <a:ext uri="{FF2B5EF4-FFF2-40B4-BE49-F238E27FC236}">
                <a16:creationId xmlns:a16="http://schemas.microsoft.com/office/drawing/2014/main" id="{506184E4-4144-57DF-D7C7-9F0B55E0D8E6}"/>
              </a:ext>
            </a:extLst>
          </p:cNvPr>
          <p:cNvSpPr txBox="1"/>
          <p:nvPr/>
        </p:nvSpPr>
        <p:spPr>
          <a:xfrm>
            <a:off x="288036" y="5009998"/>
            <a:ext cx="571500" cy="2286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프로젝트</a:t>
            </a:r>
            <a:endParaRPr lang="en-US" sz="100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EBF3C9A2-6E5F-2419-CD2C-7B7C1E5B74A8}"/>
              </a:ext>
            </a:extLst>
          </p:cNvPr>
          <p:cNvGrpSpPr/>
          <p:nvPr/>
        </p:nvGrpSpPr>
        <p:grpSpPr>
          <a:xfrm>
            <a:off x="342900" y="1904695"/>
            <a:ext cx="457200" cy="457200"/>
            <a:chOff x="342900" y="1904695"/>
            <a:chExt cx="457200" cy="457200"/>
          </a:xfrm>
        </p:grpSpPr>
        <p:pic>
          <p:nvPicPr>
            <p:cNvPr id="58" name="Image 1" descr="gen-dedup-36f1f1ccf4a0e8533d6290f10bde510b.png">
              <a:extLst>
                <a:ext uri="{FF2B5EF4-FFF2-40B4-BE49-F238E27FC236}">
                  <a16:creationId xmlns:a16="http://schemas.microsoft.com/office/drawing/2014/main" id="{D4C28A30-F4FA-C258-864B-9F0B10F9C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342900" y="1904695"/>
              <a:ext cx="457200" cy="457200"/>
            </a:xfrm>
            <a:prstGeom prst="rect">
              <a:avLst/>
            </a:prstGeom>
          </p:spPr>
        </p:pic>
        <p:pic>
          <p:nvPicPr>
            <p:cNvPr id="59" name="Image 5" descr="gen-dedup-72bd3513d2cf055f9eacb7e2be8dea4c.png">
              <a:extLst>
                <a:ext uri="{FF2B5EF4-FFF2-40B4-BE49-F238E27FC236}">
                  <a16:creationId xmlns:a16="http://schemas.microsoft.com/office/drawing/2014/main" id="{8BE6AC25-640E-32EB-7700-E0E13FB06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t="-12500" b="-12500"/>
            <a:stretch/>
          </p:blipFill>
          <p:spPr>
            <a:xfrm>
              <a:off x="437998" y="2038198"/>
              <a:ext cx="267005" cy="267005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F8E8F5E-EC29-474F-8E31-44F16054C662}"/>
              </a:ext>
            </a:extLst>
          </p:cNvPr>
          <p:cNvGrpSpPr/>
          <p:nvPr/>
        </p:nvGrpSpPr>
        <p:grpSpPr>
          <a:xfrm>
            <a:off x="1352568" y="900948"/>
            <a:ext cx="9373344" cy="2814259"/>
            <a:chOff x="763211" y="1320319"/>
            <a:chExt cx="10911717" cy="2875788"/>
          </a:xfrm>
        </p:grpSpPr>
        <p:sp>
          <p:nvSpPr>
            <p:cNvPr id="125" name="Shape 13">
              <a:extLst>
                <a:ext uri="{FF2B5EF4-FFF2-40B4-BE49-F238E27FC236}">
                  <a16:creationId xmlns:a16="http://schemas.microsoft.com/office/drawing/2014/main" id="{0DAF762F-C580-4A39-8CE8-8962F7EF7A4E}"/>
                </a:ext>
              </a:extLst>
            </p:cNvPr>
            <p:cNvSpPr/>
            <p:nvPr/>
          </p:nvSpPr>
          <p:spPr>
            <a:xfrm>
              <a:off x="8055733" y="1338607"/>
              <a:ext cx="3619195" cy="2857500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126" name="Shape 16">
              <a:extLst>
                <a:ext uri="{FF2B5EF4-FFF2-40B4-BE49-F238E27FC236}">
                  <a16:creationId xmlns:a16="http://schemas.microsoft.com/office/drawing/2014/main" id="{B1EBA5FE-002E-440C-B8BB-6DAD34AB234A}"/>
                </a:ext>
              </a:extLst>
            </p:cNvPr>
            <p:cNvSpPr/>
            <p:nvPr/>
          </p:nvSpPr>
          <p:spPr>
            <a:xfrm>
              <a:off x="8074935" y="1357809"/>
              <a:ext cx="3581705" cy="22860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27" name="Shape 17">
              <a:extLst>
                <a:ext uri="{FF2B5EF4-FFF2-40B4-BE49-F238E27FC236}">
                  <a16:creationId xmlns:a16="http://schemas.microsoft.com/office/drawing/2014/main" id="{24585864-3399-4153-A2B6-44E60A44431C}"/>
                </a:ext>
              </a:extLst>
            </p:cNvPr>
            <p:cNvSpPr/>
            <p:nvPr/>
          </p:nvSpPr>
          <p:spPr>
            <a:xfrm>
              <a:off x="8074935" y="1586409"/>
              <a:ext cx="3581705" cy="237744"/>
            </a:xfrm>
            <a:prstGeom prst="rect">
              <a:avLst/>
            </a:prstGeom>
            <a:solidFill>
              <a:srgbClr val="E8E8E8"/>
            </a:solidFill>
            <a:ln/>
          </p:spPr>
        </p:sp>
        <p:sp>
          <p:nvSpPr>
            <p:cNvPr id="128" name="Shape 18">
              <a:extLst>
                <a:ext uri="{FF2B5EF4-FFF2-40B4-BE49-F238E27FC236}">
                  <a16:creationId xmlns:a16="http://schemas.microsoft.com/office/drawing/2014/main" id="{30DA4539-A235-4F10-8F82-ED05C8FD151D}"/>
                </a:ext>
              </a:extLst>
            </p:cNvPr>
            <p:cNvSpPr/>
            <p:nvPr/>
          </p:nvSpPr>
          <p:spPr>
            <a:xfrm>
              <a:off x="8074935" y="1815009"/>
              <a:ext cx="3581705" cy="9144"/>
            </a:xfrm>
            <a:prstGeom prst="rect">
              <a:avLst/>
            </a:prstGeom>
            <a:solidFill>
              <a:srgbClr val="808080"/>
            </a:solidFill>
            <a:ln w="12700">
              <a:solidFill>
                <a:srgbClr val="808080">
                  <a:alpha val="0"/>
                </a:srgbClr>
              </a:solidFill>
              <a:prstDash val="solid"/>
            </a:ln>
          </p:spPr>
        </p:sp>
        <p:sp>
          <p:nvSpPr>
            <p:cNvPr id="129" name="Shape 19">
              <a:extLst>
                <a:ext uri="{FF2B5EF4-FFF2-40B4-BE49-F238E27FC236}">
                  <a16:creationId xmlns:a16="http://schemas.microsoft.com/office/drawing/2014/main" id="{2E35B8E3-2878-4EE8-8F55-21B9FD06D658}"/>
                </a:ext>
              </a:extLst>
            </p:cNvPr>
            <p:cNvSpPr/>
            <p:nvPr/>
          </p:nvSpPr>
          <p:spPr>
            <a:xfrm>
              <a:off x="8103281" y="1862558"/>
              <a:ext cx="3543300" cy="225765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08080"/>
              </a:solidFill>
              <a:prstDash val="solid"/>
            </a:ln>
          </p:spPr>
        </p:sp>
        <p:sp>
          <p:nvSpPr>
            <p:cNvPr id="131" name="Text 29">
              <a:extLst>
                <a:ext uri="{FF2B5EF4-FFF2-40B4-BE49-F238E27FC236}">
                  <a16:creationId xmlns:a16="http://schemas.microsoft.com/office/drawing/2014/main" id="{F9A61A57-9D78-49EF-A53E-AA520266138E}"/>
                </a:ext>
              </a:extLst>
            </p:cNvPr>
            <p:cNvSpPr txBox="1"/>
            <p:nvPr/>
          </p:nvSpPr>
          <p:spPr>
            <a:xfrm>
              <a:off x="8150830" y="1376097"/>
              <a:ext cx="342900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1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결과물</a:t>
              </a:r>
              <a:r>
                <a:rPr lang="en-US" altLang="ko-KR" sz="1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(Result)</a:t>
              </a:r>
              <a:endParaRPr lang="en-US" sz="1000" dirty="0"/>
            </a:p>
          </p:txBody>
        </p:sp>
        <p:sp>
          <p:nvSpPr>
            <p:cNvPr id="140" name="Shape 13">
              <a:extLst>
                <a:ext uri="{FF2B5EF4-FFF2-40B4-BE49-F238E27FC236}">
                  <a16:creationId xmlns:a16="http://schemas.microsoft.com/office/drawing/2014/main" id="{B52AFB9F-B39A-4E06-A4BD-659BD9175110}"/>
                </a:ext>
              </a:extLst>
            </p:cNvPr>
            <p:cNvSpPr/>
            <p:nvPr/>
          </p:nvSpPr>
          <p:spPr>
            <a:xfrm>
              <a:off x="4304461" y="1320319"/>
              <a:ext cx="3619195" cy="2857500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141" name="Shape 16">
              <a:extLst>
                <a:ext uri="{FF2B5EF4-FFF2-40B4-BE49-F238E27FC236}">
                  <a16:creationId xmlns:a16="http://schemas.microsoft.com/office/drawing/2014/main" id="{0A07C36E-D9BA-46E4-A3A8-4CC9FB2CF8FD}"/>
                </a:ext>
              </a:extLst>
            </p:cNvPr>
            <p:cNvSpPr/>
            <p:nvPr/>
          </p:nvSpPr>
          <p:spPr>
            <a:xfrm>
              <a:off x="4323663" y="1339521"/>
              <a:ext cx="3581705" cy="22860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42" name="Shape 17">
              <a:extLst>
                <a:ext uri="{FF2B5EF4-FFF2-40B4-BE49-F238E27FC236}">
                  <a16:creationId xmlns:a16="http://schemas.microsoft.com/office/drawing/2014/main" id="{FD53BA0A-54C2-40C6-B740-ABBDE82B2557}"/>
                </a:ext>
              </a:extLst>
            </p:cNvPr>
            <p:cNvSpPr/>
            <p:nvPr/>
          </p:nvSpPr>
          <p:spPr>
            <a:xfrm>
              <a:off x="4323663" y="1568121"/>
              <a:ext cx="3581705" cy="237744"/>
            </a:xfrm>
            <a:prstGeom prst="rect">
              <a:avLst/>
            </a:prstGeom>
            <a:solidFill>
              <a:srgbClr val="E8E8E8"/>
            </a:solidFill>
            <a:ln/>
          </p:spPr>
        </p:sp>
        <p:sp>
          <p:nvSpPr>
            <p:cNvPr id="143" name="Shape 18">
              <a:extLst>
                <a:ext uri="{FF2B5EF4-FFF2-40B4-BE49-F238E27FC236}">
                  <a16:creationId xmlns:a16="http://schemas.microsoft.com/office/drawing/2014/main" id="{B7B2972A-6056-4D7E-AE36-AAA30F69AD62}"/>
                </a:ext>
              </a:extLst>
            </p:cNvPr>
            <p:cNvSpPr/>
            <p:nvPr/>
          </p:nvSpPr>
          <p:spPr>
            <a:xfrm>
              <a:off x="4323663" y="1796721"/>
              <a:ext cx="3581705" cy="9144"/>
            </a:xfrm>
            <a:prstGeom prst="rect">
              <a:avLst/>
            </a:prstGeom>
            <a:solidFill>
              <a:srgbClr val="808080"/>
            </a:solidFill>
            <a:ln w="12700">
              <a:solidFill>
                <a:srgbClr val="808080">
                  <a:alpha val="0"/>
                </a:srgbClr>
              </a:solidFill>
              <a:prstDash val="solid"/>
            </a:ln>
          </p:spPr>
        </p:sp>
        <p:sp>
          <p:nvSpPr>
            <p:cNvPr id="144" name="Shape 19">
              <a:extLst>
                <a:ext uri="{FF2B5EF4-FFF2-40B4-BE49-F238E27FC236}">
                  <a16:creationId xmlns:a16="http://schemas.microsoft.com/office/drawing/2014/main" id="{629A2D5A-85DF-47F0-8153-01D1098FE29A}"/>
                </a:ext>
              </a:extLst>
            </p:cNvPr>
            <p:cNvSpPr/>
            <p:nvPr/>
          </p:nvSpPr>
          <p:spPr>
            <a:xfrm>
              <a:off x="4352009" y="1844270"/>
              <a:ext cx="3543300" cy="225765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08080"/>
              </a:solidFill>
              <a:prstDash val="solid"/>
            </a:ln>
          </p:spPr>
        </p:sp>
        <p:sp>
          <p:nvSpPr>
            <p:cNvPr id="145" name="Text 29">
              <a:extLst>
                <a:ext uri="{FF2B5EF4-FFF2-40B4-BE49-F238E27FC236}">
                  <a16:creationId xmlns:a16="http://schemas.microsoft.com/office/drawing/2014/main" id="{C33C90BB-517F-411A-9F68-CD101BF1A714}"/>
                </a:ext>
              </a:extLst>
            </p:cNvPr>
            <p:cNvSpPr txBox="1"/>
            <p:nvPr/>
          </p:nvSpPr>
          <p:spPr>
            <a:xfrm>
              <a:off x="4399558" y="1357809"/>
              <a:ext cx="342900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1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결과물</a:t>
              </a:r>
              <a:r>
                <a:rPr lang="en-US" altLang="ko-KR" sz="1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(Result)</a:t>
              </a:r>
              <a:endParaRPr lang="en-US" sz="1000" dirty="0"/>
            </a:p>
          </p:txBody>
        </p:sp>
        <p:pic>
          <p:nvPicPr>
            <p:cNvPr id="146" name="그림 145">
              <a:extLst>
                <a:ext uri="{FF2B5EF4-FFF2-40B4-BE49-F238E27FC236}">
                  <a16:creationId xmlns:a16="http://schemas.microsoft.com/office/drawing/2014/main" id="{924D15C6-41AF-416F-8A56-34E32E3D4F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25" r="27121"/>
            <a:stretch/>
          </p:blipFill>
          <p:spPr>
            <a:xfrm>
              <a:off x="4332807" y="1777519"/>
              <a:ext cx="3572561" cy="2333549"/>
            </a:xfrm>
            <a:prstGeom prst="rect">
              <a:avLst/>
            </a:prstGeom>
          </p:spPr>
        </p:pic>
        <p:pic>
          <p:nvPicPr>
            <p:cNvPr id="147" name="그림 146">
              <a:extLst>
                <a:ext uri="{FF2B5EF4-FFF2-40B4-BE49-F238E27FC236}">
                  <a16:creationId xmlns:a16="http://schemas.microsoft.com/office/drawing/2014/main" id="{833C025D-39BD-4E55-BD76-561604A029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753" r="22435"/>
            <a:stretch/>
          </p:blipFill>
          <p:spPr>
            <a:xfrm>
              <a:off x="8074935" y="1844271"/>
              <a:ext cx="3571646" cy="2275942"/>
            </a:xfrm>
            <a:prstGeom prst="rect">
              <a:avLst/>
            </a:prstGeom>
          </p:spPr>
        </p:pic>
        <p:sp>
          <p:nvSpPr>
            <p:cNvPr id="148" name="Shape 14">
              <a:extLst>
                <a:ext uri="{FF2B5EF4-FFF2-40B4-BE49-F238E27FC236}">
                  <a16:creationId xmlns:a16="http://schemas.microsoft.com/office/drawing/2014/main" id="{FEE14546-C370-48B9-9930-B849DB504F69}"/>
                </a:ext>
              </a:extLst>
            </p:cNvPr>
            <p:cNvSpPr/>
            <p:nvPr/>
          </p:nvSpPr>
          <p:spPr>
            <a:xfrm>
              <a:off x="763211" y="1335350"/>
              <a:ext cx="3113406" cy="2857499"/>
            </a:xfrm>
            <a:prstGeom prst="rect">
              <a:avLst/>
            </a:prstGeom>
            <a:solidFill>
              <a:srgbClr val="E8E8E8"/>
            </a:solidFill>
            <a:ln w="25400">
              <a:solidFill>
                <a:srgbClr val="FFFFFF"/>
              </a:solidFill>
              <a:prstDash val="solid"/>
            </a:ln>
            <a:scene3d>
              <a:camera prst="orthographicFront"/>
              <a:lightRig rig="threePt" dir="t"/>
            </a:scene3d>
            <a:sp3d>
              <a:bevelT/>
            </a:sp3d>
          </p:spPr>
        </p:sp>
        <p:pic>
          <p:nvPicPr>
            <p:cNvPr id="149" name="Image 10" descr="gen-dedup-bfb30a8c33a15379318ffec01db3f8c0.png">
              <a:extLst>
                <a:ext uri="{FF2B5EF4-FFF2-40B4-BE49-F238E27FC236}">
                  <a16:creationId xmlns:a16="http://schemas.microsoft.com/office/drawing/2014/main" id="{CF76E0CD-7DD1-4B0E-8D0C-07789AB4F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869978" y="1406172"/>
              <a:ext cx="524052" cy="408837"/>
            </a:xfrm>
            <a:prstGeom prst="rect">
              <a:avLst/>
            </a:prstGeom>
          </p:spPr>
        </p:pic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95A131D7-9870-489F-99DE-D7802B2FEE96}"/>
                </a:ext>
              </a:extLst>
            </p:cNvPr>
            <p:cNvSpPr txBox="1"/>
            <p:nvPr/>
          </p:nvSpPr>
          <p:spPr>
            <a:xfrm>
              <a:off x="763212" y="1894831"/>
              <a:ext cx="3113405" cy="18555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400" dirty="0"/>
                <a:t>그리드 공간 별로 </a:t>
              </a:r>
              <a:endParaRPr lang="en-US" altLang="ko-KR" sz="1400" dirty="0"/>
            </a:p>
            <a:p>
              <a:r>
                <a:rPr lang="ko-KR" altLang="en-US" sz="1400" dirty="0"/>
                <a:t>유닛 배치 및 영역 밖에 있는 </a:t>
              </a:r>
              <a:endParaRPr lang="en-US" altLang="ko-KR" sz="1400" dirty="0"/>
            </a:p>
            <a:p>
              <a:r>
                <a:rPr lang="ko-KR" altLang="en-US" sz="1400" dirty="0"/>
                <a:t>파일 유닛은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근접한 그리드로 점유 하도록 설계</a:t>
              </a:r>
              <a:endParaRPr lang="en-US" altLang="ko-KR" sz="1400" dirty="0"/>
            </a:p>
            <a:p>
              <a:endParaRPr lang="en-US" altLang="ko-KR" sz="1400" dirty="0"/>
            </a:p>
            <a:p>
              <a:r>
                <a:rPr lang="ko-KR" altLang="en-US" sz="1400" dirty="0"/>
                <a:t>이 결과 </a:t>
              </a:r>
              <a:r>
                <a:rPr lang="en-US" altLang="ko-KR" sz="1400" dirty="0"/>
                <a:t>Windows </a:t>
              </a:r>
              <a:r>
                <a:rPr lang="ko-KR" altLang="en-US" sz="1400" dirty="0"/>
                <a:t>바탕화면 아이콘을 드래그</a:t>
              </a:r>
              <a:r>
                <a:rPr lang="en-US" altLang="ko-KR" sz="1400" dirty="0"/>
                <a:t>&amp;</a:t>
              </a:r>
              <a:r>
                <a:rPr lang="ko-KR" altLang="en-US" sz="1400" dirty="0" err="1"/>
                <a:t>드랍하는</a:t>
              </a:r>
              <a:r>
                <a:rPr lang="ko-KR" altLang="en-US" sz="1400" dirty="0"/>
                <a:t> 느낌을 유지할 수 있었음</a:t>
              </a:r>
            </a:p>
          </p:txBody>
        </p:sp>
      </p:grpSp>
      <p:pic>
        <p:nvPicPr>
          <p:cNvPr id="164" name="그림 163">
            <a:extLst>
              <a:ext uri="{FF2B5EF4-FFF2-40B4-BE49-F238E27FC236}">
                <a16:creationId xmlns:a16="http://schemas.microsoft.com/office/drawing/2014/main" id="{605B2815-E5BB-4EEF-A428-AB03D7551AF1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1055" y="3739987"/>
            <a:ext cx="5731166" cy="2241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B6A4E0A6-820D-41BD-9E65-F21A299B76B2}"/>
              </a:ext>
            </a:extLst>
          </p:cNvPr>
          <p:cNvGrpSpPr/>
          <p:nvPr/>
        </p:nvGrpSpPr>
        <p:grpSpPr>
          <a:xfrm>
            <a:off x="1352568" y="3790114"/>
            <a:ext cx="2674467" cy="2141326"/>
            <a:chOff x="1352568" y="3840241"/>
            <a:chExt cx="2674467" cy="2141326"/>
          </a:xfrm>
        </p:grpSpPr>
        <p:sp>
          <p:nvSpPr>
            <p:cNvPr id="168" name="Shape 14">
              <a:extLst>
                <a:ext uri="{FF2B5EF4-FFF2-40B4-BE49-F238E27FC236}">
                  <a16:creationId xmlns:a16="http://schemas.microsoft.com/office/drawing/2014/main" id="{5DFD5209-E325-443C-BC8F-C82A0060A6A3}"/>
                </a:ext>
              </a:extLst>
            </p:cNvPr>
            <p:cNvSpPr/>
            <p:nvPr/>
          </p:nvSpPr>
          <p:spPr>
            <a:xfrm>
              <a:off x="1352568" y="3840241"/>
              <a:ext cx="2674467" cy="2141326"/>
            </a:xfrm>
            <a:prstGeom prst="rect">
              <a:avLst/>
            </a:prstGeom>
            <a:solidFill>
              <a:srgbClr val="E8E8E8"/>
            </a:solidFill>
            <a:ln w="25400">
              <a:solidFill>
                <a:srgbClr val="FFFFFF"/>
              </a:solidFill>
              <a:prstDash val="solid"/>
            </a:ln>
            <a:scene3d>
              <a:camera prst="orthographicFront"/>
              <a:lightRig rig="threePt" dir="t"/>
            </a:scene3d>
            <a:sp3d>
              <a:bevelT/>
            </a:sp3d>
          </p:spPr>
        </p:sp>
        <p:pic>
          <p:nvPicPr>
            <p:cNvPr id="169" name="Image 10" descr="gen-dedup-bfb30a8c33a15379318ffec01db3f8c0.png">
              <a:extLst>
                <a:ext uri="{FF2B5EF4-FFF2-40B4-BE49-F238E27FC236}">
                  <a16:creationId xmlns:a16="http://schemas.microsoft.com/office/drawing/2014/main" id="{C0E4B414-6D89-4057-802B-216949DAF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1466547" y="3933706"/>
              <a:ext cx="450493" cy="399600"/>
            </a:xfrm>
            <a:prstGeom prst="rect">
              <a:avLst/>
            </a:prstGeom>
          </p:spPr>
        </p:pic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AD75178B-19E2-4A9D-ADF3-97E07D46D288}"/>
                </a:ext>
              </a:extLst>
            </p:cNvPr>
            <p:cNvSpPr txBox="1"/>
            <p:nvPr/>
          </p:nvSpPr>
          <p:spPr>
            <a:xfrm>
              <a:off x="1352569" y="4415502"/>
              <a:ext cx="2653472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400" dirty="0"/>
                <a:t>유연한 그리드 설정 수정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그리드 셸 크기 자동 조정 기능을 가진</a:t>
              </a:r>
              <a:endParaRPr lang="en-US" altLang="ko-KR" sz="1400" dirty="0"/>
            </a:p>
            <a:p>
              <a:r>
                <a:rPr lang="ko-KR" altLang="en-US" sz="1400" dirty="0"/>
                <a:t>레이아웃 클래스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2233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02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131" name="Shape 103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04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3" name="Shape 105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34" name="Shape 106"/>
          <p:cNvSpPr/>
          <p:nvPr/>
        </p:nvSpPr>
        <p:spPr>
          <a:xfrm>
            <a:off x="10477195" y="6534302"/>
            <a:ext cx="1619402" cy="267005"/>
          </a:xfrm>
          <a:prstGeom prst="rect">
            <a:avLst/>
          </a:prstGeom>
          <a:solidFill>
            <a:srgbClr val="C0C0C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135" name="Image 25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136" name="Text 107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7" name="Image 26" descr="gen-dedup-1027b540a23f27953c8b221c66837c2b.png"/>
          <p:cNvPicPr>
            <a:picLocks noChangeAspect="1"/>
          </p:cNvPicPr>
          <p:nvPr/>
        </p:nvPicPr>
        <p:blipFill>
          <a:blip r:embed="rId4"/>
          <a:srcRect t="-6250" b="-6250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138" name="Text 108"/>
          <p:cNvSpPr txBox="1"/>
          <p:nvPr/>
        </p:nvSpPr>
        <p:spPr>
          <a:xfrm>
            <a:off x="1238098" y="6577279"/>
            <a:ext cx="143743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탐색 중 - Projects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9" name="Image 27" descr="gen-dedup-7740a029182e5c65b65e33d2aaed94e2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10573207" y="6590995"/>
            <a:ext cx="152705" cy="152705"/>
          </a:xfrm>
          <a:prstGeom prst="rect">
            <a:avLst/>
          </a:prstGeom>
        </p:spPr>
      </p:pic>
      <p:sp>
        <p:nvSpPr>
          <p:cNvPr id="140" name="Text 109"/>
          <p:cNvSpPr txBox="1"/>
          <p:nvPr/>
        </p:nvSpPr>
        <p:spPr>
          <a:xfrm>
            <a:off x="11124590" y="6590995"/>
            <a:ext cx="7260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10:00 AM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Shape 10">
            <a:extLst>
              <a:ext uri="{FF2B5EF4-FFF2-40B4-BE49-F238E27FC236}">
                <a16:creationId xmlns:a16="http://schemas.microsoft.com/office/drawing/2014/main" id="{14A75B8D-58B7-472B-BBE7-FDD8817C001B}"/>
              </a:ext>
            </a:extLst>
          </p:cNvPr>
          <p:cNvSpPr/>
          <p:nvPr/>
        </p:nvSpPr>
        <p:spPr>
          <a:xfrm>
            <a:off x="1044001" y="108001"/>
            <a:ext cx="10890197" cy="6084503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4" name="Shape 11">
            <a:extLst>
              <a:ext uri="{FF2B5EF4-FFF2-40B4-BE49-F238E27FC236}">
                <a16:creationId xmlns:a16="http://schemas.microsoft.com/office/drawing/2014/main" id="{71A388DE-101E-4470-BFD4-A6A63EA671A5}"/>
              </a:ext>
            </a:extLst>
          </p:cNvPr>
          <p:cNvSpPr/>
          <p:nvPr/>
        </p:nvSpPr>
        <p:spPr>
          <a:xfrm>
            <a:off x="1063780" y="128969"/>
            <a:ext cx="10850641" cy="291545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5" name="Image 5" descr="gen-dedup-23665c0bc8193eed4b19e05b81a508d3.png">
            <a:extLst>
              <a:ext uri="{FF2B5EF4-FFF2-40B4-BE49-F238E27FC236}">
                <a16:creationId xmlns:a16="http://schemas.microsoft.com/office/drawing/2014/main" id="{2293A2AB-329A-4D4D-A2B3-1C7504C127F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063780" y="670124"/>
            <a:ext cx="10850641" cy="41935"/>
          </a:xfrm>
          <a:prstGeom prst="rect">
            <a:avLst/>
          </a:prstGeom>
        </p:spPr>
      </p:pic>
      <p:sp>
        <p:nvSpPr>
          <p:cNvPr id="106" name="Shape 12">
            <a:extLst>
              <a:ext uri="{FF2B5EF4-FFF2-40B4-BE49-F238E27FC236}">
                <a16:creationId xmlns:a16="http://schemas.microsoft.com/office/drawing/2014/main" id="{BF7862CB-A48A-41ED-BB49-4572C79D2442}"/>
              </a:ext>
            </a:extLst>
          </p:cNvPr>
          <p:cNvSpPr/>
          <p:nvPr/>
        </p:nvSpPr>
        <p:spPr>
          <a:xfrm>
            <a:off x="1063780" y="691091"/>
            <a:ext cx="10850641" cy="41635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7" name="Image 6" descr="gen-dedup-23665c0bc8193eed4b19e05b81a508d3.png">
            <a:extLst>
              <a:ext uri="{FF2B5EF4-FFF2-40B4-BE49-F238E27FC236}">
                <a16:creationId xmlns:a16="http://schemas.microsoft.com/office/drawing/2014/main" id="{20ABEAB4-CC5E-4191-B75F-C98135769AD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063780" y="1106443"/>
            <a:ext cx="10850641" cy="41935"/>
          </a:xfrm>
          <a:prstGeom prst="rect">
            <a:avLst/>
          </a:prstGeom>
        </p:spPr>
      </p:pic>
      <p:sp>
        <p:nvSpPr>
          <p:cNvPr id="108" name="Shape 13">
            <a:extLst>
              <a:ext uri="{FF2B5EF4-FFF2-40B4-BE49-F238E27FC236}">
                <a16:creationId xmlns:a16="http://schemas.microsoft.com/office/drawing/2014/main" id="{778C56FF-CFDC-45C0-B015-6894EB626093}"/>
              </a:ext>
            </a:extLst>
          </p:cNvPr>
          <p:cNvSpPr/>
          <p:nvPr/>
        </p:nvSpPr>
        <p:spPr>
          <a:xfrm>
            <a:off x="1063780" y="1127410"/>
            <a:ext cx="10850641" cy="332481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9" name="Image 7" descr="gen-dedup-23665c0bc8193eed4b19e05b81a508d3.png">
            <a:extLst>
              <a:ext uri="{FF2B5EF4-FFF2-40B4-BE49-F238E27FC236}">
                <a16:creationId xmlns:a16="http://schemas.microsoft.com/office/drawing/2014/main" id="{8EAD3060-1BC9-4720-89D3-B2F118FDED5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063780" y="1459891"/>
            <a:ext cx="10850641" cy="41935"/>
          </a:xfrm>
          <a:prstGeom prst="rect">
            <a:avLst/>
          </a:prstGeom>
        </p:spPr>
      </p:pic>
      <p:sp>
        <p:nvSpPr>
          <p:cNvPr id="110" name="Shape 14">
            <a:extLst>
              <a:ext uri="{FF2B5EF4-FFF2-40B4-BE49-F238E27FC236}">
                <a16:creationId xmlns:a16="http://schemas.microsoft.com/office/drawing/2014/main" id="{42389CBE-477E-4B1E-A4DE-6467CBB7EFEB}"/>
              </a:ext>
            </a:extLst>
          </p:cNvPr>
          <p:cNvSpPr/>
          <p:nvPr/>
        </p:nvSpPr>
        <p:spPr>
          <a:xfrm>
            <a:off x="1083557" y="1501826"/>
            <a:ext cx="2452485" cy="4368182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11" name="Shape 15">
            <a:extLst>
              <a:ext uri="{FF2B5EF4-FFF2-40B4-BE49-F238E27FC236}">
                <a16:creationId xmlns:a16="http://schemas.microsoft.com/office/drawing/2014/main" id="{C21C50EE-23E3-464C-A24A-63BA82DF84D4}"/>
              </a:ext>
            </a:extLst>
          </p:cNvPr>
          <p:cNvSpPr/>
          <p:nvPr/>
        </p:nvSpPr>
        <p:spPr>
          <a:xfrm>
            <a:off x="3595376" y="1501826"/>
            <a:ext cx="8300208" cy="4368182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12" name="Shape 16">
            <a:extLst>
              <a:ext uri="{FF2B5EF4-FFF2-40B4-BE49-F238E27FC236}">
                <a16:creationId xmlns:a16="http://schemas.microsoft.com/office/drawing/2014/main" id="{F20FF41E-0C07-442E-8C60-91349F8FAB6F}"/>
              </a:ext>
            </a:extLst>
          </p:cNvPr>
          <p:cNvSpPr/>
          <p:nvPr/>
        </p:nvSpPr>
        <p:spPr>
          <a:xfrm>
            <a:off x="1063780" y="5890974"/>
            <a:ext cx="10850641" cy="27057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3" name="Shape 17">
            <a:extLst>
              <a:ext uri="{FF2B5EF4-FFF2-40B4-BE49-F238E27FC236}">
                <a16:creationId xmlns:a16="http://schemas.microsoft.com/office/drawing/2014/main" id="{91B29A68-FFAE-4CAE-892D-A568DC5821A1}"/>
              </a:ext>
            </a:extLst>
          </p:cNvPr>
          <p:cNvSpPr/>
          <p:nvPr/>
        </p:nvSpPr>
        <p:spPr>
          <a:xfrm>
            <a:off x="11070555" y="159920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4" name="Shape 18">
            <a:extLst>
              <a:ext uri="{FF2B5EF4-FFF2-40B4-BE49-F238E27FC236}">
                <a16:creationId xmlns:a16="http://schemas.microsoft.com/office/drawing/2014/main" id="{5ED4C68E-2927-4286-A306-85C476D8C2C7}"/>
              </a:ext>
            </a:extLst>
          </p:cNvPr>
          <p:cNvSpPr/>
          <p:nvPr/>
        </p:nvSpPr>
        <p:spPr>
          <a:xfrm>
            <a:off x="11365343" y="159920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5" name="Shape 19">
            <a:extLst>
              <a:ext uri="{FF2B5EF4-FFF2-40B4-BE49-F238E27FC236}">
                <a16:creationId xmlns:a16="http://schemas.microsoft.com/office/drawing/2014/main" id="{629F123C-82EE-47C3-9DC8-E100143135E9}"/>
              </a:ext>
            </a:extLst>
          </p:cNvPr>
          <p:cNvSpPr/>
          <p:nvPr/>
        </p:nvSpPr>
        <p:spPr>
          <a:xfrm>
            <a:off x="11659189" y="159920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6" name="Text 20">
            <a:extLst>
              <a:ext uri="{FF2B5EF4-FFF2-40B4-BE49-F238E27FC236}">
                <a16:creationId xmlns:a16="http://schemas.microsoft.com/office/drawing/2014/main" id="{299A98B0-9D78-41C5-8B65-6BDFCC859999}"/>
              </a:ext>
            </a:extLst>
          </p:cNvPr>
          <p:cNvSpPr txBox="1"/>
          <p:nvPr/>
        </p:nvSpPr>
        <p:spPr>
          <a:xfrm>
            <a:off x="1100101" y="446473"/>
            <a:ext cx="2908322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파일(F)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편집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(E)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보기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(V)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도구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(T)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도움말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(H)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Shape 21">
            <a:extLst>
              <a:ext uri="{FF2B5EF4-FFF2-40B4-BE49-F238E27FC236}">
                <a16:creationId xmlns:a16="http://schemas.microsoft.com/office/drawing/2014/main" id="{BA430CC0-BC0A-472A-9F4E-CEDB0A52E19C}"/>
              </a:ext>
            </a:extLst>
          </p:cNvPr>
          <p:cNvSpPr/>
          <p:nvPr/>
        </p:nvSpPr>
        <p:spPr>
          <a:xfrm>
            <a:off x="1142891" y="743010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8" name="Shape 22">
            <a:extLst>
              <a:ext uri="{FF2B5EF4-FFF2-40B4-BE49-F238E27FC236}">
                <a16:creationId xmlns:a16="http://schemas.microsoft.com/office/drawing/2014/main" id="{D0F1BAB3-55DD-4B90-9514-6377C02A9076}"/>
              </a:ext>
            </a:extLst>
          </p:cNvPr>
          <p:cNvSpPr/>
          <p:nvPr/>
        </p:nvSpPr>
        <p:spPr>
          <a:xfrm>
            <a:off x="1485712" y="743010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9" name="Shape 23">
            <a:extLst>
              <a:ext uri="{FF2B5EF4-FFF2-40B4-BE49-F238E27FC236}">
                <a16:creationId xmlns:a16="http://schemas.microsoft.com/office/drawing/2014/main" id="{413C9993-835C-4DCE-99EE-1A4B19C69446}"/>
              </a:ext>
            </a:extLst>
          </p:cNvPr>
          <p:cNvSpPr/>
          <p:nvPr/>
        </p:nvSpPr>
        <p:spPr>
          <a:xfrm>
            <a:off x="1829474" y="743010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22" name="Shape 25">
            <a:extLst>
              <a:ext uri="{FF2B5EF4-FFF2-40B4-BE49-F238E27FC236}">
                <a16:creationId xmlns:a16="http://schemas.microsoft.com/office/drawing/2014/main" id="{F3567888-8960-4D67-8893-94ED42CC31E1}"/>
              </a:ext>
            </a:extLst>
          </p:cNvPr>
          <p:cNvSpPr/>
          <p:nvPr/>
        </p:nvSpPr>
        <p:spPr>
          <a:xfrm>
            <a:off x="1731525" y="1169345"/>
            <a:ext cx="9320193" cy="249610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23" name="Shape 26">
            <a:extLst>
              <a:ext uri="{FF2B5EF4-FFF2-40B4-BE49-F238E27FC236}">
                <a16:creationId xmlns:a16="http://schemas.microsoft.com/office/drawing/2014/main" id="{F9BE2189-0E78-419A-8C1A-57E458CD3185}"/>
              </a:ext>
            </a:extLst>
          </p:cNvPr>
          <p:cNvSpPr/>
          <p:nvPr/>
        </p:nvSpPr>
        <p:spPr>
          <a:xfrm>
            <a:off x="11149667" y="1148377"/>
            <a:ext cx="686583" cy="27057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4" name="Shape 27">
            <a:extLst>
              <a:ext uri="{FF2B5EF4-FFF2-40B4-BE49-F238E27FC236}">
                <a16:creationId xmlns:a16="http://schemas.microsoft.com/office/drawing/2014/main" id="{3BF4B2C6-B1E4-4F82-81A6-F664E976AAD4}"/>
              </a:ext>
            </a:extLst>
          </p:cNvPr>
          <p:cNvSpPr/>
          <p:nvPr/>
        </p:nvSpPr>
        <p:spPr>
          <a:xfrm>
            <a:off x="3359922" y="1522793"/>
            <a:ext cx="166701" cy="4326247"/>
          </a:xfrm>
          <a:prstGeom prst="rect">
            <a:avLst/>
          </a:prstGeom>
          <a:solidFill>
            <a:srgbClr val="DFDFDF"/>
          </a:solidFill>
          <a:ln/>
        </p:spPr>
      </p:sp>
      <p:sp>
        <p:nvSpPr>
          <p:cNvPr id="125" name="Shape 28">
            <a:extLst>
              <a:ext uri="{FF2B5EF4-FFF2-40B4-BE49-F238E27FC236}">
                <a16:creationId xmlns:a16="http://schemas.microsoft.com/office/drawing/2014/main" id="{D31BEC5E-DE7B-485B-92B6-010A35214FB6}"/>
              </a:ext>
            </a:extLst>
          </p:cNvPr>
          <p:cNvSpPr/>
          <p:nvPr/>
        </p:nvSpPr>
        <p:spPr>
          <a:xfrm>
            <a:off x="3359922" y="1522793"/>
            <a:ext cx="9418" cy="4326247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>
                <a:alpha val="0"/>
              </a:srgbClr>
            </a:solidFill>
            <a:prstDash val="solid"/>
          </a:ln>
        </p:spPr>
      </p:sp>
      <p:sp>
        <p:nvSpPr>
          <p:cNvPr id="127" name="Shape 30">
            <a:extLst>
              <a:ext uri="{FF2B5EF4-FFF2-40B4-BE49-F238E27FC236}">
                <a16:creationId xmlns:a16="http://schemas.microsoft.com/office/drawing/2014/main" id="{916FC1B2-F896-4360-AE9D-1DA7A8004F60}"/>
              </a:ext>
            </a:extLst>
          </p:cNvPr>
          <p:cNvSpPr/>
          <p:nvPr/>
        </p:nvSpPr>
        <p:spPr>
          <a:xfrm>
            <a:off x="1083557" y="5932909"/>
            <a:ext cx="2452485" cy="187707"/>
          </a:xfrm>
          <a:prstGeom prst="rect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141" name="Shape 31">
            <a:extLst>
              <a:ext uri="{FF2B5EF4-FFF2-40B4-BE49-F238E27FC236}">
                <a16:creationId xmlns:a16="http://schemas.microsoft.com/office/drawing/2014/main" id="{91123D67-B5E3-49E4-99D0-DFCAAC3F8CCA}"/>
              </a:ext>
            </a:extLst>
          </p:cNvPr>
          <p:cNvSpPr/>
          <p:nvPr/>
        </p:nvSpPr>
        <p:spPr>
          <a:xfrm>
            <a:off x="3555820" y="5932909"/>
            <a:ext cx="8338823" cy="187707"/>
          </a:xfrm>
          <a:prstGeom prst="rect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142" name="Shape 32">
            <a:extLst>
              <a:ext uri="{FF2B5EF4-FFF2-40B4-BE49-F238E27FC236}">
                <a16:creationId xmlns:a16="http://schemas.microsoft.com/office/drawing/2014/main" id="{354B1A02-7FFC-47B5-9696-E585EB5A9885}"/>
              </a:ext>
            </a:extLst>
          </p:cNvPr>
          <p:cNvSpPr/>
          <p:nvPr/>
        </p:nvSpPr>
        <p:spPr>
          <a:xfrm>
            <a:off x="3359922" y="1522793"/>
            <a:ext cx="157283" cy="16674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5" name="Shape 33">
            <a:extLst>
              <a:ext uri="{FF2B5EF4-FFF2-40B4-BE49-F238E27FC236}">
                <a16:creationId xmlns:a16="http://schemas.microsoft.com/office/drawing/2014/main" id="{DA473C0B-5729-4FD8-AD5B-3C1C059BA00F}"/>
              </a:ext>
            </a:extLst>
          </p:cNvPr>
          <p:cNvSpPr/>
          <p:nvPr/>
        </p:nvSpPr>
        <p:spPr>
          <a:xfrm>
            <a:off x="3359922" y="1689533"/>
            <a:ext cx="157283" cy="831702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6" name="Shape 34">
            <a:extLst>
              <a:ext uri="{FF2B5EF4-FFF2-40B4-BE49-F238E27FC236}">
                <a16:creationId xmlns:a16="http://schemas.microsoft.com/office/drawing/2014/main" id="{A4F36E1F-4507-4CC5-9346-4FBE0AD7F22F}"/>
              </a:ext>
            </a:extLst>
          </p:cNvPr>
          <p:cNvSpPr/>
          <p:nvPr/>
        </p:nvSpPr>
        <p:spPr>
          <a:xfrm>
            <a:off x="3359922" y="5683299"/>
            <a:ext cx="157283" cy="16674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8" name="Image 8" descr="gen-dedup-7c02ed4669765158cb6410457d6288f7.png">
            <a:extLst>
              <a:ext uri="{FF2B5EF4-FFF2-40B4-BE49-F238E27FC236}">
                <a16:creationId xmlns:a16="http://schemas.microsoft.com/office/drawing/2014/main" id="{2665EC4D-B367-4232-8285-18D4141E819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6250" b="-6250"/>
          <a:stretch/>
        </p:blipFill>
        <p:spPr>
          <a:xfrm>
            <a:off x="1123114" y="191871"/>
            <a:ext cx="157283" cy="166740"/>
          </a:xfrm>
          <a:prstGeom prst="rect">
            <a:avLst/>
          </a:prstGeom>
        </p:spPr>
      </p:pic>
      <p:sp>
        <p:nvSpPr>
          <p:cNvPr id="149" name="Text 36">
            <a:extLst>
              <a:ext uri="{FF2B5EF4-FFF2-40B4-BE49-F238E27FC236}">
                <a16:creationId xmlns:a16="http://schemas.microsoft.com/office/drawing/2014/main" id="{E428AE1F-5E2A-45BC-8AD2-EAAD85DE2C03}"/>
              </a:ext>
            </a:extLst>
          </p:cNvPr>
          <p:cNvSpPr txBox="1"/>
          <p:nvPr/>
        </p:nvSpPr>
        <p:spPr>
          <a:xfrm>
            <a:off x="1387763" y="170904"/>
            <a:ext cx="1594491" cy="20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탐색 중 - Projects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Text 37">
            <a:extLst>
              <a:ext uri="{FF2B5EF4-FFF2-40B4-BE49-F238E27FC236}">
                <a16:creationId xmlns:a16="http://schemas.microsoft.com/office/drawing/2014/main" id="{B62B1CCF-70A3-4E76-BC3F-82C5DF2D170C}"/>
              </a:ext>
            </a:extLst>
          </p:cNvPr>
          <p:cNvSpPr txBox="1"/>
          <p:nvPr/>
        </p:nvSpPr>
        <p:spPr>
          <a:xfrm>
            <a:off x="11138365" y="185880"/>
            <a:ext cx="83822" cy="14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_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1" name="Shape 38">
            <a:extLst>
              <a:ext uri="{FF2B5EF4-FFF2-40B4-BE49-F238E27FC236}">
                <a16:creationId xmlns:a16="http://schemas.microsoft.com/office/drawing/2014/main" id="{D76E0BCC-364D-4EE0-BC3A-3858A77A42F3}"/>
              </a:ext>
            </a:extLst>
          </p:cNvPr>
          <p:cNvSpPr/>
          <p:nvPr/>
        </p:nvSpPr>
        <p:spPr>
          <a:xfrm>
            <a:off x="11414317" y="206847"/>
            <a:ext cx="117727" cy="13479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52" name="Shape 39">
            <a:extLst>
              <a:ext uri="{FF2B5EF4-FFF2-40B4-BE49-F238E27FC236}">
                <a16:creationId xmlns:a16="http://schemas.microsoft.com/office/drawing/2014/main" id="{B2824EFA-3C56-436D-9EF5-EACB833A8EB2}"/>
              </a:ext>
            </a:extLst>
          </p:cNvPr>
          <p:cNvSpPr/>
          <p:nvPr/>
        </p:nvSpPr>
        <p:spPr>
          <a:xfrm>
            <a:off x="11414317" y="206847"/>
            <a:ext cx="117727" cy="20967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Text 40">
            <a:extLst>
              <a:ext uri="{FF2B5EF4-FFF2-40B4-BE49-F238E27FC236}">
                <a16:creationId xmlns:a16="http://schemas.microsoft.com/office/drawing/2014/main" id="{73B04141-7F29-472D-BF63-5B332765C610}"/>
              </a:ext>
            </a:extLst>
          </p:cNvPr>
          <p:cNvSpPr txBox="1"/>
          <p:nvPr/>
        </p:nvSpPr>
        <p:spPr>
          <a:xfrm>
            <a:off x="11727941" y="201855"/>
            <a:ext cx="88531" cy="14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8" name="Image 9" descr="gen-dedup-25afa46a09582202a40d6f31fc2ccf91.png">
            <a:extLst>
              <a:ext uri="{FF2B5EF4-FFF2-40B4-BE49-F238E27FC236}">
                <a16:creationId xmlns:a16="http://schemas.microsoft.com/office/drawing/2014/main" id="{6D3A70D4-DA94-488E-BECC-BF8D28E4351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1210702" y="815896"/>
            <a:ext cx="157283" cy="166740"/>
          </a:xfrm>
          <a:prstGeom prst="rect">
            <a:avLst/>
          </a:prstGeom>
        </p:spPr>
      </p:pic>
      <p:pic>
        <p:nvPicPr>
          <p:cNvPr id="159" name="Image 10" descr="gen-dedup-53d8cb32c6720cdad62ecd3793163a86.png">
            <a:extLst>
              <a:ext uri="{FF2B5EF4-FFF2-40B4-BE49-F238E27FC236}">
                <a16:creationId xmlns:a16="http://schemas.microsoft.com/office/drawing/2014/main" id="{38CE9DD8-4C0F-46DC-B9A0-EA21C7095C9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7143" r="-7143"/>
          <a:stretch/>
        </p:blipFill>
        <p:spPr>
          <a:xfrm>
            <a:off x="1554464" y="815896"/>
            <a:ext cx="157283" cy="166740"/>
          </a:xfrm>
          <a:prstGeom prst="rect">
            <a:avLst/>
          </a:prstGeom>
        </p:spPr>
      </p:pic>
      <p:pic>
        <p:nvPicPr>
          <p:cNvPr id="160" name="Image 11" descr="gen-dedup-fa17d56a867348b02c8a56abf7174658.png">
            <a:extLst>
              <a:ext uri="{FF2B5EF4-FFF2-40B4-BE49-F238E27FC236}">
                <a16:creationId xmlns:a16="http://schemas.microsoft.com/office/drawing/2014/main" id="{922B725B-A15E-4516-BFD5-E5CBF5F3301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16666" r="-16666"/>
          <a:stretch/>
        </p:blipFill>
        <p:spPr>
          <a:xfrm>
            <a:off x="1898227" y="815896"/>
            <a:ext cx="157283" cy="166740"/>
          </a:xfrm>
          <a:prstGeom prst="rect">
            <a:avLst/>
          </a:prstGeom>
        </p:spPr>
      </p:pic>
      <p:pic>
        <p:nvPicPr>
          <p:cNvPr id="161" name="Image 12" descr="gen-dedup-013b38688217c28f0315b66cc4dba47b.png">
            <a:extLst>
              <a:ext uri="{FF2B5EF4-FFF2-40B4-BE49-F238E27FC236}">
                <a16:creationId xmlns:a16="http://schemas.microsoft.com/office/drawing/2014/main" id="{D017ADA0-79CA-457C-8D33-D4231577065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2418108" y="815896"/>
            <a:ext cx="157283" cy="166740"/>
          </a:xfrm>
          <a:prstGeom prst="rect">
            <a:avLst/>
          </a:prstGeom>
        </p:spPr>
      </p:pic>
      <p:pic>
        <p:nvPicPr>
          <p:cNvPr id="162" name="Image 13" descr="gen-dedup-3408d1960989eaff15e10127b414fcf2.png">
            <a:extLst>
              <a:ext uri="{FF2B5EF4-FFF2-40B4-BE49-F238E27FC236}">
                <a16:creationId xmlns:a16="http://schemas.microsoft.com/office/drawing/2014/main" id="{99A1AEF4-E23A-47B4-A49D-1A8A656F8CA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7143" r="-7143"/>
          <a:stretch/>
        </p:blipFill>
        <p:spPr>
          <a:xfrm>
            <a:off x="2711955" y="815896"/>
            <a:ext cx="157283" cy="166740"/>
          </a:xfrm>
          <a:prstGeom prst="rect">
            <a:avLst/>
          </a:prstGeom>
        </p:spPr>
      </p:pic>
      <p:pic>
        <p:nvPicPr>
          <p:cNvPr id="163" name="Image 14" descr="gen-dedup-6e9e672aa626b1edf6db8640b2821839.png">
            <a:extLst>
              <a:ext uri="{FF2B5EF4-FFF2-40B4-BE49-F238E27FC236}">
                <a16:creationId xmlns:a16="http://schemas.microsoft.com/office/drawing/2014/main" id="{C9550F90-0E01-4893-B835-77A2FB3C1F4E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3006742" y="815896"/>
            <a:ext cx="157283" cy="166740"/>
          </a:xfrm>
          <a:prstGeom prst="rect">
            <a:avLst/>
          </a:prstGeom>
        </p:spPr>
      </p:pic>
      <p:sp>
        <p:nvSpPr>
          <p:cNvPr id="164" name="Text 41">
            <a:extLst>
              <a:ext uri="{FF2B5EF4-FFF2-40B4-BE49-F238E27FC236}">
                <a16:creationId xmlns:a16="http://schemas.microsoft.com/office/drawing/2014/main" id="{0762294A-6332-409C-A4B5-45E26B375792}"/>
              </a:ext>
            </a:extLst>
          </p:cNvPr>
          <p:cNvSpPr txBox="1"/>
          <p:nvPr/>
        </p:nvSpPr>
        <p:spPr>
          <a:xfrm>
            <a:off x="1142891" y="1195304"/>
            <a:ext cx="536834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주소(D)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5" name="Image 15" descr="gen-dedup-7c02ed4669765158cb6410457d6288f7.png">
            <a:extLst>
              <a:ext uri="{FF2B5EF4-FFF2-40B4-BE49-F238E27FC236}">
                <a16:creationId xmlns:a16="http://schemas.microsoft.com/office/drawing/2014/main" id="{239474F9-BA3C-417F-8CE0-5EE537895D3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6250" b="-6250"/>
          <a:stretch/>
        </p:blipFill>
        <p:spPr>
          <a:xfrm>
            <a:off x="1780500" y="1210281"/>
            <a:ext cx="157283" cy="166740"/>
          </a:xfrm>
          <a:prstGeom prst="rect">
            <a:avLst/>
          </a:prstGeom>
        </p:spPr>
      </p:pic>
      <p:sp>
        <p:nvSpPr>
          <p:cNvPr id="166" name="Text 42">
            <a:extLst>
              <a:ext uri="{FF2B5EF4-FFF2-40B4-BE49-F238E27FC236}">
                <a16:creationId xmlns:a16="http://schemas.microsoft.com/office/drawing/2014/main" id="{2A6B50A8-5D43-45FB-875F-B4B2E68A3195}"/>
              </a:ext>
            </a:extLst>
          </p:cNvPr>
          <p:cNvSpPr txBox="1"/>
          <p:nvPr/>
        </p:nvSpPr>
        <p:spPr>
          <a:xfrm>
            <a:off x="2025372" y="1216271"/>
            <a:ext cx="3451503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C:\Portfolio\Projects\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Car Racing Simulation</a:t>
            </a:r>
            <a:endParaRPr kumimoji="0" lang="en-US" altLang="ko-KR" sz="9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7" name="Text 43">
            <a:extLst>
              <a:ext uri="{FF2B5EF4-FFF2-40B4-BE49-F238E27FC236}">
                <a16:creationId xmlns:a16="http://schemas.microsoft.com/office/drawing/2014/main" id="{8C4F7CE9-8270-4468-851B-DDF88A52F141}"/>
              </a:ext>
            </a:extLst>
          </p:cNvPr>
          <p:cNvSpPr txBox="1"/>
          <p:nvPr/>
        </p:nvSpPr>
        <p:spPr>
          <a:xfrm>
            <a:off x="11384179" y="1195304"/>
            <a:ext cx="244872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이동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8" name="Text 44">
            <a:extLst>
              <a:ext uri="{FF2B5EF4-FFF2-40B4-BE49-F238E27FC236}">
                <a16:creationId xmlns:a16="http://schemas.microsoft.com/office/drawing/2014/main" id="{16B13CC4-BA5A-44FF-8E47-E60E04A8820A}"/>
              </a:ext>
            </a:extLst>
          </p:cNvPr>
          <p:cNvSpPr txBox="1"/>
          <p:nvPr/>
        </p:nvSpPr>
        <p:spPr>
          <a:xfrm>
            <a:off x="1142891" y="1600671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9" name="Image 16" descr="gen-dedup-71f3cd3c0f5149b77a7c51df2d1a7eab.png">
            <a:extLst>
              <a:ext uri="{FF2B5EF4-FFF2-40B4-BE49-F238E27FC236}">
                <a16:creationId xmlns:a16="http://schemas.microsoft.com/office/drawing/2014/main" id="{5722AD78-CE8C-4097-B8F2-1C40233E278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6250" b="-6250"/>
          <a:stretch/>
        </p:blipFill>
        <p:spPr>
          <a:xfrm>
            <a:off x="1309593" y="1590687"/>
            <a:ext cx="137504" cy="145772"/>
          </a:xfrm>
          <a:prstGeom prst="rect">
            <a:avLst/>
          </a:prstGeom>
        </p:spPr>
      </p:pic>
      <p:sp>
        <p:nvSpPr>
          <p:cNvPr id="170" name="Text 45">
            <a:extLst>
              <a:ext uri="{FF2B5EF4-FFF2-40B4-BE49-F238E27FC236}">
                <a16:creationId xmlns:a16="http://schemas.microsoft.com/office/drawing/2014/main" id="{E8856BC4-07FF-4558-A9F5-EFB404064BD4}"/>
              </a:ext>
            </a:extLst>
          </p:cNvPr>
          <p:cNvSpPr txBox="1"/>
          <p:nvPr/>
        </p:nvSpPr>
        <p:spPr>
          <a:xfrm>
            <a:off x="1496072" y="1564728"/>
            <a:ext cx="607470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내 컴퓨터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1" name="Text 46">
            <a:extLst>
              <a:ext uri="{FF2B5EF4-FFF2-40B4-BE49-F238E27FC236}">
                <a16:creationId xmlns:a16="http://schemas.microsoft.com/office/drawing/2014/main" id="{E7449BCD-C7B7-4C95-AF68-25995EF1A200}"/>
              </a:ext>
            </a:extLst>
          </p:cNvPr>
          <p:cNvSpPr txBox="1"/>
          <p:nvPr/>
        </p:nvSpPr>
        <p:spPr>
          <a:xfrm>
            <a:off x="1338789" y="1881234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2" name="Image 17" descr="gen-dedup-e3bb1bdbf10fa3b8ada790141c1d3212.png">
            <a:extLst>
              <a:ext uri="{FF2B5EF4-FFF2-40B4-BE49-F238E27FC236}">
                <a16:creationId xmlns:a16="http://schemas.microsoft.com/office/drawing/2014/main" id="{24284AD3-13CD-4AEE-B86A-48EEFCA4E465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505490" y="1871249"/>
            <a:ext cx="137504" cy="145772"/>
          </a:xfrm>
          <a:prstGeom prst="rect">
            <a:avLst/>
          </a:prstGeom>
        </p:spPr>
      </p:pic>
      <p:sp>
        <p:nvSpPr>
          <p:cNvPr id="173" name="Text 47">
            <a:extLst>
              <a:ext uri="{FF2B5EF4-FFF2-40B4-BE49-F238E27FC236}">
                <a16:creationId xmlns:a16="http://schemas.microsoft.com/office/drawing/2014/main" id="{9A638C46-6AA2-4807-8EB6-3B39C7503EAB}"/>
              </a:ext>
            </a:extLst>
          </p:cNvPr>
          <p:cNvSpPr txBox="1"/>
          <p:nvPr/>
        </p:nvSpPr>
        <p:spPr>
          <a:xfrm>
            <a:off x="1691969" y="1845289"/>
            <a:ext cx="982312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C: 로컬 디스크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4" name="Text 48">
            <a:extLst>
              <a:ext uri="{FF2B5EF4-FFF2-40B4-BE49-F238E27FC236}">
                <a16:creationId xmlns:a16="http://schemas.microsoft.com/office/drawing/2014/main" id="{323AFC2D-633A-482D-BAFB-FD8F3EB4DDFB}"/>
              </a:ext>
            </a:extLst>
          </p:cNvPr>
          <p:cNvSpPr txBox="1"/>
          <p:nvPr/>
        </p:nvSpPr>
        <p:spPr>
          <a:xfrm>
            <a:off x="1534687" y="2141827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5" name="Image 18" descr="gen-dedup-ba01fa70a70d7d3a77dc83183451dc86.png">
            <a:extLst>
              <a:ext uri="{FF2B5EF4-FFF2-40B4-BE49-F238E27FC236}">
                <a16:creationId xmlns:a16="http://schemas.microsoft.com/office/drawing/2014/main" id="{6BB5E545-5BF5-498F-817C-752D4F6D61D6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701387" y="2130844"/>
            <a:ext cx="137504" cy="145772"/>
          </a:xfrm>
          <a:prstGeom prst="rect">
            <a:avLst/>
          </a:prstGeom>
        </p:spPr>
      </p:pic>
      <p:sp>
        <p:nvSpPr>
          <p:cNvPr id="176" name="Text 49">
            <a:extLst>
              <a:ext uri="{FF2B5EF4-FFF2-40B4-BE49-F238E27FC236}">
                <a16:creationId xmlns:a16="http://schemas.microsoft.com/office/drawing/2014/main" id="{1E3BD229-5997-4AB9-8C0F-C468BC742636}"/>
              </a:ext>
            </a:extLst>
          </p:cNvPr>
          <p:cNvSpPr txBox="1"/>
          <p:nvPr/>
        </p:nvSpPr>
        <p:spPr>
          <a:xfrm>
            <a:off x="1887867" y="2125852"/>
            <a:ext cx="760044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Text 50">
            <a:extLst>
              <a:ext uri="{FF2B5EF4-FFF2-40B4-BE49-F238E27FC236}">
                <a16:creationId xmlns:a16="http://schemas.microsoft.com/office/drawing/2014/main" id="{723C73E9-4A4E-4F42-AE7A-87E8358A822A}"/>
              </a:ext>
            </a:extLst>
          </p:cNvPr>
          <p:cNvSpPr txBox="1"/>
          <p:nvPr/>
        </p:nvSpPr>
        <p:spPr>
          <a:xfrm>
            <a:off x="1731525" y="2380455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8" name="Image 19" descr="gen-dedup-164d010ae7e53d534a0b3104348ed19a.png">
            <a:extLst>
              <a:ext uri="{FF2B5EF4-FFF2-40B4-BE49-F238E27FC236}">
                <a16:creationId xmlns:a16="http://schemas.microsoft.com/office/drawing/2014/main" id="{9743F858-A590-4BB3-808D-215064351692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-6250" b="-6250"/>
          <a:stretch/>
        </p:blipFill>
        <p:spPr>
          <a:xfrm>
            <a:off x="1898227" y="2370470"/>
            <a:ext cx="137504" cy="145772"/>
          </a:xfrm>
          <a:prstGeom prst="rect">
            <a:avLst/>
          </a:prstGeom>
        </p:spPr>
      </p:pic>
      <p:sp>
        <p:nvSpPr>
          <p:cNvPr id="179" name="Text 51">
            <a:extLst>
              <a:ext uri="{FF2B5EF4-FFF2-40B4-BE49-F238E27FC236}">
                <a16:creationId xmlns:a16="http://schemas.microsoft.com/office/drawing/2014/main" id="{91A6C390-EF73-4B4E-9448-4A092525C527}"/>
              </a:ext>
            </a:extLst>
          </p:cNvPr>
          <p:cNvSpPr txBox="1"/>
          <p:nvPr/>
        </p:nvSpPr>
        <p:spPr>
          <a:xfrm>
            <a:off x="2084706" y="2365478"/>
            <a:ext cx="681874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0" name="Shape 52">
            <a:extLst>
              <a:ext uri="{FF2B5EF4-FFF2-40B4-BE49-F238E27FC236}">
                <a16:creationId xmlns:a16="http://schemas.microsoft.com/office/drawing/2014/main" id="{64A3B9A6-8696-4451-88B1-C3DE0AFFCA24}"/>
              </a:ext>
            </a:extLst>
          </p:cNvPr>
          <p:cNvSpPr/>
          <p:nvPr/>
        </p:nvSpPr>
        <p:spPr>
          <a:xfrm>
            <a:off x="1086203" y="3132391"/>
            <a:ext cx="2276364" cy="155756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Text 53">
            <a:extLst>
              <a:ext uri="{FF2B5EF4-FFF2-40B4-BE49-F238E27FC236}">
                <a16:creationId xmlns:a16="http://schemas.microsoft.com/office/drawing/2014/main" id="{CAF9D105-2730-4456-BD86-A00FA06DCDA1}"/>
              </a:ext>
            </a:extLst>
          </p:cNvPr>
          <p:cNvSpPr txBox="1"/>
          <p:nvPr/>
        </p:nvSpPr>
        <p:spPr>
          <a:xfrm>
            <a:off x="2280603" y="2604105"/>
            <a:ext cx="1472055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WinAPI_DontStarve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3" name="Image 21" descr="gen-dedup-2302e8a913f082daf4055bce75fbff92.png">
            <a:extLst>
              <a:ext uri="{FF2B5EF4-FFF2-40B4-BE49-F238E27FC236}">
                <a16:creationId xmlns:a16="http://schemas.microsoft.com/office/drawing/2014/main" id="{84D0CCAD-71D2-440D-B1DE-D8B05BC99660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2615089"/>
            <a:ext cx="137504" cy="145772"/>
          </a:xfrm>
          <a:prstGeom prst="rect">
            <a:avLst/>
          </a:prstGeom>
        </p:spPr>
      </p:pic>
      <p:pic>
        <p:nvPicPr>
          <p:cNvPr id="181" name="Image 20" descr="gen-dedup-7b3a43cc425eedfd0625165e094889b2.png">
            <a:extLst>
              <a:ext uri="{FF2B5EF4-FFF2-40B4-BE49-F238E27FC236}">
                <a16:creationId xmlns:a16="http://schemas.microsoft.com/office/drawing/2014/main" id="{474C4BB9-402A-426A-8DC2-FE30E2469527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-16667" r="-16667"/>
          <a:stretch/>
        </p:blipFill>
        <p:spPr>
          <a:xfrm>
            <a:off x="2090319" y="3135961"/>
            <a:ext cx="137504" cy="145772"/>
          </a:xfrm>
          <a:prstGeom prst="rect">
            <a:avLst/>
          </a:prstGeom>
        </p:spPr>
      </p:pic>
      <p:sp>
        <p:nvSpPr>
          <p:cNvPr id="184" name="Text 54">
            <a:extLst>
              <a:ext uri="{FF2B5EF4-FFF2-40B4-BE49-F238E27FC236}">
                <a16:creationId xmlns:a16="http://schemas.microsoft.com/office/drawing/2014/main" id="{31E9B7CF-593C-4A81-9275-E23FA6F6FF6D}"/>
              </a:ext>
            </a:extLst>
          </p:cNvPr>
          <p:cNvSpPr txBox="1"/>
          <p:nvPr/>
        </p:nvSpPr>
        <p:spPr>
          <a:xfrm>
            <a:off x="2280603" y="2869617"/>
            <a:ext cx="976709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File Tower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Defence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5" name="Image 22" descr="gen-dedup-2302e8a913f082daf4055bce75fbff92.png">
            <a:extLst>
              <a:ext uri="{FF2B5EF4-FFF2-40B4-BE49-F238E27FC236}">
                <a16:creationId xmlns:a16="http://schemas.microsoft.com/office/drawing/2014/main" id="{A18364CD-242D-46EE-BC7A-AAB0C31013B5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2875525"/>
            <a:ext cx="137504" cy="145772"/>
          </a:xfrm>
          <a:prstGeom prst="rect">
            <a:avLst/>
          </a:prstGeom>
        </p:spPr>
      </p:pic>
      <p:sp>
        <p:nvSpPr>
          <p:cNvPr id="186" name="Text 55">
            <a:extLst>
              <a:ext uri="{FF2B5EF4-FFF2-40B4-BE49-F238E27FC236}">
                <a16:creationId xmlns:a16="http://schemas.microsoft.com/office/drawing/2014/main" id="{90569763-24C7-4A44-99BB-8107D5A4F9AE}"/>
              </a:ext>
            </a:extLst>
          </p:cNvPr>
          <p:cNvSpPr txBox="1"/>
          <p:nvPr/>
        </p:nvSpPr>
        <p:spPr>
          <a:xfrm>
            <a:off x="2280602" y="3133272"/>
            <a:ext cx="1079319" cy="15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 Racing Simulation</a:t>
            </a:r>
          </a:p>
        </p:txBody>
      </p:sp>
      <p:sp>
        <p:nvSpPr>
          <p:cNvPr id="187" name="Text 56">
            <a:extLst>
              <a:ext uri="{FF2B5EF4-FFF2-40B4-BE49-F238E27FC236}">
                <a16:creationId xmlns:a16="http://schemas.microsoft.com/office/drawing/2014/main" id="{866DB103-F61D-4F55-8CB2-0DCECDF562DE}"/>
              </a:ext>
            </a:extLst>
          </p:cNvPr>
          <p:cNvSpPr txBox="1"/>
          <p:nvPr/>
        </p:nvSpPr>
        <p:spPr>
          <a:xfrm>
            <a:off x="3389118" y="1517801"/>
            <a:ext cx="98890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▲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8" name="Text 57">
            <a:extLst>
              <a:ext uri="{FF2B5EF4-FFF2-40B4-BE49-F238E27FC236}">
                <a16:creationId xmlns:a16="http://schemas.microsoft.com/office/drawing/2014/main" id="{07972270-EEB3-4E57-A275-58C3789BD728}"/>
              </a:ext>
            </a:extLst>
          </p:cNvPr>
          <p:cNvSpPr txBox="1"/>
          <p:nvPr/>
        </p:nvSpPr>
        <p:spPr>
          <a:xfrm>
            <a:off x="3389118" y="5677309"/>
            <a:ext cx="98890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Text 59">
            <a:extLst>
              <a:ext uri="{FF2B5EF4-FFF2-40B4-BE49-F238E27FC236}">
                <a16:creationId xmlns:a16="http://schemas.microsoft.com/office/drawing/2014/main" id="{F370B7F2-545A-4C3C-AE52-60FFDC3BC6C9}"/>
              </a:ext>
            </a:extLst>
          </p:cNvPr>
          <p:cNvSpPr txBox="1"/>
          <p:nvPr/>
        </p:nvSpPr>
        <p:spPr>
          <a:xfrm>
            <a:off x="1142891" y="5937901"/>
            <a:ext cx="515173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개 개체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2" name="Text 60">
            <a:extLst>
              <a:ext uri="{FF2B5EF4-FFF2-40B4-BE49-F238E27FC236}">
                <a16:creationId xmlns:a16="http://schemas.microsoft.com/office/drawing/2014/main" id="{56BEFB76-4CFC-42A7-B9E8-E085EEAF66E4}"/>
              </a:ext>
            </a:extLst>
          </p:cNvPr>
          <p:cNvSpPr txBox="1"/>
          <p:nvPr/>
        </p:nvSpPr>
        <p:spPr>
          <a:xfrm>
            <a:off x="3644351" y="5937901"/>
            <a:ext cx="2312154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1개 항목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선택됨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Car Racing Simulation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Shape 29">
            <a:extLst>
              <a:ext uri="{FF2B5EF4-FFF2-40B4-BE49-F238E27FC236}">
                <a16:creationId xmlns:a16="http://schemas.microsoft.com/office/drawing/2014/main" id="{C8E8281E-329E-4104-AF26-2BF462B61E3F}"/>
              </a:ext>
            </a:extLst>
          </p:cNvPr>
          <p:cNvSpPr/>
          <p:nvPr/>
        </p:nvSpPr>
        <p:spPr>
          <a:xfrm>
            <a:off x="3615584" y="1517800"/>
            <a:ext cx="8262000" cy="312984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9" name="Text 58">
            <a:extLst>
              <a:ext uri="{FF2B5EF4-FFF2-40B4-BE49-F238E27FC236}">
                <a16:creationId xmlns:a16="http://schemas.microsoft.com/office/drawing/2014/main" id="{ADA0929B-6390-4236-84B5-CBBBC1E952F8}"/>
              </a:ext>
            </a:extLst>
          </p:cNvPr>
          <p:cNvSpPr txBox="1"/>
          <p:nvPr/>
        </p:nvSpPr>
        <p:spPr>
          <a:xfrm>
            <a:off x="3680570" y="1579370"/>
            <a:ext cx="2661235" cy="190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상세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정보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– Car Racing Simulation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90" name="Table 0">
            <a:extLst>
              <a:ext uri="{FF2B5EF4-FFF2-40B4-BE49-F238E27FC236}">
                <a16:creationId xmlns:a16="http://schemas.microsoft.com/office/drawing/2014/main" id="{17C5AF9B-F49B-46DE-BE64-BBD629004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428732"/>
              </p:ext>
            </p:extLst>
          </p:nvPr>
        </p:nvGraphicFramePr>
        <p:xfrm>
          <a:off x="3680571" y="1992100"/>
          <a:ext cx="8091719" cy="3775367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214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4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96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33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32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플랫폼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PC(Windows)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장르</a:t>
                      </a:r>
                      <a:endParaRPr lang="ko-KR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시뮬레이션</a:t>
                      </a:r>
                      <a:endParaRPr lang="ko-KR" sz="14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2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인원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2인(</a:t>
                      </a:r>
                      <a:r>
                        <a:rPr lang="ko-KR" alt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기획</a:t>
                      </a:r>
                      <a:r>
                        <a:rPr lang="en-US" altLang="ko-KR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1,</a:t>
                      </a:r>
                      <a:r>
                        <a:rPr lang="ko-KR" altLang="en-US" sz="1400" baseline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플밍</a:t>
                      </a:r>
                      <a:r>
                        <a:rPr lang="en-US" altLang="ko-KR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)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기간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2025. 09 ~ 2025. 12. </a:t>
                      </a:r>
                      <a:r>
                        <a:rPr lang="en-US" sz="14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05 </a:t>
                      </a:r>
                      <a:endParaRPr lang="en-US" sz="1400" baseline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itchFamily="34" charset="-122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2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도구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latin typeface="Arial" panose="020B0604020202020204" pitchFamily="34" charset="0"/>
                          <a:ea typeface="Arial" charset="0"/>
                          <a:cs typeface="Arial" panose="020B0604020202020204" pitchFamily="34" charset="0"/>
                        </a:rPr>
                        <a:t>C#, Unity, ML-Agent</a:t>
                      </a: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동영상 링크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EE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  <a:hlinkClick r:id="rId20"/>
                        </a:rPr>
                        <a:t>유튜브 링크</a:t>
                      </a:r>
                      <a:endParaRPr lang="en-US" sz="14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7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요약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95098" marB="950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에이전트끼리 레이싱 경주를 하는 것을 관찰하고 플레이어는 </a:t>
                      </a:r>
                      <a:endParaRPr lang="en-US" altLang="ko-KR" sz="1400" dirty="0"/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그 사이 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등 에이전트를 예측하여 베팅하는 시스템을 가진 시뮬레이션 게임</a:t>
                      </a:r>
                      <a:endParaRPr lang="en-US" altLang="ko-KR" sz="1400" dirty="0"/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ML-Agent </a:t>
                      </a:r>
                      <a:r>
                        <a:rPr lang="ko-KR" altLang="en-US" sz="1400" dirty="0" err="1"/>
                        <a:t>툴킷을</a:t>
                      </a:r>
                      <a:r>
                        <a:rPr lang="ko-KR" altLang="en-US" sz="1400" dirty="0"/>
                        <a:t> 이용한 에이전트를 통해 예측 불가능한 상황을 만들어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베팅하는 재미와 예측하는 재미를 챙기기 위해 기획함</a:t>
                      </a:r>
                    </a:p>
                  </a:txBody>
                  <a:tcPr marL="95098" marR="95098" marT="95098" marB="950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7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동기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95098" marB="950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- ML-Agent </a:t>
                      </a:r>
                      <a:r>
                        <a:rPr lang="ko-KR" altLang="en-US" sz="1400" dirty="0"/>
                        <a:t>학습 환경 및 보상 로직 설계</a:t>
                      </a:r>
                      <a:endParaRPr lang="en-US" altLang="ko-KR" sz="1400" dirty="0"/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에이전트 네비게이션 시스템 개발</a:t>
                      </a:r>
                      <a:endParaRPr lang="en-US" altLang="ko-KR" sz="1400" dirty="0"/>
                    </a:p>
                  </a:txBody>
                  <a:tcPr marL="95098" marR="95098" marT="95098" marB="950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Shape 3">
            <a:extLst>
              <a:ext uri="{FF2B5EF4-FFF2-40B4-BE49-F238E27FC236}">
                <a16:creationId xmlns:a16="http://schemas.microsoft.com/office/drawing/2014/main" id="{8D2D6D18-3D4F-2789-2367-5B77242E2AAF}"/>
              </a:ext>
            </a:extLst>
          </p:cNvPr>
          <p:cNvSpPr/>
          <p:nvPr/>
        </p:nvSpPr>
        <p:spPr>
          <a:xfrm>
            <a:off x="250546" y="4467759"/>
            <a:ext cx="629107" cy="590702"/>
          </a:xfrm>
          <a:prstGeom prst="rect">
            <a:avLst/>
          </a:prstGeom>
          <a:solidFill>
            <a:srgbClr val="000080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0" descr="gen-dedup-57ee6a1f0d650d3a975db06a8ec6cc96.png">
            <a:extLst>
              <a:ext uri="{FF2B5EF4-FFF2-40B4-BE49-F238E27FC236}">
                <a16:creationId xmlns:a16="http://schemas.microsoft.com/office/drawing/2014/main" id="{EFCF0412-E908-C7BF-BC55-BAE05E0EE497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t="-6250" b="-6250"/>
          <a:stretch/>
        </p:blipFill>
        <p:spPr>
          <a:xfrm>
            <a:off x="381305" y="1047902"/>
            <a:ext cx="381305" cy="381305"/>
          </a:xfrm>
          <a:prstGeom prst="rect">
            <a:avLst/>
          </a:prstGeom>
        </p:spPr>
      </p:pic>
      <p:sp>
        <p:nvSpPr>
          <p:cNvPr id="30" name="Text 5">
            <a:extLst>
              <a:ext uri="{FF2B5EF4-FFF2-40B4-BE49-F238E27FC236}">
                <a16:creationId xmlns:a16="http://schemas.microsoft.com/office/drawing/2014/main" id="{7AAA51FF-B4B2-0FFB-7A35-7798244C584C}"/>
              </a:ext>
            </a:extLst>
          </p:cNvPr>
          <p:cNvSpPr txBox="1"/>
          <p:nvPr/>
        </p:nvSpPr>
        <p:spPr>
          <a:xfrm>
            <a:off x="269748" y="1485900"/>
            <a:ext cx="609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내 컴퓨터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184DF3B7-FDCE-FAA3-5633-C68B5A2B905F}"/>
              </a:ext>
            </a:extLst>
          </p:cNvPr>
          <p:cNvSpPr txBox="1"/>
          <p:nvPr/>
        </p:nvSpPr>
        <p:spPr>
          <a:xfrm>
            <a:off x="226771" y="2391156"/>
            <a:ext cx="695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포트폴리오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2" descr="gen-dedup-313e4be3ff4060006731241b7cc55ba4.png">
            <a:extLst>
              <a:ext uri="{FF2B5EF4-FFF2-40B4-BE49-F238E27FC236}">
                <a16:creationId xmlns:a16="http://schemas.microsoft.com/office/drawing/2014/main" id="{728E10CD-CA85-D2DB-FF94-BE9BBB734443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381305" y="2809951"/>
            <a:ext cx="381305" cy="381305"/>
          </a:xfrm>
          <a:prstGeom prst="rect">
            <a:avLst/>
          </a:prstGeom>
        </p:spPr>
      </p:pic>
      <p:sp>
        <p:nvSpPr>
          <p:cNvPr id="33" name="Text 7">
            <a:extLst>
              <a:ext uri="{FF2B5EF4-FFF2-40B4-BE49-F238E27FC236}">
                <a16:creationId xmlns:a16="http://schemas.microsoft.com/office/drawing/2014/main" id="{F7A0DC63-18A1-C8DD-A968-4357801E6074}"/>
              </a:ext>
            </a:extLst>
          </p:cNvPr>
          <p:cNvSpPr txBox="1"/>
          <p:nvPr/>
        </p:nvSpPr>
        <p:spPr>
          <a:xfrm>
            <a:off x="419710" y="3191256"/>
            <a:ext cx="342900" cy="24780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tIns="25400" rIns="381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목차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4" name="Image 3" descr="gen-dedup-ef6105ed2e63baeb37694681937bef0b.png">
            <a:extLst>
              <a:ext uri="{FF2B5EF4-FFF2-40B4-BE49-F238E27FC236}">
                <a16:creationId xmlns:a16="http://schemas.microsoft.com/office/drawing/2014/main" id="{A082A422-BE55-F011-2CC6-0BD13AAB9478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-7143" r="-7143"/>
          <a:stretch/>
        </p:blipFill>
        <p:spPr>
          <a:xfrm>
            <a:off x="381305" y="3715207"/>
            <a:ext cx="381305" cy="381305"/>
          </a:xfrm>
          <a:prstGeom prst="rect">
            <a:avLst/>
          </a:prstGeom>
        </p:spPr>
      </p:pic>
      <p:sp>
        <p:nvSpPr>
          <p:cNvPr id="35" name="Text 8">
            <a:extLst>
              <a:ext uri="{FF2B5EF4-FFF2-40B4-BE49-F238E27FC236}">
                <a16:creationId xmlns:a16="http://schemas.microsoft.com/office/drawing/2014/main" id="{5D9317CB-ACDF-B233-EDA4-3672C9C9401D}"/>
              </a:ext>
            </a:extLst>
          </p:cNvPr>
          <p:cNvSpPr txBox="1"/>
          <p:nvPr/>
        </p:nvSpPr>
        <p:spPr>
          <a:xfrm>
            <a:off x="349301" y="4153205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Image 4" descr="gen-dedup-9fdbec92b016124fd02e3850a5123f8c.png">
            <a:extLst>
              <a:ext uri="{FF2B5EF4-FFF2-40B4-BE49-F238E27FC236}">
                <a16:creationId xmlns:a16="http://schemas.microsoft.com/office/drawing/2014/main" id="{7E6D6121-5D76-57FF-25F6-6DE7C56EE4E0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381305" y="4572000"/>
            <a:ext cx="381305" cy="381305"/>
          </a:xfrm>
          <a:prstGeom prst="rect">
            <a:avLst/>
          </a:prstGeom>
        </p:spPr>
      </p:pic>
      <p:sp>
        <p:nvSpPr>
          <p:cNvPr id="37" name="Text 9">
            <a:extLst>
              <a:ext uri="{FF2B5EF4-FFF2-40B4-BE49-F238E27FC236}">
                <a16:creationId xmlns:a16="http://schemas.microsoft.com/office/drawing/2014/main" id="{A8EF988B-8A30-9D89-7D01-D210D2C0B7B7}"/>
              </a:ext>
            </a:extLst>
          </p:cNvPr>
          <p:cNvSpPr txBox="1"/>
          <p:nvPr/>
        </p:nvSpPr>
        <p:spPr>
          <a:xfrm>
            <a:off x="288036" y="5009998"/>
            <a:ext cx="571500" cy="2286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프로젝트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C763788-A732-CC21-1C1E-3C4A06882F74}"/>
              </a:ext>
            </a:extLst>
          </p:cNvPr>
          <p:cNvGrpSpPr/>
          <p:nvPr/>
        </p:nvGrpSpPr>
        <p:grpSpPr>
          <a:xfrm>
            <a:off x="342900" y="1904695"/>
            <a:ext cx="457200" cy="457200"/>
            <a:chOff x="342900" y="1904695"/>
            <a:chExt cx="457200" cy="457200"/>
          </a:xfrm>
        </p:grpSpPr>
        <p:pic>
          <p:nvPicPr>
            <p:cNvPr id="39" name="Image 1" descr="gen-dedup-36f1f1ccf4a0e8533d6290f10bde510b.png">
              <a:extLst>
                <a:ext uri="{FF2B5EF4-FFF2-40B4-BE49-F238E27FC236}">
                  <a16:creationId xmlns:a16="http://schemas.microsoft.com/office/drawing/2014/main" id="{D19DF641-2009-CA60-A812-FB2E4D8CF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rcRect/>
            <a:stretch/>
          </p:blipFill>
          <p:spPr>
            <a:xfrm>
              <a:off x="342900" y="1904695"/>
              <a:ext cx="457200" cy="457200"/>
            </a:xfrm>
            <a:prstGeom prst="rect">
              <a:avLst/>
            </a:prstGeom>
          </p:spPr>
        </p:pic>
        <p:pic>
          <p:nvPicPr>
            <p:cNvPr id="40" name="Image 5" descr="gen-dedup-72bd3513d2cf055f9eacb7e2be8dea4c.png">
              <a:extLst>
                <a:ext uri="{FF2B5EF4-FFF2-40B4-BE49-F238E27FC236}">
                  <a16:creationId xmlns:a16="http://schemas.microsoft.com/office/drawing/2014/main" id="{3CC83CE2-81A3-D033-46EA-9C7AD7E63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rcRect t="-12500" b="-12500"/>
            <a:stretch/>
          </p:blipFill>
          <p:spPr>
            <a:xfrm>
              <a:off x="437998" y="2038198"/>
              <a:ext cx="267005" cy="267005"/>
            </a:xfrm>
            <a:prstGeom prst="rect">
              <a:avLst/>
            </a:prstGeom>
          </p:spPr>
        </p:pic>
      </p:grpSp>
      <p:pic>
        <p:nvPicPr>
          <p:cNvPr id="41" name="Image 22" descr="gen-dedup-2302e8a913f082daf4055bce75fbff92.png">
            <a:extLst>
              <a:ext uri="{FF2B5EF4-FFF2-40B4-BE49-F238E27FC236}">
                <a16:creationId xmlns:a16="http://schemas.microsoft.com/office/drawing/2014/main" id="{D4457459-CEDB-FBC0-F26E-E26EE78F0221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3396397"/>
            <a:ext cx="137835" cy="148774"/>
          </a:xfrm>
          <a:prstGeom prst="rect">
            <a:avLst/>
          </a:prstGeom>
        </p:spPr>
      </p:pic>
      <p:sp>
        <p:nvSpPr>
          <p:cNvPr id="42" name="Text 55">
            <a:extLst>
              <a:ext uri="{FF2B5EF4-FFF2-40B4-BE49-F238E27FC236}">
                <a16:creationId xmlns:a16="http://schemas.microsoft.com/office/drawing/2014/main" id="{156B8AB8-E0C1-DC86-9D04-EA2864B6EAFA}"/>
              </a:ext>
            </a:extLst>
          </p:cNvPr>
          <p:cNvSpPr txBox="1"/>
          <p:nvPr/>
        </p:nvSpPr>
        <p:spPr>
          <a:xfrm>
            <a:off x="2297835" y="3391933"/>
            <a:ext cx="1081917" cy="15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World First Kill</a:t>
            </a:r>
          </a:p>
        </p:txBody>
      </p:sp>
      <p:sp>
        <p:nvSpPr>
          <p:cNvPr id="44" name="Text 55">
            <a:extLst>
              <a:ext uri="{FF2B5EF4-FFF2-40B4-BE49-F238E27FC236}">
                <a16:creationId xmlns:a16="http://schemas.microsoft.com/office/drawing/2014/main" id="{10548B94-AED8-2DE4-5428-A123E913F333}"/>
              </a:ext>
            </a:extLst>
          </p:cNvPr>
          <p:cNvSpPr txBox="1"/>
          <p:nvPr/>
        </p:nvSpPr>
        <p:spPr>
          <a:xfrm>
            <a:off x="2297835" y="3653721"/>
            <a:ext cx="1081917" cy="15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기타 프로젝트</a:t>
            </a:r>
            <a:endParaRPr kumimoji="0" lang="en-US" sz="9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0" name="Image 18" descr="gen-dedup-ba01fa70a70d7d3a77dc83183451dc86.png">
            <a:extLst>
              <a:ext uri="{FF2B5EF4-FFF2-40B4-BE49-F238E27FC236}">
                <a16:creationId xmlns:a16="http://schemas.microsoft.com/office/drawing/2014/main" id="{5ADF2407-D3A4-4590-93AC-F295EC151D0F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2090650" y="3683590"/>
            <a:ext cx="137504" cy="14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16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76695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044000" y="108000"/>
            <a:ext cx="10920520" cy="6084503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1064769" y="128444"/>
            <a:ext cx="10878982" cy="284268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167625" y="513958"/>
            <a:ext cx="10673270" cy="5577299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675732" y="158623"/>
            <a:ext cx="226481" cy="22293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198283" y="169331"/>
            <a:ext cx="2249767" cy="22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Car Racing Simulation.exe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1746940" y="199511"/>
            <a:ext cx="92966" cy="142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36" name="Shape 28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10477195" y="6534302"/>
            <a:ext cx="1619402" cy="267005"/>
          </a:xfrm>
          <a:prstGeom prst="rect">
            <a:avLst/>
          </a:prstGeom>
          <a:solidFill>
            <a:srgbClr val="C0C0C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40" name="Image 6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" name="Image 7" descr="gen-dedup-ba9d3020b28ee88c3f41e8c221d65fea.png"/>
          <p:cNvPicPr>
            <a:picLocks noChangeAspect="1"/>
          </p:cNvPicPr>
          <p:nvPr/>
        </p:nvPicPr>
        <p:blipFill>
          <a:blip r:embed="rId4"/>
          <a:srcRect l="-16666" r="-16666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238098" y="6577279"/>
            <a:ext cx="13578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게임_개발_내용.exe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 8" descr="gen-dedup-7740a029182e5c65b65e33d2aaed94e2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10573207" y="6590995"/>
            <a:ext cx="152705" cy="152705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1124590" y="6590995"/>
            <a:ext cx="7260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10:00 AM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3">
            <a:extLst>
              <a:ext uri="{FF2B5EF4-FFF2-40B4-BE49-F238E27FC236}">
                <a16:creationId xmlns:a16="http://schemas.microsoft.com/office/drawing/2014/main" id="{D3CD7A0C-665C-5D8C-085F-9D543D30C474}"/>
              </a:ext>
            </a:extLst>
          </p:cNvPr>
          <p:cNvSpPr/>
          <p:nvPr/>
        </p:nvSpPr>
        <p:spPr>
          <a:xfrm>
            <a:off x="250546" y="4467759"/>
            <a:ext cx="629107" cy="590702"/>
          </a:xfrm>
          <a:prstGeom prst="rect">
            <a:avLst/>
          </a:prstGeom>
          <a:solidFill>
            <a:srgbClr val="000080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8" name="Image 0" descr="gen-dedup-57ee6a1f0d650d3a975db06a8ec6cc96.png">
            <a:extLst>
              <a:ext uri="{FF2B5EF4-FFF2-40B4-BE49-F238E27FC236}">
                <a16:creationId xmlns:a16="http://schemas.microsoft.com/office/drawing/2014/main" id="{834D1F6C-0CDF-E7F3-E820-C37BB85E345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6250" b="-6250"/>
          <a:stretch/>
        </p:blipFill>
        <p:spPr>
          <a:xfrm>
            <a:off x="381305" y="1047902"/>
            <a:ext cx="381305" cy="381305"/>
          </a:xfrm>
          <a:prstGeom prst="rect">
            <a:avLst/>
          </a:prstGeom>
        </p:spPr>
      </p:pic>
      <p:sp>
        <p:nvSpPr>
          <p:cNvPr id="49" name="Text 5">
            <a:extLst>
              <a:ext uri="{FF2B5EF4-FFF2-40B4-BE49-F238E27FC236}">
                <a16:creationId xmlns:a16="http://schemas.microsoft.com/office/drawing/2014/main" id="{E01929AB-F8B3-4F14-E09C-CBEBBC65A31F}"/>
              </a:ext>
            </a:extLst>
          </p:cNvPr>
          <p:cNvSpPr txBox="1"/>
          <p:nvPr/>
        </p:nvSpPr>
        <p:spPr>
          <a:xfrm>
            <a:off x="269748" y="1485900"/>
            <a:ext cx="609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내 컴퓨터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6">
            <a:extLst>
              <a:ext uri="{FF2B5EF4-FFF2-40B4-BE49-F238E27FC236}">
                <a16:creationId xmlns:a16="http://schemas.microsoft.com/office/drawing/2014/main" id="{2B0E25B6-D57D-78C1-B47D-A27041DAC1A1}"/>
              </a:ext>
            </a:extLst>
          </p:cNvPr>
          <p:cNvSpPr txBox="1"/>
          <p:nvPr/>
        </p:nvSpPr>
        <p:spPr>
          <a:xfrm>
            <a:off x="226771" y="2391156"/>
            <a:ext cx="695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포트폴리오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" name="Image 2" descr="gen-dedup-313e4be3ff4060006731241b7cc55ba4.png">
            <a:extLst>
              <a:ext uri="{FF2B5EF4-FFF2-40B4-BE49-F238E27FC236}">
                <a16:creationId xmlns:a16="http://schemas.microsoft.com/office/drawing/2014/main" id="{D2181919-D947-B1C1-2070-0C0E6697E16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81305" y="2809951"/>
            <a:ext cx="381305" cy="381305"/>
          </a:xfrm>
          <a:prstGeom prst="rect">
            <a:avLst/>
          </a:prstGeom>
        </p:spPr>
      </p:pic>
      <p:sp>
        <p:nvSpPr>
          <p:cNvPr id="52" name="Text 7">
            <a:extLst>
              <a:ext uri="{FF2B5EF4-FFF2-40B4-BE49-F238E27FC236}">
                <a16:creationId xmlns:a16="http://schemas.microsoft.com/office/drawing/2014/main" id="{E0B063D8-0476-320A-A594-D61E083CD81B}"/>
              </a:ext>
            </a:extLst>
          </p:cNvPr>
          <p:cNvSpPr txBox="1"/>
          <p:nvPr/>
        </p:nvSpPr>
        <p:spPr>
          <a:xfrm>
            <a:off x="419710" y="3191256"/>
            <a:ext cx="342900" cy="24780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tIns="25400" rIns="381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목차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3" name="Image 3" descr="gen-dedup-ef6105ed2e63baeb37694681937bef0b.png">
            <a:extLst>
              <a:ext uri="{FF2B5EF4-FFF2-40B4-BE49-F238E27FC236}">
                <a16:creationId xmlns:a16="http://schemas.microsoft.com/office/drawing/2014/main" id="{083003E3-FCE9-C3EB-A38B-966D9A8CA36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381305" y="3715207"/>
            <a:ext cx="381305" cy="381305"/>
          </a:xfrm>
          <a:prstGeom prst="rect">
            <a:avLst/>
          </a:prstGeom>
        </p:spPr>
      </p:pic>
      <p:sp>
        <p:nvSpPr>
          <p:cNvPr id="54" name="Text 8">
            <a:extLst>
              <a:ext uri="{FF2B5EF4-FFF2-40B4-BE49-F238E27FC236}">
                <a16:creationId xmlns:a16="http://schemas.microsoft.com/office/drawing/2014/main" id="{7D57BE65-648F-A850-C469-0BDBC2C9032E}"/>
              </a:ext>
            </a:extLst>
          </p:cNvPr>
          <p:cNvSpPr txBox="1"/>
          <p:nvPr/>
        </p:nvSpPr>
        <p:spPr>
          <a:xfrm>
            <a:off x="349301" y="4153205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5" name="Image 4" descr="gen-dedup-9fdbec92b016124fd02e3850a5123f8c.png">
            <a:extLst>
              <a:ext uri="{FF2B5EF4-FFF2-40B4-BE49-F238E27FC236}">
                <a16:creationId xmlns:a16="http://schemas.microsoft.com/office/drawing/2014/main" id="{B4534DA8-E254-C2E1-3BA5-725871AC31B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81305" y="4572000"/>
            <a:ext cx="381305" cy="381305"/>
          </a:xfrm>
          <a:prstGeom prst="rect">
            <a:avLst/>
          </a:prstGeom>
        </p:spPr>
      </p:pic>
      <p:sp>
        <p:nvSpPr>
          <p:cNvPr id="56" name="Text 9">
            <a:extLst>
              <a:ext uri="{FF2B5EF4-FFF2-40B4-BE49-F238E27FC236}">
                <a16:creationId xmlns:a16="http://schemas.microsoft.com/office/drawing/2014/main" id="{506184E4-4144-57DF-D7C7-9F0B55E0D8E6}"/>
              </a:ext>
            </a:extLst>
          </p:cNvPr>
          <p:cNvSpPr txBox="1"/>
          <p:nvPr/>
        </p:nvSpPr>
        <p:spPr>
          <a:xfrm>
            <a:off x="288036" y="5009998"/>
            <a:ext cx="571500" cy="2286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프로젝트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EBF3C9A2-6E5F-2419-CD2C-7B7C1E5B74A8}"/>
              </a:ext>
            </a:extLst>
          </p:cNvPr>
          <p:cNvGrpSpPr/>
          <p:nvPr/>
        </p:nvGrpSpPr>
        <p:grpSpPr>
          <a:xfrm>
            <a:off x="342900" y="1904695"/>
            <a:ext cx="457200" cy="457200"/>
            <a:chOff x="342900" y="1904695"/>
            <a:chExt cx="457200" cy="457200"/>
          </a:xfrm>
        </p:grpSpPr>
        <p:pic>
          <p:nvPicPr>
            <p:cNvPr id="58" name="Image 1" descr="gen-dedup-36f1f1ccf4a0e8533d6290f10bde510b.png">
              <a:extLst>
                <a:ext uri="{FF2B5EF4-FFF2-40B4-BE49-F238E27FC236}">
                  <a16:creationId xmlns:a16="http://schemas.microsoft.com/office/drawing/2014/main" id="{D4C28A30-F4FA-C258-864B-9F0B10F9C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342900" y="1904695"/>
              <a:ext cx="457200" cy="457200"/>
            </a:xfrm>
            <a:prstGeom prst="rect">
              <a:avLst/>
            </a:prstGeom>
          </p:spPr>
        </p:pic>
        <p:pic>
          <p:nvPicPr>
            <p:cNvPr id="59" name="Image 5" descr="gen-dedup-72bd3513d2cf055f9eacb7e2be8dea4c.png">
              <a:extLst>
                <a:ext uri="{FF2B5EF4-FFF2-40B4-BE49-F238E27FC236}">
                  <a16:creationId xmlns:a16="http://schemas.microsoft.com/office/drawing/2014/main" id="{8BE6AC25-640E-32EB-7700-E0E13FB06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t="-12500" b="-12500"/>
            <a:stretch/>
          </p:blipFill>
          <p:spPr>
            <a:xfrm>
              <a:off x="437998" y="2038198"/>
              <a:ext cx="267005" cy="267005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8F126EA-5A8E-46F5-A088-4B6DC2D35653}"/>
              </a:ext>
            </a:extLst>
          </p:cNvPr>
          <p:cNvGrpSpPr/>
          <p:nvPr/>
        </p:nvGrpSpPr>
        <p:grpSpPr>
          <a:xfrm>
            <a:off x="1753042" y="666597"/>
            <a:ext cx="9525305" cy="381305"/>
            <a:chOff x="1749003" y="666597"/>
            <a:chExt cx="9525305" cy="381305"/>
          </a:xfrm>
        </p:grpSpPr>
        <p:sp>
          <p:nvSpPr>
            <p:cNvPr id="60" name="Shape 12">
              <a:extLst>
                <a:ext uri="{FF2B5EF4-FFF2-40B4-BE49-F238E27FC236}">
                  <a16:creationId xmlns:a16="http://schemas.microsoft.com/office/drawing/2014/main" id="{A770E5B3-FE8D-4D94-9B23-DD92101DB259}"/>
                </a:ext>
              </a:extLst>
            </p:cNvPr>
            <p:cNvSpPr/>
            <p:nvPr/>
          </p:nvSpPr>
          <p:spPr>
            <a:xfrm>
              <a:off x="1749003" y="666597"/>
              <a:ext cx="9525305" cy="381305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71" name="Text 24">
              <a:extLst>
                <a:ext uri="{FF2B5EF4-FFF2-40B4-BE49-F238E27FC236}">
                  <a16:creationId xmlns:a16="http://schemas.microsoft.com/office/drawing/2014/main" id="{001482B1-6544-4606-8D2E-039404005D40}"/>
                </a:ext>
              </a:extLst>
            </p:cNvPr>
            <p:cNvSpPr txBox="1"/>
            <p:nvPr/>
          </p:nvSpPr>
          <p:spPr>
            <a:xfrm>
              <a:off x="3206625" y="743406"/>
              <a:ext cx="661006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느낀</a:t>
              </a:r>
              <a:r>
                <a:rPr kumimoji="0" lang="en-US" altLang="ko-KR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 점/</a:t>
              </a:r>
              <a:r>
                <a:rPr kumimoji="0" lang="en-US" altLang="ko-KR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개선해야</a:t>
              </a:r>
              <a:r>
                <a:rPr kumimoji="0" lang="en-US" altLang="ko-KR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 할 점 – </a:t>
              </a:r>
              <a:r>
                <a:rPr lang="en-US" altLang="ko-KR" sz="1800" b="1" dirty="0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Dot Product </a:t>
              </a:r>
              <a:r>
                <a:rPr lang="en-US" altLang="ko-KR" sz="1800" b="1" dirty="0" err="1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활용</a:t>
              </a:r>
              <a:r>
                <a:rPr lang="en-US" altLang="ko-KR" sz="1800" b="1" dirty="0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 </a:t>
              </a:r>
              <a:r>
                <a:rPr lang="en-US" altLang="ko-KR" sz="1800" b="1" dirty="0" err="1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주행</a:t>
              </a:r>
              <a:r>
                <a:rPr lang="en-US" altLang="ko-KR" sz="1800" b="1" dirty="0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 </a:t>
              </a:r>
              <a:r>
                <a:rPr lang="en-US" altLang="ko-KR" sz="1800" b="1" dirty="0" err="1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방향</a:t>
              </a:r>
              <a:r>
                <a:rPr lang="en-US" altLang="ko-KR" sz="1800" b="1" dirty="0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 </a:t>
              </a:r>
              <a:r>
                <a:rPr lang="en-US" altLang="ko-KR" sz="1800" b="1" dirty="0" err="1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판정</a:t>
              </a:r>
              <a:endPara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5" name="Shape 13">
            <a:extLst>
              <a:ext uri="{FF2B5EF4-FFF2-40B4-BE49-F238E27FC236}">
                <a16:creationId xmlns:a16="http://schemas.microsoft.com/office/drawing/2014/main" id="{E12C7E55-78DD-4E1E-9494-F410E6E7B496}"/>
              </a:ext>
            </a:extLst>
          </p:cNvPr>
          <p:cNvSpPr/>
          <p:nvPr/>
        </p:nvSpPr>
        <p:spPr>
          <a:xfrm>
            <a:off x="1714638" y="1305822"/>
            <a:ext cx="4762195" cy="4190695"/>
          </a:xfrm>
          <a:prstGeom prst="rect">
            <a:avLst/>
          </a:prstGeom>
          <a:solidFill>
            <a:srgbClr val="E8E8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6" name="Shape 14">
            <a:extLst>
              <a:ext uri="{FF2B5EF4-FFF2-40B4-BE49-F238E27FC236}">
                <a16:creationId xmlns:a16="http://schemas.microsoft.com/office/drawing/2014/main" id="{F06A3613-0291-47EF-81AD-8FC20BB5E7E3}"/>
              </a:ext>
            </a:extLst>
          </p:cNvPr>
          <p:cNvSpPr/>
          <p:nvPr/>
        </p:nvSpPr>
        <p:spPr>
          <a:xfrm>
            <a:off x="6667942" y="1305822"/>
            <a:ext cx="4572000" cy="4190695"/>
          </a:xfrm>
          <a:prstGeom prst="rect">
            <a:avLst/>
          </a:prstGeom>
          <a:solidFill>
            <a:srgbClr val="E8E8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7" name="Shape 15">
            <a:extLst>
              <a:ext uri="{FF2B5EF4-FFF2-40B4-BE49-F238E27FC236}">
                <a16:creationId xmlns:a16="http://schemas.microsoft.com/office/drawing/2014/main" id="{769C3FB1-4A79-4D95-B942-7316D9FB1927}"/>
              </a:ext>
            </a:extLst>
          </p:cNvPr>
          <p:cNvSpPr/>
          <p:nvPr/>
        </p:nvSpPr>
        <p:spPr>
          <a:xfrm>
            <a:off x="1753042" y="1344226"/>
            <a:ext cx="4686300" cy="381305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16">
            <a:extLst>
              <a:ext uri="{FF2B5EF4-FFF2-40B4-BE49-F238E27FC236}">
                <a16:creationId xmlns:a16="http://schemas.microsoft.com/office/drawing/2014/main" id="{CA0F2B0A-7A1E-4032-9E00-3F9B2C2BD9EA}"/>
              </a:ext>
            </a:extLst>
          </p:cNvPr>
          <p:cNvSpPr/>
          <p:nvPr/>
        </p:nvSpPr>
        <p:spPr>
          <a:xfrm>
            <a:off x="1809735" y="1829773"/>
            <a:ext cx="4572000" cy="1047902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70" name="Shape 17">
            <a:extLst>
              <a:ext uri="{FF2B5EF4-FFF2-40B4-BE49-F238E27FC236}">
                <a16:creationId xmlns:a16="http://schemas.microsoft.com/office/drawing/2014/main" id="{86BFD36E-7AE2-410B-925F-431A184D84C4}"/>
              </a:ext>
            </a:extLst>
          </p:cNvPr>
          <p:cNvSpPr/>
          <p:nvPr/>
        </p:nvSpPr>
        <p:spPr>
          <a:xfrm>
            <a:off x="1809735" y="3020322"/>
            <a:ext cx="4572000" cy="1047902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76" name="Shape 18">
            <a:extLst>
              <a:ext uri="{FF2B5EF4-FFF2-40B4-BE49-F238E27FC236}">
                <a16:creationId xmlns:a16="http://schemas.microsoft.com/office/drawing/2014/main" id="{BD8A9221-4FAE-4ADC-8BB7-2032AB190167}"/>
              </a:ext>
            </a:extLst>
          </p:cNvPr>
          <p:cNvSpPr/>
          <p:nvPr/>
        </p:nvSpPr>
        <p:spPr>
          <a:xfrm>
            <a:off x="1809735" y="4210870"/>
            <a:ext cx="4572000" cy="1095451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78" name="Shape 19">
            <a:extLst>
              <a:ext uri="{FF2B5EF4-FFF2-40B4-BE49-F238E27FC236}">
                <a16:creationId xmlns:a16="http://schemas.microsoft.com/office/drawing/2014/main" id="{041F6CA3-4552-4854-8A78-CEA009D36FE6}"/>
              </a:ext>
            </a:extLst>
          </p:cNvPr>
          <p:cNvSpPr/>
          <p:nvPr/>
        </p:nvSpPr>
        <p:spPr>
          <a:xfrm>
            <a:off x="6706347" y="1344226"/>
            <a:ext cx="4496105" cy="381305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20">
            <a:extLst>
              <a:ext uri="{FF2B5EF4-FFF2-40B4-BE49-F238E27FC236}">
                <a16:creationId xmlns:a16="http://schemas.microsoft.com/office/drawing/2014/main" id="{1B81952A-9E33-4C16-86E0-CA2E435083FE}"/>
              </a:ext>
            </a:extLst>
          </p:cNvPr>
          <p:cNvSpPr/>
          <p:nvPr/>
        </p:nvSpPr>
        <p:spPr>
          <a:xfrm>
            <a:off x="6763040" y="1829773"/>
            <a:ext cx="4381805" cy="1047902"/>
          </a:xfrm>
          <a:prstGeom prst="rect">
            <a:avLst/>
          </a:prstGeom>
          <a:solidFill>
            <a:srgbClr val="F8F8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80" name="Shape 21">
            <a:extLst>
              <a:ext uri="{FF2B5EF4-FFF2-40B4-BE49-F238E27FC236}">
                <a16:creationId xmlns:a16="http://schemas.microsoft.com/office/drawing/2014/main" id="{0D203AD6-82D9-4979-8463-B9EF7E1B3AF6}"/>
              </a:ext>
            </a:extLst>
          </p:cNvPr>
          <p:cNvSpPr/>
          <p:nvPr/>
        </p:nvSpPr>
        <p:spPr>
          <a:xfrm>
            <a:off x="6763040" y="3020322"/>
            <a:ext cx="4381805" cy="1047902"/>
          </a:xfrm>
          <a:prstGeom prst="rect">
            <a:avLst/>
          </a:prstGeom>
          <a:solidFill>
            <a:srgbClr val="F0FFF0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81" name="Shape 22">
            <a:extLst>
              <a:ext uri="{FF2B5EF4-FFF2-40B4-BE49-F238E27FC236}">
                <a16:creationId xmlns:a16="http://schemas.microsoft.com/office/drawing/2014/main" id="{20185D89-4309-430F-AEB2-D47EA1E138FA}"/>
              </a:ext>
            </a:extLst>
          </p:cNvPr>
          <p:cNvSpPr/>
          <p:nvPr/>
        </p:nvSpPr>
        <p:spPr>
          <a:xfrm>
            <a:off x="6763040" y="4210870"/>
            <a:ext cx="4381805" cy="1095451"/>
          </a:xfrm>
          <a:prstGeom prst="rect">
            <a:avLst/>
          </a:prstGeom>
          <a:solidFill>
            <a:srgbClr val="FFF0F5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87" name="Shape 23">
            <a:extLst>
              <a:ext uri="{FF2B5EF4-FFF2-40B4-BE49-F238E27FC236}">
                <a16:creationId xmlns:a16="http://schemas.microsoft.com/office/drawing/2014/main" id="{9CCB826B-CFA9-40C9-9C95-21C3DC7C65E8}"/>
              </a:ext>
            </a:extLst>
          </p:cNvPr>
          <p:cNvSpPr/>
          <p:nvPr/>
        </p:nvSpPr>
        <p:spPr>
          <a:xfrm>
            <a:off x="1953296" y="2163529"/>
            <a:ext cx="381305" cy="381305"/>
          </a:xfrm>
          <a:prstGeom prst="ellipse">
            <a:avLst/>
          </a:prstGeom>
          <a:solidFill>
            <a:srgbClr val="DC14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24">
            <a:extLst>
              <a:ext uri="{FF2B5EF4-FFF2-40B4-BE49-F238E27FC236}">
                <a16:creationId xmlns:a16="http://schemas.microsoft.com/office/drawing/2014/main" id="{F1E057C5-371F-4FC5-B704-0BBAD23270E2}"/>
              </a:ext>
            </a:extLst>
          </p:cNvPr>
          <p:cNvSpPr/>
          <p:nvPr/>
        </p:nvSpPr>
        <p:spPr>
          <a:xfrm>
            <a:off x="1953296" y="3354078"/>
            <a:ext cx="381305" cy="381305"/>
          </a:xfrm>
          <a:prstGeom prst="ellipse">
            <a:avLst/>
          </a:prstGeom>
          <a:solidFill>
            <a:srgbClr val="4169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25">
            <a:extLst>
              <a:ext uri="{FF2B5EF4-FFF2-40B4-BE49-F238E27FC236}">
                <a16:creationId xmlns:a16="http://schemas.microsoft.com/office/drawing/2014/main" id="{28A1C722-8F78-48AC-8FA9-A8F45386E438}"/>
              </a:ext>
            </a:extLst>
          </p:cNvPr>
          <p:cNvSpPr/>
          <p:nvPr/>
        </p:nvSpPr>
        <p:spPr>
          <a:xfrm>
            <a:off x="1953296" y="4563829"/>
            <a:ext cx="381305" cy="381305"/>
          </a:xfrm>
          <a:prstGeom prst="ellipse">
            <a:avLst/>
          </a:prstGeom>
          <a:solidFill>
            <a:srgbClr val="32C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26">
            <a:extLst>
              <a:ext uri="{FF2B5EF4-FFF2-40B4-BE49-F238E27FC236}">
                <a16:creationId xmlns:a16="http://schemas.microsoft.com/office/drawing/2014/main" id="{6C9AE639-8C0D-465A-B427-AE88D5590AF8}"/>
              </a:ext>
            </a:extLst>
          </p:cNvPr>
          <p:cNvSpPr/>
          <p:nvPr/>
        </p:nvSpPr>
        <p:spPr>
          <a:xfrm>
            <a:off x="8763747" y="3162968"/>
            <a:ext cx="2190902" cy="761695"/>
          </a:xfrm>
          <a:prstGeom prst="rect">
            <a:avLst/>
          </a:prstGeom>
          <a:solidFill>
            <a:srgbClr val="FFFFFF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91" name="Shape 27">
            <a:extLst>
              <a:ext uri="{FF2B5EF4-FFF2-40B4-BE49-F238E27FC236}">
                <a16:creationId xmlns:a16="http://schemas.microsoft.com/office/drawing/2014/main" id="{E63885B0-709E-4FD4-8765-546B56D3BFE4}"/>
              </a:ext>
            </a:extLst>
          </p:cNvPr>
          <p:cNvSpPr/>
          <p:nvPr/>
        </p:nvSpPr>
        <p:spPr>
          <a:xfrm>
            <a:off x="8763747" y="4354431"/>
            <a:ext cx="2190902" cy="8092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143C"/>
            </a:solidFill>
            <a:prstDash val="solid"/>
          </a:ln>
        </p:spPr>
      </p:sp>
      <p:sp>
        <p:nvSpPr>
          <p:cNvPr id="92" name="Text 31">
            <a:extLst>
              <a:ext uri="{FF2B5EF4-FFF2-40B4-BE49-F238E27FC236}">
                <a16:creationId xmlns:a16="http://schemas.microsoft.com/office/drawing/2014/main" id="{C4E16DBE-D849-4F37-92A5-83153723A569}"/>
              </a:ext>
            </a:extLst>
          </p:cNvPr>
          <p:cNvSpPr txBox="1"/>
          <p:nvPr/>
        </p:nvSpPr>
        <p:spPr>
          <a:xfrm>
            <a:off x="3195051" y="1410978"/>
            <a:ext cx="180776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주행 방향 판정 원리</a:t>
            </a:r>
            <a:endParaRPr lang="en-US" sz="1300" dirty="0"/>
          </a:p>
        </p:txBody>
      </p:sp>
      <p:sp>
        <p:nvSpPr>
          <p:cNvPr id="93" name="Text 32">
            <a:extLst>
              <a:ext uri="{FF2B5EF4-FFF2-40B4-BE49-F238E27FC236}">
                <a16:creationId xmlns:a16="http://schemas.microsoft.com/office/drawing/2014/main" id="{DDDF4ADD-ECE9-4594-813D-021AFB513237}"/>
              </a:ext>
            </a:extLst>
          </p:cNvPr>
          <p:cNvSpPr txBox="1"/>
          <p:nvPr/>
        </p:nvSpPr>
        <p:spPr>
          <a:xfrm>
            <a:off x="2085884" y="2243996"/>
            <a:ext cx="1234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4" name="Text 33">
            <a:extLst>
              <a:ext uri="{FF2B5EF4-FFF2-40B4-BE49-F238E27FC236}">
                <a16:creationId xmlns:a16="http://schemas.microsoft.com/office/drawing/2014/main" id="{9B88BEFD-D7D4-4F0A-BDA2-E72D718E2955}"/>
              </a:ext>
            </a:extLst>
          </p:cNvPr>
          <p:cNvSpPr txBox="1"/>
          <p:nvPr/>
        </p:nvSpPr>
        <p:spPr>
          <a:xfrm>
            <a:off x="2477247" y="2139754"/>
            <a:ext cx="37152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체크포인트(콜라이더)가 없는 구간에서도 연속적으로 차량의 올바른 주행 방향성을 유지하고 판정해야 함</a:t>
            </a:r>
            <a:endParaRPr lang="en-US" sz="1100" dirty="0"/>
          </a:p>
        </p:txBody>
      </p:sp>
      <p:sp>
        <p:nvSpPr>
          <p:cNvPr id="95" name="Text 34">
            <a:extLst>
              <a:ext uri="{FF2B5EF4-FFF2-40B4-BE49-F238E27FC236}">
                <a16:creationId xmlns:a16="http://schemas.microsoft.com/office/drawing/2014/main" id="{175BB97A-4731-4461-A955-37980E8CA930}"/>
              </a:ext>
            </a:extLst>
          </p:cNvPr>
          <p:cNvSpPr txBox="1"/>
          <p:nvPr/>
        </p:nvSpPr>
        <p:spPr>
          <a:xfrm>
            <a:off x="2085884" y="3434545"/>
            <a:ext cx="1234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6" name="Text 35">
            <a:extLst>
              <a:ext uri="{FF2B5EF4-FFF2-40B4-BE49-F238E27FC236}">
                <a16:creationId xmlns:a16="http://schemas.microsoft.com/office/drawing/2014/main" id="{534F50A6-007B-4071-BDBA-CDC292942D72}"/>
              </a:ext>
            </a:extLst>
          </p:cNvPr>
          <p:cNvSpPr txBox="1"/>
          <p:nvPr/>
        </p:nvSpPr>
        <p:spPr>
          <a:xfrm>
            <a:off x="2477247" y="3330303"/>
            <a:ext cx="37152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트랙(Spline)이 향하는 </a:t>
            </a:r>
            <a:r>
              <a:rPr lang="en-US" sz="1100" b="1" dirty="0">
                <a:solidFill>
                  <a:srgbClr val="416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방향 벡터</a:t>
            </a: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와 에이전트(차량)의 </a:t>
            </a:r>
            <a:r>
              <a:rPr lang="en-US" sz="1100" b="1" dirty="0">
                <a:solidFill>
                  <a:srgbClr val="416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 벡터</a:t>
            </a: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정규화하여 </a:t>
            </a:r>
            <a:r>
              <a:rPr lang="en-US" sz="11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내적(Dot Product)</a:t>
            </a: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계산함</a:t>
            </a:r>
            <a:endParaRPr lang="en-US" sz="1100" dirty="0"/>
          </a:p>
        </p:txBody>
      </p:sp>
      <p:sp>
        <p:nvSpPr>
          <p:cNvPr id="97" name="Text 36">
            <a:extLst>
              <a:ext uri="{FF2B5EF4-FFF2-40B4-BE49-F238E27FC236}">
                <a16:creationId xmlns:a16="http://schemas.microsoft.com/office/drawing/2014/main" id="{D0B3710B-000C-4BED-AE16-D52E49480241}"/>
              </a:ext>
            </a:extLst>
          </p:cNvPr>
          <p:cNvSpPr txBox="1"/>
          <p:nvPr/>
        </p:nvSpPr>
        <p:spPr>
          <a:xfrm>
            <a:off x="2085884" y="4644296"/>
            <a:ext cx="1234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98" name="Text 37">
            <a:extLst>
              <a:ext uri="{FF2B5EF4-FFF2-40B4-BE49-F238E27FC236}">
                <a16:creationId xmlns:a16="http://schemas.microsoft.com/office/drawing/2014/main" id="{01772B55-4EEE-40F1-8159-775F51F8D790}"/>
              </a:ext>
            </a:extLst>
          </p:cNvPr>
          <p:cNvSpPr txBox="1"/>
          <p:nvPr/>
        </p:nvSpPr>
        <p:spPr>
          <a:xfrm>
            <a:off x="2477247" y="4544626"/>
            <a:ext cx="37152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계산된 내적 값(-1.0 ~ 1.0)이 </a:t>
            </a:r>
            <a:r>
              <a:rPr lang="en-US" sz="1100" b="1" dirty="0">
                <a:solidFill>
                  <a:srgbClr val="32C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양수(Positive)면 정방향</a:t>
            </a: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100" b="1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음수(Negative)면 역방향</a:t>
            </a: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간주하여 실시간 판정함</a:t>
            </a:r>
            <a:endParaRPr lang="en-US" sz="1100" dirty="0"/>
          </a:p>
        </p:txBody>
      </p:sp>
      <p:sp>
        <p:nvSpPr>
          <p:cNvPr id="99" name="Text 38">
            <a:extLst>
              <a:ext uri="{FF2B5EF4-FFF2-40B4-BE49-F238E27FC236}">
                <a16:creationId xmlns:a16="http://schemas.microsoft.com/office/drawing/2014/main" id="{A1F5F1E7-18CB-4F5D-8C28-1C72FC2AB8DB}"/>
              </a:ext>
            </a:extLst>
          </p:cNvPr>
          <p:cNvSpPr txBox="1"/>
          <p:nvPr/>
        </p:nvSpPr>
        <p:spPr>
          <a:xfrm>
            <a:off x="7565883" y="1410978"/>
            <a:ext cx="277611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Product 방향 판정 시각화</a:t>
            </a:r>
            <a:endParaRPr lang="en-US" sz="1300" dirty="0"/>
          </a:p>
        </p:txBody>
      </p:sp>
      <p:pic>
        <p:nvPicPr>
          <p:cNvPr id="100" name="Image 3" descr="gen-dedup-d14f4f20d296fce718bdd60ca5e71cb0.png">
            <a:extLst>
              <a:ext uri="{FF2B5EF4-FFF2-40B4-BE49-F238E27FC236}">
                <a16:creationId xmlns:a16="http://schemas.microsoft.com/office/drawing/2014/main" id="{FCAAAFCD-221D-4AA2-9CDB-FA53EBF56BD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16667" r="-16667"/>
          <a:stretch/>
        </p:blipFill>
        <p:spPr>
          <a:xfrm>
            <a:off x="6953235" y="2115980"/>
            <a:ext cx="381305" cy="381305"/>
          </a:xfrm>
          <a:prstGeom prst="rect">
            <a:avLst/>
          </a:prstGeom>
        </p:spPr>
      </p:pic>
      <p:sp>
        <p:nvSpPr>
          <p:cNvPr id="101" name="Text 39">
            <a:extLst>
              <a:ext uri="{FF2B5EF4-FFF2-40B4-BE49-F238E27FC236}">
                <a16:creationId xmlns:a16="http://schemas.microsoft.com/office/drawing/2014/main" id="{40244690-05A7-4C17-9068-4C7B3A6F2AB4}"/>
              </a:ext>
            </a:extLst>
          </p:cNvPr>
          <p:cNvSpPr txBox="1"/>
          <p:nvPr/>
        </p:nvSpPr>
        <p:spPr>
          <a:xfrm>
            <a:off x="7429638" y="2043742"/>
            <a:ext cx="349940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Dot Product (A · B) = |A| |B| cos(θ)</a:t>
            </a:r>
            <a:endParaRPr lang="en-US" sz="1500" dirty="0"/>
          </a:p>
        </p:txBody>
      </p:sp>
      <p:sp>
        <p:nvSpPr>
          <p:cNvPr id="102" name="Text 40">
            <a:extLst>
              <a:ext uri="{FF2B5EF4-FFF2-40B4-BE49-F238E27FC236}">
                <a16:creationId xmlns:a16="http://schemas.microsoft.com/office/drawing/2014/main" id="{FC9A6CF1-6ECF-420A-9E72-06AD1D8E60D9}"/>
              </a:ext>
            </a:extLst>
          </p:cNvPr>
          <p:cNvSpPr txBox="1"/>
          <p:nvPr/>
        </p:nvSpPr>
        <p:spPr>
          <a:xfrm>
            <a:off x="7429638" y="2362868"/>
            <a:ext cx="26389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정규화된 벡터(길이 1) 내적은 방향 일치도를 나타냄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양수(+)는 동일 방향, 음수(-)는 반대 방향을 의미함</a:t>
            </a:r>
            <a:endParaRPr lang="en-US" sz="900" dirty="0"/>
          </a:p>
        </p:txBody>
      </p:sp>
      <p:sp>
        <p:nvSpPr>
          <p:cNvPr id="103" name="Text 41">
            <a:extLst>
              <a:ext uri="{FF2B5EF4-FFF2-40B4-BE49-F238E27FC236}">
                <a16:creationId xmlns:a16="http://schemas.microsoft.com/office/drawing/2014/main" id="{FEE305A6-F23E-4DC5-AAEC-B78F5B0C97DE}"/>
              </a:ext>
            </a:extLst>
          </p:cNvPr>
          <p:cNvSpPr txBox="1"/>
          <p:nvPr/>
        </p:nvSpPr>
        <p:spPr>
          <a:xfrm>
            <a:off x="6858138" y="3182170"/>
            <a:ext cx="654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트랙 방향</a:t>
            </a:r>
            <a:endParaRPr lang="en-US" sz="1000" dirty="0"/>
          </a:p>
        </p:txBody>
      </p:sp>
      <p:sp>
        <p:nvSpPr>
          <p:cNvPr id="105" name="Text 42">
            <a:extLst>
              <a:ext uri="{FF2B5EF4-FFF2-40B4-BE49-F238E27FC236}">
                <a16:creationId xmlns:a16="http://schemas.microsoft.com/office/drawing/2014/main" id="{AEA47217-ABD3-4837-87C1-FD8680B2B71C}"/>
              </a:ext>
            </a:extLst>
          </p:cNvPr>
          <p:cNvSpPr txBox="1"/>
          <p:nvPr/>
        </p:nvSpPr>
        <p:spPr>
          <a:xfrm>
            <a:off x="6858138" y="3658573"/>
            <a:ext cx="654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16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차량 방향</a:t>
            </a:r>
            <a:endParaRPr lang="en-US" sz="1000" dirty="0"/>
          </a:p>
        </p:txBody>
      </p:sp>
      <p:pic>
        <p:nvPicPr>
          <p:cNvPr id="106" name="Image 5" descr="gen-dedup-c86253639717b45d4e6d8f51ffe29618.png">
            <a:extLst>
              <a:ext uri="{FF2B5EF4-FFF2-40B4-BE49-F238E27FC236}">
                <a16:creationId xmlns:a16="http://schemas.microsoft.com/office/drawing/2014/main" id="{F0457DA9-C08D-4773-86FD-D1629B1DE933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-12500" b="-12500"/>
          <a:stretch/>
        </p:blipFill>
        <p:spPr>
          <a:xfrm>
            <a:off x="7620747" y="3639370"/>
            <a:ext cx="228600" cy="228600"/>
          </a:xfrm>
          <a:prstGeom prst="rect">
            <a:avLst/>
          </a:prstGeom>
        </p:spPr>
      </p:pic>
      <p:sp>
        <p:nvSpPr>
          <p:cNvPr id="108" name="Text 43">
            <a:extLst>
              <a:ext uri="{FF2B5EF4-FFF2-40B4-BE49-F238E27FC236}">
                <a16:creationId xmlns:a16="http://schemas.microsoft.com/office/drawing/2014/main" id="{5AB2DDD8-F5AE-415D-91C3-9BFE2A7AC5AB}"/>
              </a:ext>
            </a:extLst>
          </p:cNvPr>
          <p:cNvSpPr txBox="1"/>
          <p:nvPr/>
        </p:nvSpPr>
        <p:spPr>
          <a:xfrm>
            <a:off x="9185286" y="3315673"/>
            <a:ext cx="13496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Product &gt; 0</a:t>
            </a:r>
            <a:endParaRPr lang="en-US" sz="1200" dirty="0"/>
          </a:p>
        </p:txBody>
      </p:sp>
      <p:sp>
        <p:nvSpPr>
          <p:cNvPr id="109" name="Text 44">
            <a:extLst>
              <a:ext uri="{FF2B5EF4-FFF2-40B4-BE49-F238E27FC236}">
                <a16:creationId xmlns:a16="http://schemas.microsoft.com/office/drawing/2014/main" id="{42412B3A-DFF3-4233-A083-84613F36C53C}"/>
              </a:ext>
            </a:extLst>
          </p:cNvPr>
          <p:cNvSpPr txBox="1"/>
          <p:nvPr/>
        </p:nvSpPr>
        <p:spPr>
          <a:xfrm>
            <a:off x="8898164" y="3535129"/>
            <a:ext cx="192755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2C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정상 방향 (Positive) ]</a:t>
            </a:r>
            <a:endParaRPr lang="en-US" sz="1200" dirty="0"/>
          </a:p>
        </p:txBody>
      </p:sp>
      <p:sp>
        <p:nvSpPr>
          <p:cNvPr id="110" name="Text 45">
            <a:extLst>
              <a:ext uri="{FF2B5EF4-FFF2-40B4-BE49-F238E27FC236}">
                <a16:creationId xmlns:a16="http://schemas.microsoft.com/office/drawing/2014/main" id="{BD0D3DDD-E5D3-4142-90CC-1E7A323B8B84}"/>
              </a:ext>
            </a:extLst>
          </p:cNvPr>
          <p:cNvSpPr txBox="1"/>
          <p:nvPr/>
        </p:nvSpPr>
        <p:spPr>
          <a:xfrm>
            <a:off x="6858138" y="4420268"/>
            <a:ext cx="654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트랙 방향</a:t>
            </a:r>
            <a:endParaRPr lang="en-US" sz="1000" dirty="0"/>
          </a:p>
        </p:txBody>
      </p:sp>
      <p:sp>
        <p:nvSpPr>
          <p:cNvPr id="112" name="Text 46">
            <a:extLst>
              <a:ext uri="{FF2B5EF4-FFF2-40B4-BE49-F238E27FC236}">
                <a16:creationId xmlns:a16="http://schemas.microsoft.com/office/drawing/2014/main" id="{BCCB01C9-7D36-4724-9248-75B71E83E066}"/>
              </a:ext>
            </a:extLst>
          </p:cNvPr>
          <p:cNvSpPr txBox="1"/>
          <p:nvPr/>
        </p:nvSpPr>
        <p:spPr>
          <a:xfrm>
            <a:off x="6858138" y="4896670"/>
            <a:ext cx="654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차량 방향</a:t>
            </a:r>
            <a:endParaRPr lang="en-US" sz="1000" dirty="0"/>
          </a:p>
        </p:txBody>
      </p:sp>
      <p:pic>
        <p:nvPicPr>
          <p:cNvPr id="113" name="Image 8" descr="gen-dedup-6dc5e5de44b4bcfa60431ba50fab5fea.png">
            <a:extLst>
              <a:ext uri="{FF2B5EF4-FFF2-40B4-BE49-F238E27FC236}">
                <a16:creationId xmlns:a16="http://schemas.microsoft.com/office/drawing/2014/main" id="{0E608E44-A513-4A1C-BAB8-3B04E52EBC7F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12500" b="-12500"/>
          <a:stretch/>
        </p:blipFill>
        <p:spPr>
          <a:xfrm>
            <a:off x="8192247" y="4877468"/>
            <a:ext cx="228600" cy="228600"/>
          </a:xfrm>
          <a:prstGeom prst="rect">
            <a:avLst/>
          </a:prstGeom>
        </p:spPr>
      </p:pic>
      <p:sp>
        <p:nvSpPr>
          <p:cNvPr id="115" name="Text 47">
            <a:extLst>
              <a:ext uri="{FF2B5EF4-FFF2-40B4-BE49-F238E27FC236}">
                <a16:creationId xmlns:a16="http://schemas.microsoft.com/office/drawing/2014/main" id="{BDAD6027-010D-4818-8F48-E81CB66F7F23}"/>
              </a:ext>
            </a:extLst>
          </p:cNvPr>
          <p:cNvSpPr txBox="1"/>
          <p:nvPr/>
        </p:nvSpPr>
        <p:spPr>
          <a:xfrm>
            <a:off x="9185286" y="4529996"/>
            <a:ext cx="13496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Product &lt; 0</a:t>
            </a:r>
            <a:endParaRPr lang="en-US" sz="1200" dirty="0"/>
          </a:p>
        </p:txBody>
      </p:sp>
      <p:sp>
        <p:nvSpPr>
          <p:cNvPr id="116" name="Text 48">
            <a:extLst>
              <a:ext uri="{FF2B5EF4-FFF2-40B4-BE49-F238E27FC236}">
                <a16:creationId xmlns:a16="http://schemas.microsoft.com/office/drawing/2014/main" id="{C237A909-19CE-49EE-B891-6E3538A0C960}"/>
              </a:ext>
            </a:extLst>
          </p:cNvPr>
          <p:cNvSpPr txBox="1"/>
          <p:nvPr/>
        </p:nvSpPr>
        <p:spPr>
          <a:xfrm>
            <a:off x="8778378" y="4749452"/>
            <a:ext cx="216529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역주행 방향 (Negative) ]</a:t>
            </a:r>
            <a:endParaRPr lang="en-US" sz="1200" dirty="0"/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D8D0FCD9-B789-4907-8DCD-42C054C9608C}"/>
              </a:ext>
            </a:extLst>
          </p:cNvPr>
          <p:cNvSpPr/>
          <p:nvPr/>
        </p:nvSpPr>
        <p:spPr>
          <a:xfrm>
            <a:off x="7968020" y="3686252"/>
            <a:ext cx="568552" cy="1218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화살표: 오른쪽 116">
            <a:extLst>
              <a:ext uri="{FF2B5EF4-FFF2-40B4-BE49-F238E27FC236}">
                <a16:creationId xmlns:a16="http://schemas.microsoft.com/office/drawing/2014/main" id="{C25EFC26-65FB-48B5-91D4-C3AE5005F999}"/>
              </a:ext>
            </a:extLst>
          </p:cNvPr>
          <p:cNvSpPr/>
          <p:nvPr/>
        </p:nvSpPr>
        <p:spPr>
          <a:xfrm>
            <a:off x="7620747" y="3215109"/>
            <a:ext cx="915825" cy="130279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8" name="Image 5" descr="gen-dedup-c86253639717b45d4e6d8f51ffe29618.png">
            <a:extLst>
              <a:ext uri="{FF2B5EF4-FFF2-40B4-BE49-F238E27FC236}">
                <a16:creationId xmlns:a16="http://schemas.microsoft.com/office/drawing/2014/main" id="{122164DD-B14E-4D78-A968-C232311E9F29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-12500" b="-12500"/>
          <a:stretch/>
        </p:blipFill>
        <p:spPr>
          <a:xfrm>
            <a:off x="8235436" y="4862979"/>
            <a:ext cx="228600" cy="228600"/>
          </a:xfrm>
          <a:prstGeom prst="rect">
            <a:avLst/>
          </a:prstGeom>
        </p:spPr>
      </p:pic>
      <p:sp>
        <p:nvSpPr>
          <p:cNvPr id="119" name="화살표: 오른쪽 118">
            <a:extLst>
              <a:ext uri="{FF2B5EF4-FFF2-40B4-BE49-F238E27FC236}">
                <a16:creationId xmlns:a16="http://schemas.microsoft.com/office/drawing/2014/main" id="{B572A810-7974-45BF-BDC8-15973D6D65D4}"/>
              </a:ext>
            </a:extLst>
          </p:cNvPr>
          <p:cNvSpPr/>
          <p:nvPr/>
        </p:nvSpPr>
        <p:spPr>
          <a:xfrm flipH="1">
            <a:off x="7555268" y="4916042"/>
            <a:ext cx="622157" cy="122400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화살표: 오른쪽 119">
            <a:extLst>
              <a:ext uri="{FF2B5EF4-FFF2-40B4-BE49-F238E27FC236}">
                <a16:creationId xmlns:a16="http://schemas.microsoft.com/office/drawing/2014/main" id="{F8EF3DE7-9406-41AD-98CB-9B98DB8B08A0}"/>
              </a:ext>
            </a:extLst>
          </p:cNvPr>
          <p:cNvSpPr/>
          <p:nvPr/>
        </p:nvSpPr>
        <p:spPr>
          <a:xfrm>
            <a:off x="7555504" y="4474785"/>
            <a:ext cx="914400" cy="12960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497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02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131" name="Shape 103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04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3" name="Shape 105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34" name="Shape 106"/>
          <p:cNvSpPr/>
          <p:nvPr/>
        </p:nvSpPr>
        <p:spPr>
          <a:xfrm>
            <a:off x="10477195" y="6534302"/>
            <a:ext cx="1619402" cy="267005"/>
          </a:xfrm>
          <a:prstGeom prst="rect">
            <a:avLst/>
          </a:prstGeom>
          <a:solidFill>
            <a:srgbClr val="C0C0C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135" name="Image 25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136" name="Text 107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7" name="Image 26" descr="gen-dedup-1027b540a23f27953c8b221c66837c2b.png"/>
          <p:cNvPicPr>
            <a:picLocks noChangeAspect="1"/>
          </p:cNvPicPr>
          <p:nvPr/>
        </p:nvPicPr>
        <p:blipFill>
          <a:blip r:embed="rId4"/>
          <a:srcRect t="-6250" b="-6250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138" name="Text 108"/>
          <p:cNvSpPr txBox="1"/>
          <p:nvPr/>
        </p:nvSpPr>
        <p:spPr>
          <a:xfrm>
            <a:off x="1238098" y="6577279"/>
            <a:ext cx="143743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탐색 중 - Projects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9" name="Image 27" descr="gen-dedup-7740a029182e5c65b65e33d2aaed94e2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10573207" y="6590995"/>
            <a:ext cx="152705" cy="152705"/>
          </a:xfrm>
          <a:prstGeom prst="rect">
            <a:avLst/>
          </a:prstGeom>
        </p:spPr>
      </p:pic>
      <p:sp>
        <p:nvSpPr>
          <p:cNvPr id="140" name="Text 109"/>
          <p:cNvSpPr txBox="1"/>
          <p:nvPr/>
        </p:nvSpPr>
        <p:spPr>
          <a:xfrm>
            <a:off x="11124590" y="6590995"/>
            <a:ext cx="7260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10:00 AM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Shape 10">
            <a:extLst>
              <a:ext uri="{FF2B5EF4-FFF2-40B4-BE49-F238E27FC236}">
                <a16:creationId xmlns:a16="http://schemas.microsoft.com/office/drawing/2014/main" id="{14A75B8D-58B7-472B-BBE7-FDD8817C001B}"/>
              </a:ext>
            </a:extLst>
          </p:cNvPr>
          <p:cNvSpPr/>
          <p:nvPr/>
        </p:nvSpPr>
        <p:spPr>
          <a:xfrm>
            <a:off x="1044001" y="108001"/>
            <a:ext cx="10890197" cy="6084503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4" name="Shape 11">
            <a:extLst>
              <a:ext uri="{FF2B5EF4-FFF2-40B4-BE49-F238E27FC236}">
                <a16:creationId xmlns:a16="http://schemas.microsoft.com/office/drawing/2014/main" id="{71A388DE-101E-4470-BFD4-A6A63EA671A5}"/>
              </a:ext>
            </a:extLst>
          </p:cNvPr>
          <p:cNvSpPr/>
          <p:nvPr/>
        </p:nvSpPr>
        <p:spPr>
          <a:xfrm>
            <a:off x="1063780" y="128969"/>
            <a:ext cx="10850641" cy="291545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5" name="Image 5" descr="gen-dedup-23665c0bc8193eed4b19e05b81a508d3.png">
            <a:extLst>
              <a:ext uri="{FF2B5EF4-FFF2-40B4-BE49-F238E27FC236}">
                <a16:creationId xmlns:a16="http://schemas.microsoft.com/office/drawing/2014/main" id="{2293A2AB-329A-4D4D-A2B3-1C7504C127F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063780" y="670124"/>
            <a:ext cx="10850641" cy="41935"/>
          </a:xfrm>
          <a:prstGeom prst="rect">
            <a:avLst/>
          </a:prstGeom>
        </p:spPr>
      </p:pic>
      <p:sp>
        <p:nvSpPr>
          <p:cNvPr id="106" name="Shape 12">
            <a:extLst>
              <a:ext uri="{FF2B5EF4-FFF2-40B4-BE49-F238E27FC236}">
                <a16:creationId xmlns:a16="http://schemas.microsoft.com/office/drawing/2014/main" id="{BF7862CB-A48A-41ED-BB49-4572C79D2442}"/>
              </a:ext>
            </a:extLst>
          </p:cNvPr>
          <p:cNvSpPr/>
          <p:nvPr/>
        </p:nvSpPr>
        <p:spPr>
          <a:xfrm>
            <a:off x="1063780" y="691091"/>
            <a:ext cx="10850641" cy="41635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7" name="Image 6" descr="gen-dedup-23665c0bc8193eed4b19e05b81a508d3.png">
            <a:extLst>
              <a:ext uri="{FF2B5EF4-FFF2-40B4-BE49-F238E27FC236}">
                <a16:creationId xmlns:a16="http://schemas.microsoft.com/office/drawing/2014/main" id="{20ABEAB4-CC5E-4191-B75F-C98135769AD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063780" y="1106443"/>
            <a:ext cx="10850641" cy="41935"/>
          </a:xfrm>
          <a:prstGeom prst="rect">
            <a:avLst/>
          </a:prstGeom>
        </p:spPr>
      </p:pic>
      <p:sp>
        <p:nvSpPr>
          <p:cNvPr id="108" name="Shape 13">
            <a:extLst>
              <a:ext uri="{FF2B5EF4-FFF2-40B4-BE49-F238E27FC236}">
                <a16:creationId xmlns:a16="http://schemas.microsoft.com/office/drawing/2014/main" id="{778C56FF-CFDC-45C0-B015-6894EB626093}"/>
              </a:ext>
            </a:extLst>
          </p:cNvPr>
          <p:cNvSpPr/>
          <p:nvPr/>
        </p:nvSpPr>
        <p:spPr>
          <a:xfrm>
            <a:off x="1063780" y="1127410"/>
            <a:ext cx="10850641" cy="332481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9" name="Image 7" descr="gen-dedup-23665c0bc8193eed4b19e05b81a508d3.png">
            <a:extLst>
              <a:ext uri="{FF2B5EF4-FFF2-40B4-BE49-F238E27FC236}">
                <a16:creationId xmlns:a16="http://schemas.microsoft.com/office/drawing/2014/main" id="{8EAD3060-1BC9-4720-89D3-B2F118FDED5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063780" y="1459891"/>
            <a:ext cx="10850641" cy="41935"/>
          </a:xfrm>
          <a:prstGeom prst="rect">
            <a:avLst/>
          </a:prstGeom>
        </p:spPr>
      </p:pic>
      <p:sp>
        <p:nvSpPr>
          <p:cNvPr id="110" name="Shape 14">
            <a:extLst>
              <a:ext uri="{FF2B5EF4-FFF2-40B4-BE49-F238E27FC236}">
                <a16:creationId xmlns:a16="http://schemas.microsoft.com/office/drawing/2014/main" id="{42389CBE-477E-4B1E-A4DE-6467CBB7EFEB}"/>
              </a:ext>
            </a:extLst>
          </p:cNvPr>
          <p:cNvSpPr/>
          <p:nvPr/>
        </p:nvSpPr>
        <p:spPr>
          <a:xfrm>
            <a:off x="1083557" y="1501826"/>
            <a:ext cx="2452485" cy="4368182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11" name="Shape 15">
            <a:extLst>
              <a:ext uri="{FF2B5EF4-FFF2-40B4-BE49-F238E27FC236}">
                <a16:creationId xmlns:a16="http://schemas.microsoft.com/office/drawing/2014/main" id="{C21C50EE-23E3-464C-A24A-63BA82DF84D4}"/>
              </a:ext>
            </a:extLst>
          </p:cNvPr>
          <p:cNvSpPr/>
          <p:nvPr/>
        </p:nvSpPr>
        <p:spPr>
          <a:xfrm>
            <a:off x="3595376" y="1501826"/>
            <a:ext cx="8300208" cy="4368182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12" name="Shape 16">
            <a:extLst>
              <a:ext uri="{FF2B5EF4-FFF2-40B4-BE49-F238E27FC236}">
                <a16:creationId xmlns:a16="http://schemas.microsoft.com/office/drawing/2014/main" id="{F20FF41E-0C07-442E-8C60-91349F8FAB6F}"/>
              </a:ext>
            </a:extLst>
          </p:cNvPr>
          <p:cNvSpPr/>
          <p:nvPr/>
        </p:nvSpPr>
        <p:spPr>
          <a:xfrm>
            <a:off x="1063780" y="5890974"/>
            <a:ext cx="10850641" cy="27057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3" name="Shape 17">
            <a:extLst>
              <a:ext uri="{FF2B5EF4-FFF2-40B4-BE49-F238E27FC236}">
                <a16:creationId xmlns:a16="http://schemas.microsoft.com/office/drawing/2014/main" id="{91B29A68-FFAE-4CAE-892D-A568DC5821A1}"/>
              </a:ext>
            </a:extLst>
          </p:cNvPr>
          <p:cNvSpPr/>
          <p:nvPr/>
        </p:nvSpPr>
        <p:spPr>
          <a:xfrm>
            <a:off x="11070555" y="159920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4" name="Shape 18">
            <a:extLst>
              <a:ext uri="{FF2B5EF4-FFF2-40B4-BE49-F238E27FC236}">
                <a16:creationId xmlns:a16="http://schemas.microsoft.com/office/drawing/2014/main" id="{5ED4C68E-2927-4286-A306-85C476D8C2C7}"/>
              </a:ext>
            </a:extLst>
          </p:cNvPr>
          <p:cNvSpPr/>
          <p:nvPr/>
        </p:nvSpPr>
        <p:spPr>
          <a:xfrm>
            <a:off x="11365343" y="159920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5" name="Shape 19">
            <a:extLst>
              <a:ext uri="{FF2B5EF4-FFF2-40B4-BE49-F238E27FC236}">
                <a16:creationId xmlns:a16="http://schemas.microsoft.com/office/drawing/2014/main" id="{629F123C-82EE-47C3-9DC8-E100143135E9}"/>
              </a:ext>
            </a:extLst>
          </p:cNvPr>
          <p:cNvSpPr/>
          <p:nvPr/>
        </p:nvSpPr>
        <p:spPr>
          <a:xfrm>
            <a:off x="11659189" y="159920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6" name="Text 20">
            <a:extLst>
              <a:ext uri="{FF2B5EF4-FFF2-40B4-BE49-F238E27FC236}">
                <a16:creationId xmlns:a16="http://schemas.microsoft.com/office/drawing/2014/main" id="{299A98B0-9D78-41C5-8B65-6BDFCC859999}"/>
              </a:ext>
            </a:extLst>
          </p:cNvPr>
          <p:cNvSpPr txBox="1"/>
          <p:nvPr/>
        </p:nvSpPr>
        <p:spPr>
          <a:xfrm>
            <a:off x="1100101" y="446473"/>
            <a:ext cx="2908322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파일(F)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편집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(E)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보기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(V)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도구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(T)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도움말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(H)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Shape 21">
            <a:extLst>
              <a:ext uri="{FF2B5EF4-FFF2-40B4-BE49-F238E27FC236}">
                <a16:creationId xmlns:a16="http://schemas.microsoft.com/office/drawing/2014/main" id="{BA430CC0-BC0A-472A-9F4E-CEDB0A52E19C}"/>
              </a:ext>
            </a:extLst>
          </p:cNvPr>
          <p:cNvSpPr/>
          <p:nvPr/>
        </p:nvSpPr>
        <p:spPr>
          <a:xfrm>
            <a:off x="1142891" y="743010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8" name="Shape 22">
            <a:extLst>
              <a:ext uri="{FF2B5EF4-FFF2-40B4-BE49-F238E27FC236}">
                <a16:creationId xmlns:a16="http://schemas.microsoft.com/office/drawing/2014/main" id="{D0F1BAB3-55DD-4B90-9514-6377C02A9076}"/>
              </a:ext>
            </a:extLst>
          </p:cNvPr>
          <p:cNvSpPr/>
          <p:nvPr/>
        </p:nvSpPr>
        <p:spPr>
          <a:xfrm>
            <a:off x="1485712" y="743010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9" name="Shape 23">
            <a:extLst>
              <a:ext uri="{FF2B5EF4-FFF2-40B4-BE49-F238E27FC236}">
                <a16:creationId xmlns:a16="http://schemas.microsoft.com/office/drawing/2014/main" id="{413C9993-835C-4DCE-99EE-1A4B19C69446}"/>
              </a:ext>
            </a:extLst>
          </p:cNvPr>
          <p:cNvSpPr/>
          <p:nvPr/>
        </p:nvSpPr>
        <p:spPr>
          <a:xfrm>
            <a:off x="1829474" y="743010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22" name="Shape 25">
            <a:extLst>
              <a:ext uri="{FF2B5EF4-FFF2-40B4-BE49-F238E27FC236}">
                <a16:creationId xmlns:a16="http://schemas.microsoft.com/office/drawing/2014/main" id="{F3567888-8960-4D67-8893-94ED42CC31E1}"/>
              </a:ext>
            </a:extLst>
          </p:cNvPr>
          <p:cNvSpPr/>
          <p:nvPr/>
        </p:nvSpPr>
        <p:spPr>
          <a:xfrm>
            <a:off x="1731525" y="1169345"/>
            <a:ext cx="9320193" cy="249610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23" name="Shape 26">
            <a:extLst>
              <a:ext uri="{FF2B5EF4-FFF2-40B4-BE49-F238E27FC236}">
                <a16:creationId xmlns:a16="http://schemas.microsoft.com/office/drawing/2014/main" id="{F9BE2189-0E78-419A-8C1A-57E458CD3185}"/>
              </a:ext>
            </a:extLst>
          </p:cNvPr>
          <p:cNvSpPr/>
          <p:nvPr/>
        </p:nvSpPr>
        <p:spPr>
          <a:xfrm>
            <a:off x="11149667" y="1148377"/>
            <a:ext cx="686583" cy="27057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4" name="Shape 27">
            <a:extLst>
              <a:ext uri="{FF2B5EF4-FFF2-40B4-BE49-F238E27FC236}">
                <a16:creationId xmlns:a16="http://schemas.microsoft.com/office/drawing/2014/main" id="{3BF4B2C6-B1E4-4F82-81A6-F664E976AAD4}"/>
              </a:ext>
            </a:extLst>
          </p:cNvPr>
          <p:cNvSpPr/>
          <p:nvPr/>
        </p:nvSpPr>
        <p:spPr>
          <a:xfrm>
            <a:off x="3359922" y="1522793"/>
            <a:ext cx="166701" cy="4326247"/>
          </a:xfrm>
          <a:prstGeom prst="rect">
            <a:avLst/>
          </a:prstGeom>
          <a:solidFill>
            <a:srgbClr val="DFDFDF"/>
          </a:solidFill>
          <a:ln/>
        </p:spPr>
      </p:sp>
      <p:sp>
        <p:nvSpPr>
          <p:cNvPr id="125" name="Shape 28">
            <a:extLst>
              <a:ext uri="{FF2B5EF4-FFF2-40B4-BE49-F238E27FC236}">
                <a16:creationId xmlns:a16="http://schemas.microsoft.com/office/drawing/2014/main" id="{D31BEC5E-DE7B-485B-92B6-010A35214FB6}"/>
              </a:ext>
            </a:extLst>
          </p:cNvPr>
          <p:cNvSpPr/>
          <p:nvPr/>
        </p:nvSpPr>
        <p:spPr>
          <a:xfrm>
            <a:off x="3359922" y="1522793"/>
            <a:ext cx="9418" cy="4326247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>
                <a:alpha val="0"/>
              </a:srgbClr>
            </a:solidFill>
            <a:prstDash val="solid"/>
          </a:ln>
        </p:spPr>
      </p:sp>
      <p:sp>
        <p:nvSpPr>
          <p:cNvPr id="127" name="Shape 30">
            <a:extLst>
              <a:ext uri="{FF2B5EF4-FFF2-40B4-BE49-F238E27FC236}">
                <a16:creationId xmlns:a16="http://schemas.microsoft.com/office/drawing/2014/main" id="{916FC1B2-F896-4360-AE9D-1DA7A8004F60}"/>
              </a:ext>
            </a:extLst>
          </p:cNvPr>
          <p:cNvSpPr/>
          <p:nvPr/>
        </p:nvSpPr>
        <p:spPr>
          <a:xfrm>
            <a:off x="1083557" y="5932909"/>
            <a:ext cx="2452485" cy="187707"/>
          </a:xfrm>
          <a:prstGeom prst="rect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141" name="Shape 31">
            <a:extLst>
              <a:ext uri="{FF2B5EF4-FFF2-40B4-BE49-F238E27FC236}">
                <a16:creationId xmlns:a16="http://schemas.microsoft.com/office/drawing/2014/main" id="{91123D67-B5E3-49E4-99D0-DFCAAC3F8CCA}"/>
              </a:ext>
            </a:extLst>
          </p:cNvPr>
          <p:cNvSpPr/>
          <p:nvPr/>
        </p:nvSpPr>
        <p:spPr>
          <a:xfrm>
            <a:off x="3555820" y="5932909"/>
            <a:ext cx="8338823" cy="187707"/>
          </a:xfrm>
          <a:prstGeom prst="rect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142" name="Shape 32">
            <a:extLst>
              <a:ext uri="{FF2B5EF4-FFF2-40B4-BE49-F238E27FC236}">
                <a16:creationId xmlns:a16="http://schemas.microsoft.com/office/drawing/2014/main" id="{354B1A02-7FFC-47B5-9696-E585EB5A9885}"/>
              </a:ext>
            </a:extLst>
          </p:cNvPr>
          <p:cNvSpPr/>
          <p:nvPr/>
        </p:nvSpPr>
        <p:spPr>
          <a:xfrm>
            <a:off x="3359922" y="1522793"/>
            <a:ext cx="157283" cy="16674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5" name="Shape 33">
            <a:extLst>
              <a:ext uri="{FF2B5EF4-FFF2-40B4-BE49-F238E27FC236}">
                <a16:creationId xmlns:a16="http://schemas.microsoft.com/office/drawing/2014/main" id="{DA473C0B-5729-4FD8-AD5B-3C1C059BA00F}"/>
              </a:ext>
            </a:extLst>
          </p:cNvPr>
          <p:cNvSpPr/>
          <p:nvPr/>
        </p:nvSpPr>
        <p:spPr>
          <a:xfrm>
            <a:off x="3359922" y="1689533"/>
            <a:ext cx="157283" cy="831702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6" name="Shape 34">
            <a:extLst>
              <a:ext uri="{FF2B5EF4-FFF2-40B4-BE49-F238E27FC236}">
                <a16:creationId xmlns:a16="http://schemas.microsoft.com/office/drawing/2014/main" id="{A4F36E1F-4507-4CC5-9346-4FBE0AD7F22F}"/>
              </a:ext>
            </a:extLst>
          </p:cNvPr>
          <p:cNvSpPr/>
          <p:nvPr/>
        </p:nvSpPr>
        <p:spPr>
          <a:xfrm>
            <a:off x="3359922" y="5683299"/>
            <a:ext cx="157283" cy="16674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8" name="Image 8" descr="gen-dedup-7c02ed4669765158cb6410457d6288f7.png">
            <a:extLst>
              <a:ext uri="{FF2B5EF4-FFF2-40B4-BE49-F238E27FC236}">
                <a16:creationId xmlns:a16="http://schemas.microsoft.com/office/drawing/2014/main" id="{2665EC4D-B367-4232-8285-18D4141E819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6250" b="-6250"/>
          <a:stretch/>
        </p:blipFill>
        <p:spPr>
          <a:xfrm>
            <a:off x="1123114" y="191871"/>
            <a:ext cx="157283" cy="166740"/>
          </a:xfrm>
          <a:prstGeom prst="rect">
            <a:avLst/>
          </a:prstGeom>
        </p:spPr>
      </p:pic>
      <p:sp>
        <p:nvSpPr>
          <p:cNvPr id="149" name="Text 36">
            <a:extLst>
              <a:ext uri="{FF2B5EF4-FFF2-40B4-BE49-F238E27FC236}">
                <a16:creationId xmlns:a16="http://schemas.microsoft.com/office/drawing/2014/main" id="{E428AE1F-5E2A-45BC-8AD2-EAAD85DE2C03}"/>
              </a:ext>
            </a:extLst>
          </p:cNvPr>
          <p:cNvSpPr txBox="1"/>
          <p:nvPr/>
        </p:nvSpPr>
        <p:spPr>
          <a:xfrm>
            <a:off x="1387763" y="170904"/>
            <a:ext cx="1594491" cy="20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탐색 중 - Projects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Text 37">
            <a:extLst>
              <a:ext uri="{FF2B5EF4-FFF2-40B4-BE49-F238E27FC236}">
                <a16:creationId xmlns:a16="http://schemas.microsoft.com/office/drawing/2014/main" id="{B62B1CCF-70A3-4E76-BC3F-82C5DF2D170C}"/>
              </a:ext>
            </a:extLst>
          </p:cNvPr>
          <p:cNvSpPr txBox="1"/>
          <p:nvPr/>
        </p:nvSpPr>
        <p:spPr>
          <a:xfrm>
            <a:off x="11138365" y="185880"/>
            <a:ext cx="83822" cy="14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_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1" name="Shape 38">
            <a:extLst>
              <a:ext uri="{FF2B5EF4-FFF2-40B4-BE49-F238E27FC236}">
                <a16:creationId xmlns:a16="http://schemas.microsoft.com/office/drawing/2014/main" id="{D76E0BCC-364D-4EE0-BC3A-3858A77A42F3}"/>
              </a:ext>
            </a:extLst>
          </p:cNvPr>
          <p:cNvSpPr/>
          <p:nvPr/>
        </p:nvSpPr>
        <p:spPr>
          <a:xfrm>
            <a:off x="11414317" y="206847"/>
            <a:ext cx="117727" cy="13479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52" name="Shape 39">
            <a:extLst>
              <a:ext uri="{FF2B5EF4-FFF2-40B4-BE49-F238E27FC236}">
                <a16:creationId xmlns:a16="http://schemas.microsoft.com/office/drawing/2014/main" id="{B2824EFA-3C56-436D-9EF5-EACB833A8EB2}"/>
              </a:ext>
            </a:extLst>
          </p:cNvPr>
          <p:cNvSpPr/>
          <p:nvPr/>
        </p:nvSpPr>
        <p:spPr>
          <a:xfrm>
            <a:off x="11414317" y="206847"/>
            <a:ext cx="117727" cy="20967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Text 40">
            <a:extLst>
              <a:ext uri="{FF2B5EF4-FFF2-40B4-BE49-F238E27FC236}">
                <a16:creationId xmlns:a16="http://schemas.microsoft.com/office/drawing/2014/main" id="{73B04141-7F29-472D-BF63-5B332765C610}"/>
              </a:ext>
            </a:extLst>
          </p:cNvPr>
          <p:cNvSpPr txBox="1"/>
          <p:nvPr/>
        </p:nvSpPr>
        <p:spPr>
          <a:xfrm>
            <a:off x="11727941" y="201855"/>
            <a:ext cx="88531" cy="14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8" name="Image 9" descr="gen-dedup-25afa46a09582202a40d6f31fc2ccf91.png">
            <a:extLst>
              <a:ext uri="{FF2B5EF4-FFF2-40B4-BE49-F238E27FC236}">
                <a16:creationId xmlns:a16="http://schemas.microsoft.com/office/drawing/2014/main" id="{6D3A70D4-DA94-488E-BECC-BF8D28E4351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1210702" y="815896"/>
            <a:ext cx="157283" cy="166740"/>
          </a:xfrm>
          <a:prstGeom prst="rect">
            <a:avLst/>
          </a:prstGeom>
        </p:spPr>
      </p:pic>
      <p:pic>
        <p:nvPicPr>
          <p:cNvPr id="159" name="Image 10" descr="gen-dedup-53d8cb32c6720cdad62ecd3793163a86.png">
            <a:extLst>
              <a:ext uri="{FF2B5EF4-FFF2-40B4-BE49-F238E27FC236}">
                <a16:creationId xmlns:a16="http://schemas.microsoft.com/office/drawing/2014/main" id="{38CE9DD8-4C0F-46DC-B9A0-EA21C7095C9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7143" r="-7143"/>
          <a:stretch/>
        </p:blipFill>
        <p:spPr>
          <a:xfrm>
            <a:off x="1554464" y="815896"/>
            <a:ext cx="157283" cy="166740"/>
          </a:xfrm>
          <a:prstGeom prst="rect">
            <a:avLst/>
          </a:prstGeom>
        </p:spPr>
      </p:pic>
      <p:pic>
        <p:nvPicPr>
          <p:cNvPr id="160" name="Image 11" descr="gen-dedup-fa17d56a867348b02c8a56abf7174658.png">
            <a:extLst>
              <a:ext uri="{FF2B5EF4-FFF2-40B4-BE49-F238E27FC236}">
                <a16:creationId xmlns:a16="http://schemas.microsoft.com/office/drawing/2014/main" id="{922B725B-A15E-4516-BFD5-E5CBF5F3301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16666" r="-16666"/>
          <a:stretch/>
        </p:blipFill>
        <p:spPr>
          <a:xfrm>
            <a:off x="1898227" y="815896"/>
            <a:ext cx="157283" cy="166740"/>
          </a:xfrm>
          <a:prstGeom prst="rect">
            <a:avLst/>
          </a:prstGeom>
        </p:spPr>
      </p:pic>
      <p:pic>
        <p:nvPicPr>
          <p:cNvPr id="161" name="Image 12" descr="gen-dedup-013b38688217c28f0315b66cc4dba47b.png">
            <a:extLst>
              <a:ext uri="{FF2B5EF4-FFF2-40B4-BE49-F238E27FC236}">
                <a16:creationId xmlns:a16="http://schemas.microsoft.com/office/drawing/2014/main" id="{D017ADA0-79CA-457C-8D33-D4231577065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2418108" y="815896"/>
            <a:ext cx="157283" cy="166740"/>
          </a:xfrm>
          <a:prstGeom prst="rect">
            <a:avLst/>
          </a:prstGeom>
        </p:spPr>
      </p:pic>
      <p:pic>
        <p:nvPicPr>
          <p:cNvPr id="162" name="Image 13" descr="gen-dedup-3408d1960989eaff15e10127b414fcf2.png">
            <a:extLst>
              <a:ext uri="{FF2B5EF4-FFF2-40B4-BE49-F238E27FC236}">
                <a16:creationId xmlns:a16="http://schemas.microsoft.com/office/drawing/2014/main" id="{99A1AEF4-E23A-47B4-A49D-1A8A656F8CA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7143" r="-7143"/>
          <a:stretch/>
        </p:blipFill>
        <p:spPr>
          <a:xfrm>
            <a:off x="2711955" y="815896"/>
            <a:ext cx="157283" cy="166740"/>
          </a:xfrm>
          <a:prstGeom prst="rect">
            <a:avLst/>
          </a:prstGeom>
        </p:spPr>
      </p:pic>
      <p:pic>
        <p:nvPicPr>
          <p:cNvPr id="163" name="Image 14" descr="gen-dedup-6e9e672aa626b1edf6db8640b2821839.png">
            <a:extLst>
              <a:ext uri="{FF2B5EF4-FFF2-40B4-BE49-F238E27FC236}">
                <a16:creationId xmlns:a16="http://schemas.microsoft.com/office/drawing/2014/main" id="{C9550F90-0E01-4893-B835-77A2FB3C1F4E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3006742" y="815896"/>
            <a:ext cx="157283" cy="166740"/>
          </a:xfrm>
          <a:prstGeom prst="rect">
            <a:avLst/>
          </a:prstGeom>
        </p:spPr>
      </p:pic>
      <p:sp>
        <p:nvSpPr>
          <p:cNvPr id="164" name="Text 41">
            <a:extLst>
              <a:ext uri="{FF2B5EF4-FFF2-40B4-BE49-F238E27FC236}">
                <a16:creationId xmlns:a16="http://schemas.microsoft.com/office/drawing/2014/main" id="{0762294A-6332-409C-A4B5-45E26B375792}"/>
              </a:ext>
            </a:extLst>
          </p:cNvPr>
          <p:cNvSpPr txBox="1"/>
          <p:nvPr/>
        </p:nvSpPr>
        <p:spPr>
          <a:xfrm>
            <a:off x="1142891" y="1195304"/>
            <a:ext cx="536834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주소(D)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5" name="Image 15" descr="gen-dedup-7c02ed4669765158cb6410457d6288f7.png">
            <a:extLst>
              <a:ext uri="{FF2B5EF4-FFF2-40B4-BE49-F238E27FC236}">
                <a16:creationId xmlns:a16="http://schemas.microsoft.com/office/drawing/2014/main" id="{239474F9-BA3C-417F-8CE0-5EE537895D3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6250" b="-6250"/>
          <a:stretch/>
        </p:blipFill>
        <p:spPr>
          <a:xfrm>
            <a:off x="1780500" y="1210281"/>
            <a:ext cx="157283" cy="166740"/>
          </a:xfrm>
          <a:prstGeom prst="rect">
            <a:avLst/>
          </a:prstGeom>
        </p:spPr>
      </p:pic>
      <p:sp>
        <p:nvSpPr>
          <p:cNvPr id="166" name="Text 42">
            <a:extLst>
              <a:ext uri="{FF2B5EF4-FFF2-40B4-BE49-F238E27FC236}">
                <a16:creationId xmlns:a16="http://schemas.microsoft.com/office/drawing/2014/main" id="{2A6B50A8-5D43-45FB-875F-B4B2E68A3195}"/>
              </a:ext>
            </a:extLst>
          </p:cNvPr>
          <p:cNvSpPr txBox="1"/>
          <p:nvPr/>
        </p:nvSpPr>
        <p:spPr>
          <a:xfrm>
            <a:off x="2025372" y="1216271"/>
            <a:ext cx="3451503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C:\Portfolio\Projects\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World First Kill</a:t>
            </a:r>
          </a:p>
        </p:txBody>
      </p:sp>
      <p:sp>
        <p:nvSpPr>
          <p:cNvPr id="167" name="Text 43">
            <a:extLst>
              <a:ext uri="{FF2B5EF4-FFF2-40B4-BE49-F238E27FC236}">
                <a16:creationId xmlns:a16="http://schemas.microsoft.com/office/drawing/2014/main" id="{8C4F7CE9-8270-4468-851B-DDF88A52F141}"/>
              </a:ext>
            </a:extLst>
          </p:cNvPr>
          <p:cNvSpPr txBox="1"/>
          <p:nvPr/>
        </p:nvSpPr>
        <p:spPr>
          <a:xfrm>
            <a:off x="11384179" y="1195304"/>
            <a:ext cx="244872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이동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8" name="Text 44">
            <a:extLst>
              <a:ext uri="{FF2B5EF4-FFF2-40B4-BE49-F238E27FC236}">
                <a16:creationId xmlns:a16="http://schemas.microsoft.com/office/drawing/2014/main" id="{16B13CC4-BA5A-44FF-8E47-E60E04A8820A}"/>
              </a:ext>
            </a:extLst>
          </p:cNvPr>
          <p:cNvSpPr txBox="1"/>
          <p:nvPr/>
        </p:nvSpPr>
        <p:spPr>
          <a:xfrm>
            <a:off x="1142891" y="1600671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9" name="Image 16" descr="gen-dedup-71f3cd3c0f5149b77a7c51df2d1a7eab.png">
            <a:extLst>
              <a:ext uri="{FF2B5EF4-FFF2-40B4-BE49-F238E27FC236}">
                <a16:creationId xmlns:a16="http://schemas.microsoft.com/office/drawing/2014/main" id="{5722AD78-CE8C-4097-B8F2-1C40233E278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6250" b="-6250"/>
          <a:stretch/>
        </p:blipFill>
        <p:spPr>
          <a:xfrm>
            <a:off x="1309593" y="1590687"/>
            <a:ext cx="137504" cy="145772"/>
          </a:xfrm>
          <a:prstGeom prst="rect">
            <a:avLst/>
          </a:prstGeom>
        </p:spPr>
      </p:pic>
      <p:sp>
        <p:nvSpPr>
          <p:cNvPr id="170" name="Text 45">
            <a:extLst>
              <a:ext uri="{FF2B5EF4-FFF2-40B4-BE49-F238E27FC236}">
                <a16:creationId xmlns:a16="http://schemas.microsoft.com/office/drawing/2014/main" id="{E8856BC4-07FF-4558-A9F5-EFB404064BD4}"/>
              </a:ext>
            </a:extLst>
          </p:cNvPr>
          <p:cNvSpPr txBox="1"/>
          <p:nvPr/>
        </p:nvSpPr>
        <p:spPr>
          <a:xfrm>
            <a:off x="1496072" y="1564728"/>
            <a:ext cx="607470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내 컴퓨터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1" name="Text 46">
            <a:extLst>
              <a:ext uri="{FF2B5EF4-FFF2-40B4-BE49-F238E27FC236}">
                <a16:creationId xmlns:a16="http://schemas.microsoft.com/office/drawing/2014/main" id="{E7449BCD-C7B7-4C95-AF68-25995EF1A200}"/>
              </a:ext>
            </a:extLst>
          </p:cNvPr>
          <p:cNvSpPr txBox="1"/>
          <p:nvPr/>
        </p:nvSpPr>
        <p:spPr>
          <a:xfrm>
            <a:off x="1338789" y="1881234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2" name="Image 17" descr="gen-dedup-e3bb1bdbf10fa3b8ada790141c1d3212.png">
            <a:extLst>
              <a:ext uri="{FF2B5EF4-FFF2-40B4-BE49-F238E27FC236}">
                <a16:creationId xmlns:a16="http://schemas.microsoft.com/office/drawing/2014/main" id="{24284AD3-13CD-4AEE-B86A-48EEFCA4E465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505490" y="1871249"/>
            <a:ext cx="137504" cy="145772"/>
          </a:xfrm>
          <a:prstGeom prst="rect">
            <a:avLst/>
          </a:prstGeom>
        </p:spPr>
      </p:pic>
      <p:sp>
        <p:nvSpPr>
          <p:cNvPr id="173" name="Text 47">
            <a:extLst>
              <a:ext uri="{FF2B5EF4-FFF2-40B4-BE49-F238E27FC236}">
                <a16:creationId xmlns:a16="http://schemas.microsoft.com/office/drawing/2014/main" id="{9A638C46-6AA2-4807-8EB6-3B39C7503EAB}"/>
              </a:ext>
            </a:extLst>
          </p:cNvPr>
          <p:cNvSpPr txBox="1"/>
          <p:nvPr/>
        </p:nvSpPr>
        <p:spPr>
          <a:xfrm>
            <a:off x="1691969" y="1845289"/>
            <a:ext cx="982312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C: 로컬 디스크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4" name="Text 48">
            <a:extLst>
              <a:ext uri="{FF2B5EF4-FFF2-40B4-BE49-F238E27FC236}">
                <a16:creationId xmlns:a16="http://schemas.microsoft.com/office/drawing/2014/main" id="{323AFC2D-633A-482D-BAFB-FD8F3EB4DDFB}"/>
              </a:ext>
            </a:extLst>
          </p:cNvPr>
          <p:cNvSpPr txBox="1"/>
          <p:nvPr/>
        </p:nvSpPr>
        <p:spPr>
          <a:xfrm>
            <a:off x="1534687" y="2141827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5" name="Image 18" descr="gen-dedup-ba01fa70a70d7d3a77dc83183451dc86.png">
            <a:extLst>
              <a:ext uri="{FF2B5EF4-FFF2-40B4-BE49-F238E27FC236}">
                <a16:creationId xmlns:a16="http://schemas.microsoft.com/office/drawing/2014/main" id="{6BB5E545-5BF5-498F-817C-752D4F6D61D6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701387" y="2130844"/>
            <a:ext cx="137504" cy="145772"/>
          </a:xfrm>
          <a:prstGeom prst="rect">
            <a:avLst/>
          </a:prstGeom>
        </p:spPr>
      </p:pic>
      <p:sp>
        <p:nvSpPr>
          <p:cNvPr id="176" name="Text 49">
            <a:extLst>
              <a:ext uri="{FF2B5EF4-FFF2-40B4-BE49-F238E27FC236}">
                <a16:creationId xmlns:a16="http://schemas.microsoft.com/office/drawing/2014/main" id="{1E3BD229-5997-4AB9-8C0F-C468BC742636}"/>
              </a:ext>
            </a:extLst>
          </p:cNvPr>
          <p:cNvSpPr txBox="1"/>
          <p:nvPr/>
        </p:nvSpPr>
        <p:spPr>
          <a:xfrm>
            <a:off x="1887867" y="2125852"/>
            <a:ext cx="760044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Text 50">
            <a:extLst>
              <a:ext uri="{FF2B5EF4-FFF2-40B4-BE49-F238E27FC236}">
                <a16:creationId xmlns:a16="http://schemas.microsoft.com/office/drawing/2014/main" id="{723C73E9-4A4E-4F42-AE7A-87E8358A822A}"/>
              </a:ext>
            </a:extLst>
          </p:cNvPr>
          <p:cNvSpPr txBox="1"/>
          <p:nvPr/>
        </p:nvSpPr>
        <p:spPr>
          <a:xfrm>
            <a:off x="1731525" y="2380455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8" name="Image 19" descr="gen-dedup-164d010ae7e53d534a0b3104348ed19a.png">
            <a:extLst>
              <a:ext uri="{FF2B5EF4-FFF2-40B4-BE49-F238E27FC236}">
                <a16:creationId xmlns:a16="http://schemas.microsoft.com/office/drawing/2014/main" id="{9743F858-A590-4BB3-808D-215064351692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-6250" b="-6250"/>
          <a:stretch/>
        </p:blipFill>
        <p:spPr>
          <a:xfrm>
            <a:off x="1898227" y="2370470"/>
            <a:ext cx="137504" cy="145772"/>
          </a:xfrm>
          <a:prstGeom prst="rect">
            <a:avLst/>
          </a:prstGeom>
        </p:spPr>
      </p:pic>
      <p:sp>
        <p:nvSpPr>
          <p:cNvPr id="179" name="Text 51">
            <a:extLst>
              <a:ext uri="{FF2B5EF4-FFF2-40B4-BE49-F238E27FC236}">
                <a16:creationId xmlns:a16="http://schemas.microsoft.com/office/drawing/2014/main" id="{91A6C390-EF73-4B4E-9448-4A092525C527}"/>
              </a:ext>
            </a:extLst>
          </p:cNvPr>
          <p:cNvSpPr txBox="1"/>
          <p:nvPr/>
        </p:nvSpPr>
        <p:spPr>
          <a:xfrm>
            <a:off x="2084706" y="2365478"/>
            <a:ext cx="681874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0" name="Shape 52">
            <a:extLst>
              <a:ext uri="{FF2B5EF4-FFF2-40B4-BE49-F238E27FC236}">
                <a16:creationId xmlns:a16="http://schemas.microsoft.com/office/drawing/2014/main" id="{64A3B9A6-8696-4451-88B1-C3DE0AFFCA24}"/>
              </a:ext>
            </a:extLst>
          </p:cNvPr>
          <p:cNvSpPr/>
          <p:nvPr/>
        </p:nvSpPr>
        <p:spPr>
          <a:xfrm>
            <a:off x="1092676" y="3398467"/>
            <a:ext cx="2276364" cy="155756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Text 53">
            <a:extLst>
              <a:ext uri="{FF2B5EF4-FFF2-40B4-BE49-F238E27FC236}">
                <a16:creationId xmlns:a16="http://schemas.microsoft.com/office/drawing/2014/main" id="{CAF9D105-2730-4456-BD86-A00FA06DCDA1}"/>
              </a:ext>
            </a:extLst>
          </p:cNvPr>
          <p:cNvSpPr txBox="1"/>
          <p:nvPr/>
        </p:nvSpPr>
        <p:spPr>
          <a:xfrm>
            <a:off x="2280602" y="2604105"/>
            <a:ext cx="1472055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WinAPI_DontStarve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3" name="Image 21" descr="gen-dedup-2302e8a913f082daf4055bce75fbff92.png">
            <a:extLst>
              <a:ext uri="{FF2B5EF4-FFF2-40B4-BE49-F238E27FC236}">
                <a16:creationId xmlns:a16="http://schemas.microsoft.com/office/drawing/2014/main" id="{84D0CCAD-71D2-440D-B1DE-D8B05BC99660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2615089"/>
            <a:ext cx="137504" cy="145772"/>
          </a:xfrm>
          <a:prstGeom prst="rect">
            <a:avLst/>
          </a:prstGeom>
        </p:spPr>
      </p:pic>
      <p:pic>
        <p:nvPicPr>
          <p:cNvPr id="181" name="Image 20" descr="gen-dedup-7b3a43cc425eedfd0625165e094889b2.png">
            <a:extLst>
              <a:ext uri="{FF2B5EF4-FFF2-40B4-BE49-F238E27FC236}">
                <a16:creationId xmlns:a16="http://schemas.microsoft.com/office/drawing/2014/main" id="{474C4BB9-402A-426A-8DC2-FE30E2469527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-16667" r="-16667"/>
          <a:stretch/>
        </p:blipFill>
        <p:spPr>
          <a:xfrm>
            <a:off x="2090319" y="3410070"/>
            <a:ext cx="137504" cy="145772"/>
          </a:xfrm>
          <a:prstGeom prst="rect">
            <a:avLst/>
          </a:prstGeom>
        </p:spPr>
      </p:pic>
      <p:sp>
        <p:nvSpPr>
          <p:cNvPr id="184" name="Text 54">
            <a:extLst>
              <a:ext uri="{FF2B5EF4-FFF2-40B4-BE49-F238E27FC236}">
                <a16:creationId xmlns:a16="http://schemas.microsoft.com/office/drawing/2014/main" id="{31E9B7CF-593C-4A81-9275-E23FA6F6FF6D}"/>
              </a:ext>
            </a:extLst>
          </p:cNvPr>
          <p:cNvSpPr txBox="1"/>
          <p:nvPr/>
        </p:nvSpPr>
        <p:spPr>
          <a:xfrm>
            <a:off x="2280602" y="2868224"/>
            <a:ext cx="976709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File Tower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Defence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5" name="Image 22" descr="gen-dedup-2302e8a913f082daf4055bce75fbff92.png">
            <a:extLst>
              <a:ext uri="{FF2B5EF4-FFF2-40B4-BE49-F238E27FC236}">
                <a16:creationId xmlns:a16="http://schemas.microsoft.com/office/drawing/2014/main" id="{A18364CD-242D-46EE-BC7A-AAB0C31013B5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2879082"/>
            <a:ext cx="137504" cy="145772"/>
          </a:xfrm>
          <a:prstGeom prst="rect">
            <a:avLst/>
          </a:prstGeom>
        </p:spPr>
      </p:pic>
      <p:sp>
        <p:nvSpPr>
          <p:cNvPr id="186" name="Text 55">
            <a:extLst>
              <a:ext uri="{FF2B5EF4-FFF2-40B4-BE49-F238E27FC236}">
                <a16:creationId xmlns:a16="http://schemas.microsoft.com/office/drawing/2014/main" id="{90569763-24C7-4A44-99BB-8107D5A4F9AE}"/>
              </a:ext>
            </a:extLst>
          </p:cNvPr>
          <p:cNvSpPr txBox="1"/>
          <p:nvPr/>
        </p:nvSpPr>
        <p:spPr>
          <a:xfrm>
            <a:off x="2280602" y="3132343"/>
            <a:ext cx="1079319" cy="15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 Racing Simulation</a:t>
            </a:r>
          </a:p>
        </p:txBody>
      </p:sp>
      <p:sp>
        <p:nvSpPr>
          <p:cNvPr id="187" name="Text 56">
            <a:extLst>
              <a:ext uri="{FF2B5EF4-FFF2-40B4-BE49-F238E27FC236}">
                <a16:creationId xmlns:a16="http://schemas.microsoft.com/office/drawing/2014/main" id="{866DB103-F61D-4F55-8CB2-0DCECDF562DE}"/>
              </a:ext>
            </a:extLst>
          </p:cNvPr>
          <p:cNvSpPr txBox="1"/>
          <p:nvPr/>
        </p:nvSpPr>
        <p:spPr>
          <a:xfrm>
            <a:off x="3389118" y="1517801"/>
            <a:ext cx="98890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▲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8" name="Text 57">
            <a:extLst>
              <a:ext uri="{FF2B5EF4-FFF2-40B4-BE49-F238E27FC236}">
                <a16:creationId xmlns:a16="http://schemas.microsoft.com/office/drawing/2014/main" id="{07972270-EEB3-4E57-A275-58C3789BD728}"/>
              </a:ext>
            </a:extLst>
          </p:cNvPr>
          <p:cNvSpPr txBox="1"/>
          <p:nvPr/>
        </p:nvSpPr>
        <p:spPr>
          <a:xfrm>
            <a:off x="3389118" y="5677309"/>
            <a:ext cx="98890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Text 59">
            <a:extLst>
              <a:ext uri="{FF2B5EF4-FFF2-40B4-BE49-F238E27FC236}">
                <a16:creationId xmlns:a16="http://schemas.microsoft.com/office/drawing/2014/main" id="{F370B7F2-545A-4C3C-AE52-60FFDC3BC6C9}"/>
              </a:ext>
            </a:extLst>
          </p:cNvPr>
          <p:cNvSpPr txBox="1"/>
          <p:nvPr/>
        </p:nvSpPr>
        <p:spPr>
          <a:xfrm>
            <a:off x="1142891" y="5937901"/>
            <a:ext cx="515173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5개 개체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2" name="Text 60">
            <a:extLst>
              <a:ext uri="{FF2B5EF4-FFF2-40B4-BE49-F238E27FC236}">
                <a16:creationId xmlns:a16="http://schemas.microsoft.com/office/drawing/2014/main" id="{56BEFB76-4CFC-42A7-B9E8-E085EEAF66E4}"/>
              </a:ext>
            </a:extLst>
          </p:cNvPr>
          <p:cNvSpPr txBox="1"/>
          <p:nvPr/>
        </p:nvSpPr>
        <p:spPr>
          <a:xfrm>
            <a:off x="3644351" y="5937901"/>
            <a:ext cx="2312154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1개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항목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선택됨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World First Kill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Shape 29">
            <a:extLst>
              <a:ext uri="{FF2B5EF4-FFF2-40B4-BE49-F238E27FC236}">
                <a16:creationId xmlns:a16="http://schemas.microsoft.com/office/drawing/2014/main" id="{C8E8281E-329E-4104-AF26-2BF462B61E3F}"/>
              </a:ext>
            </a:extLst>
          </p:cNvPr>
          <p:cNvSpPr/>
          <p:nvPr/>
        </p:nvSpPr>
        <p:spPr>
          <a:xfrm>
            <a:off x="3615584" y="1517800"/>
            <a:ext cx="8262000" cy="312984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9" name="Text 58">
            <a:extLst>
              <a:ext uri="{FF2B5EF4-FFF2-40B4-BE49-F238E27FC236}">
                <a16:creationId xmlns:a16="http://schemas.microsoft.com/office/drawing/2014/main" id="{ADA0929B-6390-4236-84B5-CBBBC1E952F8}"/>
              </a:ext>
            </a:extLst>
          </p:cNvPr>
          <p:cNvSpPr txBox="1"/>
          <p:nvPr/>
        </p:nvSpPr>
        <p:spPr>
          <a:xfrm>
            <a:off x="3680570" y="1579370"/>
            <a:ext cx="2661235" cy="190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상세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정보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–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World First Kill</a:t>
            </a:r>
          </a:p>
        </p:txBody>
      </p:sp>
      <p:graphicFrame>
        <p:nvGraphicFramePr>
          <p:cNvPr id="190" name="Table 0">
            <a:extLst>
              <a:ext uri="{FF2B5EF4-FFF2-40B4-BE49-F238E27FC236}">
                <a16:creationId xmlns:a16="http://schemas.microsoft.com/office/drawing/2014/main" id="{17C5AF9B-F49B-46DE-BE64-BBD629004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539941"/>
              </p:ext>
            </p:extLst>
          </p:nvPr>
        </p:nvGraphicFramePr>
        <p:xfrm>
          <a:off x="3680571" y="1992100"/>
          <a:ext cx="8091719" cy="3775367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214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4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96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33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32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플랫폼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모바일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(Android)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장르</a:t>
                      </a:r>
                      <a:endParaRPr lang="ko-KR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RPG,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시뮬레이션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2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인원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9인(기획1, 아트4, </a:t>
                      </a:r>
                      <a:r>
                        <a:rPr lang="ko-KR" altLang="en-US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플밍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4)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기간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2025.03 ~ 2025.09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2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도구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C#, Unity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동영상 링크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EE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  <a:hlinkClick r:id="rId20"/>
                        </a:rPr>
                        <a:t>유튜브 링크</a:t>
                      </a:r>
                      <a:endParaRPr lang="en-US" sz="14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7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요약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95098" marB="950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매 한 판 한 판이 달라지는 </a:t>
                      </a:r>
                      <a:r>
                        <a:rPr lang="en-US" altLang="ko-KR" sz="1400" dirty="0"/>
                        <a:t>RPG</a:t>
                      </a:r>
                      <a:r>
                        <a:rPr lang="ko-KR" altLang="en-US" sz="1400" dirty="0"/>
                        <a:t>의 재미를 줄 수 있는 게임이다</a:t>
                      </a:r>
                      <a:r>
                        <a:rPr lang="en-US" altLang="ko-KR" sz="1400" dirty="0"/>
                        <a:t>. 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매 판마다 등장하는 맵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퀘스트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직업 정보가 달라지므로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이런 상황적 랜덤성을 이용해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플레이어는 상황에 맞는 전략과 빌드를 선택해서 게임을 즐길 수 있다</a:t>
                      </a:r>
                      <a:r>
                        <a:rPr lang="en-US" altLang="ko-KR" sz="1400" dirty="0"/>
                        <a:t>.</a:t>
                      </a:r>
                    </a:p>
                  </a:txBody>
                  <a:tcPr marL="95098" marR="95098" marT="95098" marB="950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7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동기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95098" marB="950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서버로부터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받아온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CSV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데이터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관리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파싱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시스템과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CSV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버전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관리</a:t>
                      </a:r>
                      <a:endParaRPr lang="en-US" altLang="ko-KR" sz="1400" dirty="0"/>
                    </a:p>
                    <a:p>
                      <a:pPr marL="0" indent="0" algn="l">
                        <a:buNone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퀘스트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수락과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보상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클리어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시스템</a:t>
                      </a:r>
                      <a:endParaRPr lang="en-US" altLang="ko-KR" sz="1400" dirty="0"/>
                    </a:p>
                    <a:p>
                      <a:pPr marL="0" indent="0" algn="l">
                        <a:buNone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 맵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이동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시스템</a:t>
                      </a:r>
                      <a:endParaRPr lang="en-US" altLang="ko-KR" sz="1400" dirty="0"/>
                    </a:p>
                    <a:p>
                      <a:pPr marL="0" indent="0" algn="l">
                        <a:buNone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 Seed/Token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기반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세이브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로드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altLang="ko-KR" sz="14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시스템</a:t>
                      </a:r>
                      <a:endParaRPr lang="en-US" altLang="ko-KR" sz="1400" dirty="0"/>
                    </a:p>
                  </a:txBody>
                  <a:tcPr marL="95098" marR="95098" marT="95098" marB="950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Shape 3">
            <a:extLst>
              <a:ext uri="{FF2B5EF4-FFF2-40B4-BE49-F238E27FC236}">
                <a16:creationId xmlns:a16="http://schemas.microsoft.com/office/drawing/2014/main" id="{8D2D6D18-3D4F-2789-2367-5B77242E2AAF}"/>
              </a:ext>
            </a:extLst>
          </p:cNvPr>
          <p:cNvSpPr/>
          <p:nvPr/>
        </p:nvSpPr>
        <p:spPr>
          <a:xfrm>
            <a:off x="250546" y="4467759"/>
            <a:ext cx="629107" cy="590702"/>
          </a:xfrm>
          <a:prstGeom prst="rect">
            <a:avLst/>
          </a:prstGeom>
          <a:solidFill>
            <a:srgbClr val="000080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0" descr="gen-dedup-57ee6a1f0d650d3a975db06a8ec6cc96.png">
            <a:extLst>
              <a:ext uri="{FF2B5EF4-FFF2-40B4-BE49-F238E27FC236}">
                <a16:creationId xmlns:a16="http://schemas.microsoft.com/office/drawing/2014/main" id="{EFCF0412-E908-C7BF-BC55-BAE05E0EE497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t="-6250" b="-6250"/>
          <a:stretch/>
        </p:blipFill>
        <p:spPr>
          <a:xfrm>
            <a:off x="381305" y="1047902"/>
            <a:ext cx="381305" cy="381305"/>
          </a:xfrm>
          <a:prstGeom prst="rect">
            <a:avLst/>
          </a:prstGeom>
        </p:spPr>
      </p:pic>
      <p:sp>
        <p:nvSpPr>
          <p:cNvPr id="30" name="Text 5">
            <a:extLst>
              <a:ext uri="{FF2B5EF4-FFF2-40B4-BE49-F238E27FC236}">
                <a16:creationId xmlns:a16="http://schemas.microsoft.com/office/drawing/2014/main" id="{7AAA51FF-B4B2-0FFB-7A35-7798244C584C}"/>
              </a:ext>
            </a:extLst>
          </p:cNvPr>
          <p:cNvSpPr txBox="1"/>
          <p:nvPr/>
        </p:nvSpPr>
        <p:spPr>
          <a:xfrm>
            <a:off x="269748" y="1485900"/>
            <a:ext cx="609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내 컴퓨터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184DF3B7-FDCE-FAA3-5633-C68B5A2B905F}"/>
              </a:ext>
            </a:extLst>
          </p:cNvPr>
          <p:cNvSpPr txBox="1"/>
          <p:nvPr/>
        </p:nvSpPr>
        <p:spPr>
          <a:xfrm>
            <a:off x="226771" y="2391156"/>
            <a:ext cx="695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포트폴리오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2" descr="gen-dedup-313e4be3ff4060006731241b7cc55ba4.png">
            <a:extLst>
              <a:ext uri="{FF2B5EF4-FFF2-40B4-BE49-F238E27FC236}">
                <a16:creationId xmlns:a16="http://schemas.microsoft.com/office/drawing/2014/main" id="{728E10CD-CA85-D2DB-FF94-BE9BBB734443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381305" y="2809951"/>
            <a:ext cx="381305" cy="381305"/>
          </a:xfrm>
          <a:prstGeom prst="rect">
            <a:avLst/>
          </a:prstGeom>
        </p:spPr>
      </p:pic>
      <p:sp>
        <p:nvSpPr>
          <p:cNvPr id="33" name="Text 7">
            <a:extLst>
              <a:ext uri="{FF2B5EF4-FFF2-40B4-BE49-F238E27FC236}">
                <a16:creationId xmlns:a16="http://schemas.microsoft.com/office/drawing/2014/main" id="{F7A0DC63-18A1-C8DD-A968-4357801E6074}"/>
              </a:ext>
            </a:extLst>
          </p:cNvPr>
          <p:cNvSpPr txBox="1"/>
          <p:nvPr/>
        </p:nvSpPr>
        <p:spPr>
          <a:xfrm>
            <a:off x="419710" y="3191256"/>
            <a:ext cx="342900" cy="24780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tIns="25400" rIns="381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목차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4" name="Image 3" descr="gen-dedup-ef6105ed2e63baeb37694681937bef0b.png">
            <a:extLst>
              <a:ext uri="{FF2B5EF4-FFF2-40B4-BE49-F238E27FC236}">
                <a16:creationId xmlns:a16="http://schemas.microsoft.com/office/drawing/2014/main" id="{A082A422-BE55-F011-2CC6-0BD13AAB9478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-7143" r="-7143"/>
          <a:stretch/>
        </p:blipFill>
        <p:spPr>
          <a:xfrm>
            <a:off x="381305" y="3715207"/>
            <a:ext cx="381305" cy="381305"/>
          </a:xfrm>
          <a:prstGeom prst="rect">
            <a:avLst/>
          </a:prstGeom>
        </p:spPr>
      </p:pic>
      <p:sp>
        <p:nvSpPr>
          <p:cNvPr id="35" name="Text 8">
            <a:extLst>
              <a:ext uri="{FF2B5EF4-FFF2-40B4-BE49-F238E27FC236}">
                <a16:creationId xmlns:a16="http://schemas.microsoft.com/office/drawing/2014/main" id="{5D9317CB-ACDF-B233-EDA4-3672C9C9401D}"/>
              </a:ext>
            </a:extLst>
          </p:cNvPr>
          <p:cNvSpPr txBox="1"/>
          <p:nvPr/>
        </p:nvSpPr>
        <p:spPr>
          <a:xfrm>
            <a:off x="349301" y="4153205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Image 4" descr="gen-dedup-9fdbec92b016124fd02e3850a5123f8c.png">
            <a:extLst>
              <a:ext uri="{FF2B5EF4-FFF2-40B4-BE49-F238E27FC236}">
                <a16:creationId xmlns:a16="http://schemas.microsoft.com/office/drawing/2014/main" id="{7E6D6121-5D76-57FF-25F6-6DE7C56EE4E0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381305" y="4572000"/>
            <a:ext cx="381305" cy="381305"/>
          </a:xfrm>
          <a:prstGeom prst="rect">
            <a:avLst/>
          </a:prstGeom>
        </p:spPr>
      </p:pic>
      <p:sp>
        <p:nvSpPr>
          <p:cNvPr id="37" name="Text 9">
            <a:extLst>
              <a:ext uri="{FF2B5EF4-FFF2-40B4-BE49-F238E27FC236}">
                <a16:creationId xmlns:a16="http://schemas.microsoft.com/office/drawing/2014/main" id="{A8EF988B-8A30-9D89-7D01-D210D2C0B7B7}"/>
              </a:ext>
            </a:extLst>
          </p:cNvPr>
          <p:cNvSpPr txBox="1"/>
          <p:nvPr/>
        </p:nvSpPr>
        <p:spPr>
          <a:xfrm>
            <a:off x="288036" y="5009998"/>
            <a:ext cx="571500" cy="2286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프로젝트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C763788-A732-CC21-1C1E-3C4A06882F74}"/>
              </a:ext>
            </a:extLst>
          </p:cNvPr>
          <p:cNvGrpSpPr/>
          <p:nvPr/>
        </p:nvGrpSpPr>
        <p:grpSpPr>
          <a:xfrm>
            <a:off x="342900" y="1904695"/>
            <a:ext cx="457200" cy="457200"/>
            <a:chOff x="342900" y="1904695"/>
            <a:chExt cx="457200" cy="457200"/>
          </a:xfrm>
        </p:grpSpPr>
        <p:pic>
          <p:nvPicPr>
            <p:cNvPr id="39" name="Image 1" descr="gen-dedup-36f1f1ccf4a0e8533d6290f10bde510b.png">
              <a:extLst>
                <a:ext uri="{FF2B5EF4-FFF2-40B4-BE49-F238E27FC236}">
                  <a16:creationId xmlns:a16="http://schemas.microsoft.com/office/drawing/2014/main" id="{D19DF641-2009-CA60-A812-FB2E4D8CF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rcRect/>
            <a:stretch/>
          </p:blipFill>
          <p:spPr>
            <a:xfrm>
              <a:off x="342900" y="1904695"/>
              <a:ext cx="457200" cy="457200"/>
            </a:xfrm>
            <a:prstGeom prst="rect">
              <a:avLst/>
            </a:prstGeom>
          </p:spPr>
        </p:pic>
        <p:pic>
          <p:nvPicPr>
            <p:cNvPr id="40" name="Image 5" descr="gen-dedup-72bd3513d2cf055f9eacb7e2be8dea4c.png">
              <a:extLst>
                <a:ext uri="{FF2B5EF4-FFF2-40B4-BE49-F238E27FC236}">
                  <a16:creationId xmlns:a16="http://schemas.microsoft.com/office/drawing/2014/main" id="{3CC83CE2-81A3-D033-46EA-9C7AD7E63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rcRect t="-12500" b="-12500"/>
            <a:stretch/>
          </p:blipFill>
          <p:spPr>
            <a:xfrm>
              <a:off x="437998" y="2038198"/>
              <a:ext cx="267005" cy="267005"/>
            </a:xfrm>
            <a:prstGeom prst="rect">
              <a:avLst/>
            </a:prstGeom>
          </p:spPr>
        </p:pic>
      </p:grpSp>
      <p:pic>
        <p:nvPicPr>
          <p:cNvPr id="41" name="Image 22" descr="gen-dedup-2302e8a913f082daf4055bce75fbff92.png">
            <a:extLst>
              <a:ext uri="{FF2B5EF4-FFF2-40B4-BE49-F238E27FC236}">
                <a16:creationId xmlns:a16="http://schemas.microsoft.com/office/drawing/2014/main" id="{D4457459-CEDB-FBC0-F26E-E26EE78F0221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3143075"/>
            <a:ext cx="137835" cy="148774"/>
          </a:xfrm>
          <a:prstGeom prst="rect">
            <a:avLst/>
          </a:prstGeom>
        </p:spPr>
      </p:pic>
      <p:sp>
        <p:nvSpPr>
          <p:cNvPr id="42" name="Text 55">
            <a:extLst>
              <a:ext uri="{FF2B5EF4-FFF2-40B4-BE49-F238E27FC236}">
                <a16:creationId xmlns:a16="http://schemas.microsoft.com/office/drawing/2014/main" id="{156B8AB8-E0C1-DC86-9D04-EA2864B6EAFA}"/>
              </a:ext>
            </a:extLst>
          </p:cNvPr>
          <p:cNvSpPr txBox="1"/>
          <p:nvPr/>
        </p:nvSpPr>
        <p:spPr>
          <a:xfrm>
            <a:off x="2280602" y="3391468"/>
            <a:ext cx="1081917" cy="15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World First Kill</a:t>
            </a:r>
          </a:p>
        </p:txBody>
      </p:sp>
      <p:sp>
        <p:nvSpPr>
          <p:cNvPr id="44" name="Text 55">
            <a:extLst>
              <a:ext uri="{FF2B5EF4-FFF2-40B4-BE49-F238E27FC236}">
                <a16:creationId xmlns:a16="http://schemas.microsoft.com/office/drawing/2014/main" id="{10548B94-AED8-2DE4-5428-A123E913F333}"/>
              </a:ext>
            </a:extLst>
          </p:cNvPr>
          <p:cNvSpPr txBox="1"/>
          <p:nvPr/>
        </p:nvSpPr>
        <p:spPr>
          <a:xfrm>
            <a:off x="2280602" y="3653721"/>
            <a:ext cx="1081917" cy="15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기타 프로젝트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1" name="Image 18" descr="gen-dedup-ba01fa70a70d7d3a77dc83183451dc86.png">
            <a:extLst>
              <a:ext uri="{FF2B5EF4-FFF2-40B4-BE49-F238E27FC236}">
                <a16:creationId xmlns:a16="http://schemas.microsoft.com/office/drawing/2014/main" id="{168D4DC0-D96F-47D8-A951-BF723BC6F6FE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2090319" y="3674064"/>
            <a:ext cx="137504" cy="14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006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76695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044000" y="108000"/>
            <a:ext cx="10920520" cy="6084503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1064769" y="128444"/>
            <a:ext cx="10878982" cy="284268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167625" y="513958"/>
            <a:ext cx="10673270" cy="5577299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675732" y="158623"/>
            <a:ext cx="226481" cy="22293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198283" y="169331"/>
            <a:ext cx="2249767" cy="22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World First Kill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.exe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1746940" y="199511"/>
            <a:ext cx="92966" cy="142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36" name="Shape 28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10477195" y="6534302"/>
            <a:ext cx="1619402" cy="267005"/>
          </a:xfrm>
          <a:prstGeom prst="rect">
            <a:avLst/>
          </a:prstGeom>
          <a:solidFill>
            <a:srgbClr val="C0C0C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40" name="Image 6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" name="Image 7" descr="gen-dedup-ba9d3020b28ee88c3f41e8c221d65fea.png"/>
          <p:cNvPicPr>
            <a:picLocks noChangeAspect="1"/>
          </p:cNvPicPr>
          <p:nvPr/>
        </p:nvPicPr>
        <p:blipFill>
          <a:blip r:embed="rId4"/>
          <a:srcRect l="-16666" r="-16666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238098" y="6577279"/>
            <a:ext cx="13578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게임_개발_내용.exe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 8" descr="gen-dedup-7740a029182e5c65b65e33d2aaed94e2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10573207" y="6590995"/>
            <a:ext cx="152705" cy="152705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1124590" y="6590995"/>
            <a:ext cx="7260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10:00 AM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3">
            <a:extLst>
              <a:ext uri="{FF2B5EF4-FFF2-40B4-BE49-F238E27FC236}">
                <a16:creationId xmlns:a16="http://schemas.microsoft.com/office/drawing/2014/main" id="{D3CD7A0C-665C-5D8C-085F-9D543D30C474}"/>
              </a:ext>
            </a:extLst>
          </p:cNvPr>
          <p:cNvSpPr/>
          <p:nvPr/>
        </p:nvSpPr>
        <p:spPr>
          <a:xfrm>
            <a:off x="250546" y="4467759"/>
            <a:ext cx="629107" cy="590702"/>
          </a:xfrm>
          <a:prstGeom prst="rect">
            <a:avLst/>
          </a:prstGeom>
          <a:solidFill>
            <a:srgbClr val="000080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8" name="Image 0" descr="gen-dedup-57ee6a1f0d650d3a975db06a8ec6cc96.png">
            <a:extLst>
              <a:ext uri="{FF2B5EF4-FFF2-40B4-BE49-F238E27FC236}">
                <a16:creationId xmlns:a16="http://schemas.microsoft.com/office/drawing/2014/main" id="{834D1F6C-0CDF-E7F3-E820-C37BB85E345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6250" b="-6250"/>
          <a:stretch/>
        </p:blipFill>
        <p:spPr>
          <a:xfrm>
            <a:off x="381305" y="1047902"/>
            <a:ext cx="381305" cy="381305"/>
          </a:xfrm>
          <a:prstGeom prst="rect">
            <a:avLst/>
          </a:prstGeom>
        </p:spPr>
      </p:pic>
      <p:sp>
        <p:nvSpPr>
          <p:cNvPr id="49" name="Text 5">
            <a:extLst>
              <a:ext uri="{FF2B5EF4-FFF2-40B4-BE49-F238E27FC236}">
                <a16:creationId xmlns:a16="http://schemas.microsoft.com/office/drawing/2014/main" id="{E01929AB-F8B3-4F14-E09C-CBEBBC65A31F}"/>
              </a:ext>
            </a:extLst>
          </p:cNvPr>
          <p:cNvSpPr txBox="1"/>
          <p:nvPr/>
        </p:nvSpPr>
        <p:spPr>
          <a:xfrm>
            <a:off x="269748" y="1485900"/>
            <a:ext cx="609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내 컴퓨터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6">
            <a:extLst>
              <a:ext uri="{FF2B5EF4-FFF2-40B4-BE49-F238E27FC236}">
                <a16:creationId xmlns:a16="http://schemas.microsoft.com/office/drawing/2014/main" id="{2B0E25B6-D57D-78C1-B47D-A27041DAC1A1}"/>
              </a:ext>
            </a:extLst>
          </p:cNvPr>
          <p:cNvSpPr txBox="1"/>
          <p:nvPr/>
        </p:nvSpPr>
        <p:spPr>
          <a:xfrm>
            <a:off x="226771" y="2391156"/>
            <a:ext cx="695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포트폴리오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" name="Image 2" descr="gen-dedup-313e4be3ff4060006731241b7cc55ba4.png">
            <a:extLst>
              <a:ext uri="{FF2B5EF4-FFF2-40B4-BE49-F238E27FC236}">
                <a16:creationId xmlns:a16="http://schemas.microsoft.com/office/drawing/2014/main" id="{D2181919-D947-B1C1-2070-0C0E6697E16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81305" y="2809951"/>
            <a:ext cx="381305" cy="381305"/>
          </a:xfrm>
          <a:prstGeom prst="rect">
            <a:avLst/>
          </a:prstGeom>
        </p:spPr>
      </p:pic>
      <p:sp>
        <p:nvSpPr>
          <p:cNvPr id="52" name="Text 7">
            <a:extLst>
              <a:ext uri="{FF2B5EF4-FFF2-40B4-BE49-F238E27FC236}">
                <a16:creationId xmlns:a16="http://schemas.microsoft.com/office/drawing/2014/main" id="{E0B063D8-0476-320A-A594-D61E083CD81B}"/>
              </a:ext>
            </a:extLst>
          </p:cNvPr>
          <p:cNvSpPr txBox="1"/>
          <p:nvPr/>
        </p:nvSpPr>
        <p:spPr>
          <a:xfrm>
            <a:off x="419710" y="3191256"/>
            <a:ext cx="342900" cy="24780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tIns="25400" rIns="381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목차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3" name="Image 3" descr="gen-dedup-ef6105ed2e63baeb37694681937bef0b.png">
            <a:extLst>
              <a:ext uri="{FF2B5EF4-FFF2-40B4-BE49-F238E27FC236}">
                <a16:creationId xmlns:a16="http://schemas.microsoft.com/office/drawing/2014/main" id="{083003E3-FCE9-C3EB-A38B-966D9A8CA36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381305" y="3715207"/>
            <a:ext cx="381305" cy="381305"/>
          </a:xfrm>
          <a:prstGeom prst="rect">
            <a:avLst/>
          </a:prstGeom>
        </p:spPr>
      </p:pic>
      <p:sp>
        <p:nvSpPr>
          <p:cNvPr id="54" name="Text 8">
            <a:extLst>
              <a:ext uri="{FF2B5EF4-FFF2-40B4-BE49-F238E27FC236}">
                <a16:creationId xmlns:a16="http://schemas.microsoft.com/office/drawing/2014/main" id="{7D57BE65-648F-A850-C469-0BDBC2C9032E}"/>
              </a:ext>
            </a:extLst>
          </p:cNvPr>
          <p:cNvSpPr txBox="1"/>
          <p:nvPr/>
        </p:nvSpPr>
        <p:spPr>
          <a:xfrm>
            <a:off x="349301" y="4153205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5" name="Image 4" descr="gen-dedup-9fdbec92b016124fd02e3850a5123f8c.png">
            <a:extLst>
              <a:ext uri="{FF2B5EF4-FFF2-40B4-BE49-F238E27FC236}">
                <a16:creationId xmlns:a16="http://schemas.microsoft.com/office/drawing/2014/main" id="{B4534DA8-E254-C2E1-3BA5-725871AC31B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81305" y="4572000"/>
            <a:ext cx="381305" cy="381305"/>
          </a:xfrm>
          <a:prstGeom prst="rect">
            <a:avLst/>
          </a:prstGeom>
        </p:spPr>
      </p:pic>
      <p:sp>
        <p:nvSpPr>
          <p:cNvPr id="56" name="Text 9">
            <a:extLst>
              <a:ext uri="{FF2B5EF4-FFF2-40B4-BE49-F238E27FC236}">
                <a16:creationId xmlns:a16="http://schemas.microsoft.com/office/drawing/2014/main" id="{506184E4-4144-57DF-D7C7-9F0B55E0D8E6}"/>
              </a:ext>
            </a:extLst>
          </p:cNvPr>
          <p:cNvSpPr txBox="1"/>
          <p:nvPr/>
        </p:nvSpPr>
        <p:spPr>
          <a:xfrm>
            <a:off x="288036" y="5009998"/>
            <a:ext cx="571500" cy="2286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프로젝트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EBF3C9A2-6E5F-2419-CD2C-7B7C1E5B74A8}"/>
              </a:ext>
            </a:extLst>
          </p:cNvPr>
          <p:cNvGrpSpPr/>
          <p:nvPr/>
        </p:nvGrpSpPr>
        <p:grpSpPr>
          <a:xfrm>
            <a:off x="342900" y="1904695"/>
            <a:ext cx="457200" cy="457200"/>
            <a:chOff x="342900" y="1904695"/>
            <a:chExt cx="457200" cy="457200"/>
          </a:xfrm>
        </p:grpSpPr>
        <p:pic>
          <p:nvPicPr>
            <p:cNvPr id="58" name="Image 1" descr="gen-dedup-36f1f1ccf4a0e8533d6290f10bde510b.png">
              <a:extLst>
                <a:ext uri="{FF2B5EF4-FFF2-40B4-BE49-F238E27FC236}">
                  <a16:creationId xmlns:a16="http://schemas.microsoft.com/office/drawing/2014/main" id="{D4C28A30-F4FA-C258-864B-9F0B10F9C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342900" y="1904695"/>
              <a:ext cx="457200" cy="457200"/>
            </a:xfrm>
            <a:prstGeom prst="rect">
              <a:avLst/>
            </a:prstGeom>
          </p:spPr>
        </p:pic>
        <p:pic>
          <p:nvPicPr>
            <p:cNvPr id="59" name="Image 5" descr="gen-dedup-72bd3513d2cf055f9eacb7e2be8dea4c.png">
              <a:extLst>
                <a:ext uri="{FF2B5EF4-FFF2-40B4-BE49-F238E27FC236}">
                  <a16:creationId xmlns:a16="http://schemas.microsoft.com/office/drawing/2014/main" id="{8BE6AC25-640E-32EB-7700-E0E13FB06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t="-12500" b="-12500"/>
            <a:stretch/>
          </p:blipFill>
          <p:spPr>
            <a:xfrm>
              <a:off x="437998" y="2038198"/>
              <a:ext cx="267005" cy="267005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8F126EA-5A8E-46F5-A088-4B6DC2D35653}"/>
              </a:ext>
            </a:extLst>
          </p:cNvPr>
          <p:cNvGrpSpPr/>
          <p:nvPr/>
        </p:nvGrpSpPr>
        <p:grpSpPr>
          <a:xfrm>
            <a:off x="1753042" y="666597"/>
            <a:ext cx="9525305" cy="381305"/>
            <a:chOff x="1749003" y="666597"/>
            <a:chExt cx="9525305" cy="381305"/>
          </a:xfrm>
        </p:grpSpPr>
        <p:sp>
          <p:nvSpPr>
            <p:cNvPr id="60" name="Shape 12">
              <a:extLst>
                <a:ext uri="{FF2B5EF4-FFF2-40B4-BE49-F238E27FC236}">
                  <a16:creationId xmlns:a16="http://schemas.microsoft.com/office/drawing/2014/main" id="{A770E5B3-FE8D-4D94-9B23-DD92101DB259}"/>
                </a:ext>
              </a:extLst>
            </p:cNvPr>
            <p:cNvSpPr/>
            <p:nvPr/>
          </p:nvSpPr>
          <p:spPr>
            <a:xfrm>
              <a:off x="1749003" y="666597"/>
              <a:ext cx="9525305" cy="381305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71" name="Text 24">
              <a:extLst>
                <a:ext uri="{FF2B5EF4-FFF2-40B4-BE49-F238E27FC236}">
                  <a16:creationId xmlns:a16="http://schemas.microsoft.com/office/drawing/2014/main" id="{001482B1-6544-4606-8D2E-039404005D40}"/>
                </a:ext>
              </a:extLst>
            </p:cNvPr>
            <p:cNvSpPr txBox="1"/>
            <p:nvPr/>
          </p:nvSpPr>
          <p:spPr>
            <a:xfrm>
              <a:off x="3606368" y="742949"/>
              <a:ext cx="581057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1800" b="1" dirty="0" err="1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문제</a:t>
              </a:r>
              <a:r>
                <a:rPr lang="en-US" altLang="ko-KR" sz="1800" b="1" dirty="0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 </a:t>
              </a:r>
              <a:r>
                <a:rPr lang="en-US" altLang="ko-KR" sz="1800" b="1" dirty="0" err="1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해결</a:t>
              </a:r>
              <a:r>
                <a:rPr lang="en-US" altLang="ko-KR" sz="1800" b="1" dirty="0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 </a:t>
              </a:r>
              <a:r>
                <a:rPr lang="en-US" altLang="ko-KR" sz="1800" b="1" dirty="0" err="1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과정</a:t>
              </a:r>
              <a:r>
                <a:rPr lang="en-US" altLang="ko-KR" sz="1800" b="1" dirty="0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 </a:t>
              </a:r>
              <a:r>
                <a:rPr lang="en-US" altLang="ko-KR" sz="1800" b="1" dirty="0" err="1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설계</a:t>
              </a:r>
              <a:r>
                <a:rPr lang="en-US" altLang="ko-KR" sz="1800" b="1" dirty="0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 - </a:t>
              </a:r>
              <a:r>
                <a:rPr lang="en-US" altLang="ko-KR" sz="1800" b="1" dirty="0" err="1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세이브</a:t>
              </a:r>
              <a:r>
                <a:rPr lang="en-US" altLang="ko-KR" sz="1800" b="1" dirty="0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/</a:t>
              </a:r>
              <a:r>
                <a:rPr lang="en-US" altLang="ko-KR" sz="1800" b="1" dirty="0" err="1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로드를</a:t>
              </a:r>
              <a:r>
                <a:rPr lang="en-US" altLang="ko-KR" sz="1800" b="1" dirty="0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 </a:t>
              </a:r>
              <a:r>
                <a:rPr lang="en-US" altLang="ko-KR" sz="1800" b="1" dirty="0" err="1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관리하는</a:t>
              </a:r>
              <a:r>
                <a:rPr lang="en-US" altLang="ko-KR" sz="1800" b="1" dirty="0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 </a:t>
              </a:r>
              <a:r>
                <a:rPr lang="en-US" altLang="ko-KR" sz="1800" b="1" dirty="0" err="1">
                  <a:solidFill>
                    <a:srgbClr val="FFFFFF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매니저</a:t>
              </a:r>
              <a:endParaRPr lang="en-US" altLang="ko-KR" sz="1800" dirty="0"/>
            </a:p>
          </p:txBody>
        </p:sp>
      </p:grpSp>
      <p:sp>
        <p:nvSpPr>
          <p:cNvPr id="123" name="Shape 13">
            <a:extLst>
              <a:ext uri="{FF2B5EF4-FFF2-40B4-BE49-F238E27FC236}">
                <a16:creationId xmlns:a16="http://schemas.microsoft.com/office/drawing/2014/main" id="{E5D9C59E-B66F-4CDA-A2E5-70D5598BB972}"/>
              </a:ext>
            </a:extLst>
          </p:cNvPr>
          <p:cNvSpPr/>
          <p:nvPr/>
        </p:nvSpPr>
        <p:spPr>
          <a:xfrm>
            <a:off x="1886163" y="1357427"/>
            <a:ext cx="4286707" cy="3666744"/>
          </a:xfrm>
          <a:prstGeom prst="rect">
            <a:avLst/>
          </a:prstGeom>
          <a:solidFill>
            <a:srgbClr val="E8E8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4" name="Shape 14">
            <a:extLst>
              <a:ext uri="{FF2B5EF4-FFF2-40B4-BE49-F238E27FC236}">
                <a16:creationId xmlns:a16="http://schemas.microsoft.com/office/drawing/2014/main" id="{4F4841B5-42F0-4D1F-B7DF-193DBB3AFDD2}"/>
              </a:ext>
            </a:extLst>
          </p:cNvPr>
          <p:cNvSpPr/>
          <p:nvPr/>
        </p:nvSpPr>
        <p:spPr>
          <a:xfrm>
            <a:off x="6553260" y="1357427"/>
            <a:ext cx="4286707" cy="3666744"/>
          </a:xfrm>
          <a:prstGeom prst="rect">
            <a:avLst/>
          </a:prstGeom>
          <a:solidFill>
            <a:srgbClr val="E8E8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5" name="Shape 15">
            <a:extLst>
              <a:ext uri="{FF2B5EF4-FFF2-40B4-BE49-F238E27FC236}">
                <a16:creationId xmlns:a16="http://schemas.microsoft.com/office/drawing/2014/main" id="{37DB9E79-0850-4AC8-9C16-DB73E6D4A9A1}"/>
              </a:ext>
            </a:extLst>
          </p:cNvPr>
          <p:cNvSpPr/>
          <p:nvPr/>
        </p:nvSpPr>
        <p:spPr>
          <a:xfrm>
            <a:off x="1886163" y="5262829"/>
            <a:ext cx="8953805" cy="571500"/>
          </a:xfrm>
          <a:prstGeom prst="rect">
            <a:avLst/>
          </a:prstGeom>
          <a:solidFill>
            <a:srgbClr val="D3D3D3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26" name="Shape 16">
            <a:extLst>
              <a:ext uri="{FF2B5EF4-FFF2-40B4-BE49-F238E27FC236}">
                <a16:creationId xmlns:a16="http://schemas.microsoft.com/office/drawing/2014/main" id="{F4CDD386-0FB9-4E63-BE7E-58E1C3E818E9}"/>
              </a:ext>
            </a:extLst>
          </p:cNvPr>
          <p:cNvSpPr/>
          <p:nvPr/>
        </p:nvSpPr>
        <p:spPr>
          <a:xfrm>
            <a:off x="1923653" y="1394917"/>
            <a:ext cx="4209898" cy="333756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7">
            <a:extLst>
              <a:ext uri="{FF2B5EF4-FFF2-40B4-BE49-F238E27FC236}">
                <a16:creationId xmlns:a16="http://schemas.microsoft.com/office/drawing/2014/main" id="{3AA29C6E-1094-4CF1-9401-A465E9988944}"/>
              </a:ext>
            </a:extLst>
          </p:cNvPr>
          <p:cNvSpPr/>
          <p:nvPr/>
        </p:nvSpPr>
        <p:spPr>
          <a:xfrm>
            <a:off x="6591665" y="1394917"/>
            <a:ext cx="4209898" cy="333756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8" name="Image 3" descr="gen-dedup-c5aa3a34a2689a37c814728e4dbf9992.png">
            <a:extLst>
              <a:ext uri="{FF2B5EF4-FFF2-40B4-BE49-F238E27FC236}">
                <a16:creationId xmlns:a16="http://schemas.microsoft.com/office/drawing/2014/main" id="{D139ECE5-4207-4A0F-A046-D6DA72A8A1B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2076358" y="1471727"/>
            <a:ext cx="190195" cy="190195"/>
          </a:xfrm>
          <a:prstGeom prst="rect">
            <a:avLst/>
          </a:prstGeom>
        </p:spPr>
      </p:pic>
      <p:sp>
        <p:nvSpPr>
          <p:cNvPr id="129" name="Text 21">
            <a:extLst>
              <a:ext uri="{FF2B5EF4-FFF2-40B4-BE49-F238E27FC236}">
                <a16:creationId xmlns:a16="http://schemas.microsoft.com/office/drawing/2014/main" id="{49E25240-5AE5-4942-8237-68E7C3D23DFC}"/>
              </a:ext>
            </a:extLst>
          </p:cNvPr>
          <p:cNvSpPr txBox="1"/>
          <p:nvPr/>
        </p:nvSpPr>
        <p:spPr>
          <a:xfrm>
            <a:off x="2362565" y="1447952"/>
            <a:ext cx="3402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GameSeed (게임에서 사용하는 난수 관리자)</a:t>
            </a:r>
            <a:endParaRPr lang="en-US" sz="1200" dirty="0"/>
          </a:p>
        </p:txBody>
      </p:sp>
      <p:sp>
        <p:nvSpPr>
          <p:cNvPr id="130" name="Text 22">
            <a:extLst>
              <a:ext uri="{FF2B5EF4-FFF2-40B4-BE49-F238E27FC236}">
                <a16:creationId xmlns:a16="http://schemas.microsoft.com/office/drawing/2014/main" id="{486E48DD-645F-49A7-AF7A-77FA3F5ACB08}"/>
              </a:ext>
            </a:extLst>
          </p:cNvPr>
          <p:cNvSpPr txBox="1"/>
          <p:nvPr/>
        </p:nvSpPr>
        <p:spPr>
          <a:xfrm>
            <a:off x="2028809" y="1881378"/>
            <a:ext cx="4000500" cy="1686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1400" b="1" dirty="0" err="1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</a:t>
            </a:r>
            <a:r>
              <a:rPr lang="en-US" sz="14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</a:t>
            </a:r>
            <a:r>
              <a:rPr lang="en-US" sz="14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ko-KR" altLang="en-US" sz="14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난수 데이터를 상징</a:t>
            </a:r>
            <a:r>
              <a:rPr lang="en-US" altLang="ko-KR" sz="14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baseSeed (대표 Seed)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난수 사용량을 저장할 딕셔너리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SplitMix64 해시 알고리즘 사용한 랜덤성 부여</a:t>
            </a:r>
            <a:endParaRPr lang="en-US" sz="1400" dirty="0"/>
          </a:p>
        </p:txBody>
      </p:sp>
      <p:pic>
        <p:nvPicPr>
          <p:cNvPr id="131" name="Image 4" descr="gen-dedup-4a27134ef73b07672dc8685d703bf958.png">
            <a:extLst>
              <a:ext uri="{FF2B5EF4-FFF2-40B4-BE49-F238E27FC236}">
                <a16:creationId xmlns:a16="http://schemas.microsoft.com/office/drawing/2014/main" id="{24880416-58C8-444E-BF91-58A52E62E68F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-7143" r="-7143"/>
          <a:stretch/>
        </p:blipFill>
        <p:spPr>
          <a:xfrm>
            <a:off x="6743456" y="1471727"/>
            <a:ext cx="190195" cy="190195"/>
          </a:xfrm>
          <a:prstGeom prst="rect">
            <a:avLst/>
          </a:prstGeom>
        </p:spPr>
      </p:pic>
      <p:sp>
        <p:nvSpPr>
          <p:cNvPr id="132" name="Text 23">
            <a:extLst>
              <a:ext uri="{FF2B5EF4-FFF2-40B4-BE49-F238E27FC236}">
                <a16:creationId xmlns:a16="http://schemas.microsoft.com/office/drawing/2014/main" id="{8989591A-4AFB-4542-B89E-B23F83AD6194}"/>
              </a:ext>
            </a:extLst>
          </p:cNvPr>
          <p:cNvSpPr txBox="1"/>
          <p:nvPr/>
        </p:nvSpPr>
        <p:spPr>
          <a:xfrm>
            <a:off x="7029663" y="1476299"/>
            <a:ext cx="14721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SaveLoadManager</a:t>
            </a:r>
            <a:endParaRPr lang="en-US" sz="1200" dirty="0"/>
          </a:p>
        </p:txBody>
      </p:sp>
      <p:sp>
        <p:nvSpPr>
          <p:cNvPr id="133" name="Text 24">
            <a:extLst>
              <a:ext uri="{FF2B5EF4-FFF2-40B4-BE49-F238E27FC236}">
                <a16:creationId xmlns:a16="http://schemas.microsoft.com/office/drawing/2014/main" id="{E0315362-B806-43F5-9218-37B6DEF538B1}"/>
              </a:ext>
            </a:extLst>
          </p:cNvPr>
          <p:cNvSpPr txBox="1"/>
          <p:nvPr/>
        </p:nvSpPr>
        <p:spPr>
          <a:xfrm>
            <a:off x="6695907" y="1881378"/>
            <a:ext cx="4000500" cy="2648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BuildSeedToken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난수 상태 정보를 텍스트(토큰)으로 </a:t>
            </a:r>
            <a:r>
              <a:rPr lang="en-US" sz="12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압축해서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토큰을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생성한다.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RestoreUsageCount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저장되어 있던 텍스트(토큰)를 해독하여, </a:t>
            </a:r>
          </a:p>
          <a:p>
            <a:pPr marL="0" indent="0" algn="l">
              <a:buNone/>
            </a:pPr>
            <a:r>
              <a:rPr lang="en-US" sz="12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난수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사용을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복구한다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SaveSeedTokenToJson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현재 시드와 토큰 정보를 Json 파일에 저장/최신화 한다.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TryLoadSeedToken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Json 파일에서 </a:t>
            </a:r>
            <a:r>
              <a:rPr lang="en-US" sz="12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토큰을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읽고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Seed</a:t>
            </a:r>
            <a:r>
              <a:rPr lang="ko-KR" alt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와 </a:t>
            </a:r>
            <a:endParaRPr lang="en-US" altLang="ko-KR" sz="1200" b="1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난수 사용량을 불러온다</a:t>
            </a:r>
            <a:endParaRPr lang="en-US" sz="1200" dirty="0"/>
          </a:p>
        </p:txBody>
      </p:sp>
      <p:sp>
        <p:nvSpPr>
          <p:cNvPr id="134" name="Text 25">
            <a:extLst>
              <a:ext uri="{FF2B5EF4-FFF2-40B4-BE49-F238E27FC236}">
                <a16:creationId xmlns:a16="http://schemas.microsoft.com/office/drawing/2014/main" id="{1A74527B-AFAF-4205-9A1B-EA0EF905F583}"/>
              </a:ext>
            </a:extLst>
          </p:cNvPr>
          <p:cNvSpPr txBox="1"/>
          <p:nvPr/>
        </p:nvSpPr>
        <p:spPr>
          <a:xfrm>
            <a:off x="2730154" y="5466740"/>
            <a:ext cx="726490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8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GameSeed에서 관리되는 난수 상태를 SaveLoadManager가 토큰으로 압축하여 저장/복구 수행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30713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76695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044000" y="108000"/>
            <a:ext cx="10920520" cy="6084503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1064769" y="128444"/>
            <a:ext cx="10878982" cy="284268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167625" y="513958"/>
            <a:ext cx="10673270" cy="5577299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675732" y="158623"/>
            <a:ext cx="226481" cy="22293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198283" y="169331"/>
            <a:ext cx="2249767" cy="22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World First Kill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.exe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1746940" y="199511"/>
            <a:ext cx="92966" cy="142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36" name="Shape 28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10477195" y="6534302"/>
            <a:ext cx="1619402" cy="267005"/>
          </a:xfrm>
          <a:prstGeom prst="rect">
            <a:avLst/>
          </a:prstGeom>
          <a:solidFill>
            <a:srgbClr val="C0C0C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40" name="Image 6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" name="Image 7" descr="gen-dedup-ba9d3020b28ee88c3f41e8c221d65fea.png"/>
          <p:cNvPicPr>
            <a:picLocks noChangeAspect="1"/>
          </p:cNvPicPr>
          <p:nvPr/>
        </p:nvPicPr>
        <p:blipFill>
          <a:blip r:embed="rId4"/>
          <a:srcRect l="-16666" r="-16666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238098" y="6577279"/>
            <a:ext cx="13578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게임_개발_내용.exe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 8" descr="gen-dedup-7740a029182e5c65b65e33d2aaed94e2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10573207" y="6590995"/>
            <a:ext cx="152705" cy="152705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1124590" y="6590995"/>
            <a:ext cx="7260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10:00 AM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3">
            <a:extLst>
              <a:ext uri="{FF2B5EF4-FFF2-40B4-BE49-F238E27FC236}">
                <a16:creationId xmlns:a16="http://schemas.microsoft.com/office/drawing/2014/main" id="{D3CD7A0C-665C-5D8C-085F-9D543D30C474}"/>
              </a:ext>
            </a:extLst>
          </p:cNvPr>
          <p:cNvSpPr/>
          <p:nvPr/>
        </p:nvSpPr>
        <p:spPr>
          <a:xfrm>
            <a:off x="250546" y="4467759"/>
            <a:ext cx="629107" cy="590702"/>
          </a:xfrm>
          <a:prstGeom prst="rect">
            <a:avLst/>
          </a:prstGeom>
          <a:solidFill>
            <a:srgbClr val="000080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8" name="Image 0" descr="gen-dedup-57ee6a1f0d650d3a975db06a8ec6cc96.png">
            <a:extLst>
              <a:ext uri="{FF2B5EF4-FFF2-40B4-BE49-F238E27FC236}">
                <a16:creationId xmlns:a16="http://schemas.microsoft.com/office/drawing/2014/main" id="{834D1F6C-0CDF-E7F3-E820-C37BB85E345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6250" b="-6250"/>
          <a:stretch/>
        </p:blipFill>
        <p:spPr>
          <a:xfrm>
            <a:off x="381305" y="1047902"/>
            <a:ext cx="381305" cy="381305"/>
          </a:xfrm>
          <a:prstGeom prst="rect">
            <a:avLst/>
          </a:prstGeom>
        </p:spPr>
      </p:pic>
      <p:sp>
        <p:nvSpPr>
          <p:cNvPr id="49" name="Text 5">
            <a:extLst>
              <a:ext uri="{FF2B5EF4-FFF2-40B4-BE49-F238E27FC236}">
                <a16:creationId xmlns:a16="http://schemas.microsoft.com/office/drawing/2014/main" id="{E01929AB-F8B3-4F14-E09C-CBEBBC65A31F}"/>
              </a:ext>
            </a:extLst>
          </p:cNvPr>
          <p:cNvSpPr txBox="1"/>
          <p:nvPr/>
        </p:nvSpPr>
        <p:spPr>
          <a:xfrm>
            <a:off x="269748" y="1485900"/>
            <a:ext cx="609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내 컴퓨터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6">
            <a:extLst>
              <a:ext uri="{FF2B5EF4-FFF2-40B4-BE49-F238E27FC236}">
                <a16:creationId xmlns:a16="http://schemas.microsoft.com/office/drawing/2014/main" id="{2B0E25B6-D57D-78C1-B47D-A27041DAC1A1}"/>
              </a:ext>
            </a:extLst>
          </p:cNvPr>
          <p:cNvSpPr txBox="1"/>
          <p:nvPr/>
        </p:nvSpPr>
        <p:spPr>
          <a:xfrm>
            <a:off x="226771" y="2391156"/>
            <a:ext cx="695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포트폴리오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" name="Image 2" descr="gen-dedup-313e4be3ff4060006731241b7cc55ba4.png">
            <a:extLst>
              <a:ext uri="{FF2B5EF4-FFF2-40B4-BE49-F238E27FC236}">
                <a16:creationId xmlns:a16="http://schemas.microsoft.com/office/drawing/2014/main" id="{D2181919-D947-B1C1-2070-0C0E6697E16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81305" y="2809951"/>
            <a:ext cx="381305" cy="381305"/>
          </a:xfrm>
          <a:prstGeom prst="rect">
            <a:avLst/>
          </a:prstGeom>
        </p:spPr>
      </p:pic>
      <p:sp>
        <p:nvSpPr>
          <p:cNvPr id="52" name="Text 7">
            <a:extLst>
              <a:ext uri="{FF2B5EF4-FFF2-40B4-BE49-F238E27FC236}">
                <a16:creationId xmlns:a16="http://schemas.microsoft.com/office/drawing/2014/main" id="{E0B063D8-0476-320A-A594-D61E083CD81B}"/>
              </a:ext>
            </a:extLst>
          </p:cNvPr>
          <p:cNvSpPr txBox="1"/>
          <p:nvPr/>
        </p:nvSpPr>
        <p:spPr>
          <a:xfrm>
            <a:off x="419710" y="3191256"/>
            <a:ext cx="342900" cy="24780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tIns="25400" rIns="381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목차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3" name="Image 3" descr="gen-dedup-ef6105ed2e63baeb37694681937bef0b.png">
            <a:extLst>
              <a:ext uri="{FF2B5EF4-FFF2-40B4-BE49-F238E27FC236}">
                <a16:creationId xmlns:a16="http://schemas.microsoft.com/office/drawing/2014/main" id="{083003E3-FCE9-C3EB-A38B-966D9A8CA36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381305" y="3715207"/>
            <a:ext cx="381305" cy="381305"/>
          </a:xfrm>
          <a:prstGeom prst="rect">
            <a:avLst/>
          </a:prstGeom>
        </p:spPr>
      </p:pic>
      <p:sp>
        <p:nvSpPr>
          <p:cNvPr id="54" name="Text 8">
            <a:extLst>
              <a:ext uri="{FF2B5EF4-FFF2-40B4-BE49-F238E27FC236}">
                <a16:creationId xmlns:a16="http://schemas.microsoft.com/office/drawing/2014/main" id="{7D57BE65-648F-A850-C469-0BDBC2C9032E}"/>
              </a:ext>
            </a:extLst>
          </p:cNvPr>
          <p:cNvSpPr txBox="1"/>
          <p:nvPr/>
        </p:nvSpPr>
        <p:spPr>
          <a:xfrm>
            <a:off x="349301" y="4153205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5" name="Image 4" descr="gen-dedup-9fdbec92b016124fd02e3850a5123f8c.png">
            <a:extLst>
              <a:ext uri="{FF2B5EF4-FFF2-40B4-BE49-F238E27FC236}">
                <a16:creationId xmlns:a16="http://schemas.microsoft.com/office/drawing/2014/main" id="{B4534DA8-E254-C2E1-3BA5-725871AC31B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81305" y="4572000"/>
            <a:ext cx="381305" cy="381305"/>
          </a:xfrm>
          <a:prstGeom prst="rect">
            <a:avLst/>
          </a:prstGeom>
        </p:spPr>
      </p:pic>
      <p:sp>
        <p:nvSpPr>
          <p:cNvPr id="100" name="Shape 10">
            <a:extLst>
              <a:ext uri="{FF2B5EF4-FFF2-40B4-BE49-F238E27FC236}">
                <a16:creationId xmlns:a16="http://schemas.microsoft.com/office/drawing/2014/main" id="{28C39675-80EC-402A-A8F2-4844E5F5A817}"/>
              </a:ext>
            </a:extLst>
          </p:cNvPr>
          <p:cNvSpPr/>
          <p:nvPr/>
        </p:nvSpPr>
        <p:spPr>
          <a:xfrm>
            <a:off x="1178662" y="513958"/>
            <a:ext cx="10670437" cy="5577299"/>
          </a:xfrm>
          <a:prstGeom prst="rect">
            <a:avLst/>
          </a:prstGeom>
          <a:solidFill>
            <a:srgbClr val="E8E8E8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56" name="Text 9">
            <a:extLst>
              <a:ext uri="{FF2B5EF4-FFF2-40B4-BE49-F238E27FC236}">
                <a16:creationId xmlns:a16="http://schemas.microsoft.com/office/drawing/2014/main" id="{506184E4-4144-57DF-D7C7-9F0B55E0D8E6}"/>
              </a:ext>
            </a:extLst>
          </p:cNvPr>
          <p:cNvSpPr txBox="1"/>
          <p:nvPr/>
        </p:nvSpPr>
        <p:spPr>
          <a:xfrm>
            <a:off x="288036" y="5009998"/>
            <a:ext cx="571500" cy="2286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프로젝트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EBF3C9A2-6E5F-2419-CD2C-7B7C1E5B74A8}"/>
              </a:ext>
            </a:extLst>
          </p:cNvPr>
          <p:cNvGrpSpPr/>
          <p:nvPr/>
        </p:nvGrpSpPr>
        <p:grpSpPr>
          <a:xfrm>
            <a:off x="342900" y="1904695"/>
            <a:ext cx="457200" cy="457200"/>
            <a:chOff x="342900" y="1904695"/>
            <a:chExt cx="457200" cy="457200"/>
          </a:xfrm>
        </p:grpSpPr>
        <p:pic>
          <p:nvPicPr>
            <p:cNvPr id="58" name="Image 1" descr="gen-dedup-36f1f1ccf4a0e8533d6290f10bde510b.png">
              <a:extLst>
                <a:ext uri="{FF2B5EF4-FFF2-40B4-BE49-F238E27FC236}">
                  <a16:creationId xmlns:a16="http://schemas.microsoft.com/office/drawing/2014/main" id="{D4C28A30-F4FA-C258-864B-9F0B10F9C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342900" y="1904695"/>
              <a:ext cx="457200" cy="457200"/>
            </a:xfrm>
            <a:prstGeom prst="rect">
              <a:avLst/>
            </a:prstGeom>
          </p:spPr>
        </p:pic>
        <p:pic>
          <p:nvPicPr>
            <p:cNvPr id="59" name="Image 5" descr="gen-dedup-72bd3513d2cf055f9eacb7e2be8dea4c.png">
              <a:extLst>
                <a:ext uri="{FF2B5EF4-FFF2-40B4-BE49-F238E27FC236}">
                  <a16:creationId xmlns:a16="http://schemas.microsoft.com/office/drawing/2014/main" id="{8BE6AC25-640E-32EB-7700-E0E13FB06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t="-12500" b="-12500"/>
            <a:stretch/>
          </p:blipFill>
          <p:spPr>
            <a:xfrm>
              <a:off x="437998" y="2038198"/>
              <a:ext cx="267005" cy="267005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8F126EA-5A8E-46F5-A088-4B6DC2D35653}"/>
              </a:ext>
            </a:extLst>
          </p:cNvPr>
          <p:cNvGrpSpPr/>
          <p:nvPr/>
        </p:nvGrpSpPr>
        <p:grpSpPr>
          <a:xfrm>
            <a:off x="1237793" y="666597"/>
            <a:ext cx="10486115" cy="381305"/>
            <a:chOff x="1749003" y="666597"/>
            <a:chExt cx="9525305" cy="381305"/>
          </a:xfrm>
        </p:grpSpPr>
        <p:sp>
          <p:nvSpPr>
            <p:cNvPr id="60" name="Shape 12">
              <a:extLst>
                <a:ext uri="{FF2B5EF4-FFF2-40B4-BE49-F238E27FC236}">
                  <a16:creationId xmlns:a16="http://schemas.microsoft.com/office/drawing/2014/main" id="{A770E5B3-FE8D-4D94-9B23-DD92101DB259}"/>
                </a:ext>
              </a:extLst>
            </p:cNvPr>
            <p:cNvSpPr/>
            <p:nvPr/>
          </p:nvSpPr>
          <p:spPr>
            <a:xfrm>
              <a:off x="1749003" y="666597"/>
              <a:ext cx="9525305" cy="381305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71" name="Text 24">
              <a:extLst>
                <a:ext uri="{FF2B5EF4-FFF2-40B4-BE49-F238E27FC236}">
                  <a16:creationId xmlns:a16="http://schemas.microsoft.com/office/drawing/2014/main" id="{001482B1-6544-4606-8D2E-039404005D40}"/>
                </a:ext>
              </a:extLst>
            </p:cNvPr>
            <p:cNvSpPr txBox="1"/>
            <p:nvPr/>
          </p:nvSpPr>
          <p:spPr>
            <a:xfrm>
              <a:off x="3606368" y="742949"/>
              <a:ext cx="581057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문제</a:t>
              </a:r>
              <a:r>
                <a:rPr kumimoji="0" lang="en-US" altLang="ko-KR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 </a:t>
              </a:r>
              <a:r>
                <a:rPr kumimoji="0" lang="en-US" altLang="ko-KR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해결</a:t>
              </a:r>
              <a:r>
                <a:rPr kumimoji="0" lang="en-US" altLang="ko-KR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 </a:t>
              </a:r>
              <a:r>
                <a:rPr kumimoji="0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결과</a:t>
              </a:r>
              <a:r>
                <a:rPr kumimoji="0" lang="en-US" altLang="ko-KR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 – </a:t>
              </a:r>
              <a:r>
                <a:rPr lang="en-US" altLang="ko-KR" sz="18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1826533749 Seed</a:t>
              </a:r>
              <a:r>
                <a:rPr lang="ko-KR" altLang="en-US" sz="18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를 예시로</a:t>
              </a:r>
              <a:endPara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5076F64A-DAA8-44A2-B716-FDAD30AFF4FA}"/>
              </a:ext>
            </a:extLst>
          </p:cNvPr>
          <p:cNvGrpSpPr/>
          <p:nvPr/>
        </p:nvGrpSpPr>
        <p:grpSpPr>
          <a:xfrm>
            <a:off x="2640388" y="1113100"/>
            <a:ext cx="2743200" cy="400507"/>
            <a:chOff x="1295705" y="1185988"/>
            <a:chExt cx="2743200" cy="400507"/>
          </a:xfrm>
        </p:grpSpPr>
        <p:sp>
          <p:nvSpPr>
            <p:cNvPr id="67" name="Shape 7">
              <a:extLst>
                <a:ext uri="{FF2B5EF4-FFF2-40B4-BE49-F238E27FC236}">
                  <a16:creationId xmlns:a16="http://schemas.microsoft.com/office/drawing/2014/main" id="{FCEE23DC-9CE1-4466-A9E9-5AB424CDD079}"/>
                </a:ext>
              </a:extLst>
            </p:cNvPr>
            <p:cNvSpPr/>
            <p:nvPr/>
          </p:nvSpPr>
          <p:spPr>
            <a:xfrm>
              <a:off x="1295705" y="1185988"/>
              <a:ext cx="2743200" cy="400507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69" name="Text 10">
              <a:extLst>
                <a:ext uri="{FF2B5EF4-FFF2-40B4-BE49-F238E27FC236}">
                  <a16:creationId xmlns:a16="http://schemas.microsoft.com/office/drawing/2014/main" id="{529BB2A5-0DCF-4762-8928-4F2657FDB8E3}"/>
                </a:ext>
              </a:extLst>
            </p:cNvPr>
            <p:cNvSpPr txBox="1"/>
            <p:nvPr/>
          </p:nvSpPr>
          <p:spPr>
            <a:xfrm>
              <a:off x="1581912" y="1252739"/>
              <a:ext cx="213329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데이터 인코딩 &amp; JSON 예시</a:t>
              </a:r>
              <a:endParaRPr lang="en-US" sz="1200" dirty="0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31A5A10-FBAF-4203-982C-69CEB315100E}"/>
              </a:ext>
            </a:extLst>
          </p:cNvPr>
          <p:cNvGrpSpPr/>
          <p:nvPr/>
        </p:nvGrpSpPr>
        <p:grpSpPr>
          <a:xfrm>
            <a:off x="7151909" y="1622213"/>
            <a:ext cx="4572000" cy="1266444"/>
            <a:chOff x="7741980" y="944565"/>
            <a:chExt cx="4572000" cy="1266444"/>
          </a:xfrm>
        </p:grpSpPr>
        <p:sp>
          <p:nvSpPr>
            <p:cNvPr id="134" name="Shape 45">
              <a:extLst>
                <a:ext uri="{FF2B5EF4-FFF2-40B4-BE49-F238E27FC236}">
                  <a16:creationId xmlns:a16="http://schemas.microsoft.com/office/drawing/2014/main" id="{55104175-B396-4861-A4A6-EA466D2CC326}"/>
                </a:ext>
              </a:extLst>
            </p:cNvPr>
            <p:cNvSpPr/>
            <p:nvPr/>
          </p:nvSpPr>
          <p:spPr>
            <a:xfrm>
              <a:off x="7741980" y="944565"/>
              <a:ext cx="4572000" cy="1266444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C0C0C0"/>
              </a:solidFill>
              <a:prstDash val="solid"/>
            </a:ln>
          </p:spPr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453A9E03-3D6E-443C-82E6-7B8DAB5EAFB1}"/>
                </a:ext>
              </a:extLst>
            </p:cNvPr>
            <p:cNvGrpSpPr/>
            <p:nvPr/>
          </p:nvGrpSpPr>
          <p:grpSpPr>
            <a:xfrm>
              <a:off x="7999841" y="1202426"/>
              <a:ext cx="4058107" cy="752552"/>
              <a:chOff x="7999841" y="1202426"/>
              <a:chExt cx="4058107" cy="752552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E17D65F1-3397-426D-B516-CFE2B0756ED4}"/>
                  </a:ext>
                </a:extLst>
              </p:cNvPr>
              <p:cNvGrpSpPr/>
              <p:nvPr/>
            </p:nvGrpSpPr>
            <p:grpSpPr>
              <a:xfrm>
                <a:off x="7999841" y="1292952"/>
                <a:ext cx="571500" cy="571500"/>
                <a:chOff x="7999841" y="1292952"/>
                <a:chExt cx="571500" cy="571500"/>
              </a:xfrm>
            </p:grpSpPr>
            <p:sp>
              <p:nvSpPr>
                <p:cNvPr id="135" name="Shape 46">
                  <a:extLst>
                    <a:ext uri="{FF2B5EF4-FFF2-40B4-BE49-F238E27FC236}">
                      <a16:creationId xmlns:a16="http://schemas.microsoft.com/office/drawing/2014/main" id="{2A1B2760-286E-4E1B-AA9F-680131D0CB40}"/>
                    </a:ext>
                  </a:extLst>
                </p:cNvPr>
                <p:cNvSpPr/>
                <p:nvPr/>
              </p:nvSpPr>
              <p:spPr>
                <a:xfrm>
                  <a:off x="7999841" y="1292952"/>
                  <a:ext cx="571500" cy="571500"/>
                </a:xfrm>
                <a:prstGeom prst="ellipse">
                  <a:avLst/>
                </a:prstGeom>
                <a:solidFill>
                  <a:srgbClr val="008080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pic>
              <p:nvPicPr>
                <p:cNvPr id="136" name="Image 0" descr="gen-dedup-2fbfd2c3d482395f98fd4bea048be4e8.png">
                  <a:extLst>
                    <a:ext uri="{FF2B5EF4-FFF2-40B4-BE49-F238E27FC236}">
                      <a16:creationId xmlns:a16="http://schemas.microsoft.com/office/drawing/2014/main" id="{7B0D9ECC-7961-4C27-9E69-2459C11A2A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rcRect/>
                <a:stretch/>
              </p:blipFill>
              <p:spPr>
                <a:xfrm>
                  <a:off x="8151631" y="1444742"/>
                  <a:ext cx="267005" cy="267005"/>
                </a:xfrm>
                <a:prstGeom prst="rect">
                  <a:avLst/>
                </a:prstGeom>
              </p:spPr>
            </p:pic>
          </p:grpSp>
          <p:sp>
            <p:nvSpPr>
              <p:cNvPr id="137" name="Text 47">
                <a:extLst>
                  <a:ext uri="{FF2B5EF4-FFF2-40B4-BE49-F238E27FC236}">
                    <a16:creationId xmlns:a16="http://schemas.microsoft.com/office/drawing/2014/main" id="{D51319DF-8085-47A6-B232-E657A1C69911}"/>
                  </a:ext>
                </a:extLst>
              </p:cNvPr>
              <p:cNvSpPr txBox="1"/>
              <p:nvPr/>
            </p:nvSpPr>
            <p:spPr>
              <a:xfrm>
                <a:off x="8761536" y="1202426"/>
                <a:ext cx="3296412" cy="2478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300" b="1" dirty="0">
                    <a:solidFill>
                      <a:srgbClr val="000080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SeedToken 완벽 복원</a:t>
                </a:r>
                <a:endParaRPr lang="en-US" sz="1300" dirty="0"/>
              </a:p>
            </p:txBody>
          </p:sp>
          <p:sp>
            <p:nvSpPr>
              <p:cNvPr id="138" name="Text 48">
                <a:extLst>
                  <a:ext uri="{FF2B5EF4-FFF2-40B4-BE49-F238E27FC236}">
                    <a16:creationId xmlns:a16="http://schemas.microsoft.com/office/drawing/2014/main" id="{6D95C567-37BC-4FD4-A62F-C40F369C71AF}"/>
                  </a:ext>
                </a:extLst>
              </p:cNvPr>
              <p:cNvSpPr txBox="1"/>
              <p:nvPr/>
            </p:nvSpPr>
            <p:spPr>
              <a:xfrm>
                <a:off x="8761536" y="1526124"/>
                <a:ext cx="3296412" cy="4288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333333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하나의 SeedToken을 이용해서 게임 내 난수 기능을 완벽히 불러올 수 </a:t>
                </a:r>
                <a:r>
                  <a:rPr lang="en-US" sz="1100" dirty="0" err="1">
                    <a:solidFill>
                      <a:srgbClr val="333333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있었</a:t>
                </a:r>
                <a:r>
                  <a:rPr lang="ko-KR" altLang="en-US" sz="1100" dirty="0">
                    <a:solidFill>
                      <a:srgbClr val="333333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다</a:t>
                </a:r>
                <a:endParaRPr lang="en-US" sz="1100" dirty="0"/>
              </a:p>
            </p:txBody>
          </p: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3353AC9-1B53-4A6F-BACC-31ED1861CB7D}"/>
              </a:ext>
            </a:extLst>
          </p:cNvPr>
          <p:cNvGrpSpPr/>
          <p:nvPr/>
        </p:nvGrpSpPr>
        <p:grpSpPr>
          <a:xfrm>
            <a:off x="7151909" y="3197811"/>
            <a:ext cx="4572000" cy="1266444"/>
            <a:chOff x="7741980" y="2449668"/>
            <a:chExt cx="4572000" cy="1266444"/>
          </a:xfrm>
        </p:grpSpPr>
        <p:sp>
          <p:nvSpPr>
            <p:cNvPr id="139" name="Shape 49">
              <a:extLst>
                <a:ext uri="{FF2B5EF4-FFF2-40B4-BE49-F238E27FC236}">
                  <a16:creationId xmlns:a16="http://schemas.microsoft.com/office/drawing/2014/main" id="{A93B5277-2A26-4AAA-B609-A76505CE5EEF}"/>
                </a:ext>
              </a:extLst>
            </p:cNvPr>
            <p:cNvSpPr/>
            <p:nvPr/>
          </p:nvSpPr>
          <p:spPr>
            <a:xfrm>
              <a:off x="7741980" y="2449668"/>
              <a:ext cx="4572000" cy="1266444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C0C0C0"/>
              </a:solidFill>
              <a:prstDash val="solid"/>
            </a:ln>
          </p:spPr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28F142F4-E295-4243-A544-DCF5F9F454BC}"/>
                </a:ext>
              </a:extLst>
            </p:cNvPr>
            <p:cNvGrpSpPr/>
            <p:nvPr/>
          </p:nvGrpSpPr>
          <p:grpSpPr>
            <a:xfrm>
              <a:off x="7999841" y="2706614"/>
              <a:ext cx="4058107" cy="753466"/>
              <a:chOff x="7999841" y="2706614"/>
              <a:chExt cx="4058107" cy="753466"/>
            </a:xfrm>
          </p:grpSpPr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7B4D4FD5-5D44-4528-A48C-AF7D4BDDBF7B}"/>
                  </a:ext>
                </a:extLst>
              </p:cNvPr>
              <p:cNvGrpSpPr/>
              <p:nvPr/>
            </p:nvGrpSpPr>
            <p:grpSpPr>
              <a:xfrm>
                <a:off x="7999841" y="2797140"/>
                <a:ext cx="571500" cy="571500"/>
                <a:chOff x="7999841" y="2797140"/>
                <a:chExt cx="571500" cy="571500"/>
              </a:xfrm>
            </p:grpSpPr>
            <p:sp>
              <p:nvSpPr>
                <p:cNvPr id="140" name="Shape 50">
                  <a:extLst>
                    <a:ext uri="{FF2B5EF4-FFF2-40B4-BE49-F238E27FC236}">
                      <a16:creationId xmlns:a16="http://schemas.microsoft.com/office/drawing/2014/main" id="{E6536E65-D763-4F19-B6E0-FF93540BCF24}"/>
                    </a:ext>
                  </a:extLst>
                </p:cNvPr>
                <p:cNvSpPr/>
                <p:nvPr/>
              </p:nvSpPr>
              <p:spPr>
                <a:xfrm>
                  <a:off x="7999841" y="2797140"/>
                  <a:ext cx="571500" cy="571500"/>
                </a:xfrm>
                <a:prstGeom prst="ellipse">
                  <a:avLst/>
                </a:prstGeom>
                <a:solidFill>
                  <a:srgbClr val="4169E1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pic>
              <p:nvPicPr>
                <p:cNvPr id="141" name="Image 1" descr="gen-dedup-5d54f9a4d5ba0f3092846f8dce0a6696.png">
                  <a:extLst>
                    <a:ext uri="{FF2B5EF4-FFF2-40B4-BE49-F238E27FC236}">
                      <a16:creationId xmlns:a16="http://schemas.microsoft.com/office/drawing/2014/main" id="{A1C5683A-9960-42BC-8B0D-EE70E0AAEE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rcRect/>
                <a:stretch/>
              </p:blipFill>
              <p:spPr>
                <a:xfrm>
                  <a:off x="8151631" y="2949844"/>
                  <a:ext cx="267005" cy="267005"/>
                </a:xfrm>
                <a:prstGeom prst="rect">
                  <a:avLst/>
                </a:prstGeom>
              </p:spPr>
            </p:pic>
          </p:grpSp>
          <p:sp>
            <p:nvSpPr>
              <p:cNvPr id="142" name="Text 51">
                <a:extLst>
                  <a:ext uri="{FF2B5EF4-FFF2-40B4-BE49-F238E27FC236}">
                    <a16:creationId xmlns:a16="http://schemas.microsoft.com/office/drawing/2014/main" id="{32759D94-4BF5-4323-8952-E178CF81BCC7}"/>
                  </a:ext>
                </a:extLst>
              </p:cNvPr>
              <p:cNvSpPr txBox="1"/>
              <p:nvPr/>
            </p:nvSpPr>
            <p:spPr>
              <a:xfrm>
                <a:off x="8761536" y="2706614"/>
                <a:ext cx="3296412" cy="2478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300" b="1" dirty="0">
                    <a:solidFill>
                      <a:srgbClr val="000080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64비트 BaseSeed 기반</a:t>
                </a:r>
                <a:endParaRPr lang="en-US" sz="1300" dirty="0"/>
              </a:p>
            </p:txBody>
          </p:sp>
          <p:sp>
            <p:nvSpPr>
              <p:cNvPr id="143" name="Text 52">
                <a:extLst>
                  <a:ext uri="{FF2B5EF4-FFF2-40B4-BE49-F238E27FC236}">
                    <a16:creationId xmlns:a16="http://schemas.microsoft.com/office/drawing/2014/main" id="{36F9A5FE-4256-48DD-9991-99DE9031880E}"/>
                  </a:ext>
                </a:extLst>
              </p:cNvPr>
              <p:cNvSpPr txBox="1"/>
              <p:nvPr/>
            </p:nvSpPr>
            <p:spPr>
              <a:xfrm>
                <a:off x="8761536" y="3031226"/>
                <a:ext cx="3296412" cy="4288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333333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총 64비트 단위의 BaseSeed를 이용하여 안정적인 세이브 및 </a:t>
                </a:r>
                <a:r>
                  <a:rPr lang="en-US" sz="1100" dirty="0" err="1">
                    <a:solidFill>
                      <a:srgbClr val="333333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로드가</a:t>
                </a:r>
                <a:r>
                  <a:rPr lang="en-US" sz="1100" dirty="0">
                    <a:solidFill>
                      <a:srgbClr val="333333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 </a:t>
                </a:r>
                <a:r>
                  <a:rPr lang="en-US" sz="1100" dirty="0" err="1">
                    <a:solidFill>
                      <a:srgbClr val="333333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가능해</a:t>
                </a:r>
                <a:r>
                  <a:rPr lang="ko-KR" altLang="en-US" sz="1100" dirty="0">
                    <a:solidFill>
                      <a:srgbClr val="333333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졌다</a:t>
                </a:r>
                <a:endParaRPr lang="en-US" sz="1100" dirty="0"/>
              </a:p>
            </p:txBody>
          </p:sp>
        </p:grp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FE3652C-72F2-4ACD-AE25-7F188A2EEBFD}"/>
              </a:ext>
            </a:extLst>
          </p:cNvPr>
          <p:cNvGrpSpPr/>
          <p:nvPr/>
        </p:nvGrpSpPr>
        <p:grpSpPr>
          <a:xfrm>
            <a:off x="7151909" y="4773410"/>
            <a:ext cx="4572000" cy="1266444"/>
            <a:chOff x="7741980" y="3954770"/>
            <a:chExt cx="4572000" cy="1266444"/>
          </a:xfrm>
        </p:grpSpPr>
        <p:sp>
          <p:nvSpPr>
            <p:cNvPr id="144" name="Shape 53">
              <a:extLst>
                <a:ext uri="{FF2B5EF4-FFF2-40B4-BE49-F238E27FC236}">
                  <a16:creationId xmlns:a16="http://schemas.microsoft.com/office/drawing/2014/main" id="{A474A68C-739C-4B59-A721-05DDC9C87A71}"/>
                </a:ext>
              </a:extLst>
            </p:cNvPr>
            <p:cNvSpPr/>
            <p:nvPr/>
          </p:nvSpPr>
          <p:spPr>
            <a:xfrm>
              <a:off x="7741980" y="3954770"/>
              <a:ext cx="4572000" cy="1266444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C0C0C0"/>
              </a:solidFill>
              <a:prstDash val="solid"/>
            </a:ln>
          </p:spPr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65A29B60-1570-4F0D-B63F-1046D109F063}"/>
                </a:ext>
              </a:extLst>
            </p:cNvPr>
            <p:cNvGrpSpPr/>
            <p:nvPr/>
          </p:nvGrpSpPr>
          <p:grpSpPr>
            <a:xfrm>
              <a:off x="7999841" y="4211716"/>
              <a:ext cx="4058107" cy="752552"/>
              <a:chOff x="7999841" y="4211716"/>
              <a:chExt cx="4058107" cy="752552"/>
            </a:xfrm>
          </p:grpSpPr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F16C9DB9-A9AC-4F6B-9FE6-8D99CE6C049A}"/>
                  </a:ext>
                </a:extLst>
              </p:cNvPr>
              <p:cNvGrpSpPr/>
              <p:nvPr/>
            </p:nvGrpSpPr>
            <p:grpSpPr>
              <a:xfrm>
                <a:off x="7999841" y="4302242"/>
                <a:ext cx="571500" cy="571500"/>
                <a:chOff x="7999841" y="4302242"/>
                <a:chExt cx="571500" cy="571500"/>
              </a:xfrm>
            </p:grpSpPr>
            <p:sp>
              <p:nvSpPr>
                <p:cNvPr id="145" name="Shape 54">
                  <a:extLst>
                    <a:ext uri="{FF2B5EF4-FFF2-40B4-BE49-F238E27FC236}">
                      <a16:creationId xmlns:a16="http://schemas.microsoft.com/office/drawing/2014/main" id="{8983FABA-F7BD-4EC0-9926-D94AE900B3B4}"/>
                    </a:ext>
                  </a:extLst>
                </p:cNvPr>
                <p:cNvSpPr/>
                <p:nvPr/>
              </p:nvSpPr>
              <p:spPr>
                <a:xfrm>
                  <a:off x="7999841" y="4302242"/>
                  <a:ext cx="571500" cy="571500"/>
                </a:xfrm>
                <a:prstGeom prst="ellipse">
                  <a:avLst/>
                </a:prstGeom>
                <a:solidFill>
                  <a:srgbClr val="228B22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</p:sp>
            <p:pic>
              <p:nvPicPr>
                <p:cNvPr id="146" name="Image 2" descr="gen-dedup-cd15f8ad2427af8d86d4ff1e0b552387.png">
                  <a:extLst>
                    <a:ext uri="{FF2B5EF4-FFF2-40B4-BE49-F238E27FC236}">
                      <a16:creationId xmlns:a16="http://schemas.microsoft.com/office/drawing/2014/main" id="{38E8BF37-0D1F-4798-8D6D-5A03C6D828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rcRect l="-16667" r="-16667"/>
                <a:stretch/>
              </p:blipFill>
              <p:spPr>
                <a:xfrm>
                  <a:off x="8151631" y="4454947"/>
                  <a:ext cx="267005" cy="267005"/>
                </a:xfrm>
                <a:prstGeom prst="rect">
                  <a:avLst/>
                </a:prstGeom>
              </p:spPr>
            </p:pic>
          </p:grpSp>
          <p:sp>
            <p:nvSpPr>
              <p:cNvPr id="147" name="Text 55">
                <a:extLst>
                  <a:ext uri="{FF2B5EF4-FFF2-40B4-BE49-F238E27FC236}">
                    <a16:creationId xmlns:a16="http://schemas.microsoft.com/office/drawing/2014/main" id="{0A899E3A-35B4-4956-95E8-6C2B88985FBB}"/>
                  </a:ext>
                </a:extLst>
              </p:cNvPr>
              <p:cNvSpPr txBox="1"/>
              <p:nvPr/>
            </p:nvSpPr>
            <p:spPr>
              <a:xfrm>
                <a:off x="8761536" y="4211716"/>
                <a:ext cx="3296412" cy="2478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300" b="1" dirty="0">
                    <a:solidFill>
                      <a:srgbClr val="000080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대용량 Json 저장 최소화</a:t>
                </a:r>
                <a:endParaRPr lang="en-US" sz="1300" dirty="0"/>
              </a:p>
            </p:txBody>
          </p:sp>
          <p:sp>
            <p:nvSpPr>
              <p:cNvPr id="148" name="Text 56">
                <a:extLst>
                  <a:ext uri="{FF2B5EF4-FFF2-40B4-BE49-F238E27FC236}">
                    <a16:creationId xmlns:a16="http://schemas.microsoft.com/office/drawing/2014/main" id="{5A3EF4A8-581B-494A-BEC6-8D41B4C7CBDC}"/>
                  </a:ext>
                </a:extLst>
              </p:cNvPr>
              <p:cNvSpPr txBox="1"/>
              <p:nvPr/>
            </p:nvSpPr>
            <p:spPr>
              <a:xfrm>
                <a:off x="8761536" y="4535414"/>
                <a:ext cx="3296412" cy="4288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333333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일일이 데이터를 저장해서 Json 파일이 커지고 관리하기 번거로워지는 문제를 </a:t>
                </a:r>
                <a:r>
                  <a:rPr lang="en-US" sz="1100" dirty="0" err="1">
                    <a:solidFill>
                      <a:srgbClr val="333333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완벽히</a:t>
                </a:r>
                <a:r>
                  <a:rPr lang="en-US" sz="1100" dirty="0">
                    <a:solidFill>
                      <a:srgbClr val="333333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 </a:t>
                </a:r>
                <a:r>
                  <a:rPr lang="en-US" sz="1100" dirty="0" err="1">
                    <a:solidFill>
                      <a:srgbClr val="333333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예방</a:t>
                </a:r>
                <a:r>
                  <a:rPr lang="ko-KR" altLang="en-US" sz="1100" dirty="0">
                    <a:solidFill>
                      <a:srgbClr val="333333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가능하다</a:t>
                </a:r>
                <a:r>
                  <a:rPr lang="en-US" altLang="ko-KR" sz="1100" dirty="0">
                    <a:solidFill>
                      <a:srgbClr val="333333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.</a:t>
                </a:r>
                <a:endParaRPr lang="en-US" sz="1100" dirty="0"/>
              </a:p>
            </p:txBody>
          </p:sp>
        </p:grp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5065EE4C-6284-407D-A52E-CA4E320EE5B8}"/>
              </a:ext>
            </a:extLst>
          </p:cNvPr>
          <p:cNvGrpSpPr/>
          <p:nvPr/>
        </p:nvGrpSpPr>
        <p:grpSpPr>
          <a:xfrm>
            <a:off x="1237793" y="2767767"/>
            <a:ext cx="5810098" cy="3270840"/>
            <a:chOff x="571500" y="2762402"/>
            <a:chExt cx="5810098" cy="3619195"/>
          </a:xfrm>
        </p:grpSpPr>
        <p:sp>
          <p:nvSpPr>
            <p:cNvPr id="150" name="Shape 18">
              <a:extLst>
                <a:ext uri="{FF2B5EF4-FFF2-40B4-BE49-F238E27FC236}">
                  <a16:creationId xmlns:a16="http://schemas.microsoft.com/office/drawing/2014/main" id="{58484704-E554-4555-922E-E28471101D4B}"/>
                </a:ext>
              </a:extLst>
            </p:cNvPr>
            <p:cNvSpPr/>
            <p:nvPr/>
          </p:nvSpPr>
          <p:spPr>
            <a:xfrm>
              <a:off x="571500" y="2762402"/>
              <a:ext cx="5810098" cy="3619195"/>
            </a:xfrm>
            <a:prstGeom prst="rect">
              <a:avLst/>
            </a:prstGeom>
            <a:solidFill>
              <a:srgbClr val="000000"/>
            </a:solidFill>
            <a:ln w="25400">
              <a:solidFill>
                <a:srgbClr val="C0C0C0"/>
              </a:solidFill>
              <a:prstDash val="solid"/>
            </a:ln>
          </p:spPr>
        </p:sp>
        <p:sp>
          <p:nvSpPr>
            <p:cNvPr id="151" name="Text 19">
              <a:extLst>
                <a:ext uri="{FF2B5EF4-FFF2-40B4-BE49-F238E27FC236}">
                  <a16:creationId xmlns:a16="http://schemas.microsoft.com/office/drawing/2014/main" id="{79C63817-306D-4ABD-A920-9F07803C5F76}"/>
                </a:ext>
              </a:extLst>
            </p:cNvPr>
            <p:cNvSpPr txBox="1"/>
            <p:nvPr/>
          </p:nvSpPr>
          <p:spPr>
            <a:xfrm>
              <a:off x="780898" y="2971800"/>
              <a:ext cx="5391302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kern="0" spc="150" dirty="0">
                  <a:solidFill>
                    <a:srgbClr val="87CEFA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DATA ENCODING MAP</a:t>
              </a:r>
              <a:endParaRPr lang="en-US" sz="1300" dirty="0"/>
            </a:p>
          </p:txBody>
        </p:sp>
        <p:sp>
          <p:nvSpPr>
            <p:cNvPr id="152" name="Shape 20">
              <a:extLst>
                <a:ext uri="{FF2B5EF4-FFF2-40B4-BE49-F238E27FC236}">
                  <a16:creationId xmlns:a16="http://schemas.microsoft.com/office/drawing/2014/main" id="{9FCAA9C0-BDFE-411A-9C9F-B6779C342A10}"/>
                </a:ext>
              </a:extLst>
            </p:cNvPr>
            <p:cNvSpPr/>
            <p:nvPr/>
          </p:nvSpPr>
          <p:spPr>
            <a:xfrm>
              <a:off x="780898" y="3362249"/>
              <a:ext cx="5391302" cy="19202"/>
            </a:xfrm>
            <a:prstGeom prst="rect">
              <a:avLst/>
            </a:prstGeom>
            <a:solidFill>
              <a:srgbClr val="87CEFA"/>
            </a:solidFill>
            <a:ln w="12700">
              <a:solidFill>
                <a:srgbClr val="87CEFA">
                  <a:alpha val="0"/>
                </a:srgbClr>
              </a:solidFill>
              <a:prstDash val="solid"/>
            </a:ln>
          </p:spPr>
        </p:sp>
        <p:sp>
          <p:nvSpPr>
            <p:cNvPr id="153" name="Shape 21">
              <a:extLst>
                <a:ext uri="{FF2B5EF4-FFF2-40B4-BE49-F238E27FC236}">
                  <a16:creationId xmlns:a16="http://schemas.microsoft.com/office/drawing/2014/main" id="{B325E42D-AE5D-4BA1-8D2A-F9F2331514F5}"/>
                </a:ext>
              </a:extLst>
            </p:cNvPr>
            <p:cNvSpPr/>
            <p:nvPr/>
          </p:nvSpPr>
          <p:spPr>
            <a:xfrm>
              <a:off x="780898" y="3619195"/>
              <a:ext cx="5391302" cy="466344"/>
            </a:xfrm>
            <a:prstGeom prst="rect">
              <a:avLst/>
            </a:prstGeom>
            <a:noFill/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154" name="Shape 22">
              <a:extLst>
                <a:ext uri="{FF2B5EF4-FFF2-40B4-BE49-F238E27FC236}">
                  <a16:creationId xmlns:a16="http://schemas.microsoft.com/office/drawing/2014/main" id="{0EEFAEBB-591B-4B04-8397-78FBB260EAFE}"/>
                </a:ext>
              </a:extLst>
            </p:cNvPr>
            <p:cNvSpPr/>
            <p:nvPr/>
          </p:nvSpPr>
          <p:spPr>
            <a:xfrm>
              <a:off x="800100" y="3638398"/>
              <a:ext cx="1533449" cy="428854"/>
            </a:xfrm>
            <a:prstGeom prst="rect">
              <a:avLst/>
            </a:prstGeom>
            <a:solidFill>
              <a:srgbClr val="DC143C"/>
            </a:solidFill>
            <a:ln/>
          </p:spPr>
        </p:sp>
        <p:sp>
          <p:nvSpPr>
            <p:cNvPr id="155" name="Shape 23">
              <a:extLst>
                <a:ext uri="{FF2B5EF4-FFF2-40B4-BE49-F238E27FC236}">
                  <a16:creationId xmlns:a16="http://schemas.microsoft.com/office/drawing/2014/main" id="{48033133-3337-465A-9BBD-DFDF37DB5223}"/>
                </a:ext>
              </a:extLst>
            </p:cNvPr>
            <p:cNvSpPr/>
            <p:nvPr/>
          </p:nvSpPr>
          <p:spPr>
            <a:xfrm>
              <a:off x="2314346" y="3638398"/>
              <a:ext cx="19202" cy="42885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56" name="Text 24">
              <a:extLst>
                <a:ext uri="{FF2B5EF4-FFF2-40B4-BE49-F238E27FC236}">
                  <a16:creationId xmlns:a16="http://schemas.microsoft.com/office/drawing/2014/main" id="{7D90B40E-0908-4009-A85A-FF3A8F4C811C}"/>
                </a:ext>
              </a:extLst>
            </p:cNvPr>
            <p:cNvSpPr txBox="1"/>
            <p:nvPr/>
          </p:nvSpPr>
          <p:spPr>
            <a:xfrm>
              <a:off x="1172261" y="3771900"/>
              <a:ext cx="103784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[ BASE SEED ]</a:t>
              </a:r>
              <a:endParaRPr lang="en-US" sz="900" dirty="0"/>
            </a:p>
          </p:txBody>
        </p:sp>
        <p:sp>
          <p:nvSpPr>
            <p:cNvPr id="157" name="Shape 25">
              <a:extLst>
                <a:ext uri="{FF2B5EF4-FFF2-40B4-BE49-F238E27FC236}">
                  <a16:creationId xmlns:a16="http://schemas.microsoft.com/office/drawing/2014/main" id="{E42AA290-820D-4CEC-9296-7B694D7B958A}"/>
                </a:ext>
              </a:extLst>
            </p:cNvPr>
            <p:cNvSpPr/>
            <p:nvPr/>
          </p:nvSpPr>
          <p:spPr>
            <a:xfrm>
              <a:off x="2332634" y="3638398"/>
              <a:ext cx="780898" cy="428854"/>
            </a:xfrm>
            <a:prstGeom prst="rect">
              <a:avLst/>
            </a:prstGeom>
            <a:solidFill>
              <a:srgbClr val="228B22"/>
            </a:solidFill>
            <a:ln/>
          </p:spPr>
        </p:sp>
        <p:sp>
          <p:nvSpPr>
            <p:cNvPr id="158" name="Shape 26">
              <a:extLst>
                <a:ext uri="{FF2B5EF4-FFF2-40B4-BE49-F238E27FC236}">
                  <a16:creationId xmlns:a16="http://schemas.microsoft.com/office/drawing/2014/main" id="{2B1CBCE4-E61D-4906-A518-7D4C2B43FB1D}"/>
                </a:ext>
              </a:extLst>
            </p:cNvPr>
            <p:cNvSpPr/>
            <p:nvPr/>
          </p:nvSpPr>
          <p:spPr>
            <a:xfrm>
              <a:off x="3094330" y="3638398"/>
              <a:ext cx="19202" cy="42885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59" name="Text 27">
              <a:extLst>
                <a:ext uri="{FF2B5EF4-FFF2-40B4-BE49-F238E27FC236}">
                  <a16:creationId xmlns:a16="http://schemas.microsoft.com/office/drawing/2014/main" id="{4EAA4E00-F7EC-4F42-91E2-4F24D15574B9}"/>
                </a:ext>
              </a:extLst>
            </p:cNvPr>
            <p:cNvSpPr txBox="1"/>
            <p:nvPr/>
          </p:nvSpPr>
          <p:spPr>
            <a:xfrm>
              <a:off x="2435047" y="3771900"/>
              <a:ext cx="72146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[ COUNT ]</a:t>
              </a:r>
              <a:endParaRPr lang="en-US" sz="900" dirty="0"/>
            </a:p>
          </p:txBody>
        </p:sp>
        <p:sp>
          <p:nvSpPr>
            <p:cNvPr id="160" name="Shape 28">
              <a:extLst>
                <a:ext uri="{FF2B5EF4-FFF2-40B4-BE49-F238E27FC236}">
                  <a16:creationId xmlns:a16="http://schemas.microsoft.com/office/drawing/2014/main" id="{FF8233CE-E6E4-4E63-A0AD-B5A1B1F35072}"/>
                </a:ext>
              </a:extLst>
            </p:cNvPr>
            <p:cNvSpPr/>
            <p:nvPr/>
          </p:nvSpPr>
          <p:spPr>
            <a:xfrm>
              <a:off x="3108046" y="3638398"/>
              <a:ext cx="780898" cy="428854"/>
            </a:xfrm>
            <a:prstGeom prst="rect">
              <a:avLst/>
            </a:prstGeom>
            <a:solidFill>
              <a:srgbClr val="4169E1"/>
            </a:solidFill>
            <a:ln/>
          </p:spPr>
        </p:sp>
        <p:sp>
          <p:nvSpPr>
            <p:cNvPr id="161" name="Shape 29">
              <a:extLst>
                <a:ext uri="{FF2B5EF4-FFF2-40B4-BE49-F238E27FC236}">
                  <a16:creationId xmlns:a16="http://schemas.microsoft.com/office/drawing/2014/main" id="{52B41F55-E886-42FC-979C-4883526D7B09}"/>
                </a:ext>
              </a:extLst>
            </p:cNvPr>
            <p:cNvSpPr/>
            <p:nvPr/>
          </p:nvSpPr>
          <p:spPr>
            <a:xfrm>
              <a:off x="3869741" y="3638398"/>
              <a:ext cx="19202" cy="42885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62" name="Text 30">
              <a:extLst>
                <a:ext uri="{FF2B5EF4-FFF2-40B4-BE49-F238E27FC236}">
                  <a16:creationId xmlns:a16="http://schemas.microsoft.com/office/drawing/2014/main" id="{03A6FC11-F4A8-4341-9FFB-1E01D883C619}"/>
                </a:ext>
              </a:extLst>
            </p:cNvPr>
            <p:cNvSpPr txBox="1"/>
            <p:nvPr/>
          </p:nvSpPr>
          <p:spPr>
            <a:xfrm>
              <a:off x="3351276" y="3771900"/>
              <a:ext cx="45628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[ ID ]</a:t>
              </a:r>
              <a:endParaRPr lang="en-US" sz="900" dirty="0"/>
            </a:p>
          </p:txBody>
        </p:sp>
        <p:sp>
          <p:nvSpPr>
            <p:cNvPr id="163" name="Shape 31">
              <a:extLst>
                <a:ext uri="{FF2B5EF4-FFF2-40B4-BE49-F238E27FC236}">
                  <a16:creationId xmlns:a16="http://schemas.microsoft.com/office/drawing/2014/main" id="{8F9AE5F4-D451-4F27-9625-A1E5B03F892C}"/>
                </a:ext>
              </a:extLst>
            </p:cNvPr>
            <p:cNvSpPr/>
            <p:nvPr/>
          </p:nvSpPr>
          <p:spPr>
            <a:xfrm>
              <a:off x="3883457" y="3638398"/>
              <a:ext cx="2276856" cy="428854"/>
            </a:xfrm>
            <a:prstGeom prst="rect">
              <a:avLst/>
            </a:prstGeom>
            <a:solidFill>
              <a:srgbClr val="333333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64" name="Text 32">
              <a:extLst>
                <a:ext uri="{FF2B5EF4-FFF2-40B4-BE49-F238E27FC236}">
                  <a16:creationId xmlns:a16="http://schemas.microsoft.com/office/drawing/2014/main" id="{62AD8A0D-58F2-4894-A216-E3746362215F}"/>
                </a:ext>
              </a:extLst>
            </p:cNvPr>
            <p:cNvSpPr txBox="1"/>
            <p:nvPr/>
          </p:nvSpPr>
          <p:spPr>
            <a:xfrm>
              <a:off x="4375404" y="3771900"/>
              <a:ext cx="154076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[ USAGE PROGRESS... ]</a:t>
              </a:r>
              <a:endParaRPr lang="en-US" sz="900" dirty="0"/>
            </a:p>
          </p:txBody>
        </p:sp>
        <p:sp>
          <p:nvSpPr>
            <p:cNvPr id="165" name="Shape 33">
              <a:extLst>
                <a:ext uri="{FF2B5EF4-FFF2-40B4-BE49-F238E27FC236}">
                  <a16:creationId xmlns:a16="http://schemas.microsoft.com/office/drawing/2014/main" id="{1AAC978B-1BBE-422D-AE51-392A787E52F2}"/>
                </a:ext>
              </a:extLst>
            </p:cNvPr>
            <p:cNvSpPr/>
            <p:nvPr/>
          </p:nvSpPr>
          <p:spPr>
            <a:xfrm>
              <a:off x="780898" y="4324198"/>
              <a:ext cx="2572207" cy="657454"/>
            </a:xfrm>
            <a:prstGeom prst="roundRect">
              <a:avLst>
                <a:gd name="adj" fmla="val 16125"/>
              </a:avLst>
            </a:prstGeom>
            <a:noFill/>
            <a:ln w="12700">
              <a:solidFill>
                <a:srgbClr val="DC143C"/>
              </a:solidFill>
              <a:prstDash val="solid"/>
            </a:ln>
          </p:spPr>
        </p:sp>
        <p:sp>
          <p:nvSpPr>
            <p:cNvPr id="166" name="Text 34">
              <a:extLst>
                <a:ext uri="{FF2B5EF4-FFF2-40B4-BE49-F238E27FC236}">
                  <a16:creationId xmlns:a16="http://schemas.microsoft.com/office/drawing/2014/main" id="{5B76745B-3FA4-402D-99B1-2BD871B87941}"/>
                </a:ext>
              </a:extLst>
            </p:cNvPr>
            <p:cNvSpPr txBox="1"/>
            <p:nvPr/>
          </p:nvSpPr>
          <p:spPr>
            <a:xfrm>
              <a:off x="905256" y="4448556"/>
              <a:ext cx="232440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DC143C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00000000001826533749 (20자)</a:t>
              </a:r>
              <a:endParaRPr lang="en-US" sz="1000" dirty="0"/>
            </a:p>
          </p:txBody>
        </p:sp>
        <p:sp>
          <p:nvSpPr>
            <p:cNvPr id="167" name="Text 35">
              <a:extLst>
                <a:ext uri="{FF2B5EF4-FFF2-40B4-BE49-F238E27FC236}">
                  <a16:creationId xmlns:a16="http://schemas.microsoft.com/office/drawing/2014/main" id="{7AE2AFC9-0FC5-4B75-AA30-55C47ADDE7BD}"/>
                </a:ext>
              </a:extLst>
            </p:cNvPr>
            <p:cNvSpPr txBox="1"/>
            <p:nvPr/>
          </p:nvSpPr>
          <p:spPr>
            <a:xfrm>
              <a:off x="905256" y="4695444"/>
              <a:ext cx="23244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0C0C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맵과 규칙을 생성하는 고유 번호</a:t>
              </a:r>
              <a:endParaRPr lang="en-US" sz="900" dirty="0"/>
            </a:p>
          </p:txBody>
        </p:sp>
        <p:sp>
          <p:nvSpPr>
            <p:cNvPr id="168" name="Shape 36">
              <a:extLst>
                <a:ext uri="{FF2B5EF4-FFF2-40B4-BE49-F238E27FC236}">
                  <a16:creationId xmlns:a16="http://schemas.microsoft.com/office/drawing/2014/main" id="{44F32FDC-81AF-4718-92F8-6E5EEF60A27D}"/>
                </a:ext>
              </a:extLst>
            </p:cNvPr>
            <p:cNvSpPr/>
            <p:nvPr/>
          </p:nvSpPr>
          <p:spPr>
            <a:xfrm>
              <a:off x="3600907" y="4324198"/>
              <a:ext cx="2572207" cy="657454"/>
            </a:xfrm>
            <a:prstGeom prst="roundRect">
              <a:avLst>
                <a:gd name="adj" fmla="val 16125"/>
              </a:avLst>
            </a:prstGeom>
            <a:noFill/>
            <a:ln w="12700">
              <a:solidFill>
                <a:srgbClr val="228B22"/>
              </a:solidFill>
              <a:prstDash val="solid"/>
            </a:ln>
          </p:spPr>
        </p:sp>
        <p:sp>
          <p:nvSpPr>
            <p:cNvPr id="169" name="Text 37">
              <a:extLst>
                <a:ext uri="{FF2B5EF4-FFF2-40B4-BE49-F238E27FC236}">
                  <a16:creationId xmlns:a16="http://schemas.microsoft.com/office/drawing/2014/main" id="{25786BC6-A799-4C51-A1E8-5096A0868706}"/>
                </a:ext>
              </a:extLst>
            </p:cNvPr>
            <p:cNvSpPr txBox="1"/>
            <p:nvPr/>
          </p:nvSpPr>
          <p:spPr>
            <a:xfrm>
              <a:off x="3724351" y="4448556"/>
              <a:ext cx="232440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228B22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003 (3자)</a:t>
              </a:r>
              <a:endParaRPr lang="en-US" sz="1000" dirty="0"/>
            </a:p>
          </p:txBody>
        </p:sp>
        <p:sp>
          <p:nvSpPr>
            <p:cNvPr id="170" name="Text 38">
              <a:extLst>
                <a:ext uri="{FF2B5EF4-FFF2-40B4-BE49-F238E27FC236}">
                  <a16:creationId xmlns:a16="http://schemas.microsoft.com/office/drawing/2014/main" id="{BB813854-8ACE-4A25-9E8B-7A316BB4370A}"/>
                </a:ext>
              </a:extLst>
            </p:cNvPr>
            <p:cNvSpPr txBox="1"/>
            <p:nvPr/>
          </p:nvSpPr>
          <p:spPr>
            <a:xfrm>
              <a:off x="3724351" y="4695444"/>
              <a:ext cx="23244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0C0C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저장된 도메인(맵, 상점 등)의 개수</a:t>
              </a:r>
              <a:endParaRPr lang="en-US" sz="900" dirty="0"/>
            </a:p>
          </p:txBody>
        </p:sp>
        <p:sp>
          <p:nvSpPr>
            <p:cNvPr id="171" name="Shape 39">
              <a:extLst>
                <a:ext uri="{FF2B5EF4-FFF2-40B4-BE49-F238E27FC236}">
                  <a16:creationId xmlns:a16="http://schemas.microsoft.com/office/drawing/2014/main" id="{B4CD537F-21C5-48E4-AD5F-35B691F9B11D}"/>
                </a:ext>
              </a:extLst>
            </p:cNvPr>
            <p:cNvSpPr/>
            <p:nvPr/>
          </p:nvSpPr>
          <p:spPr>
            <a:xfrm>
              <a:off x="780898" y="5122469"/>
              <a:ext cx="2572207" cy="657454"/>
            </a:xfrm>
            <a:prstGeom prst="roundRect">
              <a:avLst>
                <a:gd name="adj" fmla="val 16125"/>
              </a:avLst>
            </a:prstGeom>
            <a:noFill/>
            <a:ln w="12700">
              <a:solidFill>
                <a:srgbClr val="4169E1"/>
              </a:solidFill>
              <a:prstDash val="solid"/>
            </a:ln>
          </p:spPr>
        </p:sp>
        <p:sp>
          <p:nvSpPr>
            <p:cNvPr id="172" name="Text 40">
              <a:extLst>
                <a:ext uri="{FF2B5EF4-FFF2-40B4-BE49-F238E27FC236}">
                  <a16:creationId xmlns:a16="http://schemas.microsoft.com/office/drawing/2014/main" id="{C337BF5D-F28B-4D3C-8E40-E7FB11F427A5}"/>
                </a:ext>
              </a:extLst>
            </p:cNvPr>
            <p:cNvSpPr txBox="1"/>
            <p:nvPr/>
          </p:nvSpPr>
          <p:spPr>
            <a:xfrm>
              <a:off x="905256" y="5245913"/>
              <a:ext cx="232440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4169E1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001 (3자)</a:t>
              </a:r>
              <a:endParaRPr lang="en-US" sz="1000" dirty="0"/>
            </a:p>
          </p:txBody>
        </p:sp>
        <p:sp>
          <p:nvSpPr>
            <p:cNvPr id="173" name="Text 41">
              <a:extLst>
                <a:ext uri="{FF2B5EF4-FFF2-40B4-BE49-F238E27FC236}">
                  <a16:creationId xmlns:a16="http://schemas.microsoft.com/office/drawing/2014/main" id="{59B3A7BA-A6C2-4CC2-871F-4F79D1E9FA84}"/>
                </a:ext>
              </a:extLst>
            </p:cNvPr>
            <p:cNvSpPr txBox="1"/>
            <p:nvPr/>
          </p:nvSpPr>
          <p:spPr>
            <a:xfrm>
              <a:off x="905256" y="5493715"/>
              <a:ext cx="23244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0C0C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현재 읽고 있는 시스템 식별 변수</a:t>
              </a:r>
              <a:endParaRPr lang="en-US" sz="900" dirty="0"/>
            </a:p>
          </p:txBody>
        </p:sp>
        <p:sp>
          <p:nvSpPr>
            <p:cNvPr id="174" name="Shape 42">
              <a:extLst>
                <a:ext uri="{FF2B5EF4-FFF2-40B4-BE49-F238E27FC236}">
                  <a16:creationId xmlns:a16="http://schemas.microsoft.com/office/drawing/2014/main" id="{7D361F77-0750-492B-90FD-F39F99B22AB2}"/>
                </a:ext>
              </a:extLst>
            </p:cNvPr>
            <p:cNvSpPr/>
            <p:nvPr/>
          </p:nvSpPr>
          <p:spPr>
            <a:xfrm>
              <a:off x="3600907" y="5122469"/>
              <a:ext cx="2572207" cy="657454"/>
            </a:xfrm>
            <a:prstGeom prst="roundRect">
              <a:avLst>
                <a:gd name="adj" fmla="val 16125"/>
              </a:avLst>
            </a:prstGeom>
            <a:noFill/>
            <a:ln w="12700">
              <a:solidFill>
                <a:srgbClr val="808080"/>
              </a:solidFill>
              <a:prstDash val="solid"/>
            </a:ln>
          </p:spPr>
        </p:sp>
        <p:sp>
          <p:nvSpPr>
            <p:cNvPr id="175" name="Text 43">
              <a:extLst>
                <a:ext uri="{FF2B5EF4-FFF2-40B4-BE49-F238E27FC236}">
                  <a16:creationId xmlns:a16="http://schemas.microsoft.com/office/drawing/2014/main" id="{E1FF9A66-56B6-4D31-B2FC-BF69963A23FA}"/>
                </a:ext>
              </a:extLst>
            </p:cNvPr>
            <p:cNvSpPr txBox="1"/>
            <p:nvPr/>
          </p:nvSpPr>
          <p:spPr>
            <a:xfrm>
              <a:off x="3724351" y="5245913"/>
              <a:ext cx="232440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000000000042 (12자)</a:t>
              </a:r>
              <a:endParaRPr lang="en-US" sz="1000" dirty="0"/>
            </a:p>
          </p:txBody>
        </p:sp>
        <p:sp>
          <p:nvSpPr>
            <p:cNvPr id="176" name="Text 44">
              <a:extLst>
                <a:ext uri="{FF2B5EF4-FFF2-40B4-BE49-F238E27FC236}">
                  <a16:creationId xmlns:a16="http://schemas.microsoft.com/office/drawing/2014/main" id="{EE5F3523-AD13-4C37-B31F-88E6EBF0404B}"/>
                </a:ext>
              </a:extLst>
            </p:cNvPr>
            <p:cNvSpPr txBox="1"/>
            <p:nvPr/>
          </p:nvSpPr>
          <p:spPr>
            <a:xfrm>
              <a:off x="3724351" y="5493715"/>
              <a:ext cx="23244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0C0C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해당 시스템의 난수 사용 누적량</a:t>
              </a:r>
              <a:endParaRPr lang="en-US" sz="900" dirty="0"/>
            </a:p>
          </p:txBody>
        </p:sp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920CD604-A0FB-4F51-AF7B-15CFD06DF985}"/>
              </a:ext>
            </a:extLst>
          </p:cNvPr>
          <p:cNvGrpSpPr/>
          <p:nvPr/>
        </p:nvGrpSpPr>
        <p:grpSpPr>
          <a:xfrm>
            <a:off x="1238098" y="1614850"/>
            <a:ext cx="5810098" cy="1109147"/>
            <a:chOff x="571500" y="1333195"/>
            <a:chExt cx="5810098" cy="1238098"/>
          </a:xfrm>
        </p:grpSpPr>
        <p:sp>
          <p:nvSpPr>
            <p:cNvPr id="178" name="Shape 12">
              <a:extLst>
                <a:ext uri="{FF2B5EF4-FFF2-40B4-BE49-F238E27FC236}">
                  <a16:creationId xmlns:a16="http://schemas.microsoft.com/office/drawing/2014/main" id="{C06BC20A-CBB3-418D-A825-351D4600B9A9}"/>
                </a:ext>
              </a:extLst>
            </p:cNvPr>
            <p:cNvSpPr/>
            <p:nvPr/>
          </p:nvSpPr>
          <p:spPr>
            <a:xfrm>
              <a:off x="571500" y="1333195"/>
              <a:ext cx="5810098" cy="1238098"/>
            </a:xfrm>
            <a:prstGeom prst="rect">
              <a:avLst/>
            </a:prstGeom>
            <a:solidFill>
              <a:srgbClr val="1E1E1E"/>
            </a:solidFill>
            <a:ln w="25400">
              <a:solidFill>
                <a:srgbClr val="C0C0C0"/>
              </a:solidFill>
              <a:prstDash val="solid"/>
            </a:ln>
          </p:spPr>
        </p:sp>
        <p:sp>
          <p:nvSpPr>
            <p:cNvPr id="179" name="Text 13">
              <a:extLst>
                <a:ext uri="{FF2B5EF4-FFF2-40B4-BE49-F238E27FC236}">
                  <a16:creationId xmlns:a16="http://schemas.microsoft.com/office/drawing/2014/main" id="{3C54F320-776C-40A1-88D3-CCDF6B263DA5}"/>
                </a:ext>
              </a:extLst>
            </p:cNvPr>
            <p:cNvSpPr txBox="1"/>
            <p:nvPr/>
          </p:nvSpPr>
          <p:spPr>
            <a:xfrm>
              <a:off x="733349" y="1495044"/>
              <a:ext cx="54864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FFD7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{</a:t>
              </a:r>
              <a:endParaRPr lang="en-US" sz="1000" dirty="0"/>
            </a:p>
          </p:txBody>
        </p:sp>
        <p:sp>
          <p:nvSpPr>
            <p:cNvPr id="180" name="Text 14">
              <a:extLst>
                <a:ext uri="{FF2B5EF4-FFF2-40B4-BE49-F238E27FC236}">
                  <a16:creationId xmlns:a16="http://schemas.microsoft.com/office/drawing/2014/main" id="{ABD0CEB8-9CF8-4D7A-85BE-E0696A8FBA81}"/>
                </a:ext>
              </a:extLst>
            </p:cNvPr>
            <p:cNvSpPr txBox="1"/>
            <p:nvPr/>
          </p:nvSpPr>
          <p:spPr>
            <a:xfrm>
              <a:off x="923544" y="1695298"/>
              <a:ext cx="5296205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8FB9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"baseSeed"</a:t>
              </a:r>
              <a:r>
                <a:rPr lang="en-US" sz="10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</a:t>
              </a:r>
              <a:r>
                <a:rPr lang="en-US" sz="1000" dirty="0">
                  <a:solidFill>
                    <a:srgbClr val="FF8C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1826533749</a:t>
              </a:r>
              <a:r>
                <a:rPr lang="en-US" sz="1000" dirty="0">
                  <a:solidFill>
                    <a:srgbClr val="98FB9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,</a:t>
              </a:r>
              <a:endParaRPr lang="en-US" sz="1000" dirty="0"/>
            </a:p>
          </p:txBody>
        </p:sp>
        <p:sp>
          <p:nvSpPr>
            <p:cNvPr id="181" name="Text 15">
              <a:extLst>
                <a:ext uri="{FF2B5EF4-FFF2-40B4-BE49-F238E27FC236}">
                  <a16:creationId xmlns:a16="http://schemas.microsoft.com/office/drawing/2014/main" id="{EF9C4539-F398-4B90-AC85-E5302CB04AA7}"/>
                </a:ext>
              </a:extLst>
            </p:cNvPr>
            <p:cNvSpPr txBox="1"/>
            <p:nvPr/>
          </p:nvSpPr>
          <p:spPr>
            <a:xfrm>
              <a:off x="923544" y="1895551"/>
              <a:ext cx="5296205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8FB9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"seedToken"</a:t>
              </a:r>
              <a:r>
                <a:rPr lang="en-US" sz="10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</a:t>
              </a:r>
              <a:r>
                <a:rPr lang="en-US" sz="1000" dirty="0">
                  <a:solidFill>
                    <a:srgbClr val="FFB6C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"0000000000182653374901400100..."</a:t>
              </a:r>
              <a:r>
                <a:rPr lang="en-US" sz="1000" dirty="0">
                  <a:solidFill>
                    <a:srgbClr val="98FB9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,</a:t>
              </a:r>
              <a:endParaRPr lang="en-US" sz="1000" dirty="0"/>
            </a:p>
          </p:txBody>
        </p:sp>
        <p:sp>
          <p:nvSpPr>
            <p:cNvPr id="182" name="Text 16">
              <a:extLst>
                <a:ext uri="{FF2B5EF4-FFF2-40B4-BE49-F238E27FC236}">
                  <a16:creationId xmlns:a16="http://schemas.microsoft.com/office/drawing/2014/main" id="{57C89F42-4960-40DE-8EAC-F04CDA3D7CC2}"/>
                </a:ext>
              </a:extLst>
            </p:cNvPr>
            <p:cNvSpPr txBox="1"/>
            <p:nvPr/>
          </p:nvSpPr>
          <p:spPr>
            <a:xfrm>
              <a:off x="923544" y="2095805"/>
              <a:ext cx="5296205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8FB9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"updatedAt"</a:t>
              </a:r>
              <a:r>
                <a:rPr lang="en-US" sz="10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</a:t>
              </a:r>
              <a:r>
                <a:rPr lang="en-US" sz="1000" dirty="0">
                  <a:solidFill>
                    <a:srgbClr val="FFB6C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"2026-05-19 21:20:54"</a:t>
              </a:r>
              <a:endParaRPr lang="en-US" sz="1000" dirty="0"/>
            </a:p>
          </p:txBody>
        </p:sp>
        <p:sp>
          <p:nvSpPr>
            <p:cNvPr id="183" name="Text 17">
              <a:extLst>
                <a:ext uri="{FF2B5EF4-FFF2-40B4-BE49-F238E27FC236}">
                  <a16:creationId xmlns:a16="http://schemas.microsoft.com/office/drawing/2014/main" id="{EDEB5FAB-8FD6-45DE-9EBF-48583299D55A}"/>
                </a:ext>
              </a:extLst>
            </p:cNvPr>
            <p:cNvSpPr txBox="1"/>
            <p:nvPr/>
          </p:nvSpPr>
          <p:spPr>
            <a:xfrm>
              <a:off x="733349" y="2295144"/>
              <a:ext cx="54864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FFD7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  <a:endParaRPr lang="en-US" sz="1000" dirty="0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78116CCE-5FF2-4FFF-853B-6842C6F96682}"/>
              </a:ext>
            </a:extLst>
          </p:cNvPr>
          <p:cNvGrpSpPr/>
          <p:nvPr/>
        </p:nvGrpSpPr>
        <p:grpSpPr>
          <a:xfrm>
            <a:off x="8430228" y="1118323"/>
            <a:ext cx="1981505" cy="400507"/>
            <a:chOff x="7551785" y="392268"/>
            <a:chExt cx="1981505" cy="400507"/>
          </a:xfrm>
        </p:grpSpPr>
        <p:sp>
          <p:nvSpPr>
            <p:cNvPr id="68" name="Shape 8">
              <a:extLst>
                <a:ext uri="{FF2B5EF4-FFF2-40B4-BE49-F238E27FC236}">
                  <a16:creationId xmlns:a16="http://schemas.microsoft.com/office/drawing/2014/main" id="{FCC04471-A8B3-483D-8C4C-0E059EC4AB8A}"/>
                </a:ext>
              </a:extLst>
            </p:cNvPr>
            <p:cNvSpPr/>
            <p:nvPr/>
          </p:nvSpPr>
          <p:spPr>
            <a:xfrm>
              <a:off x="7551785" y="392268"/>
              <a:ext cx="1981505" cy="400507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70" name="Text 11">
              <a:extLst>
                <a:ext uri="{FF2B5EF4-FFF2-40B4-BE49-F238E27FC236}">
                  <a16:creationId xmlns:a16="http://schemas.microsoft.com/office/drawing/2014/main" id="{53D4263D-1F2A-46A7-B3D3-5B147A131159}"/>
                </a:ext>
              </a:extLst>
            </p:cNvPr>
            <p:cNvSpPr txBox="1"/>
            <p:nvPr/>
          </p:nvSpPr>
          <p:spPr>
            <a:xfrm>
              <a:off x="7941319" y="459019"/>
              <a:ext cx="117134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해결 결과 요약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7173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76695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044000" y="108000"/>
            <a:ext cx="10920520" cy="6307430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1064769" y="128444"/>
            <a:ext cx="10878982" cy="284268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167625" y="513958"/>
            <a:ext cx="10673270" cy="5577299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675732" y="158623"/>
            <a:ext cx="226481" cy="22293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198283" y="169331"/>
            <a:ext cx="2249767" cy="22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World First Kill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.exe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1746940" y="199511"/>
            <a:ext cx="92966" cy="142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36" name="Shape 28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10477195" y="6534302"/>
            <a:ext cx="1619402" cy="267005"/>
          </a:xfrm>
          <a:prstGeom prst="rect">
            <a:avLst/>
          </a:prstGeom>
          <a:solidFill>
            <a:srgbClr val="C0C0C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40" name="Image 6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" name="Image 7" descr="gen-dedup-ba9d3020b28ee88c3f41e8c221d65fea.png"/>
          <p:cNvPicPr>
            <a:picLocks noChangeAspect="1"/>
          </p:cNvPicPr>
          <p:nvPr/>
        </p:nvPicPr>
        <p:blipFill>
          <a:blip r:embed="rId4"/>
          <a:srcRect l="-16666" r="-16666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238098" y="6577279"/>
            <a:ext cx="13578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게임_개발_내용.exe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 8" descr="gen-dedup-7740a029182e5c65b65e33d2aaed94e2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10573207" y="6590995"/>
            <a:ext cx="152705" cy="152705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1124590" y="6590995"/>
            <a:ext cx="7260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10:00 AM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3">
            <a:extLst>
              <a:ext uri="{FF2B5EF4-FFF2-40B4-BE49-F238E27FC236}">
                <a16:creationId xmlns:a16="http://schemas.microsoft.com/office/drawing/2014/main" id="{D3CD7A0C-665C-5D8C-085F-9D543D30C474}"/>
              </a:ext>
            </a:extLst>
          </p:cNvPr>
          <p:cNvSpPr/>
          <p:nvPr/>
        </p:nvSpPr>
        <p:spPr>
          <a:xfrm>
            <a:off x="250546" y="4467759"/>
            <a:ext cx="629107" cy="590702"/>
          </a:xfrm>
          <a:prstGeom prst="rect">
            <a:avLst/>
          </a:prstGeom>
          <a:solidFill>
            <a:srgbClr val="000080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8" name="Image 0" descr="gen-dedup-57ee6a1f0d650d3a975db06a8ec6cc96.png">
            <a:extLst>
              <a:ext uri="{FF2B5EF4-FFF2-40B4-BE49-F238E27FC236}">
                <a16:creationId xmlns:a16="http://schemas.microsoft.com/office/drawing/2014/main" id="{834D1F6C-0CDF-E7F3-E820-C37BB85E345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6250" b="-6250"/>
          <a:stretch/>
        </p:blipFill>
        <p:spPr>
          <a:xfrm>
            <a:off x="381305" y="1047902"/>
            <a:ext cx="381305" cy="381305"/>
          </a:xfrm>
          <a:prstGeom prst="rect">
            <a:avLst/>
          </a:prstGeom>
        </p:spPr>
      </p:pic>
      <p:sp>
        <p:nvSpPr>
          <p:cNvPr id="49" name="Text 5">
            <a:extLst>
              <a:ext uri="{FF2B5EF4-FFF2-40B4-BE49-F238E27FC236}">
                <a16:creationId xmlns:a16="http://schemas.microsoft.com/office/drawing/2014/main" id="{E01929AB-F8B3-4F14-E09C-CBEBBC65A31F}"/>
              </a:ext>
            </a:extLst>
          </p:cNvPr>
          <p:cNvSpPr txBox="1"/>
          <p:nvPr/>
        </p:nvSpPr>
        <p:spPr>
          <a:xfrm>
            <a:off x="269748" y="1485900"/>
            <a:ext cx="609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내 컴퓨터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6">
            <a:extLst>
              <a:ext uri="{FF2B5EF4-FFF2-40B4-BE49-F238E27FC236}">
                <a16:creationId xmlns:a16="http://schemas.microsoft.com/office/drawing/2014/main" id="{2B0E25B6-D57D-78C1-B47D-A27041DAC1A1}"/>
              </a:ext>
            </a:extLst>
          </p:cNvPr>
          <p:cNvSpPr txBox="1"/>
          <p:nvPr/>
        </p:nvSpPr>
        <p:spPr>
          <a:xfrm>
            <a:off x="226771" y="2391156"/>
            <a:ext cx="695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포트폴리오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" name="Image 2" descr="gen-dedup-313e4be3ff4060006731241b7cc55ba4.png">
            <a:extLst>
              <a:ext uri="{FF2B5EF4-FFF2-40B4-BE49-F238E27FC236}">
                <a16:creationId xmlns:a16="http://schemas.microsoft.com/office/drawing/2014/main" id="{D2181919-D947-B1C1-2070-0C0E6697E16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81305" y="2809951"/>
            <a:ext cx="381305" cy="381305"/>
          </a:xfrm>
          <a:prstGeom prst="rect">
            <a:avLst/>
          </a:prstGeom>
        </p:spPr>
      </p:pic>
      <p:sp>
        <p:nvSpPr>
          <p:cNvPr id="52" name="Text 7">
            <a:extLst>
              <a:ext uri="{FF2B5EF4-FFF2-40B4-BE49-F238E27FC236}">
                <a16:creationId xmlns:a16="http://schemas.microsoft.com/office/drawing/2014/main" id="{E0B063D8-0476-320A-A594-D61E083CD81B}"/>
              </a:ext>
            </a:extLst>
          </p:cNvPr>
          <p:cNvSpPr txBox="1"/>
          <p:nvPr/>
        </p:nvSpPr>
        <p:spPr>
          <a:xfrm>
            <a:off x="419710" y="3191256"/>
            <a:ext cx="342900" cy="24780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tIns="25400" rIns="381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목차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3" name="Image 3" descr="gen-dedup-ef6105ed2e63baeb37694681937bef0b.png">
            <a:extLst>
              <a:ext uri="{FF2B5EF4-FFF2-40B4-BE49-F238E27FC236}">
                <a16:creationId xmlns:a16="http://schemas.microsoft.com/office/drawing/2014/main" id="{083003E3-FCE9-C3EB-A38B-966D9A8CA36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381305" y="3715207"/>
            <a:ext cx="381305" cy="381305"/>
          </a:xfrm>
          <a:prstGeom prst="rect">
            <a:avLst/>
          </a:prstGeom>
        </p:spPr>
      </p:pic>
      <p:sp>
        <p:nvSpPr>
          <p:cNvPr id="54" name="Text 8">
            <a:extLst>
              <a:ext uri="{FF2B5EF4-FFF2-40B4-BE49-F238E27FC236}">
                <a16:creationId xmlns:a16="http://schemas.microsoft.com/office/drawing/2014/main" id="{7D57BE65-648F-A850-C469-0BDBC2C9032E}"/>
              </a:ext>
            </a:extLst>
          </p:cNvPr>
          <p:cNvSpPr txBox="1"/>
          <p:nvPr/>
        </p:nvSpPr>
        <p:spPr>
          <a:xfrm>
            <a:off x="349301" y="4153205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5" name="Image 4" descr="gen-dedup-9fdbec92b016124fd02e3850a5123f8c.png">
            <a:extLst>
              <a:ext uri="{FF2B5EF4-FFF2-40B4-BE49-F238E27FC236}">
                <a16:creationId xmlns:a16="http://schemas.microsoft.com/office/drawing/2014/main" id="{B4534DA8-E254-C2E1-3BA5-725871AC31B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81305" y="4572000"/>
            <a:ext cx="381305" cy="381305"/>
          </a:xfrm>
          <a:prstGeom prst="rect">
            <a:avLst/>
          </a:prstGeom>
        </p:spPr>
      </p:pic>
      <p:sp>
        <p:nvSpPr>
          <p:cNvPr id="100" name="Shape 10">
            <a:extLst>
              <a:ext uri="{FF2B5EF4-FFF2-40B4-BE49-F238E27FC236}">
                <a16:creationId xmlns:a16="http://schemas.microsoft.com/office/drawing/2014/main" id="{28C39675-80EC-402A-A8F2-4844E5F5A817}"/>
              </a:ext>
            </a:extLst>
          </p:cNvPr>
          <p:cNvSpPr/>
          <p:nvPr/>
        </p:nvSpPr>
        <p:spPr>
          <a:xfrm>
            <a:off x="1178662" y="513958"/>
            <a:ext cx="10670437" cy="5830084"/>
          </a:xfrm>
          <a:prstGeom prst="rect">
            <a:avLst/>
          </a:prstGeom>
          <a:solidFill>
            <a:srgbClr val="E8E8E8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56" name="Text 9">
            <a:extLst>
              <a:ext uri="{FF2B5EF4-FFF2-40B4-BE49-F238E27FC236}">
                <a16:creationId xmlns:a16="http://schemas.microsoft.com/office/drawing/2014/main" id="{506184E4-4144-57DF-D7C7-9F0B55E0D8E6}"/>
              </a:ext>
            </a:extLst>
          </p:cNvPr>
          <p:cNvSpPr txBox="1"/>
          <p:nvPr/>
        </p:nvSpPr>
        <p:spPr>
          <a:xfrm>
            <a:off x="288036" y="5009998"/>
            <a:ext cx="571500" cy="2286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프로젝트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EBF3C9A2-6E5F-2419-CD2C-7B7C1E5B74A8}"/>
              </a:ext>
            </a:extLst>
          </p:cNvPr>
          <p:cNvGrpSpPr/>
          <p:nvPr/>
        </p:nvGrpSpPr>
        <p:grpSpPr>
          <a:xfrm>
            <a:off x="342900" y="1904695"/>
            <a:ext cx="457200" cy="457200"/>
            <a:chOff x="342900" y="1904695"/>
            <a:chExt cx="457200" cy="457200"/>
          </a:xfrm>
        </p:grpSpPr>
        <p:pic>
          <p:nvPicPr>
            <p:cNvPr id="58" name="Image 1" descr="gen-dedup-36f1f1ccf4a0e8533d6290f10bde510b.png">
              <a:extLst>
                <a:ext uri="{FF2B5EF4-FFF2-40B4-BE49-F238E27FC236}">
                  <a16:creationId xmlns:a16="http://schemas.microsoft.com/office/drawing/2014/main" id="{D4C28A30-F4FA-C258-864B-9F0B10F9C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342900" y="1904695"/>
              <a:ext cx="457200" cy="457200"/>
            </a:xfrm>
            <a:prstGeom prst="rect">
              <a:avLst/>
            </a:prstGeom>
          </p:spPr>
        </p:pic>
        <p:pic>
          <p:nvPicPr>
            <p:cNvPr id="59" name="Image 5" descr="gen-dedup-72bd3513d2cf055f9eacb7e2be8dea4c.png">
              <a:extLst>
                <a:ext uri="{FF2B5EF4-FFF2-40B4-BE49-F238E27FC236}">
                  <a16:creationId xmlns:a16="http://schemas.microsoft.com/office/drawing/2014/main" id="{8BE6AC25-640E-32EB-7700-E0E13FB06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t="-12500" b="-12500"/>
            <a:stretch/>
          </p:blipFill>
          <p:spPr>
            <a:xfrm>
              <a:off x="437998" y="2038198"/>
              <a:ext cx="267005" cy="267005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8F126EA-5A8E-46F5-A088-4B6DC2D35653}"/>
              </a:ext>
            </a:extLst>
          </p:cNvPr>
          <p:cNvGrpSpPr/>
          <p:nvPr/>
        </p:nvGrpSpPr>
        <p:grpSpPr>
          <a:xfrm>
            <a:off x="1262161" y="568870"/>
            <a:ext cx="10508841" cy="381305"/>
            <a:chOff x="1749003" y="666597"/>
            <a:chExt cx="9525305" cy="381305"/>
          </a:xfrm>
        </p:grpSpPr>
        <p:sp>
          <p:nvSpPr>
            <p:cNvPr id="60" name="Shape 12">
              <a:extLst>
                <a:ext uri="{FF2B5EF4-FFF2-40B4-BE49-F238E27FC236}">
                  <a16:creationId xmlns:a16="http://schemas.microsoft.com/office/drawing/2014/main" id="{A770E5B3-FE8D-4D94-9B23-DD92101DB259}"/>
                </a:ext>
              </a:extLst>
            </p:cNvPr>
            <p:cNvSpPr/>
            <p:nvPr/>
          </p:nvSpPr>
          <p:spPr>
            <a:xfrm>
              <a:off x="1749003" y="666597"/>
              <a:ext cx="9525305" cy="381305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71" name="Text 24">
              <a:extLst>
                <a:ext uri="{FF2B5EF4-FFF2-40B4-BE49-F238E27FC236}">
                  <a16:creationId xmlns:a16="http://schemas.microsoft.com/office/drawing/2014/main" id="{001482B1-6544-4606-8D2E-039404005D40}"/>
                </a:ext>
              </a:extLst>
            </p:cNvPr>
            <p:cNvSpPr txBox="1"/>
            <p:nvPr/>
          </p:nvSpPr>
          <p:spPr>
            <a:xfrm>
              <a:off x="3606368" y="742949"/>
              <a:ext cx="581057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문제</a:t>
              </a:r>
              <a:r>
                <a:rPr kumimoji="0" lang="en-US" altLang="ko-KR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 </a:t>
              </a:r>
              <a:r>
                <a:rPr kumimoji="0" lang="en-US" altLang="ko-KR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해결</a:t>
              </a:r>
              <a:r>
                <a:rPr kumimoji="0" lang="en-US" altLang="ko-KR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 </a:t>
              </a:r>
              <a:r>
                <a:rPr kumimoji="0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결과</a:t>
              </a:r>
              <a:r>
                <a:rPr kumimoji="0" lang="en-US" altLang="ko-KR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 – </a:t>
              </a:r>
              <a:r>
                <a:rPr lang="en-US" altLang="ko-KR" sz="18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Seed</a:t>
              </a:r>
              <a:r>
                <a:rPr lang="ko-KR" altLang="en-US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비교</a:t>
              </a:r>
              <a:r>
                <a:rPr lang="ko-KR" altLang="en-US" sz="18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예시로 데이터 비교</a:t>
              </a:r>
              <a:endPara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122089AC-DCAD-4C0A-B5E0-84248FBA38CF}"/>
              </a:ext>
            </a:extLst>
          </p:cNvPr>
          <p:cNvGrpSpPr/>
          <p:nvPr/>
        </p:nvGrpSpPr>
        <p:grpSpPr>
          <a:xfrm>
            <a:off x="1264209" y="5341763"/>
            <a:ext cx="10517623" cy="924295"/>
            <a:chOff x="381305" y="5143500"/>
            <a:chExt cx="11468405" cy="1371600"/>
          </a:xfrm>
        </p:grpSpPr>
        <p:sp>
          <p:nvSpPr>
            <p:cNvPr id="132" name="Shape 6">
              <a:extLst>
                <a:ext uri="{FF2B5EF4-FFF2-40B4-BE49-F238E27FC236}">
                  <a16:creationId xmlns:a16="http://schemas.microsoft.com/office/drawing/2014/main" id="{C9CD4571-945A-4FD4-9A13-DC112BF95F34}"/>
                </a:ext>
              </a:extLst>
            </p:cNvPr>
            <p:cNvSpPr/>
            <p:nvPr/>
          </p:nvSpPr>
          <p:spPr>
            <a:xfrm>
              <a:off x="381305" y="5143500"/>
              <a:ext cx="11468405" cy="1371600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133" name="Shape 25">
              <a:extLst>
                <a:ext uri="{FF2B5EF4-FFF2-40B4-BE49-F238E27FC236}">
                  <a16:creationId xmlns:a16="http://schemas.microsoft.com/office/drawing/2014/main" id="{32D62AAA-6064-494E-96AF-97D2DB3175E3}"/>
                </a:ext>
              </a:extLst>
            </p:cNvPr>
            <p:cNvSpPr/>
            <p:nvPr/>
          </p:nvSpPr>
          <p:spPr>
            <a:xfrm>
              <a:off x="451797" y="5213618"/>
              <a:ext cx="11319687" cy="1210169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C0C0C0"/>
              </a:solidFill>
              <a:prstDash val="solid"/>
            </a:ln>
          </p:spPr>
        </p:sp>
        <p:sp>
          <p:nvSpPr>
            <p:cNvPr id="184" name="Text 26">
              <a:extLst>
                <a:ext uri="{FF2B5EF4-FFF2-40B4-BE49-F238E27FC236}">
                  <a16:creationId xmlns:a16="http://schemas.microsoft.com/office/drawing/2014/main" id="{7AF8CF9D-996C-4490-9F57-488F70B55EA0}"/>
                </a:ext>
              </a:extLst>
            </p:cNvPr>
            <p:cNvSpPr txBox="1"/>
            <p:nvPr/>
          </p:nvSpPr>
          <p:spPr>
            <a:xfrm>
              <a:off x="1012388" y="5355818"/>
              <a:ext cx="10287000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0008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각기 다른 시드 → 완전히 다른 스킬셋 분포 생성</a:t>
              </a:r>
              <a:endParaRPr lang="en-US" sz="1600" dirty="0"/>
            </a:p>
          </p:txBody>
        </p:sp>
        <p:sp>
          <p:nvSpPr>
            <p:cNvPr id="185" name="Text 27">
              <a:extLst>
                <a:ext uri="{FF2B5EF4-FFF2-40B4-BE49-F238E27FC236}">
                  <a16:creationId xmlns:a16="http://schemas.microsoft.com/office/drawing/2014/main" id="{C4EBAB49-EBF0-4F54-9E34-8BFCA014C484}"/>
                </a:ext>
              </a:extLst>
            </p:cNvPr>
            <p:cNvSpPr txBox="1"/>
            <p:nvPr/>
          </p:nvSpPr>
          <p:spPr>
            <a:xfrm>
              <a:off x="994085" y="5764378"/>
              <a:ext cx="10534802" cy="4288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스킬이 난수로 판정되기 때문에, </a:t>
              </a:r>
              <a:r>
                <a:rPr lang="en-US" sz="1400" b="1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개발자가 해당 스킬 정보를 일일이 저장하지 않아도</a:t>
              </a:r>
              <a:r>
                <a:rPr lang="en-US" sz="1400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 </a:t>
              </a:r>
              <a:r>
                <a:rPr lang="en-US" sz="1400" dirty="0" err="1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단일</a:t>
              </a:r>
              <a:r>
                <a:rPr lang="en-US" sz="1400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 Seed</a:t>
              </a:r>
              <a:r>
                <a:rPr lang="ko-KR" altLang="en-US" sz="1400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와 </a:t>
              </a:r>
              <a:r>
                <a:rPr lang="en-US" altLang="ko-KR" sz="1400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Token</a:t>
              </a:r>
              <a:r>
                <a:rPr lang="ko-KR" altLang="en-US" sz="1400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의 해석을</a:t>
              </a:r>
              <a:r>
                <a:rPr lang="en-US" sz="1400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 </a:t>
              </a:r>
              <a:r>
                <a:rPr lang="en-US" sz="1400" dirty="0" err="1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통해</a:t>
              </a:r>
              <a:r>
                <a:rPr lang="en-US" sz="1400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 </a:t>
              </a:r>
            </a:p>
            <a:p>
              <a:pPr marL="0" indent="0" algn="l">
                <a:buNone/>
              </a:pPr>
              <a:r>
                <a:rPr lang="en-US" sz="1400" dirty="0" err="1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동일한</a:t>
              </a:r>
              <a:r>
                <a:rPr lang="en-US" sz="1400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 스킬 정보를 </a:t>
              </a:r>
              <a:r>
                <a:rPr lang="en-US" sz="1400" dirty="0" err="1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완벽하게</a:t>
              </a:r>
              <a:r>
                <a:rPr lang="en-US" sz="1400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 </a:t>
              </a:r>
              <a:r>
                <a:rPr lang="en-US" sz="1400" dirty="0" err="1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불러올</a:t>
              </a:r>
              <a:r>
                <a:rPr lang="en-US" sz="1400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 수 </a:t>
              </a:r>
              <a:r>
                <a:rPr lang="ko-KR" altLang="en-US" sz="1400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있게 된다</a:t>
              </a:r>
              <a:r>
                <a:rPr lang="en-US" altLang="ko-KR" sz="1400" dirty="0">
                  <a:solidFill>
                    <a:srgbClr val="000000"/>
                  </a:solidFill>
                  <a:latin typeface="굴림" pitchFamily="34" charset="0"/>
                  <a:ea typeface="굴림" pitchFamily="34" charset="-122"/>
                  <a:cs typeface="굴림" pitchFamily="34" charset="-120"/>
                </a:rPr>
                <a:t>.</a:t>
              </a:r>
              <a:endParaRPr lang="en-US" sz="1400" dirty="0"/>
            </a:p>
          </p:txBody>
        </p:sp>
        <p:pic>
          <p:nvPicPr>
            <p:cNvPr id="186" name="Image 3" descr="gen-dedup-ecda170b282f86bfff5a5d7c0ada739a.png">
              <a:extLst>
                <a:ext uri="{FF2B5EF4-FFF2-40B4-BE49-F238E27FC236}">
                  <a16:creationId xmlns:a16="http://schemas.microsoft.com/office/drawing/2014/main" id="{FC4646B4-DEE9-40DC-914C-CE764DC072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601029" y="5298403"/>
              <a:ext cx="276888" cy="407093"/>
            </a:xfrm>
            <a:prstGeom prst="rect">
              <a:avLst/>
            </a:prstGeom>
          </p:spPr>
        </p:pic>
      </p:grpSp>
      <p:grpSp>
        <p:nvGrpSpPr>
          <p:cNvPr id="190" name="그룹 189">
            <a:extLst>
              <a:ext uri="{FF2B5EF4-FFF2-40B4-BE49-F238E27FC236}">
                <a16:creationId xmlns:a16="http://schemas.microsoft.com/office/drawing/2014/main" id="{CCA42E81-AB4C-453A-9779-9E247459C09C}"/>
              </a:ext>
            </a:extLst>
          </p:cNvPr>
          <p:cNvGrpSpPr/>
          <p:nvPr/>
        </p:nvGrpSpPr>
        <p:grpSpPr>
          <a:xfrm>
            <a:off x="5853529" y="2397990"/>
            <a:ext cx="1334110" cy="924458"/>
            <a:chOff x="5429707" y="2762402"/>
            <a:chExt cx="1334110" cy="924458"/>
          </a:xfrm>
        </p:grpSpPr>
        <p:grpSp>
          <p:nvGrpSpPr>
            <p:cNvPr id="191" name="그룹 190">
              <a:extLst>
                <a:ext uri="{FF2B5EF4-FFF2-40B4-BE49-F238E27FC236}">
                  <a16:creationId xmlns:a16="http://schemas.microsoft.com/office/drawing/2014/main" id="{A801145A-5D34-4D48-82E3-75D01B15B1D3}"/>
                </a:ext>
              </a:extLst>
            </p:cNvPr>
            <p:cNvGrpSpPr/>
            <p:nvPr/>
          </p:nvGrpSpPr>
          <p:grpSpPr>
            <a:xfrm>
              <a:off x="5524805" y="2762402"/>
              <a:ext cx="1181405" cy="514807"/>
              <a:chOff x="5524805" y="2762402"/>
              <a:chExt cx="1181405" cy="514807"/>
            </a:xfrm>
          </p:grpSpPr>
          <p:sp>
            <p:nvSpPr>
              <p:cNvPr id="193" name="Shape 10">
                <a:extLst>
                  <a:ext uri="{FF2B5EF4-FFF2-40B4-BE49-F238E27FC236}">
                    <a16:creationId xmlns:a16="http://schemas.microsoft.com/office/drawing/2014/main" id="{DCAD094D-564E-48FE-94D4-3298CAC80455}"/>
                  </a:ext>
                </a:extLst>
              </p:cNvPr>
              <p:cNvSpPr/>
              <p:nvPr/>
            </p:nvSpPr>
            <p:spPr>
              <a:xfrm>
                <a:off x="5524805" y="2762402"/>
                <a:ext cx="1181405" cy="514807"/>
              </a:xfrm>
              <a:prstGeom prst="rect">
                <a:avLst/>
              </a:prstGeom>
              <a:solidFill>
                <a:srgbClr val="FFD700"/>
              </a:solidFill>
              <a:ln w="25400">
                <a:solidFill>
                  <a:srgbClr val="FFFFFF"/>
                </a:solidFill>
                <a:prstDash val="solid"/>
              </a:ln>
            </p:spPr>
          </p:sp>
          <p:pic>
            <p:nvPicPr>
              <p:cNvPr id="194" name="Image 2" descr="gen-dedup-241c89abc8aa8a8bf22f48e163ee5604.png">
                <a:extLst>
                  <a:ext uri="{FF2B5EF4-FFF2-40B4-BE49-F238E27FC236}">
                    <a16:creationId xmlns:a16="http://schemas.microsoft.com/office/drawing/2014/main" id="{B0D50A84-DC97-4072-B695-42A7579890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rcRect l="-9904" r="-9904"/>
              <a:stretch/>
            </p:blipFill>
            <p:spPr>
              <a:xfrm>
                <a:off x="5924398" y="2857500"/>
                <a:ext cx="342900" cy="286207"/>
              </a:xfrm>
              <a:prstGeom prst="rect">
                <a:avLst/>
              </a:prstGeom>
            </p:spPr>
          </p:pic>
        </p:grpSp>
        <p:sp>
          <p:nvSpPr>
            <p:cNvPr id="192" name="Text 24">
              <a:extLst>
                <a:ext uri="{FF2B5EF4-FFF2-40B4-BE49-F238E27FC236}">
                  <a16:creationId xmlns:a16="http://schemas.microsoft.com/office/drawing/2014/main" id="{5A22FF49-8B14-4F49-A5DC-1624B1560ECF}"/>
                </a:ext>
              </a:extLst>
            </p:cNvPr>
            <p:cNvSpPr txBox="1"/>
            <p:nvPr/>
          </p:nvSpPr>
          <p:spPr>
            <a:xfrm>
              <a:off x="5429707" y="3333902"/>
              <a:ext cx="1334110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latin typeface="굴림" pitchFamily="34" charset="0"/>
                  <a:ea typeface="굴림" pitchFamily="34" charset="-122"/>
                  <a:cs typeface="굴림" pitchFamily="34" charset="-120"/>
                </a:rPr>
                <a:t>시드값에 따른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b="1" dirty="0">
                  <a:latin typeface="굴림" pitchFamily="34" charset="0"/>
                  <a:ea typeface="굴림" pitchFamily="34" charset="-122"/>
                  <a:cs typeface="굴림" pitchFamily="34" charset="-120"/>
                </a:rPr>
                <a:t>결과 변화</a:t>
              </a:r>
              <a:endParaRPr lang="en-US" sz="1000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7F1FAB0-F1B0-4BFE-9366-43B346225B02}"/>
              </a:ext>
            </a:extLst>
          </p:cNvPr>
          <p:cNvGrpSpPr/>
          <p:nvPr/>
        </p:nvGrpSpPr>
        <p:grpSpPr>
          <a:xfrm>
            <a:off x="1264209" y="1038530"/>
            <a:ext cx="4498516" cy="4232727"/>
            <a:chOff x="1254665" y="954048"/>
            <a:chExt cx="4498516" cy="4232727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CE2478C4-7437-410C-99CA-D78F1547A0AA}"/>
                </a:ext>
              </a:extLst>
            </p:cNvPr>
            <p:cNvGrpSpPr/>
            <p:nvPr/>
          </p:nvGrpSpPr>
          <p:grpSpPr>
            <a:xfrm>
              <a:off x="1254665" y="954048"/>
              <a:ext cx="2171700" cy="400507"/>
              <a:chOff x="1510132" y="1432270"/>
              <a:chExt cx="2171700" cy="400507"/>
            </a:xfrm>
          </p:grpSpPr>
          <p:sp>
            <p:nvSpPr>
              <p:cNvPr id="187" name="Shape 8">
                <a:extLst>
                  <a:ext uri="{FF2B5EF4-FFF2-40B4-BE49-F238E27FC236}">
                    <a16:creationId xmlns:a16="http://schemas.microsoft.com/office/drawing/2014/main" id="{981DA267-C377-4DBF-8DB8-8823E10576DC}"/>
                  </a:ext>
                </a:extLst>
              </p:cNvPr>
              <p:cNvSpPr/>
              <p:nvPr/>
            </p:nvSpPr>
            <p:spPr>
              <a:xfrm>
                <a:off x="1510132" y="1432270"/>
                <a:ext cx="2171700" cy="400507"/>
              </a:xfrm>
              <a:prstGeom prst="rect">
                <a:avLst/>
              </a:prstGeom>
              <a:solidFill>
                <a:srgbClr val="C0C0C0"/>
              </a:solidFill>
              <a:ln w="25400">
                <a:solidFill>
                  <a:srgbClr val="FFFFFF"/>
                </a:solidFill>
                <a:prstDash val="solid"/>
              </a:ln>
            </p:spPr>
          </p:sp>
          <p:sp>
            <p:nvSpPr>
              <p:cNvPr id="188" name="Text 12">
                <a:extLst>
                  <a:ext uri="{FF2B5EF4-FFF2-40B4-BE49-F238E27FC236}">
                    <a16:creationId xmlns:a16="http://schemas.microsoft.com/office/drawing/2014/main" id="{DBB40BD4-8B9E-43BE-BBBD-CC412CE1D78A}"/>
                  </a:ext>
                </a:extLst>
              </p:cNvPr>
              <p:cNvSpPr txBox="1"/>
              <p:nvPr/>
            </p:nvSpPr>
            <p:spPr>
              <a:xfrm>
                <a:off x="1649121" y="1499021"/>
                <a:ext cx="185897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000000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Seed A (1459589277)</a:t>
                </a:r>
                <a:endParaRPr lang="en-US" sz="1200" dirty="0"/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052E33C2-29A4-40D0-B7A3-3F37B6AC9CE1}"/>
                </a:ext>
              </a:extLst>
            </p:cNvPr>
            <p:cNvGrpSpPr/>
            <p:nvPr/>
          </p:nvGrpSpPr>
          <p:grpSpPr>
            <a:xfrm>
              <a:off x="1254665" y="1354554"/>
              <a:ext cx="4498516" cy="3832221"/>
              <a:chOff x="1254665" y="1354554"/>
              <a:chExt cx="4498516" cy="3832221"/>
            </a:xfrm>
          </p:grpSpPr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FDC1A72F-6231-411E-8A4E-C661136D3175}"/>
                  </a:ext>
                </a:extLst>
              </p:cNvPr>
              <p:cNvGrpSpPr/>
              <p:nvPr/>
            </p:nvGrpSpPr>
            <p:grpSpPr>
              <a:xfrm>
                <a:off x="1254665" y="1354554"/>
                <a:ext cx="4498516" cy="3832221"/>
                <a:chOff x="1606682" y="1532347"/>
                <a:chExt cx="3759401" cy="3608582"/>
              </a:xfrm>
            </p:grpSpPr>
            <p:sp>
              <p:nvSpPr>
                <p:cNvPr id="189" name="Shape 4">
                  <a:extLst>
                    <a:ext uri="{FF2B5EF4-FFF2-40B4-BE49-F238E27FC236}">
                      <a16:creationId xmlns:a16="http://schemas.microsoft.com/office/drawing/2014/main" id="{DC4FC854-AF2A-42F7-B345-1F592B0DE5B5}"/>
                    </a:ext>
                  </a:extLst>
                </p:cNvPr>
                <p:cNvSpPr/>
                <p:nvPr/>
              </p:nvSpPr>
              <p:spPr>
                <a:xfrm>
                  <a:off x="1606682" y="1532347"/>
                  <a:ext cx="3759401" cy="3608582"/>
                </a:xfrm>
                <a:prstGeom prst="rect">
                  <a:avLst/>
                </a:prstGeom>
                <a:solidFill>
                  <a:srgbClr val="C0C0C0"/>
                </a:solidFill>
                <a:ln w="25400">
                  <a:solidFill>
                    <a:srgbClr val="FFFFFF"/>
                  </a:solidFill>
                  <a:prstDash val="solid"/>
                </a:ln>
              </p:spPr>
            </p:sp>
            <p:pic>
              <p:nvPicPr>
                <p:cNvPr id="195" name="그림 194">
                  <a:extLst>
                    <a:ext uri="{FF2B5EF4-FFF2-40B4-BE49-F238E27FC236}">
                      <a16:creationId xmlns:a16="http://schemas.microsoft.com/office/drawing/2014/main" id="{81D05FA9-A89A-4F69-B92F-27EA198A99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60307" y="1616285"/>
                  <a:ext cx="3646731" cy="2559918"/>
                </a:xfrm>
                <a:prstGeom prst="rect">
                  <a:avLst/>
                </a:prstGeom>
              </p:spPr>
            </p:pic>
          </p:grpSp>
          <p:pic>
            <p:nvPicPr>
              <p:cNvPr id="196" name="그림 195">
                <a:extLst>
                  <a:ext uri="{FF2B5EF4-FFF2-40B4-BE49-F238E27FC236}">
                    <a16:creationId xmlns:a16="http://schemas.microsoft.com/office/drawing/2014/main" id="{0B5FF32C-8659-49D1-B071-DDD4F7A6B8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15845" y="4018547"/>
                <a:ext cx="4363695" cy="1123085"/>
              </a:xfrm>
              <a:prstGeom prst="rect">
                <a:avLst/>
              </a:prstGeom>
            </p:spPr>
          </p:pic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DA65F12-380F-4AB9-907E-1B9EA293041F}"/>
              </a:ext>
            </a:extLst>
          </p:cNvPr>
          <p:cNvGrpSpPr/>
          <p:nvPr/>
        </p:nvGrpSpPr>
        <p:grpSpPr>
          <a:xfrm>
            <a:off x="7283316" y="1038379"/>
            <a:ext cx="4498516" cy="4195955"/>
            <a:chOff x="7287987" y="954048"/>
            <a:chExt cx="4498516" cy="4195955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3D0AD78B-F3FE-4326-9620-736FE172072A}"/>
                </a:ext>
              </a:extLst>
            </p:cNvPr>
            <p:cNvGrpSpPr/>
            <p:nvPr/>
          </p:nvGrpSpPr>
          <p:grpSpPr>
            <a:xfrm>
              <a:off x="7287987" y="1317782"/>
              <a:ext cx="4498516" cy="3832221"/>
              <a:chOff x="7361620" y="1357620"/>
              <a:chExt cx="4498516" cy="3832221"/>
            </a:xfrm>
          </p:grpSpPr>
          <p:sp>
            <p:nvSpPr>
              <p:cNvPr id="203" name="Shape 4">
                <a:extLst>
                  <a:ext uri="{FF2B5EF4-FFF2-40B4-BE49-F238E27FC236}">
                    <a16:creationId xmlns:a16="http://schemas.microsoft.com/office/drawing/2014/main" id="{EB5DC59F-2B37-49CC-8A45-6CA5C5307045}"/>
                  </a:ext>
                </a:extLst>
              </p:cNvPr>
              <p:cNvSpPr/>
              <p:nvPr/>
            </p:nvSpPr>
            <p:spPr>
              <a:xfrm>
                <a:off x="7361620" y="1357620"/>
                <a:ext cx="4498516" cy="3832221"/>
              </a:xfrm>
              <a:prstGeom prst="rect">
                <a:avLst/>
              </a:prstGeom>
              <a:solidFill>
                <a:srgbClr val="C0C0C0"/>
              </a:solidFill>
              <a:ln w="25400">
                <a:solidFill>
                  <a:srgbClr val="FFFFFF"/>
                </a:solidFill>
                <a:prstDash val="solid"/>
              </a:ln>
            </p:spPr>
          </p:sp>
          <p:pic>
            <p:nvPicPr>
              <p:cNvPr id="206" name="그림 205">
                <a:extLst>
                  <a:ext uri="{FF2B5EF4-FFF2-40B4-BE49-F238E27FC236}">
                    <a16:creationId xmlns:a16="http://schemas.microsoft.com/office/drawing/2014/main" id="{90CA0A28-B5B7-4E1B-8F83-C8E4D4A085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19559" y="1438006"/>
                <a:ext cx="4369924" cy="2716848"/>
              </a:xfrm>
              <a:prstGeom prst="rect">
                <a:avLst/>
              </a:prstGeom>
            </p:spPr>
          </p:pic>
          <p:pic>
            <p:nvPicPr>
              <p:cNvPr id="205" name="그림 204">
                <a:extLst>
                  <a:ext uri="{FF2B5EF4-FFF2-40B4-BE49-F238E27FC236}">
                    <a16:creationId xmlns:a16="http://schemas.microsoft.com/office/drawing/2014/main" id="{DBFE918C-622A-4C5D-B3DC-5D2A9FDE75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19227" y="4108713"/>
                <a:ext cx="4370256" cy="1072908"/>
              </a:xfrm>
              <a:prstGeom prst="rect">
                <a:avLst/>
              </a:prstGeom>
            </p:spPr>
          </p:pic>
        </p:grpSp>
        <p:grpSp>
          <p:nvGrpSpPr>
            <p:cNvPr id="207" name="그룹 206">
              <a:extLst>
                <a:ext uri="{FF2B5EF4-FFF2-40B4-BE49-F238E27FC236}">
                  <a16:creationId xmlns:a16="http://schemas.microsoft.com/office/drawing/2014/main" id="{988E6C65-C792-4ED7-9B47-85C0E70666D9}"/>
                </a:ext>
              </a:extLst>
            </p:cNvPr>
            <p:cNvGrpSpPr/>
            <p:nvPr/>
          </p:nvGrpSpPr>
          <p:grpSpPr>
            <a:xfrm>
              <a:off x="7287987" y="954048"/>
              <a:ext cx="2171700" cy="400507"/>
              <a:chOff x="1510132" y="1432270"/>
              <a:chExt cx="2171700" cy="400507"/>
            </a:xfrm>
          </p:grpSpPr>
          <p:sp>
            <p:nvSpPr>
              <p:cNvPr id="208" name="Shape 8">
                <a:extLst>
                  <a:ext uri="{FF2B5EF4-FFF2-40B4-BE49-F238E27FC236}">
                    <a16:creationId xmlns:a16="http://schemas.microsoft.com/office/drawing/2014/main" id="{5AD54559-6F76-4478-BF4A-D8A51EAEFF44}"/>
                  </a:ext>
                </a:extLst>
              </p:cNvPr>
              <p:cNvSpPr/>
              <p:nvPr/>
            </p:nvSpPr>
            <p:spPr>
              <a:xfrm>
                <a:off x="1510132" y="1432270"/>
                <a:ext cx="2171700" cy="400507"/>
              </a:xfrm>
              <a:prstGeom prst="rect">
                <a:avLst/>
              </a:prstGeom>
              <a:solidFill>
                <a:srgbClr val="C0C0C0"/>
              </a:solidFill>
              <a:ln w="25400">
                <a:solidFill>
                  <a:srgbClr val="FFFFFF"/>
                </a:solidFill>
                <a:prstDash val="solid"/>
              </a:ln>
            </p:spPr>
          </p:sp>
          <p:sp>
            <p:nvSpPr>
              <p:cNvPr id="209" name="Text 12">
                <a:extLst>
                  <a:ext uri="{FF2B5EF4-FFF2-40B4-BE49-F238E27FC236}">
                    <a16:creationId xmlns:a16="http://schemas.microsoft.com/office/drawing/2014/main" id="{FE9E6CA9-03E4-4FFA-A9E4-0362F962C2D0}"/>
                  </a:ext>
                </a:extLst>
              </p:cNvPr>
              <p:cNvSpPr txBox="1"/>
              <p:nvPr/>
            </p:nvSpPr>
            <p:spPr>
              <a:xfrm>
                <a:off x="1649121" y="1499021"/>
                <a:ext cx="1858975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000000"/>
                    </a:solidFill>
                    <a:latin typeface="굴림" pitchFamily="34" charset="0"/>
                    <a:ea typeface="굴림" pitchFamily="34" charset="-122"/>
                    <a:cs typeface="굴림" pitchFamily="34" charset="-120"/>
                  </a:rPr>
                  <a:t>Seed A (14595892776)</a:t>
                </a:r>
                <a:endParaRPr lang="en-US" sz="12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25932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76695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044000" y="108000"/>
            <a:ext cx="10920520" cy="6084503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1064769" y="128444"/>
            <a:ext cx="10878982" cy="284268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167625" y="513958"/>
            <a:ext cx="10673270" cy="5577299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675732" y="158623"/>
            <a:ext cx="226481" cy="22293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198283" y="169331"/>
            <a:ext cx="2249767" cy="22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World First Kill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.exe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1746940" y="199511"/>
            <a:ext cx="92966" cy="142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36" name="Shape 28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10477195" y="6534302"/>
            <a:ext cx="1619402" cy="267005"/>
          </a:xfrm>
          <a:prstGeom prst="rect">
            <a:avLst/>
          </a:prstGeom>
          <a:solidFill>
            <a:srgbClr val="C0C0C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40" name="Image 6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" name="Image 7" descr="gen-dedup-ba9d3020b28ee88c3f41e8c221d65fea.png"/>
          <p:cNvPicPr>
            <a:picLocks noChangeAspect="1"/>
          </p:cNvPicPr>
          <p:nvPr/>
        </p:nvPicPr>
        <p:blipFill>
          <a:blip r:embed="rId4"/>
          <a:srcRect l="-16666" r="-16666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238098" y="6577279"/>
            <a:ext cx="13578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게임_개발_내용.exe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 8" descr="gen-dedup-7740a029182e5c65b65e33d2aaed94e2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10573207" y="6590995"/>
            <a:ext cx="152705" cy="152705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1124590" y="6590995"/>
            <a:ext cx="7260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10:00 AM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3">
            <a:extLst>
              <a:ext uri="{FF2B5EF4-FFF2-40B4-BE49-F238E27FC236}">
                <a16:creationId xmlns:a16="http://schemas.microsoft.com/office/drawing/2014/main" id="{D3CD7A0C-665C-5D8C-085F-9D543D30C474}"/>
              </a:ext>
            </a:extLst>
          </p:cNvPr>
          <p:cNvSpPr/>
          <p:nvPr/>
        </p:nvSpPr>
        <p:spPr>
          <a:xfrm>
            <a:off x="250546" y="4467759"/>
            <a:ext cx="629107" cy="590702"/>
          </a:xfrm>
          <a:prstGeom prst="rect">
            <a:avLst/>
          </a:prstGeom>
          <a:solidFill>
            <a:srgbClr val="000080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8" name="Image 0" descr="gen-dedup-57ee6a1f0d650d3a975db06a8ec6cc96.png">
            <a:extLst>
              <a:ext uri="{FF2B5EF4-FFF2-40B4-BE49-F238E27FC236}">
                <a16:creationId xmlns:a16="http://schemas.microsoft.com/office/drawing/2014/main" id="{834D1F6C-0CDF-E7F3-E820-C37BB85E345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6250" b="-6250"/>
          <a:stretch/>
        </p:blipFill>
        <p:spPr>
          <a:xfrm>
            <a:off x="381305" y="1047902"/>
            <a:ext cx="381305" cy="381305"/>
          </a:xfrm>
          <a:prstGeom prst="rect">
            <a:avLst/>
          </a:prstGeom>
        </p:spPr>
      </p:pic>
      <p:sp>
        <p:nvSpPr>
          <p:cNvPr id="49" name="Text 5">
            <a:extLst>
              <a:ext uri="{FF2B5EF4-FFF2-40B4-BE49-F238E27FC236}">
                <a16:creationId xmlns:a16="http://schemas.microsoft.com/office/drawing/2014/main" id="{E01929AB-F8B3-4F14-E09C-CBEBBC65A31F}"/>
              </a:ext>
            </a:extLst>
          </p:cNvPr>
          <p:cNvSpPr txBox="1"/>
          <p:nvPr/>
        </p:nvSpPr>
        <p:spPr>
          <a:xfrm>
            <a:off x="269748" y="1485900"/>
            <a:ext cx="609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내 컴퓨터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6">
            <a:extLst>
              <a:ext uri="{FF2B5EF4-FFF2-40B4-BE49-F238E27FC236}">
                <a16:creationId xmlns:a16="http://schemas.microsoft.com/office/drawing/2014/main" id="{2B0E25B6-D57D-78C1-B47D-A27041DAC1A1}"/>
              </a:ext>
            </a:extLst>
          </p:cNvPr>
          <p:cNvSpPr txBox="1"/>
          <p:nvPr/>
        </p:nvSpPr>
        <p:spPr>
          <a:xfrm>
            <a:off x="226771" y="2391156"/>
            <a:ext cx="695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포트폴리오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" name="Image 2" descr="gen-dedup-313e4be3ff4060006731241b7cc55ba4.png">
            <a:extLst>
              <a:ext uri="{FF2B5EF4-FFF2-40B4-BE49-F238E27FC236}">
                <a16:creationId xmlns:a16="http://schemas.microsoft.com/office/drawing/2014/main" id="{D2181919-D947-B1C1-2070-0C0E6697E16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81305" y="2809951"/>
            <a:ext cx="381305" cy="381305"/>
          </a:xfrm>
          <a:prstGeom prst="rect">
            <a:avLst/>
          </a:prstGeom>
        </p:spPr>
      </p:pic>
      <p:sp>
        <p:nvSpPr>
          <p:cNvPr id="52" name="Text 7">
            <a:extLst>
              <a:ext uri="{FF2B5EF4-FFF2-40B4-BE49-F238E27FC236}">
                <a16:creationId xmlns:a16="http://schemas.microsoft.com/office/drawing/2014/main" id="{E0B063D8-0476-320A-A594-D61E083CD81B}"/>
              </a:ext>
            </a:extLst>
          </p:cNvPr>
          <p:cNvSpPr txBox="1"/>
          <p:nvPr/>
        </p:nvSpPr>
        <p:spPr>
          <a:xfrm>
            <a:off x="419710" y="3191256"/>
            <a:ext cx="342900" cy="24780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tIns="25400" rIns="381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목차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3" name="Image 3" descr="gen-dedup-ef6105ed2e63baeb37694681937bef0b.png">
            <a:extLst>
              <a:ext uri="{FF2B5EF4-FFF2-40B4-BE49-F238E27FC236}">
                <a16:creationId xmlns:a16="http://schemas.microsoft.com/office/drawing/2014/main" id="{083003E3-FCE9-C3EB-A38B-966D9A8CA36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381305" y="3715207"/>
            <a:ext cx="381305" cy="381305"/>
          </a:xfrm>
          <a:prstGeom prst="rect">
            <a:avLst/>
          </a:prstGeom>
        </p:spPr>
      </p:pic>
      <p:sp>
        <p:nvSpPr>
          <p:cNvPr id="54" name="Text 8">
            <a:extLst>
              <a:ext uri="{FF2B5EF4-FFF2-40B4-BE49-F238E27FC236}">
                <a16:creationId xmlns:a16="http://schemas.microsoft.com/office/drawing/2014/main" id="{7D57BE65-648F-A850-C469-0BDBC2C9032E}"/>
              </a:ext>
            </a:extLst>
          </p:cNvPr>
          <p:cNvSpPr txBox="1"/>
          <p:nvPr/>
        </p:nvSpPr>
        <p:spPr>
          <a:xfrm>
            <a:off x="349301" y="4153205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5" name="Image 4" descr="gen-dedup-9fdbec92b016124fd02e3850a5123f8c.png">
            <a:extLst>
              <a:ext uri="{FF2B5EF4-FFF2-40B4-BE49-F238E27FC236}">
                <a16:creationId xmlns:a16="http://schemas.microsoft.com/office/drawing/2014/main" id="{B4534DA8-E254-C2E1-3BA5-725871AC31B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81305" y="4572000"/>
            <a:ext cx="381305" cy="381305"/>
          </a:xfrm>
          <a:prstGeom prst="rect">
            <a:avLst/>
          </a:prstGeom>
        </p:spPr>
      </p:pic>
      <p:sp>
        <p:nvSpPr>
          <p:cNvPr id="100" name="Shape 10">
            <a:extLst>
              <a:ext uri="{FF2B5EF4-FFF2-40B4-BE49-F238E27FC236}">
                <a16:creationId xmlns:a16="http://schemas.microsoft.com/office/drawing/2014/main" id="{28C39675-80EC-402A-A8F2-4844E5F5A817}"/>
              </a:ext>
            </a:extLst>
          </p:cNvPr>
          <p:cNvSpPr/>
          <p:nvPr/>
        </p:nvSpPr>
        <p:spPr>
          <a:xfrm>
            <a:off x="1178662" y="513958"/>
            <a:ext cx="10670437" cy="5577299"/>
          </a:xfrm>
          <a:prstGeom prst="rect">
            <a:avLst/>
          </a:prstGeom>
          <a:solidFill>
            <a:srgbClr val="E8E8E8"/>
          </a:solidFill>
          <a:ln w="254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6" name="Text 9">
            <a:extLst>
              <a:ext uri="{FF2B5EF4-FFF2-40B4-BE49-F238E27FC236}">
                <a16:creationId xmlns:a16="http://schemas.microsoft.com/office/drawing/2014/main" id="{506184E4-4144-57DF-D7C7-9F0B55E0D8E6}"/>
              </a:ext>
            </a:extLst>
          </p:cNvPr>
          <p:cNvSpPr txBox="1"/>
          <p:nvPr/>
        </p:nvSpPr>
        <p:spPr>
          <a:xfrm>
            <a:off x="288036" y="5009998"/>
            <a:ext cx="571500" cy="2286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프로젝트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EBF3C9A2-6E5F-2419-CD2C-7B7C1E5B74A8}"/>
              </a:ext>
            </a:extLst>
          </p:cNvPr>
          <p:cNvGrpSpPr/>
          <p:nvPr/>
        </p:nvGrpSpPr>
        <p:grpSpPr>
          <a:xfrm>
            <a:off x="342900" y="1904695"/>
            <a:ext cx="457200" cy="457200"/>
            <a:chOff x="342900" y="1904695"/>
            <a:chExt cx="457200" cy="457200"/>
          </a:xfrm>
        </p:grpSpPr>
        <p:pic>
          <p:nvPicPr>
            <p:cNvPr id="58" name="Image 1" descr="gen-dedup-36f1f1ccf4a0e8533d6290f10bde510b.png">
              <a:extLst>
                <a:ext uri="{FF2B5EF4-FFF2-40B4-BE49-F238E27FC236}">
                  <a16:creationId xmlns:a16="http://schemas.microsoft.com/office/drawing/2014/main" id="{D4C28A30-F4FA-C258-864B-9F0B10F9C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342900" y="1904695"/>
              <a:ext cx="457200" cy="457200"/>
            </a:xfrm>
            <a:prstGeom prst="rect">
              <a:avLst/>
            </a:prstGeom>
          </p:spPr>
        </p:pic>
        <p:pic>
          <p:nvPicPr>
            <p:cNvPr id="59" name="Image 5" descr="gen-dedup-72bd3513d2cf055f9eacb7e2be8dea4c.png">
              <a:extLst>
                <a:ext uri="{FF2B5EF4-FFF2-40B4-BE49-F238E27FC236}">
                  <a16:creationId xmlns:a16="http://schemas.microsoft.com/office/drawing/2014/main" id="{8BE6AC25-640E-32EB-7700-E0E13FB06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t="-12500" b="-12500"/>
            <a:stretch/>
          </p:blipFill>
          <p:spPr>
            <a:xfrm>
              <a:off x="437998" y="2038198"/>
              <a:ext cx="267005" cy="267005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8F126EA-5A8E-46F5-A088-4B6DC2D35653}"/>
              </a:ext>
            </a:extLst>
          </p:cNvPr>
          <p:cNvGrpSpPr/>
          <p:nvPr/>
        </p:nvGrpSpPr>
        <p:grpSpPr>
          <a:xfrm>
            <a:off x="1238098" y="567741"/>
            <a:ext cx="10508842" cy="381305"/>
            <a:chOff x="1749003" y="666597"/>
            <a:chExt cx="9525305" cy="381305"/>
          </a:xfrm>
        </p:grpSpPr>
        <p:sp>
          <p:nvSpPr>
            <p:cNvPr id="60" name="Shape 12">
              <a:extLst>
                <a:ext uri="{FF2B5EF4-FFF2-40B4-BE49-F238E27FC236}">
                  <a16:creationId xmlns:a16="http://schemas.microsoft.com/office/drawing/2014/main" id="{A770E5B3-FE8D-4D94-9B23-DD92101DB259}"/>
                </a:ext>
              </a:extLst>
            </p:cNvPr>
            <p:cNvSpPr/>
            <p:nvPr/>
          </p:nvSpPr>
          <p:spPr>
            <a:xfrm>
              <a:off x="1749003" y="666597"/>
              <a:ext cx="9525305" cy="381305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71" name="Text 24">
              <a:extLst>
                <a:ext uri="{FF2B5EF4-FFF2-40B4-BE49-F238E27FC236}">
                  <a16:creationId xmlns:a16="http://schemas.microsoft.com/office/drawing/2014/main" id="{001482B1-6544-4606-8D2E-039404005D40}"/>
                </a:ext>
              </a:extLst>
            </p:cNvPr>
            <p:cNvSpPr txBox="1"/>
            <p:nvPr/>
          </p:nvSpPr>
          <p:spPr>
            <a:xfrm>
              <a:off x="3606368" y="742949"/>
              <a:ext cx="581057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dirty="0" err="1">
                  <a:solidFill>
                    <a:prstClr val="white"/>
                  </a:solidFill>
                  <a:latin typeface="Calibri" panose="020F0502020204030204"/>
                  <a:ea typeface="맑은 고딕" panose="020B0503020000020004" pitchFamily="50" charset="-127"/>
                </a:rPr>
                <a:t>느낀점</a:t>
              </a:r>
              <a:r>
                <a:rPr lang="en-US" altLang="ko-KR" dirty="0">
                  <a:solidFill>
                    <a:prstClr val="white"/>
                  </a:solidFill>
                  <a:latin typeface="Calibri" panose="020F0502020204030204"/>
                  <a:ea typeface="맑은 고딕" panose="020B0503020000020004" pitchFamily="50" charset="-127"/>
                </a:rPr>
                <a:t> / </a:t>
              </a:r>
              <a:r>
                <a:rPr lang="ko-KR" altLang="en-US" dirty="0">
                  <a:solidFill>
                    <a:prstClr val="white"/>
                  </a:solidFill>
                  <a:latin typeface="Calibri" panose="020F0502020204030204"/>
                  <a:ea typeface="맑은 고딕" panose="020B0503020000020004" pitchFamily="50" charset="-127"/>
                </a:rPr>
                <a:t>개선해야 할 점</a:t>
              </a:r>
              <a:endPara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1D7E464-A850-47CF-B53C-EFCDE1981DC9}"/>
              </a:ext>
            </a:extLst>
          </p:cNvPr>
          <p:cNvGrpSpPr/>
          <p:nvPr/>
        </p:nvGrpSpPr>
        <p:grpSpPr>
          <a:xfrm>
            <a:off x="1237031" y="1155901"/>
            <a:ext cx="3864377" cy="4767103"/>
            <a:chOff x="1740995" y="1294791"/>
            <a:chExt cx="4667098" cy="4190695"/>
          </a:xfrm>
        </p:grpSpPr>
        <p:sp>
          <p:nvSpPr>
            <p:cNvPr id="104" name="Shape 13">
              <a:extLst>
                <a:ext uri="{FF2B5EF4-FFF2-40B4-BE49-F238E27FC236}">
                  <a16:creationId xmlns:a16="http://schemas.microsoft.com/office/drawing/2014/main" id="{DF7C5C52-29EE-4C04-BF85-FD4AF222C6D2}"/>
                </a:ext>
              </a:extLst>
            </p:cNvPr>
            <p:cNvSpPr/>
            <p:nvPr/>
          </p:nvSpPr>
          <p:spPr>
            <a:xfrm>
              <a:off x="1740995" y="1294791"/>
              <a:ext cx="4667098" cy="4190695"/>
            </a:xfrm>
            <a:prstGeom prst="rect">
              <a:avLst/>
            </a:prstGeom>
            <a:solidFill>
              <a:srgbClr val="E8E8E8"/>
            </a:solidFill>
            <a:ln w="25400">
              <a:solidFill>
                <a:srgbClr val="FFFFFF"/>
              </a:solidFill>
              <a:prstDash val="solid"/>
            </a:ln>
          </p:spPr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E9A89D2C-BDE1-481A-9021-E06E9A13F759}"/>
                </a:ext>
              </a:extLst>
            </p:cNvPr>
            <p:cNvGrpSpPr/>
            <p:nvPr/>
          </p:nvGrpSpPr>
          <p:grpSpPr>
            <a:xfrm>
              <a:off x="1779399" y="1333195"/>
              <a:ext cx="4591202" cy="381305"/>
              <a:chOff x="1779399" y="1333195"/>
              <a:chExt cx="4591202" cy="381305"/>
            </a:xfrm>
          </p:grpSpPr>
          <p:sp>
            <p:nvSpPr>
              <p:cNvPr id="106" name="Shape 15">
                <a:extLst>
                  <a:ext uri="{FF2B5EF4-FFF2-40B4-BE49-F238E27FC236}">
                    <a16:creationId xmlns:a16="http://schemas.microsoft.com/office/drawing/2014/main" id="{163675FF-D14E-447B-B473-A11DE44DE778}"/>
                  </a:ext>
                </a:extLst>
              </p:cNvPr>
              <p:cNvSpPr/>
              <p:nvPr/>
            </p:nvSpPr>
            <p:spPr>
              <a:xfrm>
                <a:off x="1779399" y="1333195"/>
                <a:ext cx="4591202" cy="381305"/>
              </a:xfrm>
              <a:prstGeom prst="rect">
                <a:avLst/>
              </a:prstGeom>
              <a:solidFill>
                <a:srgbClr val="000080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108" name="Text 20">
                <a:extLst>
                  <a:ext uri="{FF2B5EF4-FFF2-40B4-BE49-F238E27FC236}">
                    <a16:creationId xmlns:a16="http://schemas.microsoft.com/office/drawing/2014/main" id="{0FF7035A-73D4-418C-9E56-BC0BEC8D70C4}"/>
                  </a:ext>
                </a:extLst>
              </p:cNvPr>
              <p:cNvSpPr txBox="1"/>
              <p:nvPr/>
            </p:nvSpPr>
            <p:spPr>
              <a:xfrm>
                <a:off x="2611503" y="1399947"/>
                <a:ext cx="2933395" cy="2478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FD7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기존 방식의 문제점 및 개선 방안</a:t>
                </a:r>
                <a:endParaRPr lang="en-US" sz="1300" dirty="0"/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378381DB-0F7B-44A7-9F2C-076B6668D026}"/>
                </a:ext>
              </a:extLst>
            </p:cNvPr>
            <p:cNvGrpSpPr/>
            <p:nvPr/>
          </p:nvGrpSpPr>
          <p:grpSpPr>
            <a:xfrm>
              <a:off x="1932104" y="1818742"/>
              <a:ext cx="4286707" cy="629107"/>
              <a:chOff x="1932104" y="1818742"/>
              <a:chExt cx="4286707" cy="629107"/>
            </a:xfrm>
          </p:grpSpPr>
          <p:sp>
            <p:nvSpPr>
              <p:cNvPr id="109" name="Shape 21">
                <a:extLst>
                  <a:ext uri="{FF2B5EF4-FFF2-40B4-BE49-F238E27FC236}">
                    <a16:creationId xmlns:a16="http://schemas.microsoft.com/office/drawing/2014/main" id="{D217625D-10F2-482F-99FD-3A502A34C16B}"/>
                  </a:ext>
                </a:extLst>
              </p:cNvPr>
              <p:cNvSpPr/>
              <p:nvPr/>
            </p:nvSpPr>
            <p:spPr>
              <a:xfrm>
                <a:off x="1932104" y="1818742"/>
                <a:ext cx="4286707" cy="62910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808080"/>
                </a:solidFill>
                <a:prstDash val="solid"/>
              </a:ln>
            </p:spPr>
          </p:sp>
          <p:sp>
            <p:nvSpPr>
              <p:cNvPr id="110" name="Text 22">
                <a:extLst>
                  <a:ext uri="{FF2B5EF4-FFF2-40B4-BE49-F238E27FC236}">
                    <a16:creationId xmlns:a16="http://schemas.microsoft.com/office/drawing/2014/main" id="{8DC3F36F-3567-46F4-85A3-37C581473443}"/>
                  </a:ext>
                </a:extLst>
              </p:cNvPr>
              <p:cNvSpPr txBox="1"/>
              <p:nvPr/>
            </p:nvSpPr>
            <p:spPr>
              <a:xfrm>
                <a:off x="2083895" y="1943100"/>
                <a:ext cx="3982212" cy="3813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현재 Seed/Token기반이 가진 문제점은 초기화 순서대로 불러와야 세이브/로드가 성립한다는 점이다.</a:t>
                </a:r>
                <a:endParaRPr lang="en-US" sz="1000" dirty="0"/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9263D183-B3B8-4163-BEAA-EC86C8C1A2DE}"/>
                </a:ext>
              </a:extLst>
            </p:cNvPr>
            <p:cNvGrpSpPr/>
            <p:nvPr/>
          </p:nvGrpSpPr>
          <p:grpSpPr>
            <a:xfrm>
              <a:off x="1932104" y="2582266"/>
              <a:ext cx="4286707" cy="629107"/>
              <a:chOff x="1932104" y="2582266"/>
              <a:chExt cx="4286707" cy="629107"/>
            </a:xfrm>
          </p:grpSpPr>
          <p:sp>
            <p:nvSpPr>
              <p:cNvPr id="111" name="Shape 23">
                <a:extLst>
                  <a:ext uri="{FF2B5EF4-FFF2-40B4-BE49-F238E27FC236}">
                    <a16:creationId xmlns:a16="http://schemas.microsoft.com/office/drawing/2014/main" id="{27809515-AC48-4302-8CB4-8C7F14AAF8FA}"/>
                  </a:ext>
                </a:extLst>
              </p:cNvPr>
              <p:cNvSpPr/>
              <p:nvPr/>
            </p:nvSpPr>
            <p:spPr>
              <a:xfrm>
                <a:off x="1932104" y="2582266"/>
                <a:ext cx="4286707" cy="62910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808080"/>
                </a:solidFill>
                <a:prstDash val="solid"/>
              </a:ln>
            </p:spPr>
          </p:sp>
          <p:sp>
            <p:nvSpPr>
              <p:cNvPr id="112" name="Text 24">
                <a:extLst>
                  <a:ext uri="{FF2B5EF4-FFF2-40B4-BE49-F238E27FC236}">
                    <a16:creationId xmlns:a16="http://schemas.microsoft.com/office/drawing/2014/main" id="{E4055CC5-A11E-4571-8C43-41BEC2E268C8}"/>
                  </a:ext>
                </a:extLst>
              </p:cNvPr>
              <p:cNvSpPr txBox="1"/>
              <p:nvPr/>
            </p:nvSpPr>
            <p:spPr>
              <a:xfrm>
                <a:off x="2083895" y="2706624"/>
                <a:ext cx="3982212" cy="3813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또한 현재 난수가 들어가야 할 많을수록 토큰의 길이가 길어질 수 </a:t>
                </a:r>
                <a:r>
                  <a:rPr lang="en-US" sz="1000" dirty="0" err="1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밖에</a:t>
                </a:r>
                <a:r>
                  <a:rPr lang="en-US" sz="1000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없</a:t>
                </a:r>
                <a:r>
                  <a:rPr lang="ko-KR" altLang="en-US" sz="1000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기에</a:t>
                </a:r>
                <a:r>
                  <a:rPr lang="en-US" altLang="ko-KR" sz="1000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:r>
                  <a:rPr lang="ko-KR" altLang="en-US" sz="1000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유지보수 측면에서 개선해야 한다</a:t>
                </a:r>
                <a:r>
                  <a:rPr lang="en-US" altLang="ko-KR" sz="1000" dirty="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1000" dirty="0"/>
              </a:p>
            </p:txBody>
          </p: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637E9D4A-0EEC-49D6-BE97-0B2E568B010E}"/>
                </a:ext>
              </a:extLst>
            </p:cNvPr>
            <p:cNvGrpSpPr/>
            <p:nvPr/>
          </p:nvGrpSpPr>
          <p:grpSpPr>
            <a:xfrm>
              <a:off x="1932104" y="3346704"/>
              <a:ext cx="4286707" cy="2057400"/>
              <a:chOff x="1932104" y="3346704"/>
              <a:chExt cx="4286707" cy="2057400"/>
            </a:xfrm>
          </p:grpSpPr>
          <p:sp>
            <p:nvSpPr>
              <p:cNvPr id="113" name="Shape 25">
                <a:extLst>
                  <a:ext uri="{FF2B5EF4-FFF2-40B4-BE49-F238E27FC236}">
                    <a16:creationId xmlns:a16="http://schemas.microsoft.com/office/drawing/2014/main" id="{B0582596-277A-4E22-A6E5-673F40A97301}"/>
                  </a:ext>
                </a:extLst>
              </p:cNvPr>
              <p:cNvSpPr/>
              <p:nvPr/>
            </p:nvSpPr>
            <p:spPr>
              <a:xfrm>
                <a:off x="1932104" y="3346704"/>
                <a:ext cx="4286707" cy="20574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808080"/>
                </a:solidFill>
                <a:prstDash val="solid"/>
              </a:ln>
            </p:spPr>
          </p:sp>
          <p:sp>
            <p:nvSpPr>
              <p:cNvPr id="114" name="Text 26">
                <a:extLst>
                  <a:ext uri="{FF2B5EF4-FFF2-40B4-BE49-F238E27FC236}">
                    <a16:creationId xmlns:a16="http://schemas.microsoft.com/office/drawing/2014/main" id="{6C2D1CF3-88FC-422B-9124-DD24627B6D42}"/>
                  </a:ext>
                </a:extLst>
              </p:cNvPr>
              <p:cNvSpPr txBox="1"/>
              <p:nvPr/>
            </p:nvSpPr>
            <p:spPr>
              <a:xfrm>
                <a:off x="2083895" y="3470148"/>
                <a:ext cx="3982212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b="1" dirty="0">
                    <a:solidFill>
                      <a:srgbClr val="0000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String </a:t>
                </a:r>
                <a:r>
                  <a:rPr lang="ko-KR" altLang="en-US" sz="1000" b="1" dirty="0" err="1">
                    <a:solidFill>
                      <a:srgbClr val="0000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해싱</a:t>
                </a:r>
                <a:r>
                  <a:rPr lang="ko-KR" altLang="en-US" sz="1000" b="1" dirty="0">
                    <a:solidFill>
                      <a:srgbClr val="0000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:r>
                  <a:rPr lang="en-US" sz="1000" b="1" dirty="0" err="1">
                    <a:solidFill>
                      <a:srgbClr val="0000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기반</a:t>
                </a:r>
                <a:r>
                  <a:rPr lang="en-US" sz="1000" b="1" dirty="0">
                    <a:solidFill>
                      <a:srgbClr val="0000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난수로 전환하기</a:t>
                </a:r>
                <a:endParaRPr lang="en-US" sz="1000" dirty="0"/>
              </a:p>
            </p:txBody>
          </p:sp>
          <p:sp>
            <p:nvSpPr>
              <p:cNvPr id="116" name="Text 28">
                <a:extLst>
                  <a:ext uri="{FF2B5EF4-FFF2-40B4-BE49-F238E27FC236}">
                    <a16:creationId xmlns:a16="http://schemas.microsoft.com/office/drawing/2014/main" id="{335E9C03-26FE-41AC-8A90-2594E2C71FE1}"/>
                  </a:ext>
                </a:extLst>
              </p:cNvPr>
              <p:cNvSpPr txBox="1"/>
              <p:nvPr/>
            </p:nvSpPr>
            <p:spPr>
              <a:xfrm>
                <a:off x="2081522" y="3734848"/>
                <a:ext cx="3982212" cy="15773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ko-KR" altLang="en-US" sz="1200" dirty="0"/>
                  <a:t>문자열 해시 기반으로</a:t>
                </a:r>
                <a:r>
                  <a:rPr lang="en-US" altLang="ko-KR" sz="1200" dirty="0"/>
                  <a:t> </a:t>
                </a:r>
                <a:r>
                  <a:rPr lang="ko-KR" altLang="en-US" sz="1200" dirty="0"/>
                  <a:t>퀘스트 고유 번호나</a:t>
                </a:r>
                <a:r>
                  <a:rPr lang="en-US" altLang="ko-KR" sz="1200" dirty="0"/>
                  <a:t> </a:t>
                </a:r>
                <a:r>
                  <a:rPr lang="ko-KR" altLang="en-US" sz="1200" dirty="0" err="1"/>
                  <a:t>맵의</a:t>
                </a:r>
                <a:r>
                  <a:rPr lang="ko-KR" altLang="en-US" sz="1200" dirty="0"/>
                  <a:t> 레벨</a:t>
                </a:r>
                <a:r>
                  <a:rPr lang="en-US" altLang="ko-KR" sz="1200" dirty="0"/>
                  <a:t>, </a:t>
                </a:r>
                <a:r>
                  <a:rPr lang="ko-KR" altLang="en-US" sz="1200" dirty="0"/>
                  <a:t>직업의 스킬 인덱스 등을 하나의 문자열 형태로 만들어</a:t>
                </a:r>
                <a:r>
                  <a:rPr lang="en-US" altLang="ko-KR" sz="1200" dirty="0"/>
                  <a:t>, </a:t>
                </a:r>
                <a:r>
                  <a:rPr lang="ko-KR" altLang="en-US" sz="1200" dirty="0"/>
                  <a:t>하나의 고유 주소처럼 만드는 것이다</a:t>
                </a:r>
                <a:r>
                  <a:rPr lang="en-US" altLang="ko-KR" sz="1200" dirty="0"/>
                  <a:t>.</a:t>
                </a:r>
              </a:p>
              <a:p>
                <a:endParaRPr lang="en-US" altLang="ko-KR" sz="1200" dirty="0"/>
              </a:p>
              <a:p>
                <a:r>
                  <a:rPr lang="ko-KR" altLang="en-US" sz="1200" dirty="0" err="1"/>
                  <a:t>예를들어</a:t>
                </a:r>
                <a:r>
                  <a:rPr lang="en-US" altLang="ko-KR" sz="1200" dirty="0"/>
                  <a:t>, Quest_{</a:t>
                </a:r>
                <a:r>
                  <a:rPr lang="en-US" altLang="ko-KR" sz="1200" dirty="0" err="1"/>
                  <a:t>Quest_Type</a:t>
                </a:r>
                <a:r>
                  <a:rPr lang="en-US" altLang="ko-KR" sz="1200" dirty="0"/>
                  <a:t>}_{</a:t>
                </a:r>
                <a:r>
                  <a:rPr lang="en-US" altLang="ko-KR" sz="1200" dirty="0" err="1"/>
                  <a:t>QuestID</a:t>
                </a:r>
                <a:r>
                  <a:rPr lang="en-US" altLang="ko-KR" sz="1200" dirty="0"/>
                  <a:t>} </a:t>
                </a:r>
                <a:r>
                  <a:rPr lang="ko-KR" altLang="en-US" sz="1200" dirty="0" err="1"/>
                  <a:t>이런식으로</a:t>
                </a:r>
                <a:r>
                  <a:rPr lang="ko-KR" altLang="en-US" sz="1200" dirty="0"/>
                  <a:t> 조합하여 고유 문자열로 만들고</a:t>
                </a:r>
                <a:r>
                  <a:rPr lang="en-US" altLang="ko-KR" sz="1200" dirty="0"/>
                  <a:t>, </a:t>
                </a:r>
                <a:r>
                  <a:rPr lang="ko-KR" altLang="en-US" sz="1200" dirty="0"/>
                  <a:t>이를 우리 </a:t>
                </a:r>
                <a:r>
                  <a:rPr lang="en-US" altLang="ko-KR" sz="1200" dirty="0" err="1"/>
                  <a:t>BaseSeed</a:t>
                </a:r>
                <a:r>
                  <a:rPr lang="ko-KR" altLang="en-US" sz="1200" dirty="0"/>
                  <a:t>와 같이 </a:t>
                </a:r>
                <a:r>
                  <a:rPr lang="en-US" altLang="ko-KR" sz="1200" dirty="0"/>
                  <a:t>SplitMix64 </a:t>
                </a:r>
                <a:r>
                  <a:rPr lang="ko-KR" altLang="en-US" sz="1200" dirty="0"/>
                  <a:t>알고리즘에 넣어 고유한 </a:t>
                </a:r>
                <a:r>
                  <a:rPr lang="ko-KR" altLang="en-US" sz="1200" dirty="0" err="1"/>
                  <a:t>시드</a:t>
                </a:r>
                <a:r>
                  <a:rPr lang="ko-KR" altLang="en-US" sz="1200" dirty="0"/>
                  <a:t> 숫자로 변환하는 것이다</a:t>
                </a:r>
                <a:r>
                  <a:rPr lang="en-US" altLang="ko-KR" sz="1200" dirty="0"/>
                  <a:t>.</a:t>
                </a:r>
              </a:p>
            </p:txBody>
          </p:sp>
        </p:grp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6D50BBB-9C81-4093-95E8-A4C10659B2F8}"/>
              </a:ext>
            </a:extLst>
          </p:cNvPr>
          <p:cNvGrpSpPr/>
          <p:nvPr/>
        </p:nvGrpSpPr>
        <p:grpSpPr>
          <a:xfrm>
            <a:off x="5248099" y="1199588"/>
            <a:ext cx="6498841" cy="433751"/>
            <a:chOff x="6636692" y="1333195"/>
            <a:chExt cx="4591202" cy="381305"/>
          </a:xfrm>
        </p:grpSpPr>
        <p:sp>
          <p:nvSpPr>
            <p:cNvPr id="107" name="Shape 16">
              <a:extLst>
                <a:ext uri="{FF2B5EF4-FFF2-40B4-BE49-F238E27FC236}">
                  <a16:creationId xmlns:a16="http://schemas.microsoft.com/office/drawing/2014/main" id="{EE6CB50C-0BF7-4B16-A68E-DF692B9EE99D}"/>
                </a:ext>
              </a:extLst>
            </p:cNvPr>
            <p:cNvSpPr/>
            <p:nvPr/>
          </p:nvSpPr>
          <p:spPr>
            <a:xfrm>
              <a:off x="6636692" y="1333195"/>
              <a:ext cx="4591202" cy="381305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17" name="Text 29">
              <a:extLst>
                <a:ext uri="{FF2B5EF4-FFF2-40B4-BE49-F238E27FC236}">
                  <a16:creationId xmlns:a16="http://schemas.microsoft.com/office/drawing/2014/main" id="{8BD296C5-1EEF-41C6-B01F-A128DC731E78}"/>
                </a:ext>
              </a:extLst>
            </p:cNvPr>
            <p:cNvSpPr txBox="1"/>
            <p:nvPr/>
          </p:nvSpPr>
          <p:spPr>
            <a:xfrm>
              <a:off x="7863463" y="1399946"/>
              <a:ext cx="2137660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300" b="1">
                  <a:solidFill>
                    <a:srgbClr val="FFD7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개선 방안 적용시 이점</a:t>
              </a:r>
              <a:endParaRPr lang="en-US" sz="1300" dirty="0"/>
            </a:p>
          </p:txBody>
        </p:sp>
      </p:grpSp>
      <p:grpSp>
        <p:nvGrpSpPr>
          <p:cNvPr id="291" name="그룹 290">
            <a:extLst>
              <a:ext uri="{FF2B5EF4-FFF2-40B4-BE49-F238E27FC236}">
                <a16:creationId xmlns:a16="http://schemas.microsoft.com/office/drawing/2014/main" id="{47F5D3C6-C2E5-418E-B736-6182C6278D57}"/>
              </a:ext>
            </a:extLst>
          </p:cNvPr>
          <p:cNvGrpSpPr/>
          <p:nvPr/>
        </p:nvGrpSpPr>
        <p:grpSpPr>
          <a:xfrm>
            <a:off x="5246600" y="1752751"/>
            <a:ext cx="2752492" cy="2885847"/>
            <a:chOff x="1809598" y="1686153"/>
            <a:chExt cx="3683806" cy="3123591"/>
          </a:xfrm>
        </p:grpSpPr>
        <p:sp>
          <p:nvSpPr>
            <p:cNvPr id="292" name="Shape 11">
              <a:extLst>
                <a:ext uri="{FF2B5EF4-FFF2-40B4-BE49-F238E27FC236}">
                  <a16:creationId xmlns:a16="http://schemas.microsoft.com/office/drawing/2014/main" id="{1A281FDD-FD14-44E1-9BC4-BF65A42E1DE8}"/>
                </a:ext>
              </a:extLst>
            </p:cNvPr>
            <p:cNvSpPr/>
            <p:nvPr/>
          </p:nvSpPr>
          <p:spPr>
            <a:xfrm>
              <a:off x="1809598" y="1762049"/>
              <a:ext cx="2762402" cy="3047695"/>
            </a:xfrm>
            <a:prstGeom prst="rect">
              <a:avLst/>
            </a:prstGeom>
            <a:noFill/>
            <a:ln w="25400">
              <a:solidFill>
                <a:srgbClr val="808080"/>
              </a:solidFill>
              <a:prstDash val="solid"/>
            </a:ln>
          </p:spPr>
        </p:sp>
        <p:sp>
          <p:nvSpPr>
            <p:cNvPr id="293" name="Shape 18">
              <a:extLst>
                <a:ext uri="{FF2B5EF4-FFF2-40B4-BE49-F238E27FC236}">
                  <a16:creationId xmlns:a16="http://schemas.microsoft.com/office/drawing/2014/main" id="{A37724B6-D60B-4F8F-9496-867A135FB61E}"/>
                </a:ext>
              </a:extLst>
            </p:cNvPr>
            <p:cNvSpPr/>
            <p:nvPr/>
          </p:nvSpPr>
          <p:spPr>
            <a:xfrm>
              <a:off x="1952244" y="1686154"/>
              <a:ext cx="857707" cy="190195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808080"/>
              </a:solidFill>
              <a:prstDash val="solid"/>
            </a:ln>
          </p:spPr>
        </p:sp>
        <p:sp>
          <p:nvSpPr>
            <p:cNvPr id="294" name="Text 30">
              <a:extLst>
                <a:ext uri="{FF2B5EF4-FFF2-40B4-BE49-F238E27FC236}">
                  <a16:creationId xmlns:a16="http://schemas.microsoft.com/office/drawing/2014/main" id="{A17BD6B0-5FD1-498A-ACAC-364E421C7F6F}"/>
                </a:ext>
              </a:extLst>
            </p:cNvPr>
            <p:cNvSpPr txBox="1"/>
            <p:nvPr/>
          </p:nvSpPr>
          <p:spPr>
            <a:xfrm>
              <a:off x="2000707" y="1686153"/>
              <a:ext cx="749168" cy="2401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운영 이점</a:t>
              </a:r>
              <a:endParaRPr lang="en-US" sz="1000" dirty="0"/>
            </a:p>
          </p:txBody>
        </p:sp>
        <p:pic>
          <p:nvPicPr>
            <p:cNvPr id="295" name="Image 2" descr="gen-dedup-c571e5d5cd37cc61b019c75bef9bbd5f.png">
              <a:extLst>
                <a:ext uri="{FF2B5EF4-FFF2-40B4-BE49-F238E27FC236}">
                  <a16:creationId xmlns:a16="http://schemas.microsoft.com/office/drawing/2014/main" id="{D1B80EDC-D26A-42F6-A8F6-ABC1698EA8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-12500" b="-12500"/>
            <a:stretch/>
          </p:blipFill>
          <p:spPr>
            <a:xfrm>
              <a:off x="1919777" y="2072548"/>
              <a:ext cx="445373" cy="286207"/>
            </a:xfrm>
            <a:prstGeom prst="rect">
              <a:avLst/>
            </a:prstGeom>
            <a:ln>
              <a:noFill/>
            </a:ln>
          </p:spPr>
        </p:pic>
        <p:sp>
          <p:nvSpPr>
            <p:cNvPr id="296" name="Text 31">
              <a:extLst>
                <a:ext uri="{FF2B5EF4-FFF2-40B4-BE49-F238E27FC236}">
                  <a16:creationId xmlns:a16="http://schemas.microsoft.com/office/drawing/2014/main" id="{4C6BC50E-E3CE-4F37-AB06-C7B1D60F189D}"/>
                </a:ext>
              </a:extLst>
            </p:cNvPr>
            <p:cNvSpPr txBox="1"/>
            <p:nvPr/>
          </p:nvSpPr>
          <p:spPr>
            <a:xfrm>
              <a:off x="2600554" y="2095805"/>
              <a:ext cx="1876350" cy="2002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ko-KR" altLang="en-US" sz="11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난수 </a:t>
              </a:r>
              <a:r>
                <a:rPr lang="en-US" sz="1100" dirty="0" err="1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사용량</a:t>
              </a:r>
              <a:r>
                <a:rPr lang="en-US" sz="11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</a:p>
            <a:p>
              <a:pPr marL="0" indent="0" algn="l">
                <a:buNone/>
              </a:pPr>
              <a:r>
                <a:rPr lang="en-US" sz="1100" dirty="0" err="1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기록</a:t>
              </a:r>
              <a:r>
                <a:rPr lang="en-US" sz="11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/복구 불필요 </a:t>
              </a:r>
              <a:endParaRPr lang="en-US" sz="1100" dirty="0"/>
            </a:p>
          </p:txBody>
        </p:sp>
        <p:pic>
          <p:nvPicPr>
            <p:cNvPr id="297" name="Image 3" descr="gen-dedup-c867c61d63f4d081fb38d2956d399f6b.png">
              <a:extLst>
                <a:ext uri="{FF2B5EF4-FFF2-40B4-BE49-F238E27FC236}">
                  <a16:creationId xmlns:a16="http://schemas.microsoft.com/office/drawing/2014/main" id="{69DD0231-4958-4822-8465-F4962C29C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-50000" r="-50000"/>
            <a:stretch/>
          </p:blipFill>
          <p:spPr>
            <a:xfrm>
              <a:off x="2381098" y="2124151"/>
              <a:ext cx="142646" cy="142646"/>
            </a:xfrm>
            <a:prstGeom prst="rect">
              <a:avLst/>
            </a:prstGeom>
            <a:ln>
              <a:noFill/>
            </a:ln>
          </p:spPr>
        </p:pic>
        <p:sp>
          <p:nvSpPr>
            <p:cNvPr id="298" name="Text 32">
              <a:extLst>
                <a:ext uri="{FF2B5EF4-FFF2-40B4-BE49-F238E27FC236}">
                  <a16:creationId xmlns:a16="http://schemas.microsoft.com/office/drawing/2014/main" id="{7E5820C7-7EAE-4BD3-ACB5-45FBB3BEB90E}"/>
                </a:ext>
              </a:extLst>
            </p:cNvPr>
            <p:cNvSpPr txBox="1"/>
            <p:nvPr/>
          </p:nvSpPr>
          <p:spPr>
            <a:xfrm>
              <a:off x="2600554" y="2486252"/>
              <a:ext cx="1876350" cy="2002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Token 길이 대폭 감소 </a:t>
              </a:r>
              <a:endParaRPr lang="en-US" sz="1100" dirty="0"/>
            </a:p>
          </p:txBody>
        </p:sp>
        <p:pic>
          <p:nvPicPr>
            <p:cNvPr id="299" name="Image 4" descr="gen-dedup-c867c61d63f4d081fb38d2956d399f6b.png">
              <a:extLst>
                <a:ext uri="{FF2B5EF4-FFF2-40B4-BE49-F238E27FC236}">
                  <a16:creationId xmlns:a16="http://schemas.microsoft.com/office/drawing/2014/main" id="{871570A1-5094-438B-88B8-8BC2E1B25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-50000" r="-50000"/>
            <a:stretch/>
          </p:blipFill>
          <p:spPr>
            <a:xfrm>
              <a:off x="2381098" y="2514600"/>
              <a:ext cx="142646" cy="142646"/>
            </a:xfrm>
            <a:prstGeom prst="rect">
              <a:avLst/>
            </a:prstGeom>
            <a:ln>
              <a:noFill/>
            </a:ln>
          </p:spPr>
        </p:pic>
        <p:sp>
          <p:nvSpPr>
            <p:cNvPr id="300" name="Text 33">
              <a:extLst>
                <a:ext uri="{FF2B5EF4-FFF2-40B4-BE49-F238E27FC236}">
                  <a16:creationId xmlns:a16="http://schemas.microsoft.com/office/drawing/2014/main" id="{00F0C666-133E-41BA-8C94-B587EBB2C393}"/>
                </a:ext>
              </a:extLst>
            </p:cNvPr>
            <p:cNvSpPr txBox="1"/>
            <p:nvPr/>
          </p:nvSpPr>
          <p:spPr>
            <a:xfrm>
              <a:off x="2600554" y="2876702"/>
              <a:ext cx="2892850" cy="20781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ko-KR" altLang="en-US" sz="11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초기화 </a:t>
              </a:r>
              <a:r>
                <a:rPr lang="en-US" sz="1100" dirty="0" err="1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순서</a:t>
              </a:r>
              <a:r>
                <a:rPr lang="en-US" sz="11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의존</a:t>
              </a:r>
              <a:r>
                <a:rPr lang="en-US" sz="11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제거</a:t>
              </a:r>
              <a:r>
                <a:rPr lang="en-US" sz="11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endParaRPr lang="en-US" sz="1100" dirty="0"/>
            </a:p>
          </p:txBody>
        </p:sp>
        <p:pic>
          <p:nvPicPr>
            <p:cNvPr id="301" name="Image 5" descr="gen-dedup-c867c61d63f4d081fb38d2956d399f6b.png">
              <a:extLst>
                <a:ext uri="{FF2B5EF4-FFF2-40B4-BE49-F238E27FC236}">
                  <a16:creationId xmlns:a16="http://schemas.microsoft.com/office/drawing/2014/main" id="{ACF423EF-0769-4FAA-9185-D359CC9CB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-50000" r="-50000"/>
            <a:stretch/>
          </p:blipFill>
          <p:spPr>
            <a:xfrm>
              <a:off x="2381098" y="2905049"/>
              <a:ext cx="142646" cy="142646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302" name="그룹 301">
            <a:extLst>
              <a:ext uri="{FF2B5EF4-FFF2-40B4-BE49-F238E27FC236}">
                <a16:creationId xmlns:a16="http://schemas.microsoft.com/office/drawing/2014/main" id="{3D9B7C85-B7BC-4DE1-9083-472E62787787}"/>
              </a:ext>
            </a:extLst>
          </p:cNvPr>
          <p:cNvGrpSpPr/>
          <p:nvPr/>
        </p:nvGrpSpPr>
        <p:grpSpPr>
          <a:xfrm>
            <a:off x="7465492" y="1752752"/>
            <a:ext cx="2064031" cy="2885846"/>
            <a:chOff x="4762195" y="1686154"/>
            <a:chExt cx="2762402" cy="3123590"/>
          </a:xfrm>
        </p:grpSpPr>
        <p:sp>
          <p:nvSpPr>
            <p:cNvPr id="303" name="Shape 12">
              <a:extLst>
                <a:ext uri="{FF2B5EF4-FFF2-40B4-BE49-F238E27FC236}">
                  <a16:creationId xmlns:a16="http://schemas.microsoft.com/office/drawing/2014/main" id="{AE66D99A-E732-4C0E-8F05-8D66ED2C44E1}"/>
                </a:ext>
              </a:extLst>
            </p:cNvPr>
            <p:cNvSpPr/>
            <p:nvPr/>
          </p:nvSpPr>
          <p:spPr>
            <a:xfrm>
              <a:off x="4762195" y="1762049"/>
              <a:ext cx="2762402" cy="3047695"/>
            </a:xfrm>
            <a:prstGeom prst="rect">
              <a:avLst/>
            </a:prstGeom>
            <a:noFill/>
            <a:ln w="25400">
              <a:solidFill>
                <a:srgbClr val="808080"/>
              </a:solidFill>
              <a:prstDash val="solid"/>
            </a:ln>
          </p:spPr>
        </p:sp>
        <p:sp>
          <p:nvSpPr>
            <p:cNvPr id="304" name="Shape 19">
              <a:extLst>
                <a:ext uri="{FF2B5EF4-FFF2-40B4-BE49-F238E27FC236}">
                  <a16:creationId xmlns:a16="http://schemas.microsoft.com/office/drawing/2014/main" id="{0C7ACF79-013B-4AF7-8C48-B48399C6CA93}"/>
                </a:ext>
              </a:extLst>
            </p:cNvPr>
            <p:cNvSpPr/>
            <p:nvPr/>
          </p:nvSpPr>
          <p:spPr>
            <a:xfrm>
              <a:off x="4905756" y="1686154"/>
              <a:ext cx="857707" cy="190195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305" name="Text 34">
              <a:extLst>
                <a:ext uri="{FF2B5EF4-FFF2-40B4-BE49-F238E27FC236}">
                  <a16:creationId xmlns:a16="http://schemas.microsoft.com/office/drawing/2014/main" id="{8CEC00C9-8FE5-40EE-9A79-B4CA08CBD210}"/>
                </a:ext>
              </a:extLst>
            </p:cNvPr>
            <p:cNvSpPr txBox="1"/>
            <p:nvPr/>
          </p:nvSpPr>
          <p:spPr>
            <a:xfrm>
              <a:off x="4953305" y="1686154"/>
              <a:ext cx="749168" cy="2045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기술 이점</a:t>
              </a:r>
              <a:endParaRPr lang="en-US" sz="1000" dirty="0"/>
            </a:p>
          </p:txBody>
        </p:sp>
        <p:pic>
          <p:nvPicPr>
            <p:cNvPr id="306" name="Image 6" descr="gen-dedup-aa77689446e9b81e8a4806593f2c6a2d.png">
              <a:extLst>
                <a:ext uri="{FF2B5EF4-FFF2-40B4-BE49-F238E27FC236}">
                  <a16:creationId xmlns:a16="http://schemas.microsoft.com/office/drawing/2014/main" id="{8D842DF7-A0D6-4342-9FA5-61C82423F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4906923" y="2067258"/>
              <a:ext cx="392587" cy="392588"/>
            </a:xfrm>
            <a:prstGeom prst="rect">
              <a:avLst/>
            </a:prstGeom>
          </p:spPr>
        </p:pic>
        <p:sp>
          <p:nvSpPr>
            <p:cNvPr id="307" name="Text 35">
              <a:extLst>
                <a:ext uri="{FF2B5EF4-FFF2-40B4-BE49-F238E27FC236}">
                  <a16:creationId xmlns:a16="http://schemas.microsoft.com/office/drawing/2014/main" id="{754B62F1-BD85-4E05-BE27-BE444F71CE96}"/>
                </a:ext>
              </a:extLst>
            </p:cNvPr>
            <p:cNvSpPr txBox="1"/>
            <p:nvPr/>
          </p:nvSpPr>
          <p:spPr>
            <a:xfrm>
              <a:off x="5523890" y="2095805"/>
              <a:ext cx="1905610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고유 문자열 생성</a:t>
              </a:r>
              <a:endParaRPr lang="en-US" sz="1100" dirty="0"/>
            </a:p>
            <a:p>
              <a:pPr marL="0" indent="0" algn="l">
                <a:buNone/>
              </a:pPr>
              <a:r>
                <a:rPr lang="en-US" sz="900" dirty="0">
                  <a:solidFill>
                    <a:srgbClr val="40404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(예: Type + ID 조합)</a:t>
              </a:r>
              <a:endParaRPr lang="en-US" sz="1100" dirty="0"/>
            </a:p>
          </p:txBody>
        </p:sp>
        <p:pic>
          <p:nvPicPr>
            <p:cNvPr id="308" name="Image 7" descr="gen-dedup-ec8250f4b96d176b933ff5ad0259bc61.png">
              <a:extLst>
                <a:ext uri="{FF2B5EF4-FFF2-40B4-BE49-F238E27FC236}">
                  <a16:creationId xmlns:a16="http://schemas.microsoft.com/office/drawing/2014/main" id="{76186C7E-AC17-4A05-AFA9-3FF4AF0921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-30128" r="-30128"/>
            <a:stretch/>
          </p:blipFill>
          <p:spPr>
            <a:xfrm>
              <a:off x="5333695" y="2124151"/>
              <a:ext cx="114300" cy="142646"/>
            </a:xfrm>
            <a:prstGeom prst="rect">
              <a:avLst/>
            </a:prstGeom>
          </p:spPr>
        </p:pic>
        <p:sp>
          <p:nvSpPr>
            <p:cNvPr id="309" name="Text 36">
              <a:extLst>
                <a:ext uri="{FF2B5EF4-FFF2-40B4-BE49-F238E27FC236}">
                  <a16:creationId xmlns:a16="http://schemas.microsoft.com/office/drawing/2014/main" id="{66C9144A-4437-4A2B-949D-A1FDEB4246DD}"/>
                </a:ext>
              </a:extLst>
            </p:cNvPr>
            <p:cNvSpPr txBox="1"/>
            <p:nvPr/>
          </p:nvSpPr>
          <p:spPr>
            <a:xfrm>
              <a:off x="5553151" y="2686507"/>
              <a:ext cx="1876349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BaseSeed 조합 </a:t>
              </a:r>
              <a:endParaRPr lang="en-US" sz="1100" dirty="0"/>
            </a:p>
          </p:txBody>
        </p:sp>
        <p:pic>
          <p:nvPicPr>
            <p:cNvPr id="310" name="Image 8" descr="gen-dedup-c867c61d63f4d081fb38d2956d399f6b.png">
              <a:extLst>
                <a:ext uri="{FF2B5EF4-FFF2-40B4-BE49-F238E27FC236}">
                  <a16:creationId xmlns:a16="http://schemas.microsoft.com/office/drawing/2014/main" id="{106D259A-D92F-42D5-BD82-AC03D0CFD2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-50000" r="-50000"/>
            <a:stretch/>
          </p:blipFill>
          <p:spPr>
            <a:xfrm>
              <a:off x="5333695" y="2714854"/>
              <a:ext cx="142646" cy="142646"/>
            </a:xfrm>
            <a:prstGeom prst="rect">
              <a:avLst/>
            </a:prstGeom>
          </p:spPr>
        </p:pic>
        <p:sp>
          <p:nvSpPr>
            <p:cNvPr id="311" name="Text 37">
              <a:extLst>
                <a:ext uri="{FF2B5EF4-FFF2-40B4-BE49-F238E27FC236}">
                  <a16:creationId xmlns:a16="http://schemas.microsoft.com/office/drawing/2014/main" id="{8C7DAFC3-A819-4734-9AE0-1130E4AAF595}"/>
                </a:ext>
              </a:extLst>
            </p:cNvPr>
            <p:cNvSpPr txBox="1"/>
            <p:nvPr/>
          </p:nvSpPr>
          <p:spPr>
            <a:xfrm>
              <a:off x="5553151" y="3076956"/>
              <a:ext cx="1876349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안정적 재현성 보장 </a:t>
              </a:r>
              <a:endParaRPr lang="en-US" sz="1100" dirty="0"/>
            </a:p>
          </p:txBody>
        </p:sp>
        <p:pic>
          <p:nvPicPr>
            <p:cNvPr id="312" name="Image 9" descr="gen-dedup-c867c61d63f4d081fb38d2956d399f6b.png">
              <a:extLst>
                <a:ext uri="{FF2B5EF4-FFF2-40B4-BE49-F238E27FC236}">
                  <a16:creationId xmlns:a16="http://schemas.microsoft.com/office/drawing/2014/main" id="{EABE6CEE-FEF8-4735-82D8-A932CF2EB5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-50000" r="-50000"/>
            <a:stretch/>
          </p:blipFill>
          <p:spPr>
            <a:xfrm>
              <a:off x="5333695" y="3105302"/>
              <a:ext cx="142646" cy="142646"/>
            </a:xfrm>
            <a:prstGeom prst="rect">
              <a:avLst/>
            </a:prstGeom>
          </p:spPr>
        </p:pic>
      </p:grpSp>
      <p:grpSp>
        <p:nvGrpSpPr>
          <p:cNvPr id="313" name="그룹 312">
            <a:extLst>
              <a:ext uri="{FF2B5EF4-FFF2-40B4-BE49-F238E27FC236}">
                <a16:creationId xmlns:a16="http://schemas.microsoft.com/office/drawing/2014/main" id="{988D1F47-C160-4FF5-A134-1BC51FB91B7F}"/>
              </a:ext>
            </a:extLst>
          </p:cNvPr>
          <p:cNvGrpSpPr/>
          <p:nvPr/>
        </p:nvGrpSpPr>
        <p:grpSpPr>
          <a:xfrm>
            <a:off x="9684383" y="1752752"/>
            <a:ext cx="2064031" cy="2885846"/>
            <a:chOff x="7715707" y="1686154"/>
            <a:chExt cx="2762402" cy="3123590"/>
          </a:xfrm>
        </p:grpSpPr>
        <p:sp>
          <p:nvSpPr>
            <p:cNvPr id="314" name="Shape 13">
              <a:extLst>
                <a:ext uri="{FF2B5EF4-FFF2-40B4-BE49-F238E27FC236}">
                  <a16:creationId xmlns:a16="http://schemas.microsoft.com/office/drawing/2014/main" id="{08FE4C3D-52E0-4A99-8013-C88E65C22F3B}"/>
                </a:ext>
              </a:extLst>
            </p:cNvPr>
            <p:cNvSpPr/>
            <p:nvPr/>
          </p:nvSpPr>
          <p:spPr>
            <a:xfrm>
              <a:off x="7715707" y="1762049"/>
              <a:ext cx="2762402" cy="3047695"/>
            </a:xfrm>
            <a:prstGeom prst="rect">
              <a:avLst/>
            </a:prstGeom>
            <a:noFill/>
            <a:ln w="25400">
              <a:solidFill>
                <a:srgbClr val="808080"/>
              </a:solidFill>
              <a:prstDash val="solid"/>
            </a:ln>
          </p:spPr>
        </p:sp>
        <p:sp>
          <p:nvSpPr>
            <p:cNvPr id="315" name="Shape 20">
              <a:extLst>
                <a:ext uri="{FF2B5EF4-FFF2-40B4-BE49-F238E27FC236}">
                  <a16:creationId xmlns:a16="http://schemas.microsoft.com/office/drawing/2014/main" id="{30FE50EE-CE19-4F57-A4EE-D96E06F5FBD8}"/>
                </a:ext>
              </a:extLst>
            </p:cNvPr>
            <p:cNvSpPr/>
            <p:nvPr/>
          </p:nvSpPr>
          <p:spPr>
            <a:xfrm>
              <a:off x="7858354" y="1686154"/>
              <a:ext cx="571500" cy="190195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316" name="Text 38">
              <a:extLst>
                <a:ext uri="{FF2B5EF4-FFF2-40B4-BE49-F238E27FC236}">
                  <a16:creationId xmlns:a16="http://schemas.microsoft.com/office/drawing/2014/main" id="{813C28BB-036E-46B3-867C-3F78C08D9E43}"/>
                </a:ext>
              </a:extLst>
            </p:cNvPr>
            <p:cNvSpPr txBox="1"/>
            <p:nvPr/>
          </p:nvSpPr>
          <p:spPr>
            <a:xfrm>
              <a:off x="7905902" y="1686154"/>
              <a:ext cx="381305" cy="1901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결과</a:t>
              </a:r>
              <a:endParaRPr lang="en-US" sz="1000" dirty="0"/>
            </a:p>
          </p:txBody>
        </p:sp>
        <p:pic>
          <p:nvPicPr>
            <p:cNvPr id="317" name="Image 10" descr="gen-dedup-9cacec63e63ccc624c0470eaa5fa9989.png">
              <a:extLst>
                <a:ext uri="{FF2B5EF4-FFF2-40B4-BE49-F238E27FC236}">
                  <a16:creationId xmlns:a16="http://schemas.microsoft.com/office/drawing/2014/main" id="{189B864E-C2D1-4559-9325-B3186C0AF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 l="-7143" r="-7143"/>
            <a:stretch/>
          </p:blipFill>
          <p:spPr>
            <a:xfrm>
              <a:off x="7847385" y="2089265"/>
              <a:ext cx="381305" cy="381305"/>
            </a:xfrm>
            <a:prstGeom prst="rect">
              <a:avLst/>
            </a:prstGeom>
          </p:spPr>
        </p:pic>
        <p:sp>
          <p:nvSpPr>
            <p:cNvPr id="318" name="Text 39">
              <a:extLst>
                <a:ext uri="{FF2B5EF4-FFF2-40B4-BE49-F238E27FC236}">
                  <a16:creationId xmlns:a16="http://schemas.microsoft.com/office/drawing/2014/main" id="{17CFB814-5C8E-4AF9-8C19-294B6E5126E8}"/>
                </a:ext>
              </a:extLst>
            </p:cNvPr>
            <p:cNvSpPr txBox="1"/>
            <p:nvPr/>
          </p:nvSpPr>
          <p:spPr>
            <a:xfrm>
              <a:off x="8496605" y="2095805"/>
              <a:ext cx="1886407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단일 </a:t>
              </a:r>
              <a:r>
                <a:rPr lang="en-US" sz="1100" dirty="0" err="1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Seed로</a:t>
              </a:r>
              <a:r>
                <a:rPr lang="en-US" sz="11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</a:p>
            <a:p>
              <a:pPr marL="0" indent="0" algn="l">
                <a:buNone/>
              </a:pPr>
              <a:r>
                <a:rPr lang="en-US" sz="1100" dirty="0" err="1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난수</a:t>
              </a:r>
              <a:r>
                <a:rPr lang="en-US" sz="11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변수 세팅 완료 </a:t>
              </a:r>
              <a:endParaRPr lang="en-US" sz="1100" dirty="0"/>
            </a:p>
          </p:txBody>
        </p:sp>
        <p:pic>
          <p:nvPicPr>
            <p:cNvPr id="319" name="Image 11" descr="gen-dedup-d5ca375fb608716152c0d6476a531cef.png">
              <a:extLst>
                <a:ext uri="{FF2B5EF4-FFF2-40B4-BE49-F238E27FC236}">
                  <a16:creationId xmlns:a16="http://schemas.microsoft.com/office/drawing/2014/main" id="{2F7E046B-8A92-45E8-A02B-8652BFE4A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 l="-43590" r="-43590"/>
            <a:stretch/>
          </p:blipFill>
          <p:spPr>
            <a:xfrm>
              <a:off x="8287207" y="2124151"/>
              <a:ext cx="133502" cy="142646"/>
            </a:xfrm>
            <a:prstGeom prst="rect">
              <a:avLst/>
            </a:prstGeom>
          </p:spPr>
        </p:pic>
        <p:sp>
          <p:nvSpPr>
            <p:cNvPr id="320" name="Text 40">
              <a:extLst>
                <a:ext uri="{FF2B5EF4-FFF2-40B4-BE49-F238E27FC236}">
                  <a16:creationId xmlns:a16="http://schemas.microsoft.com/office/drawing/2014/main" id="{3B0E1C5C-565A-4FCF-BD18-9C47E8B3FA04}"/>
                </a:ext>
              </a:extLst>
            </p:cNvPr>
            <p:cNvSpPr txBox="1"/>
            <p:nvPr/>
          </p:nvSpPr>
          <p:spPr>
            <a:xfrm>
              <a:off x="8506663" y="2686507"/>
              <a:ext cx="1876349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데이터 경량화 </a:t>
              </a:r>
              <a:endParaRPr lang="en-US" sz="1100" dirty="0"/>
            </a:p>
          </p:txBody>
        </p:sp>
        <p:pic>
          <p:nvPicPr>
            <p:cNvPr id="321" name="Image 12" descr="gen-dedup-c867c61d63f4d081fb38d2956d399f6b.png">
              <a:extLst>
                <a:ext uri="{FF2B5EF4-FFF2-40B4-BE49-F238E27FC236}">
                  <a16:creationId xmlns:a16="http://schemas.microsoft.com/office/drawing/2014/main" id="{D42EA668-D36E-4A4E-A4BB-ED5737078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-50000" r="-50000"/>
            <a:stretch/>
          </p:blipFill>
          <p:spPr>
            <a:xfrm>
              <a:off x="8287207" y="2714854"/>
              <a:ext cx="142646" cy="142646"/>
            </a:xfrm>
            <a:prstGeom prst="rect">
              <a:avLst/>
            </a:prstGeom>
          </p:spPr>
        </p:pic>
        <p:sp>
          <p:nvSpPr>
            <p:cNvPr id="322" name="Text 41">
              <a:extLst>
                <a:ext uri="{FF2B5EF4-FFF2-40B4-BE49-F238E27FC236}">
                  <a16:creationId xmlns:a16="http://schemas.microsoft.com/office/drawing/2014/main" id="{21980337-5F19-455B-9963-4595D9A43B96}"/>
                </a:ext>
              </a:extLst>
            </p:cNvPr>
            <p:cNvSpPr txBox="1"/>
            <p:nvPr/>
          </p:nvSpPr>
          <p:spPr>
            <a:xfrm>
              <a:off x="8506663" y="3076956"/>
              <a:ext cx="1876349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세이브/</a:t>
              </a:r>
              <a:r>
                <a:rPr lang="en-US" sz="1100" dirty="0" err="1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로드</a:t>
              </a:r>
              <a:r>
                <a:rPr lang="en-US" sz="11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</a:p>
            <a:p>
              <a:pPr marL="0" indent="0" algn="l">
                <a:buNone/>
              </a:pPr>
              <a:r>
                <a:rPr lang="en-US" sz="1100" dirty="0" err="1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일관성</a:t>
              </a:r>
              <a:r>
                <a:rPr lang="en-US" sz="11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확보 </a:t>
              </a:r>
              <a:endParaRPr lang="en-US" sz="1100" dirty="0"/>
            </a:p>
          </p:txBody>
        </p:sp>
        <p:pic>
          <p:nvPicPr>
            <p:cNvPr id="323" name="Image 13" descr="gen-dedup-c867c61d63f4d081fb38d2956d399f6b.png">
              <a:extLst>
                <a:ext uri="{FF2B5EF4-FFF2-40B4-BE49-F238E27FC236}">
                  <a16:creationId xmlns:a16="http://schemas.microsoft.com/office/drawing/2014/main" id="{0F20CFDB-F47C-4272-BF33-C3F89E412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-50000" r="-50000"/>
            <a:stretch/>
          </p:blipFill>
          <p:spPr>
            <a:xfrm>
              <a:off x="8287207" y="3105302"/>
              <a:ext cx="142646" cy="142646"/>
            </a:xfrm>
            <a:prstGeom prst="rect">
              <a:avLst/>
            </a:prstGeom>
          </p:spPr>
        </p:pic>
      </p:grpSp>
      <p:sp>
        <p:nvSpPr>
          <p:cNvPr id="324" name="Shape 16">
            <a:extLst>
              <a:ext uri="{FF2B5EF4-FFF2-40B4-BE49-F238E27FC236}">
                <a16:creationId xmlns:a16="http://schemas.microsoft.com/office/drawing/2014/main" id="{7F8450B2-3D9A-48C2-AD7F-1585E020A045}"/>
              </a:ext>
            </a:extLst>
          </p:cNvPr>
          <p:cNvSpPr/>
          <p:nvPr/>
        </p:nvSpPr>
        <p:spPr>
          <a:xfrm>
            <a:off x="5258905" y="4765484"/>
            <a:ext cx="6488035" cy="1143000"/>
          </a:xfrm>
          <a:prstGeom prst="rect">
            <a:avLst/>
          </a:prstGeom>
          <a:solidFill>
            <a:srgbClr val="E8E8E8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02237B22-DC7B-4462-9899-605E8443E274}"/>
              </a:ext>
            </a:extLst>
          </p:cNvPr>
          <p:cNvSpPr txBox="1"/>
          <p:nvPr/>
        </p:nvSpPr>
        <p:spPr>
          <a:xfrm>
            <a:off x="5450803" y="4921486"/>
            <a:ext cx="61042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String </a:t>
            </a:r>
            <a:r>
              <a:rPr lang="ko-KR" altLang="en-US" sz="1600" dirty="0" err="1"/>
              <a:t>해싱</a:t>
            </a:r>
            <a:r>
              <a:rPr lang="ko-KR" altLang="en-US" sz="1600" dirty="0"/>
              <a:t> 기반 난수로 하면 이와 같은 이점이 있으며</a:t>
            </a:r>
            <a:r>
              <a:rPr lang="en-US" altLang="ko-KR" sz="1600" dirty="0"/>
              <a:t>, </a:t>
            </a:r>
          </a:p>
          <a:p>
            <a:r>
              <a:rPr lang="ko-KR" altLang="en-US" sz="1600" dirty="0"/>
              <a:t>이젠 </a:t>
            </a:r>
            <a:r>
              <a:rPr lang="en-US" altLang="ko-KR" sz="1600" dirty="0"/>
              <a:t>Seed</a:t>
            </a:r>
            <a:r>
              <a:rPr lang="ko-KR" altLang="en-US" sz="1600" dirty="0"/>
              <a:t>하나로 난수 변수를 세팅할 수 있다는 것에 </a:t>
            </a:r>
            <a:endParaRPr lang="en-US" altLang="ko-KR" sz="1600" dirty="0"/>
          </a:p>
          <a:p>
            <a:r>
              <a:rPr lang="ko-KR" altLang="en-US" sz="1600" dirty="0"/>
              <a:t>큰 이점이 있는 것 같아 이 개선 방안을 적용하면 좋을 것 같다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4179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02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131" name="Shape 103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04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3" name="Shape 105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34" name="Shape 106"/>
          <p:cNvSpPr/>
          <p:nvPr/>
        </p:nvSpPr>
        <p:spPr>
          <a:xfrm>
            <a:off x="10477195" y="6534302"/>
            <a:ext cx="1619402" cy="267005"/>
          </a:xfrm>
          <a:prstGeom prst="rect">
            <a:avLst/>
          </a:prstGeom>
          <a:solidFill>
            <a:srgbClr val="C0C0C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135" name="Image 25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136" name="Text 107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7" name="Image 26" descr="gen-dedup-1027b540a23f27953c8b221c66837c2b.png"/>
          <p:cNvPicPr>
            <a:picLocks noChangeAspect="1"/>
          </p:cNvPicPr>
          <p:nvPr/>
        </p:nvPicPr>
        <p:blipFill>
          <a:blip r:embed="rId4"/>
          <a:srcRect t="-6250" b="-6250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138" name="Text 108"/>
          <p:cNvSpPr txBox="1"/>
          <p:nvPr/>
        </p:nvSpPr>
        <p:spPr>
          <a:xfrm>
            <a:off x="1238098" y="6577279"/>
            <a:ext cx="143743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탐색 중 - Projects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9" name="Image 27" descr="gen-dedup-7740a029182e5c65b65e33d2aaed94e2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10573207" y="6590995"/>
            <a:ext cx="152705" cy="152705"/>
          </a:xfrm>
          <a:prstGeom prst="rect">
            <a:avLst/>
          </a:prstGeom>
        </p:spPr>
      </p:pic>
      <p:sp>
        <p:nvSpPr>
          <p:cNvPr id="140" name="Text 109"/>
          <p:cNvSpPr txBox="1"/>
          <p:nvPr/>
        </p:nvSpPr>
        <p:spPr>
          <a:xfrm>
            <a:off x="11124590" y="6590995"/>
            <a:ext cx="7260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10:00 AM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Shape 10">
            <a:extLst>
              <a:ext uri="{FF2B5EF4-FFF2-40B4-BE49-F238E27FC236}">
                <a16:creationId xmlns:a16="http://schemas.microsoft.com/office/drawing/2014/main" id="{14A75B8D-58B7-472B-BBE7-FDD8817C001B}"/>
              </a:ext>
            </a:extLst>
          </p:cNvPr>
          <p:cNvSpPr/>
          <p:nvPr/>
        </p:nvSpPr>
        <p:spPr>
          <a:xfrm>
            <a:off x="1044001" y="108001"/>
            <a:ext cx="10890197" cy="6084503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4" name="Shape 11">
            <a:extLst>
              <a:ext uri="{FF2B5EF4-FFF2-40B4-BE49-F238E27FC236}">
                <a16:creationId xmlns:a16="http://schemas.microsoft.com/office/drawing/2014/main" id="{71A388DE-101E-4470-BFD4-A6A63EA671A5}"/>
              </a:ext>
            </a:extLst>
          </p:cNvPr>
          <p:cNvSpPr/>
          <p:nvPr/>
        </p:nvSpPr>
        <p:spPr>
          <a:xfrm>
            <a:off x="1063780" y="128969"/>
            <a:ext cx="10850641" cy="291545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5" name="Image 5" descr="gen-dedup-23665c0bc8193eed4b19e05b81a508d3.png">
            <a:extLst>
              <a:ext uri="{FF2B5EF4-FFF2-40B4-BE49-F238E27FC236}">
                <a16:creationId xmlns:a16="http://schemas.microsoft.com/office/drawing/2014/main" id="{2293A2AB-329A-4D4D-A2B3-1C7504C127F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063780" y="670124"/>
            <a:ext cx="10850641" cy="41935"/>
          </a:xfrm>
          <a:prstGeom prst="rect">
            <a:avLst/>
          </a:prstGeom>
        </p:spPr>
      </p:pic>
      <p:sp>
        <p:nvSpPr>
          <p:cNvPr id="106" name="Shape 12">
            <a:extLst>
              <a:ext uri="{FF2B5EF4-FFF2-40B4-BE49-F238E27FC236}">
                <a16:creationId xmlns:a16="http://schemas.microsoft.com/office/drawing/2014/main" id="{BF7862CB-A48A-41ED-BB49-4572C79D2442}"/>
              </a:ext>
            </a:extLst>
          </p:cNvPr>
          <p:cNvSpPr/>
          <p:nvPr/>
        </p:nvSpPr>
        <p:spPr>
          <a:xfrm>
            <a:off x="1063780" y="691091"/>
            <a:ext cx="10850641" cy="41635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7" name="Image 6" descr="gen-dedup-23665c0bc8193eed4b19e05b81a508d3.png">
            <a:extLst>
              <a:ext uri="{FF2B5EF4-FFF2-40B4-BE49-F238E27FC236}">
                <a16:creationId xmlns:a16="http://schemas.microsoft.com/office/drawing/2014/main" id="{20ABEAB4-CC5E-4191-B75F-C98135769AD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063780" y="1106443"/>
            <a:ext cx="10850641" cy="41935"/>
          </a:xfrm>
          <a:prstGeom prst="rect">
            <a:avLst/>
          </a:prstGeom>
        </p:spPr>
      </p:pic>
      <p:sp>
        <p:nvSpPr>
          <p:cNvPr id="108" name="Shape 13">
            <a:extLst>
              <a:ext uri="{FF2B5EF4-FFF2-40B4-BE49-F238E27FC236}">
                <a16:creationId xmlns:a16="http://schemas.microsoft.com/office/drawing/2014/main" id="{778C56FF-CFDC-45C0-B015-6894EB626093}"/>
              </a:ext>
            </a:extLst>
          </p:cNvPr>
          <p:cNvSpPr/>
          <p:nvPr/>
        </p:nvSpPr>
        <p:spPr>
          <a:xfrm>
            <a:off x="1063780" y="1127410"/>
            <a:ext cx="10850641" cy="332481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9" name="Image 7" descr="gen-dedup-23665c0bc8193eed4b19e05b81a508d3.png">
            <a:extLst>
              <a:ext uri="{FF2B5EF4-FFF2-40B4-BE49-F238E27FC236}">
                <a16:creationId xmlns:a16="http://schemas.microsoft.com/office/drawing/2014/main" id="{8EAD3060-1BC9-4720-89D3-B2F118FDED5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063780" y="1459891"/>
            <a:ext cx="10850641" cy="41935"/>
          </a:xfrm>
          <a:prstGeom prst="rect">
            <a:avLst/>
          </a:prstGeom>
        </p:spPr>
      </p:pic>
      <p:sp>
        <p:nvSpPr>
          <p:cNvPr id="110" name="Shape 14">
            <a:extLst>
              <a:ext uri="{FF2B5EF4-FFF2-40B4-BE49-F238E27FC236}">
                <a16:creationId xmlns:a16="http://schemas.microsoft.com/office/drawing/2014/main" id="{42389CBE-477E-4B1E-A4DE-6467CBB7EFEB}"/>
              </a:ext>
            </a:extLst>
          </p:cNvPr>
          <p:cNvSpPr/>
          <p:nvPr/>
        </p:nvSpPr>
        <p:spPr>
          <a:xfrm>
            <a:off x="1083557" y="1501826"/>
            <a:ext cx="2452485" cy="4368182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11" name="Shape 15">
            <a:extLst>
              <a:ext uri="{FF2B5EF4-FFF2-40B4-BE49-F238E27FC236}">
                <a16:creationId xmlns:a16="http://schemas.microsoft.com/office/drawing/2014/main" id="{C21C50EE-23E3-464C-A24A-63BA82DF84D4}"/>
              </a:ext>
            </a:extLst>
          </p:cNvPr>
          <p:cNvSpPr/>
          <p:nvPr/>
        </p:nvSpPr>
        <p:spPr>
          <a:xfrm>
            <a:off x="3595376" y="1501826"/>
            <a:ext cx="8300208" cy="4368182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12" name="Shape 16">
            <a:extLst>
              <a:ext uri="{FF2B5EF4-FFF2-40B4-BE49-F238E27FC236}">
                <a16:creationId xmlns:a16="http://schemas.microsoft.com/office/drawing/2014/main" id="{F20FF41E-0C07-442E-8C60-91349F8FAB6F}"/>
              </a:ext>
            </a:extLst>
          </p:cNvPr>
          <p:cNvSpPr/>
          <p:nvPr/>
        </p:nvSpPr>
        <p:spPr>
          <a:xfrm>
            <a:off x="1063780" y="5890974"/>
            <a:ext cx="10850641" cy="27057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3" name="Shape 17">
            <a:extLst>
              <a:ext uri="{FF2B5EF4-FFF2-40B4-BE49-F238E27FC236}">
                <a16:creationId xmlns:a16="http://schemas.microsoft.com/office/drawing/2014/main" id="{91B29A68-FFAE-4CAE-892D-A568DC5821A1}"/>
              </a:ext>
            </a:extLst>
          </p:cNvPr>
          <p:cNvSpPr/>
          <p:nvPr/>
        </p:nvSpPr>
        <p:spPr>
          <a:xfrm>
            <a:off x="11070555" y="159920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4" name="Shape 18">
            <a:extLst>
              <a:ext uri="{FF2B5EF4-FFF2-40B4-BE49-F238E27FC236}">
                <a16:creationId xmlns:a16="http://schemas.microsoft.com/office/drawing/2014/main" id="{5ED4C68E-2927-4286-A306-85C476D8C2C7}"/>
              </a:ext>
            </a:extLst>
          </p:cNvPr>
          <p:cNvSpPr/>
          <p:nvPr/>
        </p:nvSpPr>
        <p:spPr>
          <a:xfrm>
            <a:off x="11365343" y="159920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5" name="Shape 19">
            <a:extLst>
              <a:ext uri="{FF2B5EF4-FFF2-40B4-BE49-F238E27FC236}">
                <a16:creationId xmlns:a16="http://schemas.microsoft.com/office/drawing/2014/main" id="{629F123C-82EE-47C3-9DC8-E100143135E9}"/>
              </a:ext>
            </a:extLst>
          </p:cNvPr>
          <p:cNvSpPr/>
          <p:nvPr/>
        </p:nvSpPr>
        <p:spPr>
          <a:xfrm>
            <a:off x="11659189" y="159920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6" name="Text 20">
            <a:extLst>
              <a:ext uri="{FF2B5EF4-FFF2-40B4-BE49-F238E27FC236}">
                <a16:creationId xmlns:a16="http://schemas.microsoft.com/office/drawing/2014/main" id="{299A98B0-9D78-41C5-8B65-6BDFCC859999}"/>
              </a:ext>
            </a:extLst>
          </p:cNvPr>
          <p:cNvSpPr txBox="1"/>
          <p:nvPr/>
        </p:nvSpPr>
        <p:spPr>
          <a:xfrm>
            <a:off x="1100101" y="446473"/>
            <a:ext cx="2908322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파일(F)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편집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(E)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보기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(V)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도구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(T)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도움말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(H)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Shape 21">
            <a:extLst>
              <a:ext uri="{FF2B5EF4-FFF2-40B4-BE49-F238E27FC236}">
                <a16:creationId xmlns:a16="http://schemas.microsoft.com/office/drawing/2014/main" id="{BA430CC0-BC0A-472A-9F4E-CEDB0A52E19C}"/>
              </a:ext>
            </a:extLst>
          </p:cNvPr>
          <p:cNvSpPr/>
          <p:nvPr/>
        </p:nvSpPr>
        <p:spPr>
          <a:xfrm>
            <a:off x="1142891" y="743010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8" name="Shape 22">
            <a:extLst>
              <a:ext uri="{FF2B5EF4-FFF2-40B4-BE49-F238E27FC236}">
                <a16:creationId xmlns:a16="http://schemas.microsoft.com/office/drawing/2014/main" id="{D0F1BAB3-55DD-4B90-9514-6377C02A9076}"/>
              </a:ext>
            </a:extLst>
          </p:cNvPr>
          <p:cNvSpPr/>
          <p:nvPr/>
        </p:nvSpPr>
        <p:spPr>
          <a:xfrm>
            <a:off x="1485712" y="743010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9" name="Shape 23">
            <a:extLst>
              <a:ext uri="{FF2B5EF4-FFF2-40B4-BE49-F238E27FC236}">
                <a16:creationId xmlns:a16="http://schemas.microsoft.com/office/drawing/2014/main" id="{413C9993-835C-4DCE-99EE-1A4B19C69446}"/>
              </a:ext>
            </a:extLst>
          </p:cNvPr>
          <p:cNvSpPr/>
          <p:nvPr/>
        </p:nvSpPr>
        <p:spPr>
          <a:xfrm>
            <a:off x="1829474" y="743010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22" name="Shape 25">
            <a:extLst>
              <a:ext uri="{FF2B5EF4-FFF2-40B4-BE49-F238E27FC236}">
                <a16:creationId xmlns:a16="http://schemas.microsoft.com/office/drawing/2014/main" id="{F3567888-8960-4D67-8893-94ED42CC31E1}"/>
              </a:ext>
            </a:extLst>
          </p:cNvPr>
          <p:cNvSpPr/>
          <p:nvPr/>
        </p:nvSpPr>
        <p:spPr>
          <a:xfrm>
            <a:off x="1731525" y="1169345"/>
            <a:ext cx="9320193" cy="249610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23" name="Shape 26">
            <a:extLst>
              <a:ext uri="{FF2B5EF4-FFF2-40B4-BE49-F238E27FC236}">
                <a16:creationId xmlns:a16="http://schemas.microsoft.com/office/drawing/2014/main" id="{F9BE2189-0E78-419A-8C1A-57E458CD3185}"/>
              </a:ext>
            </a:extLst>
          </p:cNvPr>
          <p:cNvSpPr/>
          <p:nvPr/>
        </p:nvSpPr>
        <p:spPr>
          <a:xfrm>
            <a:off x="11149667" y="1148377"/>
            <a:ext cx="686583" cy="27057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4" name="Shape 27">
            <a:extLst>
              <a:ext uri="{FF2B5EF4-FFF2-40B4-BE49-F238E27FC236}">
                <a16:creationId xmlns:a16="http://schemas.microsoft.com/office/drawing/2014/main" id="{3BF4B2C6-B1E4-4F82-81A6-F664E976AAD4}"/>
              </a:ext>
            </a:extLst>
          </p:cNvPr>
          <p:cNvSpPr/>
          <p:nvPr/>
        </p:nvSpPr>
        <p:spPr>
          <a:xfrm>
            <a:off x="3359922" y="1522793"/>
            <a:ext cx="166701" cy="4326247"/>
          </a:xfrm>
          <a:prstGeom prst="rect">
            <a:avLst/>
          </a:prstGeom>
          <a:solidFill>
            <a:srgbClr val="DFDFDF"/>
          </a:solidFill>
          <a:ln/>
        </p:spPr>
      </p:sp>
      <p:sp>
        <p:nvSpPr>
          <p:cNvPr id="125" name="Shape 28">
            <a:extLst>
              <a:ext uri="{FF2B5EF4-FFF2-40B4-BE49-F238E27FC236}">
                <a16:creationId xmlns:a16="http://schemas.microsoft.com/office/drawing/2014/main" id="{D31BEC5E-DE7B-485B-92B6-010A35214FB6}"/>
              </a:ext>
            </a:extLst>
          </p:cNvPr>
          <p:cNvSpPr/>
          <p:nvPr/>
        </p:nvSpPr>
        <p:spPr>
          <a:xfrm>
            <a:off x="3359922" y="1522793"/>
            <a:ext cx="9418" cy="4326247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>
                <a:alpha val="0"/>
              </a:srgbClr>
            </a:solidFill>
            <a:prstDash val="solid"/>
          </a:ln>
        </p:spPr>
      </p:sp>
      <p:sp>
        <p:nvSpPr>
          <p:cNvPr id="127" name="Shape 30">
            <a:extLst>
              <a:ext uri="{FF2B5EF4-FFF2-40B4-BE49-F238E27FC236}">
                <a16:creationId xmlns:a16="http://schemas.microsoft.com/office/drawing/2014/main" id="{916FC1B2-F896-4360-AE9D-1DA7A8004F60}"/>
              </a:ext>
            </a:extLst>
          </p:cNvPr>
          <p:cNvSpPr/>
          <p:nvPr/>
        </p:nvSpPr>
        <p:spPr>
          <a:xfrm>
            <a:off x="1083557" y="5932909"/>
            <a:ext cx="2452485" cy="187707"/>
          </a:xfrm>
          <a:prstGeom prst="rect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141" name="Shape 31">
            <a:extLst>
              <a:ext uri="{FF2B5EF4-FFF2-40B4-BE49-F238E27FC236}">
                <a16:creationId xmlns:a16="http://schemas.microsoft.com/office/drawing/2014/main" id="{91123D67-B5E3-49E4-99D0-DFCAAC3F8CCA}"/>
              </a:ext>
            </a:extLst>
          </p:cNvPr>
          <p:cNvSpPr/>
          <p:nvPr/>
        </p:nvSpPr>
        <p:spPr>
          <a:xfrm>
            <a:off x="3555820" y="5932909"/>
            <a:ext cx="8338823" cy="187707"/>
          </a:xfrm>
          <a:prstGeom prst="rect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142" name="Shape 32">
            <a:extLst>
              <a:ext uri="{FF2B5EF4-FFF2-40B4-BE49-F238E27FC236}">
                <a16:creationId xmlns:a16="http://schemas.microsoft.com/office/drawing/2014/main" id="{354B1A02-7FFC-47B5-9696-E585EB5A9885}"/>
              </a:ext>
            </a:extLst>
          </p:cNvPr>
          <p:cNvSpPr/>
          <p:nvPr/>
        </p:nvSpPr>
        <p:spPr>
          <a:xfrm>
            <a:off x="3359922" y="1522793"/>
            <a:ext cx="157283" cy="16674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5" name="Shape 33">
            <a:extLst>
              <a:ext uri="{FF2B5EF4-FFF2-40B4-BE49-F238E27FC236}">
                <a16:creationId xmlns:a16="http://schemas.microsoft.com/office/drawing/2014/main" id="{DA473C0B-5729-4FD8-AD5B-3C1C059BA00F}"/>
              </a:ext>
            </a:extLst>
          </p:cNvPr>
          <p:cNvSpPr/>
          <p:nvPr/>
        </p:nvSpPr>
        <p:spPr>
          <a:xfrm>
            <a:off x="3359922" y="1689533"/>
            <a:ext cx="157283" cy="831702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6" name="Shape 34">
            <a:extLst>
              <a:ext uri="{FF2B5EF4-FFF2-40B4-BE49-F238E27FC236}">
                <a16:creationId xmlns:a16="http://schemas.microsoft.com/office/drawing/2014/main" id="{A4F36E1F-4507-4CC5-9346-4FBE0AD7F22F}"/>
              </a:ext>
            </a:extLst>
          </p:cNvPr>
          <p:cNvSpPr/>
          <p:nvPr/>
        </p:nvSpPr>
        <p:spPr>
          <a:xfrm>
            <a:off x="3359922" y="5683299"/>
            <a:ext cx="157283" cy="16674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8" name="Image 8" descr="gen-dedup-7c02ed4669765158cb6410457d6288f7.png">
            <a:extLst>
              <a:ext uri="{FF2B5EF4-FFF2-40B4-BE49-F238E27FC236}">
                <a16:creationId xmlns:a16="http://schemas.microsoft.com/office/drawing/2014/main" id="{2665EC4D-B367-4232-8285-18D4141E819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6250" b="-6250"/>
          <a:stretch/>
        </p:blipFill>
        <p:spPr>
          <a:xfrm>
            <a:off x="1123114" y="191871"/>
            <a:ext cx="157283" cy="166740"/>
          </a:xfrm>
          <a:prstGeom prst="rect">
            <a:avLst/>
          </a:prstGeom>
        </p:spPr>
      </p:pic>
      <p:sp>
        <p:nvSpPr>
          <p:cNvPr id="149" name="Text 36">
            <a:extLst>
              <a:ext uri="{FF2B5EF4-FFF2-40B4-BE49-F238E27FC236}">
                <a16:creationId xmlns:a16="http://schemas.microsoft.com/office/drawing/2014/main" id="{E428AE1F-5E2A-45BC-8AD2-EAAD85DE2C03}"/>
              </a:ext>
            </a:extLst>
          </p:cNvPr>
          <p:cNvSpPr txBox="1"/>
          <p:nvPr/>
        </p:nvSpPr>
        <p:spPr>
          <a:xfrm>
            <a:off x="1387763" y="170904"/>
            <a:ext cx="1594491" cy="20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탐색 중 - Projects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Text 37">
            <a:extLst>
              <a:ext uri="{FF2B5EF4-FFF2-40B4-BE49-F238E27FC236}">
                <a16:creationId xmlns:a16="http://schemas.microsoft.com/office/drawing/2014/main" id="{B62B1CCF-70A3-4E76-BC3F-82C5DF2D170C}"/>
              </a:ext>
            </a:extLst>
          </p:cNvPr>
          <p:cNvSpPr txBox="1"/>
          <p:nvPr/>
        </p:nvSpPr>
        <p:spPr>
          <a:xfrm>
            <a:off x="11138365" y="185880"/>
            <a:ext cx="83822" cy="14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_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1" name="Shape 38">
            <a:extLst>
              <a:ext uri="{FF2B5EF4-FFF2-40B4-BE49-F238E27FC236}">
                <a16:creationId xmlns:a16="http://schemas.microsoft.com/office/drawing/2014/main" id="{D76E0BCC-364D-4EE0-BC3A-3858A77A42F3}"/>
              </a:ext>
            </a:extLst>
          </p:cNvPr>
          <p:cNvSpPr/>
          <p:nvPr/>
        </p:nvSpPr>
        <p:spPr>
          <a:xfrm>
            <a:off x="11414317" y="206847"/>
            <a:ext cx="117727" cy="13479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52" name="Shape 39">
            <a:extLst>
              <a:ext uri="{FF2B5EF4-FFF2-40B4-BE49-F238E27FC236}">
                <a16:creationId xmlns:a16="http://schemas.microsoft.com/office/drawing/2014/main" id="{B2824EFA-3C56-436D-9EF5-EACB833A8EB2}"/>
              </a:ext>
            </a:extLst>
          </p:cNvPr>
          <p:cNvSpPr/>
          <p:nvPr/>
        </p:nvSpPr>
        <p:spPr>
          <a:xfrm>
            <a:off x="11414317" y="206847"/>
            <a:ext cx="117727" cy="20967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Text 40">
            <a:extLst>
              <a:ext uri="{FF2B5EF4-FFF2-40B4-BE49-F238E27FC236}">
                <a16:creationId xmlns:a16="http://schemas.microsoft.com/office/drawing/2014/main" id="{73B04141-7F29-472D-BF63-5B332765C610}"/>
              </a:ext>
            </a:extLst>
          </p:cNvPr>
          <p:cNvSpPr txBox="1"/>
          <p:nvPr/>
        </p:nvSpPr>
        <p:spPr>
          <a:xfrm>
            <a:off x="11727941" y="201855"/>
            <a:ext cx="88531" cy="14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8" name="Image 9" descr="gen-dedup-25afa46a09582202a40d6f31fc2ccf91.png">
            <a:extLst>
              <a:ext uri="{FF2B5EF4-FFF2-40B4-BE49-F238E27FC236}">
                <a16:creationId xmlns:a16="http://schemas.microsoft.com/office/drawing/2014/main" id="{6D3A70D4-DA94-488E-BECC-BF8D28E4351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1210702" y="815896"/>
            <a:ext cx="157283" cy="166740"/>
          </a:xfrm>
          <a:prstGeom prst="rect">
            <a:avLst/>
          </a:prstGeom>
        </p:spPr>
      </p:pic>
      <p:pic>
        <p:nvPicPr>
          <p:cNvPr id="159" name="Image 10" descr="gen-dedup-53d8cb32c6720cdad62ecd3793163a86.png">
            <a:extLst>
              <a:ext uri="{FF2B5EF4-FFF2-40B4-BE49-F238E27FC236}">
                <a16:creationId xmlns:a16="http://schemas.microsoft.com/office/drawing/2014/main" id="{38CE9DD8-4C0F-46DC-B9A0-EA21C7095C9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7143" r="-7143"/>
          <a:stretch/>
        </p:blipFill>
        <p:spPr>
          <a:xfrm>
            <a:off x="1554464" y="815896"/>
            <a:ext cx="157283" cy="166740"/>
          </a:xfrm>
          <a:prstGeom prst="rect">
            <a:avLst/>
          </a:prstGeom>
        </p:spPr>
      </p:pic>
      <p:pic>
        <p:nvPicPr>
          <p:cNvPr id="160" name="Image 11" descr="gen-dedup-fa17d56a867348b02c8a56abf7174658.png">
            <a:extLst>
              <a:ext uri="{FF2B5EF4-FFF2-40B4-BE49-F238E27FC236}">
                <a16:creationId xmlns:a16="http://schemas.microsoft.com/office/drawing/2014/main" id="{922B725B-A15E-4516-BFD5-E5CBF5F3301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16666" r="-16666"/>
          <a:stretch/>
        </p:blipFill>
        <p:spPr>
          <a:xfrm>
            <a:off x="1898227" y="815896"/>
            <a:ext cx="157283" cy="166740"/>
          </a:xfrm>
          <a:prstGeom prst="rect">
            <a:avLst/>
          </a:prstGeom>
        </p:spPr>
      </p:pic>
      <p:pic>
        <p:nvPicPr>
          <p:cNvPr id="161" name="Image 12" descr="gen-dedup-013b38688217c28f0315b66cc4dba47b.png">
            <a:extLst>
              <a:ext uri="{FF2B5EF4-FFF2-40B4-BE49-F238E27FC236}">
                <a16:creationId xmlns:a16="http://schemas.microsoft.com/office/drawing/2014/main" id="{D017ADA0-79CA-457C-8D33-D4231577065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2418108" y="815896"/>
            <a:ext cx="157283" cy="166740"/>
          </a:xfrm>
          <a:prstGeom prst="rect">
            <a:avLst/>
          </a:prstGeom>
        </p:spPr>
      </p:pic>
      <p:pic>
        <p:nvPicPr>
          <p:cNvPr id="162" name="Image 13" descr="gen-dedup-3408d1960989eaff15e10127b414fcf2.png">
            <a:extLst>
              <a:ext uri="{FF2B5EF4-FFF2-40B4-BE49-F238E27FC236}">
                <a16:creationId xmlns:a16="http://schemas.microsoft.com/office/drawing/2014/main" id="{99A1AEF4-E23A-47B4-A49D-1A8A656F8CA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7143" r="-7143"/>
          <a:stretch/>
        </p:blipFill>
        <p:spPr>
          <a:xfrm>
            <a:off x="2711955" y="815896"/>
            <a:ext cx="157283" cy="166740"/>
          </a:xfrm>
          <a:prstGeom prst="rect">
            <a:avLst/>
          </a:prstGeom>
        </p:spPr>
      </p:pic>
      <p:pic>
        <p:nvPicPr>
          <p:cNvPr id="163" name="Image 14" descr="gen-dedup-6e9e672aa626b1edf6db8640b2821839.png">
            <a:extLst>
              <a:ext uri="{FF2B5EF4-FFF2-40B4-BE49-F238E27FC236}">
                <a16:creationId xmlns:a16="http://schemas.microsoft.com/office/drawing/2014/main" id="{C9550F90-0E01-4893-B835-77A2FB3C1F4E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3006742" y="815896"/>
            <a:ext cx="157283" cy="166740"/>
          </a:xfrm>
          <a:prstGeom prst="rect">
            <a:avLst/>
          </a:prstGeom>
        </p:spPr>
      </p:pic>
      <p:sp>
        <p:nvSpPr>
          <p:cNvPr id="164" name="Text 41">
            <a:extLst>
              <a:ext uri="{FF2B5EF4-FFF2-40B4-BE49-F238E27FC236}">
                <a16:creationId xmlns:a16="http://schemas.microsoft.com/office/drawing/2014/main" id="{0762294A-6332-409C-A4B5-45E26B375792}"/>
              </a:ext>
            </a:extLst>
          </p:cNvPr>
          <p:cNvSpPr txBox="1"/>
          <p:nvPr/>
        </p:nvSpPr>
        <p:spPr>
          <a:xfrm>
            <a:off x="1142891" y="1195304"/>
            <a:ext cx="536834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주소(D)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5" name="Image 15" descr="gen-dedup-7c02ed4669765158cb6410457d6288f7.png">
            <a:extLst>
              <a:ext uri="{FF2B5EF4-FFF2-40B4-BE49-F238E27FC236}">
                <a16:creationId xmlns:a16="http://schemas.microsoft.com/office/drawing/2014/main" id="{239474F9-BA3C-417F-8CE0-5EE537895D3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6250" b="-6250"/>
          <a:stretch/>
        </p:blipFill>
        <p:spPr>
          <a:xfrm>
            <a:off x="1780500" y="1210281"/>
            <a:ext cx="157283" cy="166740"/>
          </a:xfrm>
          <a:prstGeom prst="rect">
            <a:avLst/>
          </a:prstGeom>
        </p:spPr>
      </p:pic>
      <p:sp>
        <p:nvSpPr>
          <p:cNvPr id="166" name="Text 42">
            <a:extLst>
              <a:ext uri="{FF2B5EF4-FFF2-40B4-BE49-F238E27FC236}">
                <a16:creationId xmlns:a16="http://schemas.microsoft.com/office/drawing/2014/main" id="{2A6B50A8-5D43-45FB-875F-B4B2E68A3195}"/>
              </a:ext>
            </a:extLst>
          </p:cNvPr>
          <p:cNvSpPr txBox="1"/>
          <p:nvPr/>
        </p:nvSpPr>
        <p:spPr>
          <a:xfrm>
            <a:off x="2025372" y="1216271"/>
            <a:ext cx="3451503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C:\Portfolio\Projects\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기타 프로젝트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\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럭키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WWE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7" name="Text 43">
            <a:extLst>
              <a:ext uri="{FF2B5EF4-FFF2-40B4-BE49-F238E27FC236}">
                <a16:creationId xmlns:a16="http://schemas.microsoft.com/office/drawing/2014/main" id="{8C4F7CE9-8270-4468-851B-DDF88A52F141}"/>
              </a:ext>
            </a:extLst>
          </p:cNvPr>
          <p:cNvSpPr txBox="1"/>
          <p:nvPr/>
        </p:nvSpPr>
        <p:spPr>
          <a:xfrm>
            <a:off x="11384179" y="1195304"/>
            <a:ext cx="244872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이동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8" name="Text 44">
            <a:extLst>
              <a:ext uri="{FF2B5EF4-FFF2-40B4-BE49-F238E27FC236}">
                <a16:creationId xmlns:a16="http://schemas.microsoft.com/office/drawing/2014/main" id="{16B13CC4-BA5A-44FF-8E47-E60E04A8820A}"/>
              </a:ext>
            </a:extLst>
          </p:cNvPr>
          <p:cNvSpPr txBox="1"/>
          <p:nvPr/>
        </p:nvSpPr>
        <p:spPr>
          <a:xfrm>
            <a:off x="1142891" y="1600671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9" name="Image 16" descr="gen-dedup-71f3cd3c0f5149b77a7c51df2d1a7eab.png">
            <a:extLst>
              <a:ext uri="{FF2B5EF4-FFF2-40B4-BE49-F238E27FC236}">
                <a16:creationId xmlns:a16="http://schemas.microsoft.com/office/drawing/2014/main" id="{5722AD78-CE8C-4097-B8F2-1C40233E278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6250" b="-6250"/>
          <a:stretch/>
        </p:blipFill>
        <p:spPr>
          <a:xfrm>
            <a:off x="1309593" y="1590687"/>
            <a:ext cx="137504" cy="145772"/>
          </a:xfrm>
          <a:prstGeom prst="rect">
            <a:avLst/>
          </a:prstGeom>
        </p:spPr>
      </p:pic>
      <p:sp>
        <p:nvSpPr>
          <p:cNvPr id="170" name="Text 45">
            <a:extLst>
              <a:ext uri="{FF2B5EF4-FFF2-40B4-BE49-F238E27FC236}">
                <a16:creationId xmlns:a16="http://schemas.microsoft.com/office/drawing/2014/main" id="{E8856BC4-07FF-4558-A9F5-EFB404064BD4}"/>
              </a:ext>
            </a:extLst>
          </p:cNvPr>
          <p:cNvSpPr txBox="1"/>
          <p:nvPr/>
        </p:nvSpPr>
        <p:spPr>
          <a:xfrm>
            <a:off x="1496072" y="1564728"/>
            <a:ext cx="607470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내 컴퓨터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1" name="Text 46">
            <a:extLst>
              <a:ext uri="{FF2B5EF4-FFF2-40B4-BE49-F238E27FC236}">
                <a16:creationId xmlns:a16="http://schemas.microsoft.com/office/drawing/2014/main" id="{E7449BCD-C7B7-4C95-AF68-25995EF1A200}"/>
              </a:ext>
            </a:extLst>
          </p:cNvPr>
          <p:cNvSpPr txBox="1"/>
          <p:nvPr/>
        </p:nvSpPr>
        <p:spPr>
          <a:xfrm>
            <a:off x="1338789" y="1881234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2" name="Image 17" descr="gen-dedup-e3bb1bdbf10fa3b8ada790141c1d3212.png">
            <a:extLst>
              <a:ext uri="{FF2B5EF4-FFF2-40B4-BE49-F238E27FC236}">
                <a16:creationId xmlns:a16="http://schemas.microsoft.com/office/drawing/2014/main" id="{24284AD3-13CD-4AEE-B86A-48EEFCA4E465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505490" y="1871249"/>
            <a:ext cx="137504" cy="145772"/>
          </a:xfrm>
          <a:prstGeom prst="rect">
            <a:avLst/>
          </a:prstGeom>
        </p:spPr>
      </p:pic>
      <p:sp>
        <p:nvSpPr>
          <p:cNvPr id="173" name="Text 47">
            <a:extLst>
              <a:ext uri="{FF2B5EF4-FFF2-40B4-BE49-F238E27FC236}">
                <a16:creationId xmlns:a16="http://schemas.microsoft.com/office/drawing/2014/main" id="{9A638C46-6AA2-4807-8EB6-3B39C7503EAB}"/>
              </a:ext>
            </a:extLst>
          </p:cNvPr>
          <p:cNvSpPr txBox="1"/>
          <p:nvPr/>
        </p:nvSpPr>
        <p:spPr>
          <a:xfrm>
            <a:off x="1691969" y="1845289"/>
            <a:ext cx="982312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C: 로컬 디스크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4" name="Text 48">
            <a:extLst>
              <a:ext uri="{FF2B5EF4-FFF2-40B4-BE49-F238E27FC236}">
                <a16:creationId xmlns:a16="http://schemas.microsoft.com/office/drawing/2014/main" id="{323AFC2D-633A-482D-BAFB-FD8F3EB4DDFB}"/>
              </a:ext>
            </a:extLst>
          </p:cNvPr>
          <p:cNvSpPr txBox="1"/>
          <p:nvPr/>
        </p:nvSpPr>
        <p:spPr>
          <a:xfrm>
            <a:off x="1534687" y="2141827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5" name="Image 18" descr="gen-dedup-ba01fa70a70d7d3a77dc83183451dc86.png">
            <a:extLst>
              <a:ext uri="{FF2B5EF4-FFF2-40B4-BE49-F238E27FC236}">
                <a16:creationId xmlns:a16="http://schemas.microsoft.com/office/drawing/2014/main" id="{6BB5E545-5BF5-498F-817C-752D4F6D61D6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701387" y="2130844"/>
            <a:ext cx="137504" cy="145772"/>
          </a:xfrm>
          <a:prstGeom prst="rect">
            <a:avLst/>
          </a:prstGeom>
        </p:spPr>
      </p:pic>
      <p:sp>
        <p:nvSpPr>
          <p:cNvPr id="176" name="Text 49">
            <a:extLst>
              <a:ext uri="{FF2B5EF4-FFF2-40B4-BE49-F238E27FC236}">
                <a16:creationId xmlns:a16="http://schemas.microsoft.com/office/drawing/2014/main" id="{1E3BD229-5997-4AB9-8C0F-C468BC742636}"/>
              </a:ext>
            </a:extLst>
          </p:cNvPr>
          <p:cNvSpPr txBox="1"/>
          <p:nvPr/>
        </p:nvSpPr>
        <p:spPr>
          <a:xfrm>
            <a:off x="1887867" y="2125852"/>
            <a:ext cx="760044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Text 50">
            <a:extLst>
              <a:ext uri="{FF2B5EF4-FFF2-40B4-BE49-F238E27FC236}">
                <a16:creationId xmlns:a16="http://schemas.microsoft.com/office/drawing/2014/main" id="{723C73E9-4A4E-4F42-AE7A-87E8358A822A}"/>
              </a:ext>
            </a:extLst>
          </p:cNvPr>
          <p:cNvSpPr txBox="1"/>
          <p:nvPr/>
        </p:nvSpPr>
        <p:spPr>
          <a:xfrm>
            <a:off x="1731525" y="2380455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8" name="Image 19" descr="gen-dedup-164d010ae7e53d534a0b3104348ed19a.png">
            <a:extLst>
              <a:ext uri="{FF2B5EF4-FFF2-40B4-BE49-F238E27FC236}">
                <a16:creationId xmlns:a16="http://schemas.microsoft.com/office/drawing/2014/main" id="{9743F858-A590-4BB3-808D-215064351692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-6250" b="-6250"/>
          <a:stretch/>
        </p:blipFill>
        <p:spPr>
          <a:xfrm>
            <a:off x="1898227" y="2370470"/>
            <a:ext cx="137504" cy="145772"/>
          </a:xfrm>
          <a:prstGeom prst="rect">
            <a:avLst/>
          </a:prstGeom>
        </p:spPr>
      </p:pic>
      <p:sp>
        <p:nvSpPr>
          <p:cNvPr id="179" name="Text 51">
            <a:extLst>
              <a:ext uri="{FF2B5EF4-FFF2-40B4-BE49-F238E27FC236}">
                <a16:creationId xmlns:a16="http://schemas.microsoft.com/office/drawing/2014/main" id="{91A6C390-EF73-4B4E-9448-4A092525C527}"/>
              </a:ext>
            </a:extLst>
          </p:cNvPr>
          <p:cNvSpPr txBox="1"/>
          <p:nvPr/>
        </p:nvSpPr>
        <p:spPr>
          <a:xfrm>
            <a:off x="2084706" y="2365478"/>
            <a:ext cx="681874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0" name="Shape 52">
            <a:extLst>
              <a:ext uri="{FF2B5EF4-FFF2-40B4-BE49-F238E27FC236}">
                <a16:creationId xmlns:a16="http://schemas.microsoft.com/office/drawing/2014/main" id="{64A3B9A6-8696-4451-88B1-C3DE0AFFCA24}"/>
              </a:ext>
            </a:extLst>
          </p:cNvPr>
          <p:cNvSpPr/>
          <p:nvPr/>
        </p:nvSpPr>
        <p:spPr>
          <a:xfrm>
            <a:off x="1092676" y="3660405"/>
            <a:ext cx="2276364" cy="155756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Text 53">
            <a:extLst>
              <a:ext uri="{FF2B5EF4-FFF2-40B4-BE49-F238E27FC236}">
                <a16:creationId xmlns:a16="http://schemas.microsoft.com/office/drawing/2014/main" id="{CAF9D105-2730-4456-BD86-A00FA06DCDA1}"/>
              </a:ext>
            </a:extLst>
          </p:cNvPr>
          <p:cNvSpPr txBox="1"/>
          <p:nvPr/>
        </p:nvSpPr>
        <p:spPr>
          <a:xfrm>
            <a:off x="2280602" y="2604105"/>
            <a:ext cx="1472055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Arial" pitchFamily="34" charset="-122"/>
                <a:cs typeface="Arial" pitchFamily="34" charset="-120"/>
              </a:rPr>
              <a:t>WinAPI_DontStarve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183" name="Image 21" descr="gen-dedup-2302e8a913f082daf4055bce75fbff92.png">
            <a:extLst>
              <a:ext uri="{FF2B5EF4-FFF2-40B4-BE49-F238E27FC236}">
                <a16:creationId xmlns:a16="http://schemas.microsoft.com/office/drawing/2014/main" id="{84D0CCAD-71D2-440D-B1DE-D8B05BC99660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2615089"/>
            <a:ext cx="137504" cy="145772"/>
          </a:xfrm>
          <a:prstGeom prst="rect">
            <a:avLst/>
          </a:prstGeom>
        </p:spPr>
      </p:pic>
      <p:sp>
        <p:nvSpPr>
          <p:cNvPr id="184" name="Text 54">
            <a:extLst>
              <a:ext uri="{FF2B5EF4-FFF2-40B4-BE49-F238E27FC236}">
                <a16:creationId xmlns:a16="http://schemas.microsoft.com/office/drawing/2014/main" id="{31E9B7CF-593C-4A81-9275-E23FA6F6FF6D}"/>
              </a:ext>
            </a:extLst>
          </p:cNvPr>
          <p:cNvSpPr txBox="1"/>
          <p:nvPr/>
        </p:nvSpPr>
        <p:spPr>
          <a:xfrm>
            <a:off x="2280602" y="2868224"/>
            <a:ext cx="976709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File Tower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Defence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185" name="Image 22" descr="gen-dedup-2302e8a913f082daf4055bce75fbff92.png">
            <a:extLst>
              <a:ext uri="{FF2B5EF4-FFF2-40B4-BE49-F238E27FC236}">
                <a16:creationId xmlns:a16="http://schemas.microsoft.com/office/drawing/2014/main" id="{A18364CD-242D-46EE-BC7A-AAB0C31013B5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2878332"/>
            <a:ext cx="137504" cy="145772"/>
          </a:xfrm>
          <a:prstGeom prst="rect">
            <a:avLst/>
          </a:prstGeom>
        </p:spPr>
      </p:pic>
      <p:sp>
        <p:nvSpPr>
          <p:cNvPr id="186" name="Text 55">
            <a:extLst>
              <a:ext uri="{FF2B5EF4-FFF2-40B4-BE49-F238E27FC236}">
                <a16:creationId xmlns:a16="http://schemas.microsoft.com/office/drawing/2014/main" id="{90569763-24C7-4A44-99BB-8107D5A4F9AE}"/>
              </a:ext>
            </a:extLst>
          </p:cNvPr>
          <p:cNvSpPr txBox="1"/>
          <p:nvPr/>
        </p:nvSpPr>
        <p:spPr>
          <a:xfrm>
            <a:off x="2280602" y="3132343"/>
            <a:ext cx="1079319" cy="15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 Racing Simulation</a:t>
            </a:r>
          </a:p>
        </p:txBody>
      </p:sp>
      <p:sp>
        <p:nvSpPr>
          <p:cNvPr id="187" name="Text 56">
            <a:extLst>
              <a:ext uri="{FF2B5EF4-FFF2-40B4-BE49-F238E27FC236}">
                <a16:creationId xmlns:a16="http://schemas.microsoft.com/office/drawing/2014/main" id="{866DB103-F61D-4F55-8CB2-0DCECDF562DE}"/>
              </a:ext>
            </a:extLst>
          </p:cNvPr>
          <p:cNvSpPr txBox="1"/>
          <p:nvPr/>
        </p:nvSpPr>
        <p:spPr>
          <a:xfrm>
            <a:off x="3389118" y="1517801"/>
            <a:ext cx="98890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▲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8" name="Text 57">
            <a:extLst>
              <a:ext uri="{FF2B5EF4-FFF2-40B4-BE49-F238E27FC236}">
                <a16:creationId xmlns:a16="http://schemas.microsoft.com/office/drawing/2014/main" id="{07972270-EEB3-4E57-A275-58C3789BD728}"/>
              </a:ext>
            </a:extLst>
          </p:cNvPr>
          <p:cNvSpPr txBox="1"/>
          <p:nvPr/>
        </p:nvSpPr>
        <p:spPr>
          <a:xfrm>
            <a:off x="3389118" y="5677309"/>
            <a:ext cx="98890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Text 59">
            <a:extLst>
              <a:ext uri="{FF2B5EF4-FFF2-40B4-BE49-F238E27FC236}">
                <a16:creationId xmlns:a16="http://schemas.microsoft.com/office/drawing/2014/main" id="{F370B7F2-545A-4C3C-AE52-60FFDC3BC6C9}"/>
              </a:ext>
            </a:extLst>
          </p:cNvPr>
          <p:cNvSpPr txBox="1"/>
          <p:nvPr/>
        </p:nvSpPr>
        <p:spPr>
          <a:xfrm>
            <a:off x="1142891" y="5937901"/>
            <a:ext cx="515173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5개 개체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2" name="Text 60">
            <a:extLst>
              <a:ext uri="{FF2B5EF4-FFF2-40B4-BE49-F238E27FC236}">
                <a16:creationId xmlns:a16="http://schemas.microsoft.com/office/drawing/2014/main" id="{56BEFB76-4CFC-42A7-B9E8-E085EEAF66E4}"/>
              </a:ext>
            </a:extLst>
          </p:cNvPr>
          <p:cNvSpPr txBox="1"/>
          <p:nvPr/>
        </p:nvSpPr>
        <p:spPr>
          <a:xfrm>
            <a:off x="3644351" y="5937901"/>
            <a:ext cx="2312154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1개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항목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선택됨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ko-KR" altLang="en-US" sz="900" dirty="0">
                <a:solidFill>
                  <a:srgbClr val="000000"/>
                </a:solidFill>
                <a:latin typeface="Calibri" panose="020F0502020204030204"/>
              </a:rPr>
              <a:t>기타 프로젝트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Shape 29">
            <a:extLst>
              <a:ext uri="{FF2B5EF4-FFF2-40B4-BE49-F238E27FC236}">
                <a16:creationId xmlns:a16="http://schemas.microsoft.com/office/drawing/2014/main" id="{C8E8281E-329E-4104-AF26-2BF462B61E3F}"/>
              </a:ext>
            </a:extLst>
          </p:cNvPr>
          <p:cNvSpPr/>
          <p:nvPr/>
        </p:nvSpPr>
        <p:spPr>
          <a:xfrm>
            <a:off x="3615584" y="1517800"/>
            <a:ext cx="8262000" cy="312984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9" name="Text 58">
            <a:extLst>
              <a:ext uri="{FF2B5EF4-FFF2-40B4-BE49-F238E27FC236}">
                <a16:creationId xmlns:a16="http://schemas.microsoft.com/office/drawing/2014/main" id="{ADA0929B-6390-4236-84B5-CBBBC1E952F8}"/>
              </a:ext>
            </a:extLst>
          </p:cNvPr>
          <p:cNvSpPr txBox="1"/>
          <p:nvPr/>
        </p:nvSpPr>
        <p:spPr>
          <a:xfrm>
            <a:off x="3680570" y="1579370"/>
            <a:ext cx="2661235" cy="190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상세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정보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– </a:t>
            </a:r>
            <a:r>
              <a:rPr lang="ko-KR" altLang="en-US" sz="1200" b="1" dirty="0" err="1">
                <a:solidFill>
                  <a:schemeClr val="bg1"/>
                </a:solidFill>
                <a:latin typeface="Calibri" panose="020F0502020204030204"/>
              </a:rPr>
              <a:t>럭키</a:t>
            </a:r>
            <a:r>
              <a:rPr lang="ko-KR" altLang="en-US" sz="1200" b="1" dirty="0">
                <a:solidFill>
                  <a:schemeClr val="bg1"/>
                </a:solidFill>
                <a:latin typeface="Calibri" panose="020F0502020204030204"/>
              </a:rPr>
              <a:t> </a:t>
            </a:r>
            <a:r>
              <a:rPr lang="en-US" altLang="ko-KR" sz="1200" b="1" dirty="0">
                <a:solidFill>
                  <a:schemeClr val="bg1"/>
                </a:solidFill>
                <a:latin typeface="Calibri" panose="020F0502020204030204"/>
              </a:rPr>
              <a:t>WWE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90" name="Table 0">
            <a:extLst>
              <a:ext uri="{FF2B5EF4-FFF2-40B4-BE49-F238E27FC236}">
                <a16:creationId xmlns:a16="http://schemas.microsoft.com/office/drawing/2014/main" id="{17C5AF9B-F49B-46DE-BE64-BBD629004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466082"/>
              </p:ext>
            </p:extLst>
          </p:nvPr>
        </p:nvGraphicFramePr>
        <p:xfrm>
          <a:off x="6888351" y="1904694"/>
          <a:ext cx="4922345" cy="1848411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012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7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3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95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15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플랫폼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400" dirty="0"/>
                        <a:t>PC(Windows)</a:t>
                      </a: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장르</a:t>
                      </a:r>
                      <a:endParaRPr lang="ko-KR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TCG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2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인원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인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기획</a:t>
                      </a:r>
                      <a:r>
                        <a:rPr lang="en-US" altLang="ko-KR" sz="1400" dirty="0"/>
                        <a:t>1,</a:t>
                      </a:r>
                      <a:r>
                        <a:rPr lang="ko-KR" altLang="en-US" sz="1400" dirty="0"/>
                        <a:t>아트</a:t>
                      </a:r>
                      <a:r>
                        <a:rPr lang="en-US" altLang="ko-KR" sz="1400" dirty="0"/>
                        <a:t>2,</a:t>
                      </a:r>
                      <a:r>
                        <a:rPr lang="ko-KR" altLang="en-US" sz="1400" dirty="0" err="1"/>
                        <a:t>플밍</a:t>
                      </a:r>
                      <a:r>
                        <a:rPr lang="en-US" altLang="ko-KR" sz="1400" dirty="0"/>
                        <a:t>1)</a:t>
                      </a:r>
                      <a:endParaRPr lang="ko-KR" altLang="en-US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</a:t>
                      </a: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baseline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기간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2026.01.30 ~ 2026.02.01</a:t>
                      </a:r>
                      <a:endParaRPr lang="ko-KR" altLang="en-US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65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도구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C#, Unity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동영상 링크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EE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  <a:hlinkClick r:id="rId19"/>
                        </a:rPr>
                        <a:t>유튜브 링크</a:t>
                      </a:r>
                      <a:endParaRPr lang="en-US" sz="14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" name="Shape 3">
            <a:extLst>
              <a:ext uri="{FF2B5EF4-FFF2-40B4-BE49-F238E27FC236}">
                <a16:creationId xmlns:a16="http://schemas.microsoft.com/office/drawing/2014/main" id="{8D2D6D18-3D4F-2789-2367-5B77242E2AAF}"/>
              </a:ext>
            </a:extLst>
          </p:cNvPr>
          <p:cNvSpPr/>
          <p:nvPr/>
        </p:nvSpPr>
        <p:spPr>
          <a:xfrm>
            <a:off x="250546" y="4467759"/>
            <a:ext cx="629107" cy="590702"/>
          </a:xfrm>
          <a:prstGeom prst="rect">
            <a:avLst/>
          </a:prstGeom>
          <a:solidFill>
            <a:srgbClr val="000080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0" descr="gen-dedup-57ee6a1f0d650d3a975db06a8ec6cc96.png">
            <a:extLst>
              <a:ext uri="{FF2B5EF4-FFF2-40B4-BE49-F238E27FC236}">
                <a16:creationId xmlns:a16="http://schemas.microsoft.com/office/drawing/2014/main" id="{EFCF0412-E908-C7BF-BC55-BAE05E0EE49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-6250" b="-6250"/>
          <a:stretch/>
        </p:blipFill>
        <p:spPr>
          <a:xfrm>
            <a:off x="381305" y="1047902"/>
            <a:ext cx="381305" cy="381305"/>
          </a:xfrm>
          <a:prstGeom prst="rect">
            <a:avLst/>
          </a:prstGeom>
        </p:spPr>
      </p:pic>
      <p:sp>
        <p:nvSpPr>
          <p:cNvPr id="30" name="Text 5">
            <a:extLst>
              <a:ext uri="{FF2B5EF4-FFF2-40B4-BE49-F238E27FC236}">
                <a16:creationId xmlns:a16="http://schemas.microsoft.com/office/drawing/2014/main" id="{7AAA51FF-B4B2-0FFB-7A35-7798244C584C}"/>
              </a:ext>
            </a:extLst>
          </p:cNvPr>
          <p:cNvSpPr txBox="1"/>
          <p:nvPr/>
        </p:nvSpPr>
        <p:spPr>
          <a:xfrm>
            <a:off x="269748" y="1485900"/>
            <a:ext cx="609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내 컴퓨터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184DF3B7-FDCE-FAA3-5633-C68B5A2B905F}"/>
              </a:ext>
            </a:extLst>
          </p:cNvPr>
          <p:cNvSpPr txBox="1"/>
          <p:nvPr/>
        </p:nvSpPr>
        <p:spPr>
          <a:xfrm>
            <a:off x="226771" y="2391156"/>
            <a:ext cx="695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포트폴리오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2" descr="gen-dedup-313e4be3ff4060006731241b7cc55ba4.png">
            <a:extLst>
              <a:ext uri="{FF2B5EF4-FFF2-40B4-BE49-F238E27FC236}">
                <a16:creationId xmlns:a16="http://schemas.microsoft.com/office/drawing/2014/main" id="{728E10CD-CA85-D2DB-FF94-BE9BBB734443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381305" y="2809951"/>
            <a:ext cx="381305" cy="381305"/>
          </a:xfrm>
          <a:prstGeom prst="rect">
            <a:avLst/>
          </a:prstGeom>
        </p:spPr>
      </p:pic>
      <p:sp>
        <p:nvSpPr>
          <p:cNvPr id="33" name="Text 7">
            <a:extLst>
              <a:ext uri="{FF2B5EF4-FFF2-40B4-BE49-F238E27FC236}">
                <a16:creationId xmlns:a16="http://schemas.microsoft.com/office/drawing/2014/main" id="{F7A0DC63-18A1-C8DD-A968-4357801E6074}"/>
              </a:ext>
            </a:extLst>
          </p:cNvPr>
          <p:cNvSpPr txBox="1"/>
          <p:nvPr/>
        </p:nvSpPr>
        <p:spPr>
          <a:xfrm>
            <a:off x="419710" y="3191256"/>
            <a:ext cx="342900" cy="24780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tIns="25400" rIns="381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목차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4" name="Image 3" descr="gen-dedup-ef6105ed2e63baeb37694681937bef0b.png">
            <a:extLst>
              <a:ext uri="{FF2B5EF4-FFF2-40B4-BE49-F238E27FC236}">
                <a16:creationId xmlns:a16="http://schemas.microsoft.com/office/drawing/2014/main" id="{A082A422-BE55-F011-2CC6-0BD13AAB9478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-7143" r="-7143"/>
          <a:stretch/>
        </p:blipFill>
        <p:spPr>
          <a:xfrm>
            <a:off x="381305" y="3715207"/>
            <a:ext cx="381305" cy="381305"/>
          </a:xfrm>
          <a:prstGeom prst="rect">
            <a:avLst/>
          </a:prstGeom>
        </p:spPr>
      </p:pic>
      <p:sp>
        <p:nvSpPr>
          <p:cNvPr id="35" name="Text 8">
            <a:extLst>
              <a:ext uri="{FF2B5EF4-FFF2-40B4-BE49-F238E27FC236}">
                <a16:creationId xmlns:a16="http://schemas.microsoft.com/office/drawing/2014/main" id="{5D9317CB-ACDF-B233-EDA4-3672C9C9401D}"/>
              </a:ext>
            </a:extLst>
          </p:cNvPr>
          <p:cNvSpPr txBox="1"/>
          <p:nvPr/>
        </p:nvSpPr>
        <p:spPr>
          <a:xfrm>
            <a:off x="349301" y="4153205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Image 4" descr="gen-dedup-9fdbec92b016124fd02e3850a5123f8c.png">
            <a:extLst>
              <a:ext uri="{FF2B5EF4-FFF2-40B4-BE49-F238E27FC236}">
                <a16:creationId xmlns:a16="http://schemas.microsoft.com/office/drawing/2014/main" id="{7E6D6121-5D76-57FF-25F6-6DE7C56EE4E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381305" y="4572000"/>
            <a:ext cx="381305" cy="381305"/>
          </a:xfrm>
          <a:prstGeom prst="rect">
            <a:avLst/>
          </a:prstGeom>
        </p:spPr>
      </p:pic>
      <p:sp>
        <p:nvSpPr>
          <p:cNvPr id="37" name="Text 9">
            <a:extLst>
              <a:ext uri="{FF2B5EF4-FFF2-40B4-BE49-F238E27FC236}">
                <a16:creationId xmlns:a16="http://schemas.microsoft.com/office/drawing/2014/main" id="{A8EF988B-8A30-9D89-7D01-D210D2C0B7B7}"/>
              </a:ext>
            </a:extLst>
          </p:cNvPr>
          <p:cNvSpPr txBox="1"/>
          <p:nvPr/>
        </p:nvSpPr>
        <p:spPr>
          <a:xfrm>
            <a:off x="288036" y="5009998"/>
            <a:ext cx="571500" cy="2286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프로젝트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C763788-A732-CC21-1C1E-3C4A06882F74}"/>
              </a:ext>
            </a:extLst>
          </p:cNvPr>
          <p:cNvGrpSpPr/>
          <p:nvPr/>
        </p:nvGrpSpPr>
        <p:grpSpPr>
          <a:xfrm>
            <a:off x="342900" y="1904695"/>
            <a:ext cx="457200" cy="457200"/>
            <a:chOff x="342900" y="1904695"/>
            <a:chExt cx="457200" cy="457200"/>
          </a:xfrm>
        </p:grpSpPr>
        <p:pic>
          <p:nvPicPr>
            <p:cNvPr id="39" name="Image 1" descr="gen-dedup-36f1f1ccf4a0e8533d6290f10bde510b.png">
              <a:extLst>
                <a:ext uri="{FF2B5EF4-FFF2-40B4-BE49-F238E27FC236}">
                  <a16:creationId xmlns:a16="http://schemas.microsoft.com/office/drawing/2014/main" id="{D19DF641-2009-CA60-A812-FB2E4D8CF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rcRect/>
            <a:stretch/>
          </p:blipFill>
          <p:spPr>
            <a:xfrm>
              <a:off x="342900" y="1904695"/>
              <a:ext cx="457200" cy="457200"/>
            </a:xfrm>
            <a:prstGeom prst="rect">
              <a:avLst/>
            </a:prstGeom>
          </p:spPr>
        </p:pic>
        <p:pic>
          <p:nvPicPr>
            <p:cNvPr id="40" name="Image 5" descr="gen-dedup-72bd3513d2cf055f9eacb7e2be8dea4c.png">
              <a:extLst>
                <a:ext uri="{FF2B5EF4-FFF2-40B4-BE49-F238E27FC236}">
                  <a16:creationId xmlns:a16="http://schemas.microsoft.com/office/drawing/2014/main" id="{3CC83CE2-81A3-D033-46EA-9C7AD7E63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rcRect t="-12500" b="-12500"/>
            <a:stretch/>
          </p:blipFill>
          <p:spPr>
            <a:xfrm>
              <a:off x="437998" y="2038198"/>
              <a:ext cx="267005" cy="267005"/>
            </a:xfrm>
            <a:prstGeom prst="rect">
              <a:avLst/>
            </a:prstGeom>
          </p:spPr>
        </p:pic>
      </p:grpSp>
      <p:pic>
        <p:nvPicPr>
          <p:cNvPr id="41" name="Image 22" descr="gen-dedup-2302e8a913f082daf4055bce75fbff92.png">
            <a:extLst>
              <a:ext uri="{FF2B5EF4-FFF2-40B4-BE49-F238E27FC236}">
                <a16:creationId xmlns:a16="http://schemas.microsoft.com/office/drawing/2014/main" id="{D4457459-CEDB-FBC0-F26E-E26EE78F0221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3141575"/>
            <a:ext cx="137835" cy="148774"/>
          </a:xfrm>
          <a:prstGeom prst="rect">
            <a:avLst/>
          </a:prstGeom>
        </p:spPr>
      </p:pic>
      <p:sp>
        <p:nvSpPr>
          <p:cNvPr id="42" name="Text 55">
            <a:extLst>
              <a:ext uri="{FF2B5EF4-FFF2-40B4-BE49-F238E27FC236}">
                <a16:creationId xmlns:a16="http://schemas.microsoft.com/office/drawing/2014/main" id="{156B8AB8-E0C1-DC86-9D04-EA2864B6EAFA}"/>
              </a:ext>
            </a:extLst>
          </p:cNvPr>
          <p:cNvSpPr txBox="1"/>
          <p:nvPr/>
        </p:nvSpPr>
        <p:spPr>
          <a:xfrm>
            <a:off x="2280602" y="3391468"/>
            <a:ext cx="1081917" cy="15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World First Kill</a:t>
            </a:r>
          </a:p>
        </p:txBody>
      </p:sp>
      <p:sp>
        <p:nvSpPr>
          <p:cNvPr id="44" name="Text 55">
            <a:extLst>
              <a:ext uri="{FF2B5EF4-FFF2-40B4-BE49-F238E27FC236}">
                <a16:creationId xmlns:a16="http://schemas.microsoft.com/office/drawing/2014/main" id="{10548B94-AED8-2DE4-5428-A123E913F333}"/>
              </a:ext>
            </a:extLst>
          </p:cNvPr>
          <p:cNvSpPr txBox="1"/>
          <p:nvPr/>
        </p:nvSpPr>
        <p:spPr>
          <a:xfrm>
            <a:off x="2280602" y="3653721"/>
            <a:ext cx="1081917" cy="15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기타 프로젝트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1" name="Image 18" descr="gen-dedup-ba01fa70a70d7d3a77dc83183451dc86.png">
            <a:extLst>
              <a:ext uri="{FF2B5EF4-FFF2-40B4-BE49-F238E27FC236}">
                <a16:creationId xmlns:a16="http://schemas.microsoft.com/office/drawing/2014/main" id="{168D4DC0-D96F-47D8-A951-BF723BC6F6FE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2090319" y="3674064"/>
            <a:ext cx="137504" cy="145772"/>
          </a:xfrm>
          <a:prstGeom prst="rect">
            <a:avLst/>
          </a:prstGeom>
        </p:spPr>
      </p:pic>
      <p:sp>
        <p:nvSpPr>
          <p:cNvPr id="128" name="Shape 13">
            <a:extLst>
              <a:ext uri="{FF2B5EF4-FFF2-40B4-BE49-F238E27FC236}">
                <a16:creationId xmlns:a16="http://schemas.microsoft.com/office/drawing/2014/main" id="{36D72771-AB84-453F-A32A-C18D7AE8830E}"/>
              </a:ext>
            </a:extLst>
          </p:cNvPr>
          <p:cNvSpPr/>
          <p:nvPr/>
        </p:nvSpPr>
        <p:spPr>
          <a:xfrm>
            <a:off x="3680571" y="1887359"/>
            <a:ext cx="3157094" cy="1877147"/>
          </a:xfrm>
          <a:prstGeom prst="rect">
            <a:avLst/>
          </a:prstGeom>
          <a:solidFill>
            <a:srgbClr val="E8E8E8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00" name="Image 22" descr="gen-dedup-2302e8a913f082daf4055bce75fbff92.png">
            <a:extLst>
              <a:ext uri="{FF2B5EF4-FFF2-40B4-BE49-F238E27FC236}">
                <a16:creationId xmlns:a16="http://schemas.microsoft.com/office/drawing/2014/main" id="{592BA0B1-5D85-49D8-942E-5D79358F39A9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3407820"/>
            <a:ext cx="137835" cy="148774"/>
          </a:xfrm>
          <a:prstGeom prst="rect">
            <a:avLst/>
          </a:prstGeom>
        </p:spPr>
      </p:pic>
      <p:pic>
        <p:nvPicPr>
          <p:cNvPr id="120" name="그림 119">
            <a:extLst>
              <a:ext uri="{FF2B5EF4-FFF2-40B4-BE49-F238E27FC236}">
                <a16:creationId xmlns:a16="http://schemas.microsoft.com/office/drawing/2014/main" id="{800B11E5-8EB0-484B-9C35-87C4FC7613F9}"/>
              </a:ext>
            </a:extLst>
          </p:cNvPr>
          <p:cNvPicPr>
            <a:picLocks noChangeAspect="1"/>
          </p:cNvPicPr>
          <p:nvPr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126" y="1984290"/>
            <a:ext cx="2855985" cy="1683284"/>
          </a:xfrm>
          <a:prstGeom prst="rect">
            <a:avLst/>
          </a:prstGeom>
        </p:spPr>
      </p:pic>
      <p:graphicFrame>
        <p:nvGraphicFramePr>
          <p:cNvPr id="121" name="Table 0">
            <a:extLst>
              <a:ext uri="{FF2B5EF4-FFF2-40B4-BE49-F238E27FC236}">
                <a16:creationId xmlns:a16="http://schemas.microsoft.com/office/drawing/2014/main" id="{A5A41744-44D6-437D-918E-F5C7CFB92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051962"/>
              </p:ext>
            </p:extLst>
          </p:nvPr>
        </p:nvGraphicFramePr>
        <p:xfrm>
          <a:off x="3680570" y="3813676"/>
          <a:ext cx="8130125" cy="1994426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4366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93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72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요약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Yacht dice </a:t>
                      </a:r>
                      <a:r>
                        <a:rPr lang="ko-KR" altLang="en-US" sz="1400" dirty="0"/>
                        <a:t>시스템과</a:t>
                      </a:r>
                      <a:r>
                        <a:rPr lang="en-US" altLang="ko-KR" sz="1400" dirty="0"/>
                        <a:t>, WWE </a:t>
                      </a:r>
                      <a:r>
                        <a:rPr lang="ko-KR" altLang="en-US" sz="1400" dirty="0"/>
                        <a:t>장르의 게임을 섞은 </a:t>
                      </a:r>
                      <a:r>
                        <a:rPr lang="en-US" altLang="ko-KR" sz="1400" dirty="0"/>
                        <a:t>TCG</a:t>
                      </a:r>
                      <a:r>
                        <a:rPr lang="ko-KR" altLang="en-US" sz="1400" dirty="0"/>
                        <a:t>게임</a:t>
                      </a:r>
                      <a:r>
                        <a:rPr lang="en-US" altLang="ko-KR" sz="1400" dirty="0"/>
                        <a:t> 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WWE </a:t>
                      </a:r>
                      <a:r>
                        <a:rPr lang="ko-KR" altLang="en-US" sz="1400" dirty="0"/>
                        <a:t>기술을 </a:t>
                      </a:r>
                      <a:r>
                        <a:rPr lang="en-US" altLang="ko-KR" sz="1400" dirty="0"/>
                        <a:t>Yacht</a:t>
                      </a:r>
                      <a:r>
                        <a:rPr lang="ko-KR" altLang="en-US" sz="1400" dirty="0"/>
                        <a:t>의 콤보와 결합하여 특정 콤보를 넣으면 호응 점수와</a:t>
                      </a:r>
                      <a:endParaRPr lang="en-US" altLang="ko-KR" sz="1400" dirty="0"/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보너스 데미지를 적에게 줄 수 있다</a:t>
                      </a:r>
                      <a:r>
                        <a:rPr lang="en-US" altLang="ko-KR" sz="1400" dirty="0"/>
                        <a:t>.</a:t>
                      </a: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72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역할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카드의 능력 상향이나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특수 능력을 가질 수 있는 유물 시스템</a:t>
                      </a:r>
                      <a:endParaRPr lang="en-US" altLang="ko-KR" sz="1400" dirty="0"/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카드 드로우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셋업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공격 시스템 </a:t>
                      </a:r>
                      <a:endParaRPr lang="en-US" altLang="ko-KR" sz="1400" dirty="0"/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유물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카드의 데이터 관리 및 적용 로직 </a:t>
                      </a:r>
                      <a:endParaRPr lang="en-US" altLang="ko-KR" sz="1400" dirty="0"/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전반적인 게임 시스템 전담</a:t>
                      </a: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1956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02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131" name="Shape 103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04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3" name="Shape 105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34" name="Shape 106"/>
          <p:cNvSpPr/>
          <p:nvPr/>
        </p:nvSpPr>
        <p:spPr>
          <a:xfrm>
            <a:off x="10477195" y="6534302"/>
            <a:ext cx="1619402" cy="267005"/>
          </a:xfrm>
          <a:prstGeom prst="rect">
            <a:avLst/>
          </a:prstGeom>
          <a:solidFill>
            <a:srgbClr val="C0C0C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135" name="Image 25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136" name="Text 107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7" name="Image 26" descr="gen-dedup-1027b540a23f27953c8b221c66837c2b.png"/>
          <p:cNvPicPr>
            <a:picLocks noChangeAspect="1"/>
          </p:cNvPicPr>
          <p:nvPr/>
        </p:nvPicPr>
        <p:blipFill>
          <a:blip r:embed="rId4"/>
          <a:srcRect t="-6250" b="-6250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138" name="Text 108"/>
          <p:cNvSpPr txBox="1"/>
          <p:nvPr/>
        </p:nvSpPr>
        <p:spPr>
          <a:xfrm>
            <a:off x="1238098" y="6577279"/>
            <a:ext cx="143743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탐색 중 - Projects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9" name="Image 27" descr="gen-dedup-7740a029182e5c65b65e33d2aaed94e2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10573207" y="6590995"/>
            <a:ext cx="152705" cy="152705"/>
          </a:xfrm>
          <a:prstGeom prst="rect">
            <a:avLst/>
          </a:prstGeom>
        </p:spPr>
      </p:pic>
      <p:sp>
        <p:nvSpPr>
          <p:cNvPr id="140" name="Text 109"/>
          <p:cNvSpPr txBox="1"/>
          <p:nvPr/>
        </p:nvSpPr>
        <p:spPr>
          <a:xfrm>
            <a:off x="11124590" y="6590995"/>
            <a:ext cx="7260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10:00 AM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Shape 10">
            <a:extLst>
              <a:ext uri="{FF2B5EF4-FFF2-40B4-BE49-F238E27FC236}">
                <a16:creationId xmlns:a16="http://schemas.microsoft.com/office/drawing/2014/main" id="{14A75B8D-58B7-472B-BBE7-FDD8817C001B}"/>
              </a:ext>
            </a:extLst>
          </p:cNvPr>
          <p:cNvSpPr/>
          <p:nvPr/>
        </p:nvSpPr>
        <p:spPr>
          <a:xfrm>
            <a:off x="1044001" y="108001"/>
            <a:ext cx="10890197" cy="6084503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4" name="Shape 11">
            <a:extLst>
              <a:ext uri="{FF2B5EF4-FFF2-40B4-BE49-F238E27FC236}">
                <a16:creationId xmlns:a16="http://schemas.microsoft.com/office/drawing/2014/main" id="{71A388DE-101E-4470-BFD4-A6A63EA671A5}"/>
              </a:ext>
            </a:extLst>
          </p:cNvPr>
          <p:cNvSpPr/>
          <p:nvPr/>
        </p:nvSpPr>
        <p:spPr>
          <a:xfrm>
            <a:off x="1063780" y="128969"/>
            <a:ext cx="10850641" cy="291545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5" name="Image 5" descr="gen-dedup-23665c0bc8193eed4b19e05b81a508d3.png">
            <a:extLst>
              <a:ext uri="{FF2B5EF4-FFF2-40B4-BE49-F238E27FC236}">
                <a16:creationId xmlns:a16="http://schemas.microsoft.com/office/drawing/2014/main" id="{2293A2AB-329A-4D4D-A2B3-1C7504C127F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063780" y="670124"/>
            <a:ext cx="10850641" cy="41935"/>
          </a:xfrm>
          <a:prstGeom prst="rect">
            <a:avLst/>
          </a:prstGeom>
        </p:spPr>
      </p:pic>
      <p:sp>
        <p:nvSpPr>
          <p:cNvPr id="106" name="Shape 12">
            <a:extLst>
              <a:ext uri="{FF2B5EF4-FFF2-40B4-BE49-F238E27FC236}">
                <a16:creationId xmlns:a16="http://schemas.microsoft.com/office/drawing/2014/main" id="{BF7862CB-A48A-41ED-BB49-4572C79D2442}"/>
              </a:ext>
            </a:extLst>
          </p:cNvPr>
          <p:cNvSpPr/>
          <p:nvPr/>
        </p:nvSpPr>
        <p:spPr>
          <a:xfrm>
            <a:off x="1063780" y="691091"/>
            <a:ext cx="10850641" cy="41635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7" name="Image 6" descr="gen-dedup-23665c0bc8193eed4b19e05b81a508d3.png">
            <a:extLst>
              <a:ext uri="{FF2B5EF4-FFF2-40B4-BE49-F238E27FC236}">
                <a16:creationId xmlns:a16="http://schemas.microsoft.com/office/drawing/2014/main" id="{20ABEAB4-CC5E-4191-B75F-C98135769AD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063780" y="1106443"/>
            <a:ext cx="10850641" cy="41935"/>
          </a:xfrm>
          <a:prstGeom prst="rect">
            <a:avLst/>
          </a:prstGeom>
        </p:spPr>
      </p:pic>
      <p:sp>
        <p:nvSpPr>
          <p:cNvPr id="108" name="Shape 13">
            <a:extLst>
              <a:ext uri="{FF2B5EF4-FFF2-40B4-BE49-F238E27FC236}">
                <a16:creationId xmlns:a16="http://schemas.microsoft.com/office/drawing/2014/main" id="{778C56FF-CFDC-45C0-B015-6894EB626093}"/>
              </a:ext>
            </a:extLst>
          </p:cNvPr>
          <p:cNvSpPr/>
          <p:nvPr/>
        </p:nvSpPr>
        <p:spPr>
          <a:xfrm>
            <a:off x="1063780" y="1127410"/>
            <a:ext cx="10850641" cy="332481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9" name="Image 7" descr="gen-dedup-23665c0bc8193eed4b19e05b81a508d3.png">
            <a:extLst>
              <a:ext uri="{FF2B5EF4-FFF2-40B4-BE49-F238E27FC236}">
                <a16:creationId xmlns:a16="http://schemas.microsoft.com/office/drawing/2014/main" id="{8EAD3060-1BC9-4720-89D3-B2F118FDED5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063780" y="1459891"/>
            <a:ext cx="10850641" cy="41935"/>
          </a:xfrm>
          <a:prstGeom prst="rect">
            <a:avLst/>
          </a:prstGeom>
        </p:spPr>
      </p:pic>
      <p:sp>
        <p:nvSpPr>
          <p:cNvPr id="110" name="Shape 14">
            <a:extLst>
              <a:ext uri="{FF2B5EF4-FFF2-40B4-BE49-F238E27FC236}">
                <a16:creationId xmlns:a16="http://schemas.microsoft.com/office/drawing/2014/main" id="{42389CBE-477E-4B1E-A4DE-6467CBB7EFEB}"/>
              </a:ext>
            </a:extLst>
          </p:cNvPr>
          <p:cNvSpPr/>
          <p:nvPr/>
        </p:nvSpPr>
        <p:spPr>
          <a:xfrm>
            <a:off x="1083557" y="1501826"/>
            <a:ext cx="2452485" cy="4368182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11" name="Shape 15">
            <a:extLst>
              <a:ext uri="{FF2B5EF4-FFF2-40B4-BE49-F238E27FC236}">
                <a16:creationId xmlns:a16="http://schemas.microsoft.com/office/drawing/2014/main" id="{C21C50EE-23E3-464C-A24A-63BA82DF84D4}"/>
              </a:ext>
            </a:extLst>
          </p:cNvPr>
          <p:cNvSpPr/>
          <p:nvPr/>
        </p:nvSpPr>
        <p:spPr>
          <a:xfrm>
            <a:off x="3595376" y="1501826"/>
            <a:ext cx="8300208" cy="4368182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12" name="Shape 16">
            <a:extLst>
              <a:ext uri="{FF2B5EF4-FFF2-40B4-BE49-F238E27FC236}">
                <a16:creationId xmlns:a16="http://schemas.microsoft.com/office/drawing/2014/main" id="{F20FF41E-0C07-442E-8C60-91349F8FAB6F}"/>
              </a:ext>
            </a:extLst>
          </p:cNvPr>
          <p:cNvSpPr/>
          <p:nvPr/>
        </p:nvSpPr>
        <p:spPr>
          <a:xfrm>
            <a:off x="1063780" y="5890974"/>
            <a:ext cx="10850641" cy="27057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3" name="Shape 17">
            <a:extLst>
              <a:ext uri="{FF2B5EF4-FFF2-40B4-BE49-F238E27FC236}">
                <a16:creationId xmlns:a16="http://schemas.microsoft.com/office/drawing/2014/main" id="{91B29A68-FFAE-4CAE-892D-A568DC5821A1}"/>
              </a:ext>
            </a:extLst>
          </p:cNvPr>
          <p:cNvSpPr/>
          <p:nvPr/>
        </p:nvSpPr>
        <p:spPr>
          <a:xfrm>
            <a:off x="11070555" y="159920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4" name="Shape 18">
            <a:extLst>
              <a:ext uri="{FF2B5EF4-FFF2-40B4-BE49-F238E27FC236}">
                <a16:creationId xmlns:a16="http://schemas.microsoft.com/office/drawing/2014/main" id="{5ED4C68E-2927-4286-A306-85C476D8C2C7}"/>
              </a:ext>
            </a:extLst>
          </p:cNvPr>
          <p:cNvSpPr/>
          <p:nvPr/>
        </p:nvSpPr>
        <p:spPr>
          <a:xfrm>
            <a:off x="11365343" y="159920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5" name="Shape 19">
            <a:extLst>
              <a:ext uri="{FF2B5EF4-FFF2-40B4-BE49-F238E27FC236}">
                <a16:creationId xmlns:a16="http://schemas.microsoft.com/office/drawing/2014/main" id="{629F123C-82EE-47C3-9DC8-E100143135E9}"/>
              </a:ext>
            </a:extLst>
          </p:cNvPr>
          <p:cNvSpPr/>
          <p:nvPr/>
        </p:nvSpPr>
        <p:spPr>
          <a:xfrm>
            <a:off x="11659189" y="159920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6" name="Text 20">
            <a:extLst>
              <a:ext uri="{FF2B5EF4-FFF2-40B4-BE49-F238E27FC236}">
                <a16:creationId xmlns:a16="http://schemas.microsoft.com/office/drawing/2014/main" id="{299A98B0-9D78-41C5-8B65-6BDFCC859999}"/>
              </a:ext>
            </a:extLst>
          </p:cNvPr>
          <p:cNvSpPr txBox="1"/>
          <p:nvPr/>
        </p:nvSpPr>
        <p:spPr>
          <a:xfrm>
            <a:off x="1100101" y="446473"/>
            <a:ext cx="2908322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파일(F)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편집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(E)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보기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(V)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도구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(T)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도움말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(H)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Shape 21">
            <a:extLst>
              <a:ext uri="{FF2B5EF4-FFF2-40B4-BE49-F238E27FC236}">
                <a16:creationId xmlns:a16="http://schemas.microsoft.com/office/drawing/2014/main" id="{BA430CC0-BC0A-472A-9F4E-CEDB0A52E19C}"/>
              </a:ext>
            </a:extLst>
          </p:cNvPr>
          <p:cNvSpPr/>
          <p:nvPr/>
        </p:nvSpPr>
        <p:spPr>
          <a:xfrm>
            <a:off x="1142891" y="743010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8" name="Shape 22">
            <a:extLst>
              <a:ext uri="{FF2B5EF4-FFF2-40B4-BE49-F238E27FC236}">
                <a16:creationId xmlns:a16="http://schemas.microsoft.com/office/drawing/2014/main" id="{D0F1BAB3-55DD-4B90-9514-6377C02A9076}"/>
              </a:ext>
            </a:extLst>
          </p:cNvPr>
          <p:cNvSpPr/>
          <p:nvPr/>
        </p:nvSpPr>
        <p:spPr>
          <a:xfrm>
            <a:off x="1485712" y="743010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9" name="Shape 23">
            <a:extLst>
              <a:ext uri="{FF2B5EF4-FFF2-40B4-BE49-F238E27FC236}">
                <a16:creationId xmlns:a16="http://schemas.microsoft.com/office/drawing/2014/main" id="{413C9993-835C-4DCE-99EE-1A4B19C69446}"/>
              </a:ext>
            </a:extLst>
          </p:cNvPr>
          <p:cNvSpPr/>
          <p:nvPr/>
        </p:nvSpPr>
        <p:spPr>
          <a:xfrm>
            <a:off x="1829474" y="743010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22" name="Shape 25">
            <a:extLst>
              <a:ext uri="{FF2B5EF4-FFF2-40B4-BE49-F238E27FC236}">
                <a16:creationId xmlns:a16="http://schemas.microsoft.com/office/drawing/2014/main" id="{F3567888-8960-4D67-8893-94ED42CC31E1}"/>
              </a:ext>
            </a:extLst>
          </p:cNvPr>
          <p:cNvSpPr/>
          <p:nvPr/>
        </p:nvSpPr>
        <p:spPr>
          <a:xfrm>
            <a:off x="1731525" y="1169345"/>
            <a:ext cx="9320193" cy="249610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23" name="Shape 26">
            <a:extLst>
              <a:ext uri="{FF2B5EF4-FFF2-40B4-BE49-F238E27FC236}">
                <a16:creationId xmlns:a16="http://schemas.microsoft.com/office/drawing/2014/main" id="{F9BE2189-0E78-419A-8C1A-57E458CD3185}"/>
              </a:ext>
            </a:extLst>
          </p:cNvPr>
          <p:cNvSpPr/>
          <p:nvPr/>
        </p:nvSpPr>
        <p:spPr>
          <a:xfrm>
            <a:off x="11149667" y="1148377"/>
            <a:ext cx="686583" cy="27057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4" name="Shape 27">
            <a:extLst>
              <a:ext uri="{FF2B5EF4-FFF2-40B4-BE49-F238E27FC236}">
                <a16:creationId xmlns:a16="http://schemas.microsoft.com/office/drawing/2014/main" id="{3BF4B2C6-B1E4-4F82-81A6-F664E976AAD4}"/>
              </a:ext>
            </a:extLst>
          </p:cNvPr>
          <p:cNvSpPr/>
          <p:nvPr/>
        </p:nvSpPr>
        <p:spPr>
          <a:xfrm>
            <a:off x="3359922" y="1522793"/>
            <a:ext cx="166701" cy="4326247"/>
          </a:xfrm>
          <a:prstGeom prst="rect">
            <a:avLst/>
          </a:prstGeom>
          <a:solidFill>
            <a:srgbClr val="DFDFDF"/>
          </a:solidFill>
          <a:ln/>
        </p:spPr>
      </p:sp>
      <p:sp>
        <p:nvSpPr>
          <p:cNvPr id="125" name="Shape 28">
            <a:extLst>
              <a:ext uri="{FF2B5EF4-FFF2-40B4-BE49-F238E27FC236}">
                <a16:creationId xmlns:a16="http://schemas.microsoft.com/office/drawing/2014/main" id="{D31BEC5E-DE7B-485B-92B6-010A35214FB6}"/>
              </a:ext>
            </a:extLst>
          </p:cNvPr>
          <p:cNvSpPr/>
          <p:nvPr/>
        </p:nvSpPr>
        <p:spPr>
          <a:xfrm>
            <a:off x="3359922" y="1522793"/>
            <a:ext cx="9418" cy="4326247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>
                <a:alpha val="0"/>
              </a:srgbClr>
            </a:solidFill>
            <a:prstDash val="solid"/>
          </a:ln>
        </p:spPr>
      </p:sp>
      <p:sp>
        <p:nvSpPr>
          <p:cNvPr id="127" name="Shape 30">
            <a:extLst>
              <a:ext uri="{FF2B5EF4-FFF2-40B4-BE49-F238E27FC236}">
                <a16:creationId xmlns:a16="http://schemas.microsoft.com/office/drawing/2014/main" id="{916FC1B2-F896-4360-AE9D-1DA7A8004F60}"/>
              </a:ext>
            </a:extLst>
          </p:cNvPr>
          <p:cNvSpPr/>
          <p:nvPr/>
        </p:nvSpPr>
        <p:spPr>
          <a:xfrm>
            <a:off x="1083557" y="5932909"/>
            <a:ext cx="2452485" cy="187707"/>
          </a:xfrm>
          <a:prstGeom prst="rect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141" name="Shape 31">
            <a:extLst>
              <a:ext uri="{FF2B5EF4-FFF2-40B4-BE49-F238E27FC236}">
                <a16:creationId xmlns:a16="http://schemas.microsoft.com/office/drawing/2014/main" id="{91123D67-B5E3-49E4-99D0-DFCAAC3F8CCA}"/>
              </a:ext>
            </a:extLst>
          </p:cNvPr>
          <p:cNvSpPr/>
          <p:nvPr/>
        </p:nvSpPr>
        <p:spPr>
          <a:xfrm>
            <a:off x="3555820" y="5932909"/>
            <a:ext cx="8338823" cy="187707"/>
          </a:xfrm>
          <a:prstGeom prst="rect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142" name="Shape 32">
            <a:extLst>
              <a:ext uri="{FF2B5EF4-FFF2-40B4-BE49-F238E27FC236}">
                <a16:creationId xmlns:a16="http://schemas.microsoft.com/office/drawing/2014/main" id="{354B1A02-7FFC-47B5-9696-E585EB5A9885}"/>
              </a:ext>
            </a:extLst>
          </p:cNvPr>
          <p:cNvSpPr/>
          <p:nvPr/>
        </p:nvSpPr>
        <p:spPr>
          <a:xfrm>
            <a:off x="3359922" y="1522793"/>
            <a:ext cx="157283" cy="16674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5" name="Shape 33">
            <a:extLst>
              <a:ext uri="{FF2B5EF4-FFF2-40B4-BE49-F238E27FC236}">
                <a16:creationId xmlns:a16="http://schemas.microsoft.com/office/drawing/2014/main" id="{DA473C0B-5729-4FD8-AD5B-3C1C059BA00F}"/>
              </a:ext>
            </a:extLst>
          </p:cNvPr>
          <p:cNvSpPr/>
          <p:nvPr/>
        </p:nvSpPr>
        <p:spPr>
          <a:xfrm>
            <a:off x="3359922" y="1689533"/>
            <a:ext cx="157283" cy="831702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6" name="Shape 34">
            <a:extLst>
              <a:ext uri="{FF2B5EF4-FFF2-40B4-BE49-F238E27FC236}">
                <a16:creationId xmlns:a16="http://schemas.microsoft.com/office/drawing/2014/main" id="{A4F36E1F-4507-4CC5-9346-4FBE0AD7F22F}"/>
              </a:ext>
            </a:extLst>
          </p:cNvPr>
          <p:cNvSpPr/>
          <p:nvPr/>
        </p:nvSpPr>
        <p:spPr>
          <a:xfrm>
            <a:off x="3359922" y="5683299"/>
            <a:ext cx="157283" cy="16674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8" name="Image 8" descr="gen-dedup-7c02ed4669765158cb6410457d6288f7.png">
            <a:extLst>
              <a:ext uri="{FF2B5EF4-FFF2-40B4-BE49-F238E27FC236}">
                <a16:creationId xmlns:a16="http://schemas.microsoft.com/office/drawing/2014/main" id="{2665EC4D-B367-4232-8285-18D4141E819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6250" b="-6250"/>
          <a:stretch/>
        </p:blipFill>
        <p:spPr>
          <a:xfrm>
            <a:off x="1123114" y="191871"/>
            <a:ext cx="157283" cy="166740"/>
          </a:xfrm>
          <a:prstGeom prst="rect">
            <a:avLst/>
          </a:prstGeom>
        </p:spPr>
      </p:pic>
      <p:sp>
        <p:nvSpPr>
          <p:cNvPr id="149" name="Text 36">
            <a:extLst>
              <a:ext uri="{FF2B5EF4-FFF2-40B4-BE49-F238E27FC236}">
                <a16:creationId xmlns:a16="http://schemas.microsoft.com/office/drawing/2014/main" id="{E428AE1F-5E2A-45BC-8AD2-EAAD85DE2C03}"/>
              </a:ext>
            </a:extLst>
          </p:cNvPr>
          <p:cNvSpPr txBox="1"/>
          <p:nvPr/>
        </p:nvSpPr>
        <p:spPr>
          <a:xfrm>
            <a:off x="1387763" y="170904"/>
            <a:ext cx="1594491" cy="20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탐색 중 - Projects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Text 37">
            <a:extLst>
              <a:ext uri="{FF2B5EF4-FFF2-40B4-BE49-F238E27FC236}">
                <a16:creationId xmlns:a16="http://schemas.microsoft.com/office/drawing/2014/main" id="{B62B1CCF-70A3-4E76-BC3F-82C5DF2D170C}"/>
              </a:ext>
            </a:extLst>
          </p:cNvPr>
          <p:cNvSpPr txBox="1"/>
          <p:nvPr/>
        </p:nvSpPr>
        <p:spPr>
          <a:xfrm>
            <a:off x="11138365" y="185880"/>
            <a:ext cx="83822" cy="14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_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1" name="Shape 38">
            <a:extLst>
              <a:ext uri="{FF2B5EF4-FFF2-40B4-BE49-F238E27FC236}">
                <a16:creationId xmlns:a16="http://schemas.microsoft.com/office/drawing/2014/main" id="{D76E0BCC-364D-4EE0-BC3A-3858A77A42F3}"/>
              </a:ext>
            </a:extLst>
          </p:cNvPr>
          <p:cNvSpPr/>
          <p:nvPr/>
        </p:nvSpPr>
        <p:spPr>
          <a:xfrm>
            <a:off x="11414317" y="206847"/>
            <a:ext cx="117727" cy="13479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52" name="Shape 39">
            <a:extLst>
              <a:ext uri="{FF2B5EF4-FFF2-40B4-BE49-F238E27FC236}">
                <a16:creationId xmlns:a16="http://schemas.microsoft.com/office/drawing/2014/main" id="{B2824EFA-3C56-436D-9EF5-EACB833A8EB2}"/>
              </a:ext>
            </a:extLst>
          </p:cNvPr>
          <p:cNvSpPr/>
          <p:nvPr/>
        </p:nvSpPr>
        <p:spPr>
          <a:xfrm>
            <a:off x="11414317" y="206847"/>
            <a:ext cx="117727" cy="20967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Text 40">
            <a:extLst>
              <a:ext uri="{FF2B5EF4-FFF2-40B4-BE49-F238E27FC236}">
                <a16:creationId xmlns:a16="http://schemas.microsoft.com/office/drawing/2014/main" id="{73B04141-7F29-472D-BF63-5B332765C610}"/>
              </a:ext>
            </a:extLst>
          </p:cNvPr>
          <p:cNvSpPr txBox="1"/>
          <p:nvPr/>
        </p:nvSpPr>
        <p:spPr>
          <a:xfrm>
            <a:off x="11727941" y="201855"/>
            <a:ext cx="88531" cy="14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8" name="Image 9" descr="gen-dedup-25afa46a09582202a40d6f31fc2ccf91.png">
            <a:extLst>
              <a:ext uri="{FF2B5EF4-FFF2-40B4-BE49-F238E27FC236}">
                <a16:creationId xmlns:a16="http://schemas.microsoft.com/office/drawing/2014/main" id="{6D3A70D4-DA94-488E-BECC-BF8D28E4351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1210702" y="815896"/>
            <a:ext cx="157283" cy="166740"/>
          </a:xfrm>
          <a:prstGeom prst="rect">
            <a:avLst/>
          </a:prstGeom>
        </p:spPr>
      </p:pic>
      <p:pic>
        <p:nvPicPr>
          <p:cNvPr id="159" name="Image 10" descr="gen-dedup-53d8cb32c6720cdad62ecd3793163a86.png">
            <a:extLst>
              <a:ext uri="{FF2B5EF4-FFF2-40B4-BE49-F238E27FC236}">
                <a16:creationId xmlns:a16="http://schemas.microsoft.com/office/drawing/2014/main" id="{38CE9DD8-4C0F-46DC-B9A0-EA21C7095C9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7143" r="-7143"/>
          <a:stretch/>
        </p:blipFill>
        <p:spPr>
          <a:xfrm>
            <a:off x="1554464" y="815896"/>
            <a:ext cx="157283" cy="166740"/>
          </a:xfrm>
          <a:prstGeom prst="rect">
            <a:avLst/>
          </a:prstGeom>
        </p:spPr>
      </p:pic>
      <p:pic>
        <p:nvPicPr>
          <p:cNvPr id="160" name="Image 11" descr="gen-dedup-fa17d56a867348b02c8a56abf7174658.png">
            <a:extLst>
              <a:ext uri="{FF2B5EF4-FFF2-40B4-BE49-F238E27FC236}">
                <a16:creationId xmlns:a16="http://schemas.microsoft.com/office/drawing/2014/main" id="{922B725B-A15E-4516-BFD5-E5CBF5F3301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16666" r="-16666"/>
          <a:stretch/>
        </p:blipFill>
        <p:spPr>
          <a:xfrm>
            <a:off x="1898227" y="815896"/>
            <a:ext cx="157283" cy="166740"/>
          </a:xfrm>
          <a:prstGeom prst="rect">
            <a:avLst/>
          </a:prstGeom>
        </p:spPr>
      </p:pic>
      <p:pic>
        <p:nvPicPr>
          <p:cNvPr id="161" name="Image 12" descr="gen-dedup-013b38688217c28f0315b66cc4dba47b.png">
            <a:extLst>
              <a:ext uri="{FF2B5EF4-FFF2-40B4-BE49-F238E27FC236}">
                <a16:creationId xmlns:a16="http://schemas.microsoft.com/office/drawing/2014/main" id="{D017ADA0-79CA-457C-8D33-D4231577065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2418108" y="815896"/>
            <a:ext cx="157283" cy="166740"/>
          </a:xfrm>
          <a:prstGeom prst="rect">
            <a:avLst/>
          </a:prstGeom>
        </p:spPr>
      </p:pic>
      <p:pic>
        <p:nvPicPr>
          <p:cNvPr id="162" name="Image 13" descr="gen-dedup-3408d1960989eaff15e10127b414fcf2.png">
            <a:extLst>
              <a:ext uri="{FF2B5EF4-FFF2-40B4-BE49-F238E27FC236}">
                <a16:creationId xmlns:a16="http://schemas.microsoft.com/office/drawing/2014/main" id="{99A1AEF4-E23A-47B4-A49D-1A8A656F8CA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7143" r="-7143"/>
          <a:stretch/>
        </p:blipFill>
        <p:spPr>
          <a:xfrm>
            <a:off x="2711955" y="815896"/>
            <a:ext cx="157283" cy="166740"/>
          </a:xfrm>
          <a:prstGeom prst="rect">
            <a:avLst/>
          </a:prstGeom>
        </p:spPr>
      </p:pic>
      <p:pic>
        <p:nvPicPr>
          <p:cNvPr id="163" name="Image 14" descr="gen-dedup-6e9e672aa626b1edf6db8640b2821839.png">
            <a:extLst>
              <a:ext uri="{FF2B5EF4-FFF2-40B4-BE49-F238E27FC236}">
                <a16:creationId xmlns:a16="http://schemas.microsoft.com/office/drawing/2014/main" id="{C9550F90-0E01-4893-B835-77A2FB3C1F4E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3006742" y="815896"/>
            <a:ext cx="157283" cy="166740"/>
          </a:xfrm>
          <a:prstGeom prst="rect">
            <a:avLst/>
          </a:prstGeom>
        </p:spPr>
      </p:pic>
      <p:sp>
        <p:nvSpPr>
          <p:cNvPr id="164" name="Text 41">
            <a:extLst>
              <a:ext uri="{FF2B5EF4-FFF2-40B4-BE49-F238E27FC236}">
                <a16:creationId xmlns:a16="http://schemas.microsoft.com/office/drawing/2014/main" id="{0762294A-6332-409C-A4B5-45E26B375792}"/>
              </a:ext>
            </a:extLst>
          </p:cNvPr>
          <p:cNvSpPr txBox="1"/>
          <p:nvPr/>
        </p:nvSpPr>
        <p:spPr>
          <a:xfrm>
            <a:off x="1142891" y="1195304"/>
            <a:ext cx="536834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주소(D)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5" name="Image 15" descr="gen-dedup-7c02ed4669765158cb6410457d6288f7.png">
            <a:extLst>
              <a:ext uri="{FF2B5EF4-FFF2-40B4-BE49-F238E27FC236}">
                <a16:creationId xmlns:a16="http://schemas.microsoft.com/office/drawing/2014/main" id="{239474F9-BA3C-417F-8CE0-5EE537895D3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6250" b="-6250"/>
          <a:stretch/>
        </p:blipFill>
        <p:spPr>
          <a:xfrm>
            <a:off x="1780500" y="1210281"/>
            <a:ext cx="157283" cy="166740"/>
          </a:xfrm>
          <a:prstGeom prst="rect">
            <a:avLst/>
          </a:prstGeom>
        </p:spPr>
      </p:pic>
      <p:sp>
        <p:nvSpPr>
          <p:cNvPr id="166" name="Text 42">
            <a:extLst>
              <a:ext uri="{FF2B5EF4-FFF2-40B4-BE49-F238E27FC236}">
                <a16:creationId xmlns:a16="http://schemas.microsoft.com/office/drawing/2014/main" id="{2A6B50A8-5D43-45FB-875F-B4B2E68A3195}"/>
              </a:ext>
            </a:extLst>
          </p:cNvPr>
          <p:cNvSpPr txBox="1"/>
          <p:nvPr/>
        </p:nvSpPr>
        <p:spPr>
          <a:xfrm>
            <a:off x="2025372" y="1216271"/>
            <a:ext cx="3451503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C:\Portfolio\Projects\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기타 프로젝트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\</a:t>
            </a:r>
            <a:r>
              <a:rPr lang="en-US" altLang="ko-KR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Hey!</a:t>
            </a:r>
            <a:r>
              <a:rPr lang="ko-KR" altLang="en-US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HoneyBee</a:t>
            </a:r>
            <a:r>
              <a:rPr lang="en-US" altLang="ko-KR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!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7" name="Text 43">
            <a:extLst>
              <a:ext uri="{FF2B5EF4-FFF2-40B4-BE49-F238E27FC236}">
                <a16:creationId xmlns:a16="http://schemas.microsoft.com/office/drawing/2014/main" id="{8C4F7CE9-8270-4468-851B-DDF88A52F141}"/>
              </a:ext>
            </a:extLst>
          </p:cNvPr>
          <p:cNvSpPr txBox="1"/>
          <p:nvPr/>
        </p:nvSpPr>
        <p:spPr>
          <a:xfrm>
            <a:off x="11384179" y="1195304"/>
            <a:ext cx="244872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이동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8" name="Text 44">
            <a:extLst>
              <a:ext uri="{FF2B5EF4-FFF2-40B4-BE49-F238E27FC236}">
                <a16:creationId xmlns:a16="http://schemas.microsoft.com/office/drawing/2014/main" id="{16B13CC4-BA5A-44FF-8E47-E60E04A8820A}"/>
              </a:ext>
            </a:extLst>
          </p:cNvPr>
          <p:cNvSpPr txBox="1"/>
          <p:nvPr/>
        </p:nvSpPr>
        <p:spPr>
          <a:xfrm>
            <a:off x="1142891" y="1600671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9" name="Image 16" descr="gen-dedup-71f3cd3c0f5149b77a7c51df2d1a7eab.png">
            <a:extLst>
              <a:ext uri="{FF2B5EF4-FFF2-40B4-BE49-F238E27FC236}">
                <a16:creationId xmlns:a16="http://schemas.microsoft.com/office/drawing/2014/main" id="{5722AD78-CE8C-4097-B8F2-1C40233E278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6250" b="-6250"/>
          <a:stretch/>
        </p:blipFill>
        <p:spPr>
          <a:xfrm>
            <a:off x="1309593" y="1590687"/>
            <a:ext cx="137504" cy="145772"/>
          </a:xfrm>
          <a:prstGeom prst="rect">
            <a:avLst/>
          </a:prstGeom>
        </p:spPr>
      </p:pic>
      <p:sp>
        <p:nvSpPr>
          <p:cNvPr id="170" name="Text 45">
            <a:extLst>
              <a:ext uri="{FF2B5EF4-FFF2-40B4-BE49-F238E27FC236}">
                <a16:creationId xmlns:a16="http://schemas.microsoft.com/office/drawing/2014/main" id="{E8856BC4-07FF-4558-A9F5-EFB404064BD4}"/>
              </a:ext>
            </a:extLst>
          </p:cNvPr>
          <p:cNvSpPr txBox="1"/>
          <p:nvPr/>
        </p:nvSpPr>
        <p:spPr>
          <a:xfrm>
            <a:off x="1496072" y="1564728"/>
            <a:ext cx="607470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내 컴퓨터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1" name="Text 46">
            <a:extLst>
              <a:ext uri="{FF2B5EF4-FFF2-40B4-BE49-F238E27FC236}">
                <a16:creationId xmlns:a16="http://schemas.microsoft.com/office/drawing/2014/main" id="{E7449BCD-C7B7-4C95-AF68-25995EF1A200}"/>
              </a:ext>
            </a:extLst>
          </p:cNvPr>
          <p:cNvSpPr txBox="1"/>
          <p:nvPr/>
        </p:nvSpPr>
        <p:spPr>
          <a:xfrm>
            <a:off x="1338789" y="1881234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2" name="Image 17" descr="gen-dedup-e3bb1bdbf10fa3b8ada790141c1d3212.png">
            <a:extLst>
              <a:ext uri="{FF2B5EF4-FFF2-40B4-BE49-F238E27FC236}">
                <a16:creationId xmlns:a16="http://schemas.microsoft.com/office/drawing/2014/main" id="{24284AD3-13CD-4AEE-B86A-48EEFCA4E465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505490" y="1871249"/>
            <a:ext cx="137504" cy="145772"/>
          </a:xfrm>
          <a:prstGeom prst="rect">
            <a:avLst/>
          </a:prstGeom>
        </p:spPr>
      </p:pic>
      <p:sp>
        <p:nvSpPr>
          <p:cNvPr id="173" name="Text 47">
            <a:extLst>
              <a:ext uri="{FF2B5EF4-FFF2-40B4-BE49-F238E27FC236}">
                <a16:creationId xmlns:a16="http://schemas.microsoft.com/office/drawing/2014/main" id="{9A638C46-6AA2-4807-8EB6-3B39C7503EAB}"/>
              </a:ext>
            </a:extLst>
          </p:cNvPr>
          <p:cNvSpPr txBox="1"/>
          <p:nvPr/>
        </p:nvSpPr>
        <p:spPr>
          <a:xfrm>
            <a:off x="1691969" y="1845289"/>
            <a:ext cx="982312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C: 로컬 디스크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4" name="Text 48">
            <a:extLst>
              <a:ext uri="{FF2B5EF4-FFF2-40B4-BE49-F238E27FC236}">
                <a16:creationId xmlns:a16="http://schemas.microsoft.com/office/drawing/2014/main" id="{323AFC2D-633A-482D-BAFB-FD8F3EB4DDFB}"/>
              </a:ext>
            </a:extLst>
          </p:cNvPr>
          <p:cNvSpPr txBox="1"/>
          <p:nvPr/>
        </p:nvSpPr>
        <p:spPr>
          <a:xfrm>
            <a:off x="1534687" y="2141827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5" name="Image 18" descr="gen-dedup-ba01fa70a70d7d3a77dc83183451dc86.png">
            <a:extLst>
              <a:ext uri="{FF2B5EF4-FFF2-40B4-BE49-F238E27FC236}">
                <a16:creationId xmlns:a16="http://schemas.microsoft.com/office/drawing/2014/main" id="{6BB5E545-5BF5-498F-817C-752D4F6D61D6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701387" y="2130844"/>
            <a:ext cx="137504" cy="145772"/>
          </a:xfrm>
          <a:prstGeom prst="rect">
            <a:avLst/>
          </a:prstGeom>
        </p:spPr>
      </p:pic>
      <p:sp>
        <p:nvSpPr>
          <p:cNvPr id="176" name="Text 49">
            <a:extLst>
              <a:ext uri="{FF2B5EF4-FFF2-40B4-BE49-F238E27FC236}">
                <a16:creationId xmlns:a16="http://schemas.microsoft.com/office/drawing/2014/main" id="{1E3BD229-5997-4AB9-8C0F-C468BC742636}"/>
              </a:ext>
            </a:extLst>
          </p:cNvPr>
          <p:cNvSpPr txBox="1"/>
          <p:nvPr/>
        </p:nvSpPr>
        <p:spPr>
          <a:xfrm>
            <a:off x="1887867" y="2125852"/>
            <a:ext cx="760044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Text 50">
            <a:extLst>
              <a:ext uri="{FF2B5EF4-FFF2-40B4-BE49-F238E27FC236}">
                <a16:creationId xmlns:a16="http://schemas.microsoft.com/office/drawing/2014/main" id="{723C73E9-4A4E-4F42-AE7A-87E8358A822A}"/>
              </a:ext>
            </a:extLst>
          </p:cNvPr>
          <p:cNvSpPr txBox="1"/>
          <p:nvPr/>
        </p:nvSpPr>
        <p:spPr>
          <a:xfrm>
            <a:off x="1731525" y="2380455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8" name="Image 19" descr="gen-dedup-164d010ae7e53d534a0b3104348ed19a.png">
            <a:extLst>
              <a:ext uri="{FF2B5EF4-FFF2-40B4-BE49-F238E27FC236}">
                <a16:creationId xmlns:a16="http://schemas.microsoft.com/office/drawing/2014/main" id="{9743F858-A590-4BB3-808D-215064351692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-6250" b="-6250"/>
          <a:stretch/>
        </p:blipFill>
        <p:spPr>
          <a:xfrm>
            <a:off x="1898227" y="2370470"/>
            <a:ext cx="137504" cy="145772"/>
          </a:xfrm>
          <a:prstGeom prst="rect">
            <a:avLst/>
          </a:prstGeom>
        </p:spPr>
      </p:pic>
      <p:sp>
        <p:nvSpPr>
          <p:cNvPr id="179" name="Text 51">
            <a:extLst>
              <a:ext uri="{FF2B5EF4-FFF2-40B4-BE49-F238E27FC236}">
                <a16:creationId xmlns:a16="http://schemas.microsoft.com/office/drawing/2014/main" id="{91A6C390-EF73-4B4E-9448-4A092525C527}"/>
              </a:ext>
            </a:extLst>
          </p:cNvPr>
          <p:cNvSpPr txBox="1"/>
          <p:nvPr/>
        </p:nvSpPr>
        <p:spPr>
          <a:xfrm>
            <a:off x="2084706" y="2365478"/>
            <a:ext cx="681874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0" name="Shape 52">
            <a:extLst>
              <a:ext uri="{FF2B5EF4-FFF2-40B4-BE49-F238E27FC236}">
                <a16:creationId xmlns:a16="http://schemas.microsoft.com/office/drawing/2014/main" id="{64A3B9A6-8696-4451-88B1-C3DE0AFFCA24}"/>
              </a:ext>
            </a:extLst>
          </p:cNvPr>
          <p:cNvSpPr/>
          <p:nvPr/>
        </p:nvSpPr>
        <p:spPr>
          <a:xfrm>
            <a:off x="1092676" y="3660405"/>
            <a:ext cx="2276364" cy="155756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Text 53">
            <a:extLst>
              <a:ext uri="{FF2B5EF4-FFF2-40B4-BE49-F238E27FC236}">
                <a16:creationId xmlns:a16="http://schemas.microsoft.com/office/drawing/2014/main" id="{CAF9D105-2730-4456-BD86-A00FA06DCDA1}"/>
              </a:ext>
            </a:extLst>
          </p:cNvPr>
          <p:cNvSpPr txBox="1"/>
          <p:nvPr/>
        </p:nvSpPr>
        <p:spPr>
          <a:xfrm>
            <a:off x="2280602" y="2604105"/>
            <a:ext cx="1472055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Arial" pitchFamily="34" charset="-122"/>
                <a:cs typeface="Arial" pitchFamily="34" charset="-120"/>
              </a:rPr>
              <a:t>WinAPI_DontStarve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183" name="Image 21" descr="gen-dedup-2302e8a913f082daf4055bce75fbff92.png">
            <a:extLst>
              <a:ext uri="{FF2B5EF4-FFF2-40B4-BE49-F238E27FC236}">
                <a16:creationId xmlns:a16="http://schemas.microsoft.com/office/drawing/2014/main" id="{84D0CCAD-71D2-440D-B1DE-D8B05BC99660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2615089"/>
            <a:ext cx="137504" cy="145772"/>
          </a:xfrm>
          <a:prstGeom prst="rect">
            <a:avLst/>
          </a:prstGeom>
        </p:spPr>
      </p:pic>
      <p:sp>
        <p:nvSpPr>
          <p:cNvPr id="184" name="Text 54">
            <a:extLst>
              <a:ext uri="{FF2B5EF4-FFF2-40B4-BE49-F238E27FC236}">
                <a16:creationId xmlns:a16="http://schemas.microsoft.com/office/drawing/2014/main" id="{31E9B7CF-593C-4A81-9275-E23FA6F6FF6D}"/>
              </a:ext>
            </a:extLst>
          </p:cNvPr>
          <p:cNvSpPr txBox="1"/>
          <p:nvPr/>
        </p:nvSpPr>
        <p:spPr>
          <a:xfrm>
            <a:off x="2280602" y="2868224"/>
            <a:ext cx="976709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File Tower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Defence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185" name="Image 22" descr="gen-dedup-2302e8a913f082daf4055bce75fbff92.png">
            <a:extLst>
              <a:ext uri="{FF2B5EF4-FFF2-40B4-BE49-F238E27FC236}">
                <a16:creationId xmlns:a16="http://schemas.microsoft.com/office/drawing/2014/main" id="{A18364CD-242D-46EE-BC7A-AAB0C31013B5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2878332"/>
            <a:ext cx="137504" cy="145772"/>
          </a:xfrm>
          <a:prstGeom prst="rect">
            <a:avLst/>
          </a:prstGeom>
        </p:spPr>
      </p:pic>
      <p:sp>
        <p:nvSpPr>
          <p:cNvPr id="186" name="Text 55">
            <a:extLst>
              <a:ext uri="{FF2B5EF4-FFF2-40B4-BE49-F238E27FC236}">
                <a16:creationId xmlns:a16="http://schemas.microsoft.com/office/drawing/2014/main" id="{90569763-24C7-4A44-99BB-8107D5A4F9AE}"/>
              </a:ext>
            </a:extLst>
          </p:cNvPr>
          <p:cNvSpPr txBox="1"/>
          <p:nvPr/>
        </p:nvSpPr>
        <p:spPr>
          <a:xfrm>
            <a:off x="2280602" y="3132343"/>
            <a:ext cx="1079319" cy="15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Car Racing Simulation</a:t>
            </a:r>
          </a:p>
        </p:txBody>
      </p:sp>
      <p:sp>
        <p:nvSpPr>
          <p:cNvPr id="187" name="Text 56">
            <a:extLst>
              <a:ext uri="{FF2B5EF4-FFF2-40B4-BE49-F238E27FC236}">
                <a16:creationId xmlns:a16="http://schemas.microsoft.com/office/drawing/2014/main" id="{866DB103-F61D-4F55-8CB2-0DCECDF562DE}"/>
              </a:ext>
            </a:extLst>
          </p:cNvPr>
          <p:cNvSpPr txBox="1"/>
          <p:nvPr/>
        </p:nvSpPr>
        <p:spPr>
          <a:xfrm>
            <a:off x="3389118" y="1517801"/>
            <a:ext cx="98890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▲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8" name="Text 57">
            <a:extLst>
              <a:ext uri="{FF2B5EF4-FFF2-40B4-BE49-F238E27FC236}">
                <a16:creationId xmlns:a16="http://schemas.microsoft.com/office/drawing/2014/main" id="{07972270-EEB3-4E57-A275-58C3789BD728}"/>
              </a:ext>
            </a:extLst>
          </p:cNvPr>
          <p:cNvSpPr txBox="1"/>
          <p:nvPr/>
        </p:nvSpPr>
        <p:spPr>
          <a:xfrm>
            <a:off x="3389118" y="5677309"/>
            <a:ext cx="98890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Text 59">
            <a:extLst>
              <a:ext uri="{FF2B5EF4-FFF2-40B4-BE49-F238E27FC236}">
                <a16:creationId xmlns:a16="http://schemas.microsoft.com/office/drawing/2014/main" id="{F370B7F2-545A-4C3C-AE52-60FFDC3BC6C9}"/>
              </a:ext>
            </a:extLst>
          </p:cNvPr>
          <p:cNvSpPr txBox="1"/>
          <p:nvPr/>
        </p:nvSpPr>
        <p:spPr>
          <a:xfrm>
            <a:off x="1142891" y="5937901"/>
            <a:ext cx="515173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5개 개체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2" name="Text 60">
            <a:extLst>
              <a:ext uri="{FF2B5EF4-FFF2-40B4-BE49-F238E27FC236}">
                <a16:creationId xmlns:a16="http://schemas.microsoft.com/office/drawing/2014/main" id="{56BEFB76-4CFC-42A7-B9E8-E085EEAF66E4}"/>
              </a:ext>
            </a:extLst>
          </p:cNvPr>
          <p:cNvSpPr txBox="1"/>
          <p:nvPr/>
        </p:nvSpPr>
        <p:spPr>
          <a:xfrm>
            <a:off x="3644351" y="5937901"/>
            <a:ext cx="2312154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1개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항목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선택됨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ko-KR" altLang="en-US" sz="900" dirty="0">
                <a:solidFill>
                  <a:srgbClr val="000000"/>
                </a:solidFill>
                <a:latin typeface="Calibri" panose="020F0502020204030204"/>
              </a:rPr>
              <a:t>기타 프로젝트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Shape 29">
            <a:extLst>
              <a:ext uri="{FF2B5EF4-FFF2-40B4-BE49-F238E27FC236}">
                <a16:creationId xmlns:a16="http://schemas.microsoft.com/office/drawing/2014/main" id="{C8E8281E-329E-4104-AF26-2BF462B61E3F}"/>
              </a:ext>
            </a:extLst>
          </p:cNvPr>
          <p:cNvSpPr/>
          <p:nvPr/>
        </p:nvSpPr>
        <p:spPr>
          <a:xfrm>
            <a:off x="3615584" y="1517800"/>
            <a:ext cx="8262000" cy="312984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9" name="Text 58">
            <a:extLst>
              <a:ext uri="{FF2B5EF4-FFF2-40B4-BE49-F238E27FC236}">
                <a16:creationId xmlns:a16="http://schemas.microsoft.com/office/drawing/2014/main" id="{ADA0929B-6390-4236-84B5-CBBBC1E952F8}"/>
              </a:ext>
            </a:extLst>
          </p:cNvPr>
          <p:cNvSpPr txBox="1"/>
          <p:nvPr/>
        </p:nvSpPr>
        <p:spPr>
          <a:xfrm>
            <a:off x="3680570" y="1579370"/>
            <a:ext cx="2661235" cy="190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상세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정보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– </a:t>
            </a:r>
            <a:r>
              <a:rPr lang="en-US" altLang="ko-KR" sz="120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Hey!</a:t>
            </a:r>
            <a:r>
              <a:rPr lang="ko-KR" altLang="en-US" sz="120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HoneyBee</a:t>
            </a:r>
            <a:r>
              <a:rPr lang="en-US" altLang="ko-KR" sz="120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!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90" name="Table 0">
            <a:extLst>
              <a:ext uri="{FF2B5EF4-FFF2-40B4-BE49-F238E27FC236}">
                <a16:creationId xmlns:a16="http://schemas.microsoft.com/office/drawing/2014/main" id="{17C5AF9B-F49B-46DE-BE64-BBD629004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524949"/>
              </p:ext>
            </p:extLst>
          </p:nvPr>
        </p:nvGraphicFramePr>
        <p:xfrm>
          <a:off x="6888351" y="1904694"/>
          <a:ext cx="4922345" cy="1848411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012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7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15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플랫폼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400" dirty="0"/>
                        <a:t>PC(Windows)</a:t>
                      </a: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장르</a:t>
                      </a:r>
                      <a:endParaRPr lang="ko-KR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-120"/>
                        </a:rPr>
                        <a:t>퍼즐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2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인원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인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기획</a:t>
                      </a:r>
                      <a:r>
                        <a:rPr lang="en-US" altLang="ko-KR" sz="1400" dirty="0"/>
                        <a:t>1,</a:t>
                      </a:r>
                      <a:r>
                        <a:rPr lang="ko-KR" altLang="en-US" sz="1400" dirty="0" err="1"/>
                        <a:t>플밍</a:t>
                      </a:r>
                      <a:r>
                        <a:rPr lang="en-US" altLang="ko-KR" sz="1400" dirty="0"/>
                        <a:t>2)</a:t>
                      </a:r>
                      <a:endParaRPr lang="ko-KR" altLang="en-US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</a:t>
                      </a: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baseline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기간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2026.01.10 ~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2026.01.12</a:t>
                      </a:r>
                      <a:endParaRPr lang="ko-KR" altLang="en-US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65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도구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HTML, Verse8</a:t>
                      </a:r>
                      <a:endParaRPr lang="ko-KR" altLang="en-US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동영상 링크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EE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  <a:hlinkClick r:id="rId19"/>
                        </a:rPr>
                        <a:t>Verse8</a:t>
                      </a:r>
                      <a:r>
                        <a:rPr lang="ko-KR" altLang="en-US" sz="1400" baseline="0" dirty="0">
                          <a:solidFill>
                            <a:srgbClr val="0000EE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  <a:hlinkClick r:id="rId19"/>
                        </a:rPr>
                        <a:t> </a:t>
                      </a:r>
                      <a:r>
                        <a:rPr lang="en-US" sz="1400" baseline="0" dirty="0" err="1">
                          <a:solidFill>
                            <a:srgbClr val="0000EE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  <a:hlinkClick r:id="rId19"/>
                        </a:rPr>
                        <a:t>링크</a:t>
                      </a:r>
                      <a:endParaRPr lang="en-US" sz="14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" name="Shape 3">
            <a:extLst>
              <a:ext uri="{FF2B5EF4-FFF2-40B4-BE49-F238E27FC236}">
                <a16:creationId xmlns:a16="http://schemas.microsoft.com/office/drawing/2014/main" id="{8D2D6D18-3D4F-2789-2367-5B77242E2AAF}"/>
              </a:ext>
            </a:extLst>
          </p:cNvPr>
          <p:cNvSpPr/>
          <p:nvPr/>
        </p:nvSpPr>
        <p:spPr>
          <a:xfrm>
            <a:off x="250546" y="4467759"/>
            <a:ext cx="629107" cy="590702"/>
          </a:xfrm>
          <a:prstGeom prst="rect">
            <a:avLst/>
          </a:prstGeom>
          <a:solidFill>
            <a:srgbClr val="000080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0" descr="gen-dedup-57ee6a1f0d650d3a975db06a8ec6cc96.png">
            <a:extLst>
              <a:ext uri="{FF2B5EF4-FFF2-40B4-BE49-F238E27FC236}">
                <a16:creationId xmlns:a16="http://schemas.microsoft.com/office/drawing/2014/main" id="{EFCF0412-E908-C7BF-BC55-BAE05E0EE49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-6250" b="-6250"/>
          <a:stretch/>
        </p:blipFill>
        <p:spPr>
          <a:xfrm>
            <a:off x="381305" y="1047902"/>
            <a:ext cx="381305" cy="381305"/>
          </a:xfrm>
          <a:prstGeom prst="rect">
            <a:avLst/>
          </a:prstGeom>
        </p:spPr>
      </p:pic>
      <p:sp>
        <p:nvSpPr>
          <p:cNvPr id="30" name="Text 5">
            <a:extLst>
              <a:ext uri="{FF2B5EF4-FFF2-40B4-BE49-F238E27FC236}">
                <a16:creationId xmlns:a16="http://schemas.microsoft.com/office/drawing/2014/main" id="{7AAA51FF-B4B2-0FFB-7A35-7798244C584C}"/>
              </a:ext>
            </a:extLst>
          </p:cNvPr>
          <p:cNvSpPr txBox="1"/>
          <p:nvPr/>
        </p:nvSpPr>
        <p:spPr>
          <a:xfrm>
            <a:off x="269748" y="1485900"/>
            <a:ext cx="609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내 컴퓨터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184DF3B7-FDCE-FAA3-5633-C68B5A2B905F}"/>
              </a:ext>
            </a:extLst>
          </p:cNvPr>
          <p:cNvSpPr txBox="1"/>
          <p:nvPr/>
        </p:nvSpPr>
        <p:spPr>
          <a:xfrm>
            <a:off x="226771" y="2391156"/>
            <a:ext cx="695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포트폴리오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2" descr="gen-dedup-313e4be3ff4060006731241b7cc55ba4.png">
            <a:extLst>
              <a:ext uri="{FF2B5EF4-FFF2-40B4-BE49-F238E27FC236}">
                <a16:creationId xmlns:a16="http://schemas.microsoft.com/office/drawing/2014/main" id="{728E10CD-CA85-D2DB-FF94-BE9BBB734443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381305" y="2809951"/>
            <a:ext cx="381305" cy="381305"/>
          </a:xfrm>
          <a:prstGeom prst="rect">
            <a:avLst/>
          </a:prstGeom>
        </p:spPr>
      </p:pic>
      <p:sp>
        <p:nvSpPr>
          <p:cNvPr id="33" name="Text 7">
            <a:extLst>
              <a:ext uri="{FF2B5EF4-FFF2-40B4-BE49-F238E27FC236}">
                <a16:creationId xmlns:a16="http://schemas.microsoft.com/office/drawing/2014/main" id="{F7A0DC63-18A1-C8DD-A968-4357801E6074}"/>
              </a:ext>
            </a:extLst>
          </p:cNvPr>
          <p:cNvSpPr txBox="1"/>
          <p:nvPr/>
        </p:nvSpPr>
        <p:spPr>
          <a:xfrm>
            <a:off x="419710" y="3191256"/>
            <a:ext cx="342900" cy="24780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tIns="25400" rIns="381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목차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4" name="Image 3" descr="gen-dedup-ef6105ed2e63baeb37694681937bef0b.png">
            <a:extLst>
              <a:ext uri="{FF2B5EF4-FFF2-40B4-BE49-F238E27FC236}">
                <a16:creationId xmlns:a16="http://schemas.microsoft.com/office/drawing/2014/main" id="{A082A422-BE55-F011-2CC6-0BD13AAB9478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-7143" r="-7143"/>
          <a:stretch/>
        </p:blipFill>
        <p:spPr>
          <a:xfrm>
            <a:off x="381305" y="3715207"/>
            <a:ext cx="381305" cy="381305"/>
          </a:xfrm>
          <a:prstGeom prst="rect">
            <a:avLst/>
          </a:prstGeom>
        </p:spPr>
      </p:pic>
      <p:sp>
        <p:nvSpPr>
          <p:cNvPr id="35" name="Text 8">
            <a:extLst>
              <a:ext uri="{FF2B5EF4-FFF2-40B4-BE49-F238E27FC236}">
                <a16:creationId xmlns:a16="http://schemas.microsoft.com/office/drawing/2014/main" id="{5D9317CB-ACDF-B233-EDA4-3672C9C9401D}"/>
              </a:ext>
            </a:extLst>
          </p:cNvPr>
          <p:cNvSpPr txBox="1"/>
          <p:nvPr/>
        </p:nvSpPr>
        <p:spPr>
          <a:xfrm>
            <a:off x="349301" y="4153205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Image 4" descr="gen-dedup-9fdbec92b016124fd02e3850a5123f8c.png">
            <a:extLst>
              <a:ext uri="{FF2B5EF4-FFF2-40B4-BE49-F238E27FC236}">
                <a16:creationId xmlns:a16="http://schemas.microsoft.com/office/drawing/2014/main" id="{7E6D6121-5D76-57FF-25F6-6DE7C56EE4E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381305" y="4572000"/>
            <a:ext cx="381305" cy="381305"/>
          </a:xfrm>
          <a:prstGeom prst="rect">
            <a:avLst/>
          </a:prstGeom>
        </p:spPr>
      </p:pic>
      <p:sp>
        <p:nvSpPr>
          <p:cNvPr id="37" name="Text 9">
            <a:extLst>
              <a:ext uri="{FF2B5EF4-FFF2-40B4-BE49-F238E27FC236}">
                <a16:creationId xmlns:a16="http://schemas.microsoft.com/office/drawing/2014/main" id="{A8EF988B-8A30-9D89-7D01-D210D2C0B7B7}"/>
              </a:ext>
            </a:extLst>
          </p:cNvPr>
          <p:cNvSpPr txBox="1"/>
          <p:nvPr/>
        </p:nvSpPr>
        <p:spPr>
          <a:xfrm>
            <a:off x="288036" y="5009998"/>
            <a:ext cx="571500" cy="2286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프로젝트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C763788-A732-CC21-1C1E-3C4A06882F74}"/>
              </a:ext>
            </a:extLst>
          </p:cNvPr>
          <p:cNvGrpSpPr/>
          <p:nvPr/>
        </p:nvGrpSpPr>
        <p:grpSpPr>
          <a:xfrm>
            <a:off x="342900" y="1904695"/>
            <a:ext cx="457200" cy="457200"/>
            <a:chOff x="342900" y="1904695"/>
            <a:chExt cx="457200" cy="457200"/>
          </a:xfrm>
        </p:grpSpPr>
        <p:pic>
          <p:nvPicPr>
            <p:cNvPr id="39" name="Image 1" descr="gen-dedup-36f1f1ccf4a0e8533d6290f10bde510b.png">
              <a:extLst>
                <a:ext uri="{FF2B5EF4-FFF2-40B4-BE49-F238E27FC236}">
                  <a16:creationId xmlns:a16="http://schemas.microsoft.com/office/drawing/2014/main" id="{D19DF641-2009-CA60-A812-FB2E4D8CF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rcRect/>
            <a:stretch/>
          </p:blipFill>
          <p:spPr>
            <a:xfrm>
              <a:off x="342900" y="1904695"/>
              <a:ext cx="457200" cy="457200"/>
            </a:xfrm>
            <a:prstGeom prst="rect">
              <a:avLst/>
            </a:prstGeom>
          </p:spPr>
        </p:pic>
        <p:pic>
          <p:nvPicPr>
            <p:cNvPr id="40" name="Image 5" descr="gen-dedup-72bd3513d2cf055f9eacb7e2be8dea4c.png">
              <a:extLst>
                <a:ext uri="{FF2B5EF4-FFF2-40B4-BE49-F238E27FC236}">
                  <a16:creationId xmlns:a16="http://schemas.microsoft.com/office/drawing/2014/main" id="{3CC83CE2-81A3-D033-46EA-9C7AD7E63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rcRect t="-12500" b="-12500"/>
            <a:stretch/>
          </p:blipFill>
          <p:spPr>
            <a:xfrm>
              <a:off x="437998" y="2038198"/>
              <a:ext cx="267005" cy="267005"/>
            </a:xfrm>
            <a:prstGeom prst="rect">
              <a:avLst/>
            </a:prstGeom>
          </p:spPr>
        </p:pic>
      </p:grpSp>
      <p:pic>
        <p:nvPicPr>
          <p:cNvPr id="41" name="Image 22" descr="gen-dedup-2302e8a913f082daf4055bce75fbff92.png">
            <a:extLst>
              <a:ext uri="{FF2B5EF4-FFF2-40B4-BE49-F238E27FC236}">
                <a16:creationId xmlns:a16="http://schemas.microsoft.com/office/drawing/2014/main" id="{D4457459-CEDB-FBC0-F26E-E26EE78F0221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3141575"/>
            <a:ext cx="137835" cy="148774"/>
          </a:xfrm>
          <a:prstGeom prst="rect">
            <a:avLst/>
          </a:prstGeom>
        </p:spPr>
      </p:pic>
      <p:sp>
        <p:nvSpPr>
          <p:cNvPr id="42" name="Text 55">
            <a:extLst>
              <a:ext uri="{FF2B5EF4-FFF2-40B4-BE49-F238E27FC236}">
                <a16:creationId xmlns:a16="http://schemas.microsoft.com/office/drawing/2014/main" id="{156B8AB8-E0C1-DC86-9D04-EA2864B6EAFA}"/>
              </a:ext>
            </a:extLst>
          </p:cNvPr>
          <p:cNvSpPr txBox="1"/>
          <p:nvPr/>
        </p:nvSpPr>
        <p:spPr>
          <a:xfrm>
            <a:off x="2280602" y="3391468"/>
            <a:ext cx="1081917" cy="15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World First Kill</a:t>
            </a:r>
          </a:p>
        </p:txBody>
      </p:sp>
      <p:sp>
        <p:nvSpPr>
          <p:cNvPr id="44" name="Text 55">
            <a:extLst>
              <a:ext uri="{FF2B5EF4-FFF2-40B4-BE49-F238E27FC236}">
                <a16:creationId xmlns:a16="http://schemas.microsoft.com/office/drawing/2014/main" id="{10548B94-AED8-2DE4-5428-A123E913F333}"/>
              </a:ext>
            </a:extLst>
          </p:cNvPr>
          <p:cNvSpPr txBox="1"/>
          <p:nvPr/>
        </p:nvSpPr>
        <p:spPr>
          <a:xfrm>
            <a:off x="2280602" y="3653721"/>
            <a:ext cx="1081917" cy="15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맑은 고딕" panose="020B0503020000020004" pitchFamily="50" charset="-127"/>
                <a:cs typeface="+mn-cs"/>
              </a:rPr>
              <a:t>기타 프로젝트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101" name="Image 18" descr="gen-dedup-ba01fa70a70d7d3a77dc83183451dc86.png">
            <a:extLst>
              <a:ext uri="{FF2B5EF4-FFF2-40B4-BE49-F238E27FC236}">
                <a16:creationId xmlns:a16="http://schemas.microsoft.com/office/drawing/2014/main" id="{168D4DC0-D96F-47D8-A951-BF723BC6F6FE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2090319" y="3674064"/>
            <a:ext cx="137504" cy="145772"/>
          </a:xfrm>
          <a:prstGeom prst="rect">
            <a:avLst/>
          </a:prstGeom>
        </p:spPr>
      </p:pic>
      <p:pic>
        <p:nvPicPr>
          <p:cNvPr id="100" name="Image 22" descr="gen-dedup-2302e8a913f082daf4055bce75fbff92.png">
            <a:extLst>
              <a:ext uri="{FF2B5EF4-FFF2-40B4-BE49-F238E27FC236}">
                <a16:creationId xmlns:a16="http://schemas.microsoft.com/office/drawing/2014/main" id="{592BA0B1-5D85-49D8-942E-5D79358F39A9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3407820"/>
            <a:ext cx="137835" cy="148774"/>
          </a:xfrm>
          <a:prstGeom prst="rect">
            <a:avLst/>
          </a:prstGeom>
        </p:spPr>
      </p:pic>
      <p:graphicFrame>
        <p:nvGraphicFramePr>
          <p:cNvPr id="121" name="Table 0">
            <a:extLst>
              <a:ext uri="{FF2B5EF4-FFF2-40B4-BE49-F238E27FC236}">
                <a16:creationId xmlns:a16="http://schemas.microsoft.com/office/drawing/2014/main" id="{A5A41744-44D6-437D-918E-F5C7CFB92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975594"/>
              </p:ext>
            </p:extLst>
          </p:nvPr>
        </p:nvGraphicFramePr>
        <p:xfrm>
          <a:off x="3680570" y="3813676"/>
          <a:ext cx="8130125" cy="1994426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4366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93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72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요약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꿀 블록을 옮겨가면서 </a:t>
                      </a:r>
                      <a:r>
                        <a:rPr lang="en-US" altLang="ko-KR" sz="1400" dirty="0"/>
                        <a:t>10</a:t>
                      </a:r>
                      <a:r>
                        <a:rPr lang="ko-KR" altLang="en-US" sz="1400" dirty="0"/>
                        <a:t>의 합이 되도록 하는 간단한 퍼즐형 게임이다</a:t>
                      </a:r>
                      <a:r>
                        <a:rPr lang="en-US" altLang="ko-KR" sz="1400" dirty="0"/>
                        <a:t>.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스테이지가 올라갈 수록 퍼즐 크기가 커지고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잠금 노드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꿀단지 노드 등이 등장해서 게임의 재미감을 올릴 수 있도록 만들었음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72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역할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꿀 블록 이동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블록 합 연산 계산 하여 점수에 추가하는 로직</a:t>
                      </a:r>
                      <a:endParaRPr lang="en-US" altLang="ko-KR" sz="14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블록의 개수와 방해 노드가 늘어나는 </a:t>
                      </a:r>
                      <a:r>
                        <a:rPr lang="en-US" altLang="ko-KR" sz="1400" dirty="0"/>
                        <a:t>Wave</a:t>
                      </a:r>
                      <a:r>
                        <a:rPr lang="ko-KR" altLang="en-US" sz="1400" dirty="0"/>
                        <a:t> 시스템</a:t>
                      </a:r>
                      <a:endParaRPr lang="en-US" altLang="ko-KR" sz="1400" dirty="0"/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꿀단지 노드 제작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8" name="Shape 13">
            <a:extLst>
              <a:ext uri="{FF2B5EF4-FFF2-40B4-BE49-F238E27FC236}">
                <a16:creationId xmlns:a16="http://schemas.microsoft.com/office/drawing/2014/main" id="{FFFC0249-AD16-4E1A-8F47-1C71B359DF85}"/>
              </a:ext>
            </a:extLst>
          </p:cNvPr>
          <p:cNvSpPr/>
          <p:nvPr/>
        </p:nvSpPr>
        <p:spPr>
          <a:xfrm>
            <a:off x="3680571" y="1879304"/>
            <a:ext cx="3157094" cy="1877147"/>
          </a:xfrm>
          <a:prstGeom prst="rect">
            <a:avLst/>
          </a:prstGeom>
          <a:solidFill>
            <a:srgbClr val="E8E8E8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02" name="그림 101">
            <a:extLst>
              <a:ext uri="{FF2B5EF4-FFF2-40B4-BE49-F238E27FC236}">
                <a16:creationId xmlns:a16="http://schemas.microsoft.com/office/drawing/2014/main" id="{F3FAA59D-D4B6-44E8-B064-F9E962BE3CDC}"/>
              </a:ext>
            </a:extLst>
          </p:cNvPr>
          <p:cNvPicPr>
            <a:picLocks noChangeAspect="1"/>
          </p:cNvPicPr>
          <p:nvPr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291" y="1880433"/>
            <a:ext cx="2213655" cy="187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147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02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131" name="Shape 103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04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3" name="Shape 105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34" name="Shape 106"/>
          <p:cNvSpPr/>
          <p:nvPr/>
        </p:nvSpPr>
        <p:spPr>
          <a:xfrm>
            <a:off x="10477195" y="6534302"/>
            <a:ext cx="1619402" cy="267005"/>
          </a:xfrm>
          <a:prstGeom prst="rect">
            <a:avLst/>
          </a:prstGeom>
          <a:solidFill>
            <a:srgbClr val="C0C0C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135" name="Image 25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136" name="Text 107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7" name="Image 26" descr="gen-dedup-1027b540a23f27953c8b221c66837c2b.png"/>
          <p:cNvPicPr>
            <a:picLocks noChangeAspect="1"/>
          </p:cNvPicPr>
          <p:nvPr/>
        </p:nvPicPr>
        <p:blipFill>
          <a:blip r:embed="rId4"/>
          <a:srcRect t="-6250" b="-6250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138" name="Text 108"/>
          <p:cNvSpPr txBox="1"/>
          <p:nvPr/>
        </p:nvSpPr>
        <p:spPr>
          <a:xfrm>
            <a:off x="1238098" y="6577279"/>
            <a:ext cx="143743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탐색 중 - Projects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9" name="Image 27" descr="gen-dedup-7740a029182e5c65b65e33d2aaed94e2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10573207" y="6590995"/>
            <a:ext cx="152705" cy="152705"/>
          </a:xfrm>
          <a:prstGeom prst="rect">
            <a:avLst/>
          </a:prstGeom>
        </p:spPr>
      </p:pic>
      <p:sp>
        <p:nvSpPr>
          <p:cNvPr id="140" name="Text 109"/>
          <p:cNvSpPr txBox="1"/>
          <p:nvPr/>
        </p:nvSpPr>
        <p:spPr>
          <a:xfrm>
            <a:off x="11124590" y="6590995"/>
            <a:ext cx="7260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10:00 AM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Shape 10">
            <a:extLst>
              <a:ext uri="{FF2B5EF4-FFF2-40B4-BE49-F238E27FC236}">
                <a16:creationId xmlns:a16="http://schemas.microsoft.com/office/drawing/2014/main" id="{14A75B8D-58B7-472B-BBE7-FDD8817C001B}"/>
              </a:ext>
            </a:extLst>
          </p:cNvPr>
          <p:cNvSpPr/>
          <p:nvPr/>
        </p:nvSpPr>
        <p:spPr>
          <a:xfrm>
            <a:off x="1044001" y="108001"/>
            <a:ext cx="10890197" cy="6084503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4" name="Shape 11">
            <a:extLst>
              <a:ext uri="{FF2B5EF4-FFF2-40B4-BE49-F238E27FC236}">
                <a16:creationId xmlns:a16="http://schemas.microsoft.com/office/drawing/2014/main" id="{71A388DE-101E-4470-BFD4-A6A63EA671A5}"/>
              </a:ext>
            </a:extLst>
          </p:cNvPr>
          <p:cNvSpPr/>
          <p:nvPr/>
        </p:nvSpPr>
        <p:spPr>
          <a:xfrm>
            <a:off x="1063780" y="128969"/>
            <a:ext cx="10850641" cy="291545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5" name="Image 5" descr="gen-dedup-23665c0bc8193eed4b19e05b81a508d3.png">
            <a:extLst>
              <a:ext uri="{FF2B5EF4-FFF2-40B4-BE49-F238E27FC236}">
                <a16:creationId xmlns:a16="http://schemas.microsoft.com/office/drawing/2014/main" id="{2293A2AB-329A-4D4D-A2B3-1C7504C127F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063780" y="670124"/>
            <a:ext cx="10850641" cy="41935"/>
          </a:xfrm>
          <a:prstGeom prst="rect">
            <a:avLst/>
          </a:prstGeom>
        </p:spPr>
      </p:pic>
      <p:sp>
        <p:nvSpPr>
          <p:cNvPr id="106" name="Shape 12">
            <a:extLst>
              <a:ext uri="{FF2B5EF4-FFF2-40B4-BE49-F238E27FC236}">
                <a16:creationId xmlns:a16="http://schemas.microsoft.com/office/drawing/2014/main" id="{BF7862CB-A48A-41ED-BB49-4572C79D2442}"/>
              </a:ext>
            </a:extLst>
          </p:cNvPr>
          <p:cNvSpPr/>
          <p:nvPr/>
        </p:nvSpPr>
        <p:spPr>
          <a:xfrm>
            <a:off x="1063780" y="691091"/>
            <a:ext cx="10850641" cy="41635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7" name="Image 6" descr="gen-dedup-23665c0bc8193eed4b19e05b81a508d3.png">
            <a:extLst>
              <a:ext uri="{FF2B5EF4-FFF2-40B4-BE49-F238E27FC236}">
                <a16:creationId xmlns:a16="http://schemas.microsoft.com/office/drawing/2014/main" id="{20ABEAB4-CC5E-4191-B75F-C98135769AD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063780" y="1106443"/>
            <a:ext cx="10850641" cy="41935"/>
          </a:xfrm>
          <a:prstGeom prst="rect">
            <a:avLst/>
          </a:prstGeom>
        </p:spPr>
      </p:pic>
      <p:sp>
        <p:nvSpPr>
          <p:cNvPr id="108" name="Shape 13">
            <a:extLst>
              <a:ext uri="{FF2B5EF4-FFF2-40B4-BE49-F238E27FC236}">
                <a16:creationId xmlns:a16="http://schemas.microsoft.com/office/drawing/2014/main" id="{778C56FF-CFDC-45C0-B015-6894EB626093}"/>
              </a:ext>
            </a:extLst>
          </p:cNvPr>
          <p:cNvSpPr/>
          <p:nvPr/>
        </p:nvSpPr>
        <p:spPr>
          <a:xfrm>
            <a:off x="1063780" y="1127410"/>
            <a:ext cx="10850641" cy="332481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9" name="Image 7" descr="gen-dedup-23665c0bc8193eed4b19e05b81a508d3.png">
            <a:extLst>
              <a:ext uri="{FF2B5EF4-FFF2-40B4-BE49-F238E27FC236}">
                <a16:creationId xmlns:a16="http://schemas.microsoft.com/office/drawing/2014/main" id="{8EAD3060-1BC9-4720-89D3-B2F118FDED5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063780" y="1459891"/>
            <a:ext cx="10850641" cy="41935"/>
          </a:xfrm>
          <a:prstGeom prst="rect">
            <a:avLst/>
          </a:prstGeom>
        </p:spPr>
      </p:pic>
      <p:sp>
        <p:nvSpPr>
          <p:cNvPr id="110" name="Shape 14">
            <a:extLst>
              <a:ext uri="{FF2B5EF4-FFF2-40B4-BE49-F238E27FC236}">
                <a16:creationId xmlns:a16="http://schemas.microsoft.com/office/drawing/2014/main" id="{42389CBE-477E-4B1E-A4DE-6467CBB7EFEB}"/>
              </a:ext>
            </a:extLst>
          </p:cNvPr>
          <p:cNvSpPr/>
          <p:nvPr/>
        </p:nvSpPr>
        <p:spPr>
          <a:xfrm>
            <a:off x="1083557" y="1501826"/>
            <a:ext cx="2452485" cy="4368182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11" name="Shape 15">
            <a:extLst>
              <a:ext uri="{FF2B5EF4-FFF2-40B4-BE49-F238E27FC236}">
                <a16:creationId xmlns:a16="http://schemas.microsoft.com/office/drawing/2014/main" id="{C21C50EE-23E3-464C-A24A-63BA82DF84D4}"/>
              </a:ext>
            </a:extLst>
          </p:cNvPr>
          <p:cNvSpPr/>
          <p:nvPr/>
        </p:nvSpPr>
        <p:spPr>
          <a:xfrm>
            <a:off x="3595376" y="1501826"/>
            <a:ext cx="8300208" cy="4368182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12" name="Shape 16">
            <a:extLst>
              <a:ext uri="{FF2B5EF4-FFF2-40B4-BE49-F238E27FC236}">
                <a16:creationId xmlns:a16="http://schemas.microsoft.com/office/drawing/2014/main" id="{F20FF41E-0C07-442E-8C60-91349F8FAB6F}"/>
              </a:ext>
            </a:extLst>
          </p:cNvPr>
          <p:cNvSpPr/>
          <p:nvPr/>
        </p:nvSpPr>
        <p:spPr>
          <a:xfrm>
            <a:off x="1063780" y="5890974"/>
            <a:ext cx="10850641" cy="27057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3" name="Shape 17">
            <a:extLst>
              <a:ext uri="{FF2B5EF4-FFF2-40B4-BE49-F238E27FC236}">
                <a16:creationId xmlns:a16="http://schemas.microsoft.com/office/drawing/2014/main" id="{91B29A68-FFAE-4CAE-892D-A568DC5821A1}"/>
              </a:ext>
            </a:extLst>
          </p:cNvPr>
          <p:cNvSpPr/>
          <p:nvPr/>
        </p:nvSpPr>
        <p:spPr>
          <a:xfrm>
            <a:off x="11070555" y="159920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4" name="Shape 18">
            <a:extLst>
              <a:ext uri="{FF2B5EF4-FFF2-40B4-BE49-F238E27FC236}">
                <a16:creationId xmlns:a16="http://schemas.microsoft.com/office/drawing/2014/main" id="{5ED4C68E-2927-4286-A306-85C476D8C2C7}"/>
              </a:ext>
            </a:extLst>
          </p:cNvPr>
          <p:cNvSpPr/>
          <p:nvPr/>
        </p:nvSpPr>
        <p:spPr>
          <a:xfrm>
            <a:off x="11365343" y="159920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5" name="Shape 19">
            <a:extLst>
              <a:ext uri="{FF2B5EF4-FFF2-40B4-BE49-F238E27FC236}">
                <a16:creationId xmlns:a16="http://schemas.microsoft.com/office/drawing/2014/main" id="{629F123C-82EE-47C3-9DC8-E100143135E9}"/>
              </a:ext>
            </a:extLst>
          </p:cNvPr>
          <p:cNvSpPr/>
          <p:nvPr/>
        </p:nvSpPr>
        <p:spPr>
          <a:xfrm>
            <a:off x="11659189" y="159920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6" name="Text 20">
            <a:extLst>
              <a:ext uri="{FF2B5EF4-FFF2-40B4-BE49-F238E27FC236}">
                <a16:creationId xmlns:a16="http://schemas.microsoft.com/office/drawing/2014/main" id="{299A98B0-9D78-41C5-8B65-6BDFCC859999}"/>
              </a:ext>
            </a:extLst>
          </p:cNvPr>
          <p:cNvSpPr txBox="1"/>
          <p:nvPr/>
        </p:nvSpPr>
        <p:spPr>
          <a:xfrm>
            <a:off x="1100101" y="446473"/>
            <a:ext cx="2908322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파일(F)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편집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(E)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보기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(V)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도구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(T)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도움말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(H)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Shape 21">
            <a:extLst>
              <a:ext uri="{FF2B5EF4-FFF2-40B4-BE49-F238E27FC236}">
                <a16:creationId xmlns:a16="http://schemas.microsoft.com/office/drawing/2014/main" id="{BA430CC0-BC0A-472A-9F4E-CEDB0A52E19C}"/>
              </a:ext>
            </a:extLst>
          </p:cNvPr>
          <p:cNvSpPr/>
          <p:nvPr/>
        </p:nvSpPr>
        <p:spPr>
          <a:xfrm>
            <a:off x="1142891" y="743010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8" name="Shape 22">
            <a:extLst>
              <a:ext uri="{FF2B5EF4-FFF2-40B4-BE49-F238E27FC236}">
                <a16:creationId xmlns:a16="http://schemas.microsoft.com/office/drawing/2014/main" id="{D0F1BAB3-55DD-4B90-9514-6377C02A9076}"/>
              </a:ext>
            </a:extLst>
          </p:cNvPr>
          <p:cNvSpPr/>
          <p:nvPr/>
        </p:nvSpPr>
        <p:spPr>
          <a:xfrm>
            <a:off x="1485712" y="743010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9" name="Shape 23">
            <a:extLst>
              <a:ext uri="{FF2B5EF4-FFF2-40B4-BE49-F238E27FC236}">
                <a16:creationId xmlns:a16="http://schemas.microsoft.com/office/drawing/2014/main" id="{413C9993-835C-4DCE-99EE-1A4B19C69446}"/>
              </a:ext>
            </a:extLst>
          </p:cNvPr>
          <p:cNvSpPr/>
          <p:nvPr/>
        </p:nvSpPr>
        <p:spPr>
          <a:xfrm>
            <a:off x="1829474" y="743010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22" name="Shape 25">
            <a:extLst>
              <a:ext uri="{FF2B5EF4-FFF2-40B4-BE49-F238E27FC236}">
                <a16:creationId xmlns:a16="http://schemas.microsoft.com/office/drawing/2014/main" id="{F3567888-8960-4D67-8893-94ED42CC31E1}"/>
              </a:ext>
            </a:extLst>
          </p:cNvPr>
          <p:cNvSpPr/>
          <p:nvPr/>
        </p:nvSpPr>
        <p:spPr>
          <a:xfrm>
            <a:off x="1731525" y="1169345"/>
            <a:ext cx="9320193" cy="249610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23" name="Shape 26">
            <a:extLst>
              <a:ext uri="{FF2B5EF4-FFF2-40B4-BE49-F238E27FC236}">
                <a16:creationId xmlns:a16="http://schemas.microsoft.com/office/drawing/2014/main" id="{F9BE2189-0E78-419A-8C1A-57E458CD3185}"/>
              </a:ext>
            </a:extLst>
          </p:cNvPr>
          <p:cNvSpPr/>
          <p:nvPr/>
        </p:nvSpPr>
        <p:spPr>
          <a:xfrm>
            <a:off x="11149667" y="1148377"/>
            <a:ext cx="686583" cy="27057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4" name="Shape 27">
            <a:extLst>
              <a:ext uri="{FF2B5EF4-FFF2-40B4-BE49-F238E27FC236}">
                <a16:creationId xmlns:a16="http://schemas.microsoft.com/office/drawing/2014/main" id="{3BF4B2C6-B1E4-4F82-81A6-F664E976AAD4}"/>
              </a:ext>
            </a:extLst>
          </p:cNvPr>
          <p:cNvSpPr/>
          <p:nvPr/>
        </p:nvSpPr>
        <p:spPr>
          <a:xfrm>
            <a:off x="3359922" y="1522793"/>
            <a:ext cx="166701" cy="4326247"/>
          </a:xfrm>
          <a:prstGeom prst="rect">
            <a:avLst/>
          </a:prstGeom>
          <a:solidFill>
            <a:srgbClr val="DFDFDF"/>
          </a:solidFill>
          <a:ln/>
        </p:spPr>
      </p:sp>
      <p:sp>
        <p:nvSpPr>
          <p:cNvPr id="125" name="Shape 28">
            <a:extLst>
              <a:ext uri="{FF2B5EF4-FFF2-40B4-BE49-F238E27FC236}">
                <a16:creationId xmlns:a16="http://schemas.microsoft.com/office/drawing/2014/main" id="{D31BEC5E-DE7B-485B-92B6-010A35214FB6}"/>
              </a:ext>
            </a:extLst>
          </p:cNvPr>
          <p:cNvSpPr/>
          <p:nvPr/>
        </p:nvSpPr>
        <p:spPr>
          <a:xfrm>
            <a:off x="3359922" y="1522793"/>
            <a:ext cx="9418" cy="4326247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>
                <a:alpha val="0"/>
              </a:srgbClr>
            </a:solidFill>
            <a:prstDash val="solid"/>
          </a:ln>
        </p:spPr>
      </p:sp>
      <p:sp>
        <p:nvSpPr>
          <p:cNvPr id="127" name="Shape 30">
            <a:extLst>
              <a:ext uri="{FF2B5EF4-FFF2-40B4-BE49-F238E27FC236}">
                <a16:creationId xmlns:a16="http://schemas.microsoft.com/office/drawing/2014/main" id="{916FC1B2-F896-4360-AE9D-1DA7A8004F60}"/>
              </a:ext>
            </a:extLst>
          </p:cNvPr>
          <p:cNvSpPr/>
          <p:nvPr/>
        </p:nvSpPr>
        <p:spPr>
          <a:xfrm>
            <a:off x="1083557" y="5932909"/>
            <a:ext cx="2452485" cy="187707"/>
          </a:xfrm>
          <a:prstGeom prst="rect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141" name="Shape 31">
            <a:extLst>
              <a:ext uri="{FF2B5EF4-FFF2-40B4-BE49-F238E27FC236}">
                <a16:creationId xmlns:a16="http://schemas.microsoft.com/office/drawing/2014/main" id="{91123D67-B5E3-49E4-99D0-DFCAAC3F8CCA}"/>
              </a:ext>
            </a:extLst>
          </p:cNvPr>
          <p:cNvSpPr/>
          <p:nvPr/>
        </p:nvSpPr>
        <p:spPr>
          <a:xfrm>
            <a:off x="3555820" y="5932909"/>
            <a:ext cx="8338823" cy="187707"/>
          </a:xfrm>
          <a:prstGeom prst="rect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142" name="Shape 32">
            <a:extLst>
              <a:ext uri="{FF2B5EF4-FFF2-40B4-BE49-F238E27FC236}">
                <a16:creationId xmlns:a16="http://schemas.microsoft.com/office/drawing/2014/main" id="{354B1A02-7FFC-47B5-9696-E585EB5A9885}"/>
              </a:ext>
            </a:extLst>
          </p:cNvPr>
          <p:cNvSpPr/>
          <p:nvPr/>
        </p:nvSpPr>
        <p:spPr>
          <a:xfrm>
            <a:off x="3359922" y="1522793"/>
            <a:ext cx="157283" cy="16674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5" name="Shape 33">
            <a:extLst>
              <a:ext uri="{FF2B5EF4-FFF2-40B4-BE49-F238E27FC236}">
                <a16:creationId xmlns:a16="http://schemas.microsoft.com/office/drawing/2014/main" id="{DA473C0B-5729-4FD8-AD5B-3C1C059BA00F}"/>
              </a:ext>
            </a:extLst>
          </p:cNvPr>
          <p:cNvSpPr/>
          <p:nvPr/>
        </p:nvSpPr>
        <p:spPr>
          <a:xfrm>
            <a:off x="3359922" y="1689533"/>
            <a:ext cx="157283" cy="831702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6" name="Shape 34">
            <a:extLst>
              <a:ext uri="{FF2B5EF4-FFF2-40B4-BE49-F238E27FC236}">
                <a16:creationId xmlns:a16="http://schemas.microsoft.com/office/drawing/2014/main" id="{A4F36E1F-4507-4CC5-9346-4FBE0AD7F22F}"/>
              </a:ext>
            </a:extLst>
          </p:cNvPr>
          <p:cNvSpPr/>
          <p:nvPr/>
        </p:nvSpPr>
        <p:spPr>
          <a:xfrm>
            <a:off x="3359922" y="5683299"/>
            <a:ext cx="157283" cy="16674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8" name="Image 8" descr="gen-dedup-7c02ed4669765158cb6410457d6288f7.png">
            <a:extLst>
              <a:ext uri="{FF2B5EF4-FFF2-40B4-BE49-F238E27FC236}">
                <a16:creationId xmlns:a16="http://schemas.microsoft.com/office/drawing/2014/main" id="{2665EC4D-B367-4232-8285-18D4141E819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6250" b="-6250"/>
          <a:stretch/>
        </p:blipFill>
        <p:spPr>
          <a:xfrm>
            <a:off x="1123114" y="191871"/>
            <a:ext cx="157283" cy="166740"/>
          </a:xfrm>
          <a:prstGeom prst="rect">
            <a:avLst/>
          </a:prstGeom>
        </p:spPr>
      </p:pic>
      <p:sp>
        <p:nvSpPr>
          <p:cNvPr id="149" name="Text 36">
            <a:extLst>
              <a:ext uri="{FF2B5EF4-FFF2-40B4-BE49-F238E27FC236}">
                <a16:creationId xmlns:a16="http://schemas.microsoft.com/office/drawing/2014/main" id="{E428AE1F-5E2A-45BC-8AD2-EAAD85DE2C03}"/>
              </a:ext>
            </a:extLst>
          </p:cNvPr>
          <p:cNvSpPr txBox="1"/>
          <p:nvPr/>
        </p:nvSpPr>
        <p:spPr>
          <a:xfrm>
            <a:off x="1387763" y="170904"/>
            <a:ext cx="1594491" cy="20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탐색 중 - Projects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Text 37">
            <a:extLst>
              <a:ext uri="{FF2B5EF4-FFF2-40B4-BE49-F238E27FC236}">
                <a16:creationId xmlns:a16="http://schemas.microsoft.com/office/drawing/2014/main" id="{B62B1CCF-70A3-4E76-BC3F-82C5DF2D170C}"/>
              </a:ext>
            </a:extLst>
          </p:cNvPr>
          <p:cNvSpPr txBox="1"/>
          <p:nvPr/>
        </p:nvSpPr>
        <p:spPr>
          <a:xfrm>
            <a:off x="11138365" y="185880"/>
            <a:ext cx="83822" cy="14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_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1" name="Shape 38">
            <a:extLst>
              <a:ext uri="{FF2B5EF4-FFF2-40B4-BE49-F238E27FC236}">
                <a16:creationId xmlns:a16="http://schemas.microsoft.com/office/drawing/2014/main" id="{D76E0BCC-364D-4EE0-BC3A-3858A77A42F3}"/>
              </a:ext>
            </a:extLst>
          </p:cNvPr>
          <p:cNvSpPr/>
          <p:nvPr/>
        </p:nvSpPr>
        <p:spPr>
          <a:xfrm>
            <a:off x="11414317" y="206847"/>
            <a:ext cx="117727" cy="13479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52" name="Shape 39">
            <a:extLst>
              <a:ext uri="{FF2B5EF4-FFF2-40B4-BE49-F238E27FC236}">
                <a16:creationId xmlns:a16="http://schemas.microsoft.com/office/drawing/2014/main" id="{B2824EFA-3C56-436D-9EF5-EACB833A8EB2}"/>
              </a:ext>
            </a:extLst>
          </p:cNvPr>
          <p:cNvSpPr/>
          <p:nvPr/>
        </p:nvSpPr>
        <p:spPr>
          <a:xfrm>
            <a:off x="11414317" y="206847"/>
            <a:ext cx="117727" cy="20967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Text 40">
            <a:extLst>
              <a:ext uri="{FF2B5EF4-FFF2-40B4-BE49-F238E27FC236}">
                <a16:creationId xmlns:a16="http://schemas.microsoft.com/office/drawing/2014/main" id="{73B04141-7F29-472D-BF63-5B332765C610}"/>
              </a:ext>
            </a:extLst>
          </p:cNvPr>
          <p:cNvSpPr txBox="1"/>
          <p:nvPr/>
        </p:nvSpPr>
        <p:spPr>
          <a:xfrm>
            <a:off x="11727941" y="201855"/>
            <a:ext cx="88531" cy="14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8" name="Image 9" descr="gen-dedup-25afa46a09582202a40d6f31fc2ccf91.png">
            <a:extLst>
              <a:ext uri="{FF2B5EF4-FFF2-40B4-BE49-F238E27FC236}">
                <a16:creationId xmlns:a16="http://schemas.microsoft.com/office/drawing/2014/main" id="{6D3A70D4-DA94-488E-BECC-BF8D28E4351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1210702" y="815896"/>
            <a:ext cx="157283" cy="166740"/>
          </a:xfrm>
          <a:prstGeom prst="rect">
            <a:avLst/>
          </a:prstGeom>
        </p:spPr>
      </p:pic>
      <p:pic>
        <p:nvPicPr>
          <p:cNvPr id="159" name="Image 10" descr="gen-dedup-53d8cb32c6720cdad62ecd3793163a86.png">
            <a:extLst>
              <a:ext uri="{FF2B5EF4-FFF2-40B4-BE49-F238E27FC236}">
                <a16:creationId xmlns:a16="http://schemas.microsoft.com/office/drawing/2014/main" id="{38CE9DD8-4C0F-46DC-B9A0-EA21C7095C9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7143" r="-7143"/>
          <a:stretch/>
        </p:blipFill>
        <p:spPr>
          <a:xfrm>
            <a:off x="1554464" y="815896"/>
            <a:ext cx="157283" cy="166740"/>
          </a:xfrm>
          <a:prstGeom prst="rect">
            <a:avLst/>
          </a:prstGeom>
        </p:spPr>
      </p:pic>
      <p:pic>
        <p:nvPicPr>
          <p:cNvPr id="160" name="Image 11" descr="gen-dedup-fa17d56a867348b02c8a56abf7174658.png">
            <a:extLst>
              <a:ext uri="{FF2B5EF4-FFF2-40B4-BE49-F238E27FC236}">
                <a16:creationId xmlns:a16="http://schemas.microsoft.com/office/drawing/2014/main" id="{922B725B-A15E-4516-BFD5-E5CBF5F3301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16666" r="-16666"/>
          <a:stretch/>
        </p:blipFill>
        <p:spPr>
          <a:xfrm>
            <a:off x="1898227" y="815896"/>
            <a:ext cx="157283" cy="166740"/>
          </a:xfrm>
          <a:prstGeom prst="rect">
            <a:avLst/>
          </a:prstGeom>
        </p:spPr>
      </p:pic>
      <p:pic>
        <p:nvPicPr>
          <p:cNvPr id="161" name="Image 12" descr="gen-dedup-013b38688217c28f0315b66cc4dba47b.png">
            <a:extLst>
              <a:ext uri="{FF2B5EF4-FFF2-40B4-BE49-F238E27FC236}">
                <a16:creationId xmlns:a16="http://schemas.microsoft.com/office/drawing/2014/main" id="{D017ADA0-79CA-457C-8D33-D4231577065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2418108" y="815896"/>
            <a:ext cx="157283" cy="166740"/>
          </a:xfrm>
          <a:prstGeom prst="rect">
            <a:avLst/>
          </a:prstGeom>
        </p:spPr>
      </p:pic>
      <p:pic>
        <p:nvPicPr>
          <p:cNvPr id="162" name="Image 13" descr="gen-dedup-3408d1960989eaff15e10127b414fcf2.png">
            <a:extLst>
              <a:ext uri="{FF2B5EF4-FFF2-40B4-BE49-F238E27FC236}">
                <a16:creationId xmlns:a16="http://schemas.microsoft.com/office/drawing/2014/main" id="{99A1AEF4-E23A-47B4-A49D-1A8A656F8CA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7143" r="-7143"/>
          <a:stretch/>
        </p:blipFill>
        <p:spPr>
          <a:xfrm>
            <a:off x="2711955" y="815896"/>
            <a:ext cx="157283" cy="166740"/>
          </a:xfrm>
          <a:prstGeom prst="rect">
            <a:avLst/>
          </a:prstGeom>
        </p:spPr>
      </p:pic>
      <p:pic>
        <p:nvPicPr>
          <p:cNvPr id="163" name="Image 14" descr="gen-dedup-6e9e672aa626b1edf6db8640b2821839.png">
            <a:extLst>
              <a:ext uri="{FF2B5EF4-FFF2-40B4-BE49-F238E27FC236}">
                <a16:creationId xmlns:a16="http://schemas.microsoft.com/office/drawing/2014/main" id="{C9550F90-0E01-4893-B835-77A2FB3C1F4E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3006742" y="815896"/>
            <a:ext cx="157283" cy="166740"/>
          </a:xfrm>
          <a:prstGeom prst="rect">
            <a:avLst/>
          </a:prstGeom>
        </p:spPr>
      </p:pic>
      <p:sp>
        <p:nvSpPr>
          <p:cNvPr id="164" name="Text 41">
            <a:extLst>
              <a:ext uri="{FF2B5EF4-FFF2-40B4-BE49-F238E27FC236}">
                <a16:creationId xmlns:a16="http://schemas.microsoft.com/office/drawing/2014/main" id="{0762294A-6332-409C-A4B5-45E26B375792}"/>
              </a:ext>
            </a:extLst>
          </p:cNvPr>
          <p:cNvSpPr txBox="1"/>
          <p:nvPr/>
        </p:nvSpPr>
        <p:spPr>
          <a:xfrm>
            <a:off x="1142891" y="1195304"/>
            <a:ext cx="536834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주소(D)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5" name="Image 15" descr="gen-dedup-7c02ed4669765158cb6410457d6288f7.png">
            <a:extLst>
              <a:ext uri="{FF2B5EF4-FFF2-40B4-BE49-F238E27FC236}">
                <a16:creationId xmlns:a16="http://schemas.microsoft.com/office/drawing/2014/main" id="{239474F9-BA3C-417F-8CE0-5EE537895D3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6250" b="-6250"/>
          <a:stretch/>
        </p:blipFill>
        <p:spPr>
          <a:xfrm>
            <a:off x="1780500" y="1210281"/>
            <a:ext cx="157283" cy="166740"/>
          </a:xfrm>
          <a:prstGeom prst="rect">
            <a:avLst/>
          </a:prstGeom>
        </p:spPr>
      </p:pic>
      <p:sp>
        <p:nvSpPr>
          <p:cNvPr id="166" name="Text 42">
            <a:extLst>
              <a:ext uri="{FF2B5EF4-FFF2-40B4-BE49-F238E27FC236}">
                <a16:creationId xmlns:a16="http://schemas.microsoft.com/office/drawing/2014/main" id="{2A6B50A8-5D43-45FB-875F-B4B2E68A3195}"/>
              </a:ext>
            </a:extLst>
          </p:cNvPr>
          <p:cNvSpPr txBox="1"/>
          <p:nvPr/>
        </p:nvSpPr>
        <p:spPr>
          <a:xfrm>
            <a:off x="2025372" y="1216271"/>
            <a:ext cx="3451503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C:\Portfolio\Projects\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기타 프로젝트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\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집에 돌아가고 싶은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슬라임씨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7" name="Text 43">
            <a:extLst>
              <a:ext uri="{FF2B5EF4-FFF2-40B4-BE49-F238E27FC236}">
                <a16:creationId xmlns:a16="http://schemas.microsoft.com/office/drawing/2014/main" id="{8C4F7CE9-8270-4468-851B-DDF88A52F141}"/>
              </a:ext>
            </a:extLst>
          </p:cNvPr>
          <p:cNvSpPr txBox="1"/>
          <p:nvPr/>
        </p:nvSpPr>
        <p:spPr>
          <a:xfrm>
            <a:off x="11384179" y="1195304"/>
            <a:ext cx="244872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이동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8" name="Text 44">
            <a:extLst>
              <a:ext uri="{FF2B5EF4-FFF2-40B4-BE49-F238E27FC236}">
                <a16:creationId xmlns:a16="http://schemas.microsoft.com/office/drawing/2014/main" id="{16B13CC4-BA5A-44FF-8E47-E60E04A8820A}"/>
              </a:ext>
            </a:extLst>
          </p:cNvPr>
          <p:cNvSpPr txBox="1"/>
          <p:nvPr/>
        </p:nvSpPr>
        <p:spPr>
          <a:xfrm>
            <a:off x="1142891" y="1600671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9" name="Image 16" descr="gen-dedup-71f3cd3c0f5149b77a7c51df2d1a7eab.png">
            <a:extLst>
              <a:ext uri="{FF2B5EF4-FFF2-40B4-BE49-F238E27FC236}">
                <a16:creationId xmlns:a16="http://schemas.microsoft.com/office/drawing/2014/main" id="{5722AD78-CE8C-4097-B8F2-1C40233E278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6250" b="-6250"/>
          <a:stretch/>
        </p:blipFill>
        <p:spPr>
          <a:xfrm>
            <a:off x="1309593" y="1590687"/>
            <a:ext cx="137504" cy="145772"/>
          </a:xfrm>
          <a:prstGeom prst="rect">
            <a:avLst/>
          </a:prstGeom>
        </p:spPr>
      </p:pic>
      <p:sp>
        <p:nvSpPr>
          <p:cNvPr id="170" name="Text 45">
            <a:extLst>
              <a:ext uri="{FF2B5EF4-FFF2-40B4-BE49-F238E27FC236}">
                <a16:creationId xmlns:a16="http://schemas.microsoft.com/office/drawing/2014/main" id="{E8856BC4-07FF-4558-A9F5-EFB404064BD4}"/>
              </a:ext>
            </a:extLst>
          </p:cNvPr>
          <p:cNvSpPr txBox="1"/>
          <p:nvPr/>
        </p:nvSpPr>
        <p:spPr>
          <a:xfrm>
            <a:off x="1496072" y="1564728"/>
            <a:ext cx="607470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내 컴퓨터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1" name="Text 46">
            <a:extLst>
              <a:ext uri="{FF2B5EF4-FFF2-40B4-BE49-F238E27FC236}">
                <a16:creationId xmlns:a16="http://schemas.microsoft.com/office/drawing/2014/main" id="{E7449BCD-C7B7-4C95-AF68-25995EF1A200}"/>
              </a:ext>
            </a:extLst>
          </p:cNvPr>
          <p:cNvSpPr txBox="1"/>
          <p:nvPr/>
        </p:nvSpPr>
        <p:spPr>
          <a:xfrm>
            <a:off x="1338789" y="1881234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2" name="Image 17" descr="gen-dedup-e3bb1bdbf10fa3b8ada790141c1d3212.png">
            <a:extLst>
              <a:ext uri="{FF2B5EF4-FFF2-40B4-BE49-F238E27FC236}">
                <a16:creationId xmlns:a16="http://schemas.microsoft.com/office/drawing/2014/main" id="{24284AD3-13CD-4AEE-B86A-48EEFCA4E465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505490" y="1871249"/>
            <a:ext cx="137504" cy="145772"/>
          </a:xfrm>
          <a:prstGeom prst="rect">
            <a:avLst/>
          </a:prstGeom>
        </p:spPr>
      </p:pic>
      <p:sp>
        <p:nvSpPr>
          <p:cNvPr id="173" name="Text 47">
            <a:extLst>
              <a:ext uri="{FF2B5EF4-FFF2-40B4-BE49-F238E27FC236}">
                <a16:creationId xmlns:a16="http://schemas.microsoft.com/office/drawing/2014/main" id="{9A638C46-6AA2-4807-8EB6-3B39C7503EAB}"/>
              </a:ext>
            </a:extLst>
          </p:cNvPr>
          <p:cNvSpPr txBox="1"/>
          <p:nvPr/>
        </p:nvSpPr>
        <p:spPr>
          <a:xfrm>
            <a:off x="1691969" y="1845289"/>
            <a:ext cx="982312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C: 로컬 디스크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4" name="Text 48">
            <a:extLst>
              <a:ext uri="{FF2B5EF4-FFF2-40B4-BE49-F238E27FC236}">
                <a16:creationId xmlns:a16="http://schemas.microsoft.com/office/drawing/2014/main" id="{323AFC2D-633A-482D-BAFB-FD8F3EB4DDFB}"/>
              </a:ext>
            </a:extLst>
          </p:cNvPr>
          <p:cNvSpPr txBox="1"/>
          <p:nvPr/>
        </p:nvSpPr>
        <p:spPr>
          <a:xfrm>
            <a:off x="1534687" y="2141827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5" name="Image 18" descr="gen-dedup-ba01fa70a70d7d3a77dc83183451dc86.png">
            <a:extLst>
              <a:ext uri="{FF2B5EF4-FFF2-40B4-BE49-F238E27FC236}">
                <a16:creationId xmlns:a16="http://schemas.microsoft.com/office/drawing/2014/main" id="{6BB5E545-5BF5-498F-817C-752D4F6D61D6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701387" y="2130844"/>
            <a:ext cx="137504" cy="145772"/>
          </a:xfrm>
          <a:prstGeom prst="rect">
            <a:avLst/>
          </a:prstGeom>
        </p:spPr>
      </p:pic>
      <p:sp>
        <p:nvSpPr>
          <p:cNvPr id="176" name="Text 49">
            <a:extLst>
              <a:ext uri="{FF2B5EF4-FFF2-40B4-BE49-F238E27FC236}">
                <a16:creationId xmlns:a16="http://schemas.microsoft.com/office/drawing/2014/main" id="{1E3BD229-5997-4AB9-8C0F-C468BC742636}"/>
              </a:ext>
            </a:extLst>
          </p:cNvPr>
          <p:cNvSpPr txBox="1"/>
          <p:nvPr/>
        </p:nvSpPr>
        <p:spPr>
          <a:xfrm>
            <a:off x="1887867" y="2125852"/>
            <a:ext cx="760044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Text 50">
            <a:extLst>
              <a:ext uri="{FF2B5EF4-FFF2-40B4-BE49-F238E27FC236}">
                <a16:creationId xmlns:a16="http://schemas.microsoft.com/office/drawing/2014/main" id="{723C73E9-4A4E-4F42-AE7A-87E8358A822A}"/>
              </a:ext>
            </a:extLst>
          </p:cNvPr>
          <p:cNvSpPr txBox="1"/>
          <p:nvPr/>
        </p:nvSpPr>
        <p:spPr>
          <a:xfrm>
            <a:off x="1731525" y="2380455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8" name="Image 19" descr="gen-dedup-164d010ae7e53d534a0b3104348ed19a.png">
            <a:extLst>
              <a:ext uri="{FF2B5EF4-FFF2-40B4-BE49-F238E27FC236}">
                <a16:creationId xmlns:a16="http://schemas.microsoft.com/office/drawing/2014/main" id="{9743F858-A590-4BB3-808D-215064351692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-6250" b="-6250"/>
          <a:stretch/>
        </p:blipFill>
        <p:spPr>
          <a:xfrm>
            <a:off x="1898227" y="2370470"/>
            <a:ext cx="137504" cy="145772"/>
          </a:xfrm>
          <a:prstGeom prst="rect">
            <a:avLst/>
          </a:prstGeom>
        </p:spPr>
      </p:pic>
      <p:sp>
        <p:nvSpPr>
          <p:cNvPr id="179" name="Text 51">
            <a:extLst>
              <a:ext uri="{FF2B5EF4-FFF2-40B4-BE49-F238E27FC236}">
                <a16:creationId xmlns:a16="http://schemas.microsoft.com/office/drawing/2014/main" id="{91A6C390-EF73-4B4E-9448-4A092525C527}"/>
              </a:ext>
            </a:extLst>
          </p:cNvPr>
          <p:cNvSpPr txBox="1"/>
          <p:nvPr/>
        </p:nvSpPr>
        <p:spPr>
          <a:xfrm>
            <a:off x="2084706" y="2365478"/>
            <a:ext cx="681874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0" name="Shape 52">
            <a:extLst>
              <a:ext uri="{FF2B5EF4-FFF2-40B4-BE49-F238E27FC236}">
                <a16:creationId xmlns:a16="http://schemas.microsoft.com/office/drawing/2014/main" id="{64A3B9A6-8696-4451-88B1-C3DE0AFFCA24}"/>
              </a:ext>
            </a:extLst>
          </p:cNvPr>
          <p:cNvSpPr/>
          <p:nvPr/>
        </p:nvSpPr>
        <p:spPr>
          <a:xfrm>
            <a:off x="1092676" y="3660405"/>
            <a:ext cx="2276364" cy="155756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Text 53">
            <a:extLst>
              <a:ext uri="{FF2B5EF4-FFF2-40B4-BE49-F238E27FC236}">
                <a16:creationId xmlns:a16="http://schemas.microsoft.com/office/drawing/2014/main" id="{CAF9D105-2730-4456-BD86-A00FA06DCDA1}"/>
              </a:ext>
            </a:extLst>
          </p:cNvPr>
          <p:cNvSpPr txBox="1"/>
          <p:nvPr/>
        </p:nvSpPr>
        <p:spPr>
          <a:xfrm>
            <a:off x="2280602" y="2604105"/>
            <a:ext cx="1472055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Arial" pitchFamily="34" charset="-122"/>
                <a:cs typeface="Arial" pitchFamily="34" charset="-120"/>
              </a:rPr>
              <a:t>WinAPI_DontStarve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183" name="Image 21" descr="gen-dedup-2302e8a913f082daf4055bce75fbff92.png">
            <a:extLst>
              <a:ext uri="{FF2B5EF4-FFF2-40B4-BE49-F238E27FC236}">
                <a16:creationId xmlns:a16="http://schemas.microsoft.com/office/drawing/2014/main" id="{84D0CCAD-71D2-440D-B1DE-D8B05BC99660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2615089"/>
            <a:ext cx="137504" cy="145772"/>
          </a:xfrm>
          <a:prstGeom prst="rect">
            <a:avLst/>
          </a:prstGeom>
        </p:spPr>
      </p:pic>
      <p:sp>
        <p:nvSpPr>
          <p:cNvPr id="184" name="Text 54">
            <a:extLst>
              <a:ext uri="{FF2B5EF4-FFF2-40B4-BE49-F238E27FC236}">
                <a16:creationId xmlns:a16="http://schemas.microsoft.com/office/drawing/2014/main" id="{31E9B7CF-593C-4A81-9275-E23FA6F6FF6D}"/>
              </a:ext>
            </a:extLst>
          </p:cNvPr>
          <p:cNvSpPr txBox="1"/>
          <p:nvPr/>
        </p:nvSpPr>
        <p:spPr>
          <a:xfrm>
            <a:off x="2280602" y="2868224"/>
            <a:ext cx="976709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File Tower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Defence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5" name="Image 22" descr="gen-dedup-2302e8a913f082daf4055bce75fbff92.png">
            <a:extLst>
              <a:ext uri="{FF2B5EF4-FFF2-40B4-BE49-F238E27FC236}">
                <a16:creationId xmlns:a16="http://schemas.microsoft.com/office/drawing/2014/main" id="{A18364CD-242D-46EE-BC7A-AAB0C31013B5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2878332"/>
            <a:ext cx="137504" cy="145772"/>
          </a:xfrm>
          <a:prstGeom prst="rect">
            <a:avLst/>
          </a:prstGeom>
        </p:spPr>
      </p:pic>
      <p:sp>
        <p:nvSpPr>
          <p:cNvPr id="186" name="Text 55">
            <a:extLst>
              <a:ext uri="{FF2B5EF4-FFF2-40B4-BE49-F238E27FC236}">
                <a16:creationId xmlns:a16="http://schemas.microsoft.com/office/drawing/2014/main" id="{90569763-24C7-4A44-99BB-8107D5A4F9AE}"/>
              </a:ext>
            </a:extLst>
          </p:cNvPr>
          <p:cNvSpPr txBox="1"/>
          <p:nvPr/>
        </p:nvSpPr>
        <p:spPr>
          <a:xfrm>
            <a:off x="2280602" y="3132343"/>
            <a:ext cx="1079319" cy="15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 Racing Simulation</a:t>
            </a:r>
          </a:p>
        </p:txBody>
      </p:sp>
      <p:sp>
        <p:nvSpPr>
          <p:cNvPr id="187" name="Text 56">
            <a:extLst>
              <a:ext uri="{FF2B5EF4-FFF2-40B4-BE49-F238E27FC236}">
                <a16:creationId xmlns:a16="http://schemas.microsoft.com/office/drawing/2014/main" id="{866DB103-F61D-4F55-8CB2-0DCECDF562DE}"/>
              </a:ext>
            </a:extLst>
          </p:cNvPr>
          <p:cNvSpPr txBox="1"/>
          <p:nvPr/>
        </p:nvSpPr>
        <p:spPr>
          <a:xfrm>
            <a:off x="3389118" y="1517801"/>
            <a:ext cx="98890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▲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8" name="Text 57">
            <a:extLst>
              <a:ext uri="{FF2B5EF4-FFF2-40B4-BE49-F238E27FC236}">
                <a16:creationId xmlns:a16="http://schemas.microsoft.com/office/drawing/2014/main" id="{07972270-EEB3-4E57-A275-58C3789BD728}"/>
              </a:ext>
            </a:extLst>
          </p:cNvPr>
          <p:cNvSpPr txBox="1"/>
          <p:nvPr/>
        </p:nvSpPr>
        <p:spPr>
          <a:xfrm>
            <a:off x="3389118" y="5677309"/>
            <a:ext cx="98890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Text 59">
            <a:extLst>
              <a:ext uri="{FF2B5EF4-FFF2-40B4-BE49-F238E27FC236}">
                <a16:creationId xmlns:a16="http://schemas.microsoft.com/office/drawing/2014/main" id="{F370B7F2-545A-4C3C-AE52-60FFDC3BC6C9}"/>
              </a:ext>
            </a:extLst>
          </p:cNvPr>
          <p:cNvSpPr txBox="1"/>
          <p:nvPr/>
        </p:nvSpPr>
        <p:spPr>
          <a:xfrm>
            <a:off x="1142891" y="5937901"/>
            <a:ext cx="515173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5개 개체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2" name="Text 60">
            <a:extLst>
              <a:ext uri="{FF2B5EF4-FFF2-40B4-BE49-F238E27FC236}">
                <a16:creationId xmlns:a16="http://schemas.microsoft.com/office/drawing/2014/main" id="{56BEFB76-4CFC-42A7-B9E8-E085EEAF66E4}"/>
              </a:ext>
            </a:extLst>
          </p:cNvPr>
          <p:cNvSpPr txBox="1"/>
          <p:nvPr/>
        </p:nvSpPr>
        <p:spPr>
          <a:xfrm>
            <a:off x="3644351" y="5937901"/>
            <a:ext cx="2312154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1개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항목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선택됨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ko-KR" altLang="en-US" sz="900" dirty="0">
                <a:solidFill>
                  <a:srgbClr val="000000"/>
                </a:solidFill>
                <a:latin typeface="Calibri" panose="020F0502020204030204"/>
              </a:rPr>
              <a:t>기타 프로젝트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Shape 29">
            <a:extLst>
              <a:ext uri="{FF2B5EF4-FFF2-40B4-BE49-F238E27FC236}">
                <a16:creationId xmlns:a16="http://schemas.microsoft.com/office/drawing/2014/main" id="{C8E8281E-329E-4104-AF26-2BF462B61E3F}"/>
              </a:ext>
            </a:extLst>
          </p:cNvPr>
          <p:cNvSpPr/>
          <p:nvPr/>
        </p:nvSpPr>
        <p:spPr>
          <a:xfrm>
            <a:off x="3615584" y="1517800"/>
            <a:ext cx="8262000" cy="312984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9" name="Text 58">
            <a:extLst>
              <a:ext uri="{FF2B5EF4-FFF2-40B4-BE49-F238E27FC236}">
                <a16:creationId xmlns:a16="http://schemas.microsoft.com/office/drawing/2014/main" id="{ADA0929B-6390-4236-84B5-CBBBC1E952F8}"/>
              </a:ext>
            </a:extLst>
          </p:cNvPr>
          <p:cNvSpPr txBox="1"/>
          <p:nvPr/>
        </p:nvSpPr>
        <p:spPr>
          <a:xfrm>
            <a:off x="3680570" y="1579370"/>
            <a:ext cx="3207781" cy="190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상세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정보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–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집에 돌아가고 싶은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슬라임씨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90" name="Table 0">
            <a:extLst>
              <a:ext uri="{FF2B5EF4-FFF2-40B4-BE49-F238E27FC236}">
                <a16:creationId xmlns:a16="http://schemas.microsoft.com/office/drawing/2014/main" id="{17C5AF9B-F49B-46DE-BE64-BBD629004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60518"/>
              </p:ext>
            </p:extLst>
          </p:nvPr>
        </p:nvGraphicFramePr>
        <p:xfrm>
          <a:off x="6888351" y="1904694"/>
          <a:ext cx="4922345" cy="1848411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012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7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05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15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플랫폼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400" dirty="0"/>
                        <a:t>PC(Windows)</a:t>
                      </a: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장르</a:t>
                      </a:r>
                      <a:endParaRPr lang="ko-KR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액션 </a:t>
                      </a:r>
                      <a:r>
                        <a:rPr lang="ko-KR" altLang="en-US" sz="1400" dirty="0" err="1"/>
                        <a:t>플랫포머</a:t>
                      </a:r>
                      <a:endParaRPr lang="ko-KR" altLang="en-US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2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인원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인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기획</a:t>
                      </a:r>
                      <a:r>
                        <a:rPr lang="en-US" altLang="ko-KR" sz="1400" dirty="0"/>
                        <a:t>1,</a:t>
                      </a:r>
                      <a:r>
                        <a:rPr lang="ko-KR" altLang="en-US" sz="1400" dirty="0" err="1"/>
                        <a:t>플밍</a:t>
                      </a:r>
                      <a:r>
                        <a:rPr lang="en-US" altLang="ko-KR" sz="1400" dirty="0"/>
                        <a:t>2)</a:t>
                      </a:r>
                      <a:endParaRPr lang="ko-KR" altLang="en-US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</a:t>
                      </a: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baseline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기간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2024.06. ~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2024.011.</a:t>
                      </a:r>
                      <a:endParaRPr lang="ko-KR" altLang="en-US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65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도구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C#, Unity</a:t>
                      </a:r>
                      <a:endParaRPr lang="ko-KR" altLang="en-US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동영상 링크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EE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  <a:hlinkClick r:id="rId19"/>
                        </a:rPr>
                        <a:t>유튜브 링크</a:t>
                      </a:r>
                      <a:endParaRPr lang="en-US" sz="14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" name="Shape 3">
            <a:extLst>
              <a:ext uri="{FF2B5EF4-FFF2-40B4-BE49-F238E27FC236}">
                <a16:creationId xmlns:a16="http://schemas.microsoft.com/office/drawing/2014/main" id="{8D2D6D18-3D4F-2789-2367-5B77242E2AAF}"/>
              </a:ext>
            </a:extLst>
          </p:cNvPr>
          <p:cNvSpPr/>
          <p:nvPr/>
        </p:nvSpPr>
        <p:spPr>
          <a:xfrm>
            <a:off x="250546" y="4467759"/>
            <a:ext cx="629107" cy="590702"/>
          </a:xfrm>
          <a:prstGeom prst="rect">
            <a:avLst/>
          </a:prstGeom>
          <a:solidFill>
            <a:srgbClr val="000080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0" descr="gen-dedup-57ee6a1f0d650d3a975db06a8ec6cc96.png">
            <a:extLst>
              <a:ext uri="{FF2B5EF4-FFF2-40B4-BE49-F238E27FC236}">
                <a16:creationId xmlns:a16="http://schemas.microsoft.com/office/drawing/2014/main" id="{EFCF0412-E908-C7BF-BC55-BAE05E0EE49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-6250" b="-6250"/>
          <a:stretch/>
        </p:blipFill>
        <p:spPr>
          <a:xfrm>
            <a:off x="381305" y="1047902"/>
            <a:ext cx="381305" cy="381305"/>
          </a:xfrm>
          <a:prstGeom prst="rect">
            <a:avLst/>
          </a:prstGeom>
        </p:spPr>
      </p:pic>
      <p:sp>
        <p:nvSpPr>
          <p:cNvPr id="30" name="Text 5">
            <a:extLst>
              <a:ext uri="{FF2B5EF4-FFF2-40B4-BE49-F238E27FC236}">
                <a16:creationId xmlns:a16="http://schemas.microsoft.com/office/drawing/2014/main" id="{7AAA51FF-B4B2-0FFB-7A35-7798244C584C}"/>
              </a:ext>
            </a:extLst>
          </p:cNvPr>
          <p:cNvSpPr txBox="1"/>
          <p:nvPr/>
        </p:nvSpPr>
        <p:spPr>
          <a:xfrm>
            <a:off x="269748" y="1485900"/>
            <a:ext cx="609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내 컴퓨터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184DF3B7-FDCE-FAA3-5633-C68B5A2B905F}"/>
              </a:ext>
            </a:extLst>
          </p:cNvPr>
          <p:cNvSpPr txBox="1"/>
          <p:nvPr/>
        </p:nvSpPr>
        <p:spPr>
          <a:xfrm>
            <a:off x="226771" y="2391156"/>
            <a:ext cx="695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포트폴리오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2" descr="gen-dedup-313e4be3ff4060006731241b7cc55ba4.png">
            <a:extLst>
              <a:ext uri="{FF2B5EF4-FFF2-40B4-BE49-F238E27FC236}">
                <a16:creationId xmlns:a16="http://schemas.microsoft.com/office/drawing/2014/main" id="{728E10CD-CA85-D2DB-FF94-BE9BBB734443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381305" y="2809951"/>
            <a:ext cx="381305" cy="381305"/>
          </a:xfrm>
          <a:prstGeom prst="rect">
            <a:avLst/>
          </a:prstGeom>
        </p:spPr>
      </p:pic>
      <p:sp>
        <p:nvSpPr>
          <p:cNvPr id="33" name="Text 7">
            <a:extLst>
              <a:ext uri="{FF2B5EF4-FFF2-40B4-BE49-F238E27FC236}">
                <a16:creationId xmlns:a16="http://schemas.microsoft.com/office/drawing/2014/main" id="{F7A0DC63-18A1-C8DD-A968-4357801E6074}"/>
              </a:ext>
            </a:extLst>
          </p:cNvPr>
          <p:cNvSpPr txBox="1"/>
          <p:nvPr/>
        </p:nvSpPr>
        <p:spPr>
          <a:xfrm>
            <a:off x="419710" y="3191256"/>
            <a:ext cx="342900" cy="24780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tIns="25400" rIns="381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목차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4" name="Image 3" descr="gen-dedup-ef6105ed2e63baeb37694681937bef0b.png">
            <a:extLst>
              <a:ext uri="{FF2B5EF4-FFF2-40B4-BE49-F238E27FC236}">
                <a16:creationId xmlns:a16="http://schemas.microsoft.com/office/drawing/2014/main" id="{A082A422-BE55-F011-2CC6-0BD13AAB9478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-7143" r="-7143"/>
          <a:stretch/>
        </p:blipFill>
        <p:spPr>
          <a:xfrm>
            <a:off x="381305" y="3715207"/>
            <a:ext cx="381305" cy="381305"/>
          </a:xfrm>
          <a:prstGeom prst="rect">
            <a:avLst/>
          </a:prstGeom>
        </p:spPr>
      </p:pic>
      <p:sp>
        <p:nvSpPr>
          <p:cNvPr id="35" name="Text 8">
            <a:extLst>
              <a:ext uri="{FF2B5EF4-FFF2-40B4-BE49-F238E27FC236}">
                <a16:creationId xmlns:a16="http://schemas.microsoft.com/office/drawing/2014/main" id="{5D9317CB-ACDF-B233-EDA4-3672C9C9401D}"/>
              </a:ext>
            </a:extLst>
          </p:cNvPr>
          <p:cNvSpPr txBox="1"/>
          <p:nvPr/>
        </p:nvSpPr>
        <p:spPr>
          <a:xfrm>
            <a:off x="349301" y="4153205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Image 4" descr="gen-dedup-9fdbec92b016124fd02e3850a5123f8c.png">
            <a:extLst>
              <a:ext uri="{FF2B5EF4-FFF2-40B4-BE49-F238E27FC236}">
                <a16:creationId xmlns:a16="http://schemas.microsoft.com/office/drawing/2014/main" id="{7E6D6121-5D76-57FF-25F6-6DE7C56EE4E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381305" y="4572000"/>
            <a:ext cx="381305" cy="381305"/>
          </a:xfrm>
          <a:prstGeom prst="rect">
            <a:avLst/>
          </a:prstGeom>
        </p:spPr>
      </p:pic>
      <p:sp>
        <p:nvSpPr>
          <p:cNvPr id="37" name="Text 9">
            <a:extLst>
              <a:ext uri="{FF2B5EF4-FFF2-40B4-BE49-F238E27FC236}">
                <a16:creationId xmlns:a16="http://schemas.microsoft.com/office/drawing/2014/main" id="{A8EF988B-8A30-9D89-7D01-D210D2C0B7B7}"/>
              </a:ext>
            </a:extLst>
          </p:cNvPr>
          <p:cNvSpPr txBox="1"/>
          <p:nvPr/>
        </p:nvSpPr>
        <p:spPr>
          <a:xfrm>
            <a:off x="288036" y="5009998"/>
            <a:ext cx="571500" cy="2286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프로젝트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C763788-A732-CC21-1C1E-3C4A06882F74}"/>
              </a:ext>
            </a:extLst>
          </p:cNvPr>
          <p:cNvGrpSpPr/>
          <p:nvPr/>
        </p:nvGrpSpPr>
        <p:grpSpPr>
          <a:xfrm>
            <a:off x="342900" y="1904695"/>
            <a:ext cx="457200" cy="457200"/>
            <a:chOff x="342900" y="1904695"/>
            <a:chExt cx="457200" cy="457200"/>
          </a:xfrm>
        </p:grpSpPr>
        <p:pic>
          <p:nvPicPr>
            <p:cNvPr id="39" name="Image 1" descr="gen-dedup-36f1f1ccf4a0e8533d6290f10bde510b.png">
              <a:extLst>
                <a:ext uri="{FF2B5EF4-FFF2-40B4-BE49-F238E27FC236}">
                  <a16:creationId xmlns:a16="http://schemas.microsoft.com/office/drawing/2014/main" id="{D19DF641-2009-CA60-A812-FB2E4D8CF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rcRect/>
            <a:stretch/>
          </p:blipFill>
          <p:spPr>
            <a:xfrm>
              <a:off x="342900" y="1904695"/>
              <a:ext cx="457200" cy="457200"/>
            </a:xfrm>
            <a:prstGeom prst="rect">
              <a:avLst/>
            </a:prstGeom>
          </p:spPr>
        </p:pic>
        <p:pic>
          <p:nvPicPr>
            <p:cNvPr id="40" name="Image 5" descr="gen-dedup-72bd3513d2cf055f9eacb7e2be8dea4c.png">
              <a:extLst>
                <a:ext uri="{FF2B5EF4-FFF2-40B4-BE49-F238E27FC236}">
                  <a16:creationId xmlns:a16="http://schemas.microsoft.com/office/drawing/2014/main" id="{3CC83CE2-81A3-D033-46EA-9C7AD7E63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rcRect t="-12500" b="-12500"/>
            <a:stretch/>
          </p:blipFill>
          <p:spPr>
            <a:xfrm>
              <a:off x="437998" y="2038198"/>
              <a:ext cx="267005" cy="267005"/>
            </a:xfrm>
            <a:prstGeom prst="rect">
              <a:avLst/>
            </a:prstGeom>
          </p:spPr>
        </p:pic>
      </p:grpSp>
      <p:pic>
        <p:nvPicPr>
          <p:cNvPr id="41" name="Image 22" descr="gen-dedup-2302e8a913f082daf4055bce75fbff92.png">
            <a:extLst>
              <a:ext uri="{FF2B5EF4-FFF2-40B4-BE49-F238E27FC236}">
                <a16:creationId xmlns:a16="http://schemas.microsoft.com/office/drawing/2014/main" id="{D4457459-CEDB-FBC0-F26E-E26EE78F0221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3141575"/>
            <a:ext cx="137835" cy="148774"/>
          </a:xfrm>
          <a:prstGeom prst="rect">
            <a:avLst/>
          </a:prstGeom>
        </p:spPr>
      </p:pic>
      <p:sp>
        <p:nvSpPr>
          <p:cNvPr id="42" name="Text 55">
            <a:extLst>
              <a:ext uri="{FF2B5EF4-FFF2-40B4-BE49-F238E27FC236}">
                <a16:creationId xmlns:a16="http://schemas.microsoft.com/office/drawing/2014/main" id="{156B8AB8-E0C1-DC86-9D04-EA2864B6EAFA}"/>
              </a:ext>
            </a:extLst>
          </p:cNvPr>
          <p:cNvSpPr txBox="1"/>
          <p:nvPr/>
        </p:nvSpPr>
        <p:spPr>
          <a:xfrm>
            <a:off x="2280602" y="3391468"/>
            <a:ext cx="1081917" cy="15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World First Kill</a:t>
            </a:r>
          </a:p>
        </p:txBody>
      </p:sp>
      <p:sp>
        <p:nvSpPr>
          <p:cNvPr id="44" name="Text 55">
            <a:extLst>
              <a:ext uri="{FF2B5EF4-FFF2-40B4-BE49-F238E27FC236}">
                <a16:creationId xmlns:a16="http://schemas.microsoft.com/office/drawing/2014/main" id="{10548B94-AED8-2DE4-5428-A123E913F333}"/>
              </a:ext>
            </a:extLst>
          </p:cNvPr>
          <p:cNvSpPr txBox="1"/>
          <p:nvPr/>
        </p:nvSpPr>
        <p:spPr>
          <a:xfrm>
            <a:off x="2280602" y="3653721"/>
            <a:ext cx="1081917" cy="15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기타 프로젝트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1" name="Image 18" descr="gen-dedup-ba01fa70a70d7d3a77dc83183451dc86.png">
            <a:extLst>
              <a:ext uri="{FF2B5EF4-FFF2-40B4-BE49-F238E27FC236}">
                <a16:creationId xmlns:a16="http://schemas.microsoft.com/office/drawing/2014/main" id="{168D4DC0-D96F-47D8-A951-BF723BC6F6FE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2090319" y="3674064"/>
            <a:ext cx="137504" cy="145772"/>
          </a:xfrm>
          <a:prstGeom prst="rect">
            <a:avLst/>
          </a:prstGeom>
        </p:spPr>
      </p:pic>
      <p:pic>
        <p:nvPicPr>
          <p:cNvPr id="100" name="Image 22" descr="gen-dedup-2302e8a913f082daf4055bce75fbff92.png">
            <a:extLst>
              <a:ext uri="{FF2B5EF4-FFF2-40B4-BE49-F238E27FC236}">
                <a16:creationId xmlns:a16="http://schemas.microsoft.com/office/drawing/2014/main" id="{592BA0B1-5D85-49D8-942E-5D79358F39A9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3407820"/>
            <a:ext cx="137835" cy="148774"/>
          </a:xfrm>
          <a:prstGeom prst="rect">
            <a:avLst/>
          </a:prstGeom>
        </p:spPr>
      </p:pic>
      <p:graphicFrame>
        <p:nvGraphicFramePr>
          <p:cNvPr id="121" name="Table 0">
            <a:extLst>
              <a:ext uri="{FF2B5EF4-FFF2-40B4-BE49-F238E27FC236}">
                <a16:creationId xmlns:a16="http://schemas.microsoft.com/office/drawing/2014/main" id="{A5A41744-44D6-437D-918E-F5C7CFB92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379819"/>
              </p:ext>
            </p:extLst>
          </p:nvPr>
        </p:nvGraphicFramePr>
        <p:xfrm>
          <a:off x="3680570" y="3813676"/>
          <a:ext cx="8130125" cy="1994426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4366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93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72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요약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액션 </a:t>
                      </a:r>
                      <a:r>
                        <a:rPr lang="ko-KR" altLang="en-US" sz="1400" dirty="0" err="1"/>
                        <a:t>플랫포머</a:t>
                      </a:r>
                      <a:r>
                        <a:rPr lang="ko-KR" altLang="en-US" sz="1400" dirty="0"/>
                        <a:t> 게임으로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 err="1"/>
                        <a:t>커비를</a:t>
                      </a:r>
                      <a:r>
                        <a:rPr lang="ko-KR" altLang="en-US" sz="1400" dirty="0"/>
                        <a:t> 모티브로 하여 </a:t>
                      </a:r>
                      <a:r>
                        <a:rPr lang="ko-KR" altLang="en-US" sz="1400" dirty="0" err="1"/>
                        <a:t>슬라임이</a:t>
                      </a:r>
                      <a:r>
                        <a:rPr lang="ko-KR" altLang="en-US" sz="1400" dirty="0"/>
                        <a:t> 죽인 몬스터의 몸을 빼앗아 능력을 사용할 수 있다</a:t>
                      </a:r>
                      <a:r>
                        <a:rPr lang="en-US" altLang="ko-KR" sz="1400" dirty="0"/>
                        <a:t>. </a:t>
                      </a:r>
                      <a:r>
                        <a:rPr lang="ko-KR" altLang="en-US" sz="1400" dirty="0" err="1"/>
                        <a:t>맵을</a:t>
                      </a:r>
                      <a:r>
                        <a:rPr lang="ko-KR" altLang="en-US" sz="1400" dirty="0"/>
                        <a:t> 탐험하면서 코인을 모아 능력을 향상할 수 있으며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최종 보스를 깨는 것을 목표로 한다</a:t>
                      </a:r>
                      <a:r>
                        <a:rPr lang="en-US" altLang="ko-KR" sz="1400" dirty="0"/>
                        <a:t>.</a:t>
                      </a: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72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역할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플레이어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 err="1"/>
                        <a:t>슬라임</a:t>
                      </a:r>
                      <a:r>
                        <a:rPr lang="en-US" altLang="ko-KR" sz="1400" dirty="0"/>
                        <a:t>)</a:t>
                      </a:r>
                      <a:r>
                        <a:rPr lang="ko-KR" altLang="en-US" sz="1400" dirty="0"/>
                        <a:t>의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이동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공격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변신 시스템 개발</a:t>
                      </a:r>
                      <a:endParaRPr lang="en-US" altLang="ko-KR" sz="1400" dirty="0"/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몬스터에게 상태 패턴을 사용해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몬스터 </a:t>
                      </a:r>
                      <a:r>
                        <a:rPr lang="en-US" altLang="ko-KR" sz="1400" dirty="0"/>
                        <a:t>AI</a:t>
                      </a:r>
                      <a:r>
                        <a:rPr lang="ko-KR" altLang="en-US" sz="1400" dirty="0"/>
                        <a:t>를 설계</a:t>
                      </a:r>
                      <a:endParaRPr lang="en-US" altLang="ko-KR" sz="1400" dirty="0"/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보스 몬스터 설계</a:t>
                      </a:r>
                      <a:endParaRPr lang="en-US" altLang="ko-KR" sz="1400" dirty="0"/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스테이지 관리 및 이동 시스템 설계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2" name="그림 101">
            <a:extLst>
              <a:ext uri="{FF2B5EF4-FFF2-40B4-BE49-F238E27FC236}">
                <a16:creationId xmlns:a16="http://schemas.microsoft.com/office/drawing/2014/main" id="{F3FAA59D-D4B6-44E8-B064-F9E962BE3CDC}"/>
              </a:ext>
            </a:extLst>
          </p:cNvPr>
          <p:cNvPicPr>
            <a:picLocks noChangeAspect="1"/>
          </p:cNvPicPr>
          <p:nvPr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1733" y="1878216"/>
            <a:ext cx="3167284" cy="1874889"/>
          </a:xfrm>
          <a:prstGeom prst="rect">
            <a:avLst/>
          </a:prstGeom>
        </p:spPr>
      </p:pic>
      <p:sp>
        <p:nvSpPr>
          <p:cNvPr id="128" name="Shape 13">
            <a:extLst>
              <a:ext uri="{FF2B5EF4-FFF2-40B4-BE49-F238E27FC236}">
                <a16:creationId xmlns:a16="http://schemas.microsoft.com/office/drawing/2014/main" id="{01817EB5-A940-4491-81C4-F6314EC7E0F0}"/>
              </a:ext>
            </a:extLst>
          </p:cNvPr>
          <p:cNvSpPr/>
          <p:nvPr/>
        </p:nvSpPr>
        <p:spPr>
          <a:xfrm>
            <a:off x="3671152" y="1887359"/>
            <a:ext cx="3157094" cy="1877147"/>
          </a:xfrm>
          <a:prstGeom prst="rect">
            <a:avLst/>
          </a:prstGeom>
          <a:solidFill>
            <a:srgbClr val="E8E8E8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20" name="그림 119">
            <a:extLst>
              <a:ext uri="{FF2B5EF4-FFF2-40B4-BE49-F238E27FC236}">
                <a16:creationId xmlns:a16="http://schemas.microsoft.com/office/drawing/2014/main" id="{D8CF3391-48DA-4C0C-A611-DB2B19651775}"/>
              </a:ext>
            </a:extLst>
          </p:cNvPr>
          <p:cNvPicPr>
            <a:picLocks noChangeAspect="1"/>
          </p:cNvPicPr>
          <p:nvPr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5139" y="1946081"/>
            <a:ext cx="2969121" cy="175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359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02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131" name="Shape 103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04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3" name="Shape 105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34" name="Shape 106"/>
          <p:cNvSpPr/>
          <p:nvPr/>
        </p:nvSpPr>
        <p:spPr>
          <a:xfrm>
            <a:off x="10477195" y="6534302"/>
            <a:ext cx="1619402" cy="267005"/>
          </a:xfrm>
          <a:prstGeom prst="rect">
            <a:avLst/>
          </a:prstGeom>
          <a:solidFill>
            <a:srgbClr val="C0C0C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135" name="Image 25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136" name="Text 107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7" name="Image 26" descr="gen-dedup-1027b540a23f27953c8b221c66837c2b.png"/>
          <p:cNvPicPr>
            <a:picLocks noChangeAspect="1"/>
          </p:cNvPicPr>
          <p:nvPr/>
        </p:nvPicPr>
        <p:blipFill>
          <a:blip r:embed="rId4"/>
          <a:srcRect t="-6250" b="-6250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138" name="Text 108"/>
          <p:cNvSpPr txBox="1"/>
          <p:nvPr/>
        </p:nvSpPr>
        <p:spPr>
          <a:xfrm>
            <a:off x="1238098" y="6577279"/>
            <a:ext cx="143743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탐색 중 - Projects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9" name="Image 27" descr="gen-dedup-7740a029182e5c65b65e33d2aaed94e2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10573207" y="6590995"/>
            <a:ext cx="152705" cy="152705"/>
          </a:xfrm>
          <a:prstGeom prst="rect">
            <a:avLst/>
          </a:prstGeom>
        </p:spPr>
      </p:pic>
      <p:sp>
        <p:nvSpPr>
          <p:cNvPr id="140" name="Text 109"/>
          <p:cNvSpPr txBox="1"/>
          <p:nvPr/>
        </p:nvSpPr>
        <p:spPr>
          <a:xfrm>
            <a:off x="11124590" y="6590995"/>
            <a:ext cx="7260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10:00 AM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Shape 10">
            <a:extLst>
              <a:ext uri="{FF2B5EF4-FFF2-40B4-BE49-F238E27FC236}">
                <a16:creationId xmlns:a16="http://schemas.microsoft.com/office/drawing/2014/main" id="{14A75B8D-58B7-472B-BBE7-FDD8817C001B}"/>
              </a:ext>
            </a:extLst>
          </p:cNvPr>
          <p:cNvSpPr/>
          <p:nvPr/>
        </p:nvSpPr>
        <p:spPr>
          <a:xfrm>
            <a:off x="1044001" y="108001"/>
            <a:ext cx="10890197" cy="6084503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4" name="Shape 11">
            <a:extLst>
              <a:ext uri="{FF2B5EF4-FFF2-40B4-BE49-F238E27FC236}">
                <a16:creationId xmlns:a16="http://schemas.microsoft.com/office/drawing/2014/main" id="{71A388DE-101E-4470-BFD4-A6A63EA671A5}"/>
              </a:ext>
            </a:extLst>
          </p:cNvPr>
          <p:cNvSpPr/>
          <p:nvPr/>
        </p:nvSpPr>
        <p:spPr>
          <a:xfrm>
            <a:off x="1063780" y="128969"/>
            <a:ext cx="10850641" cy="291545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5" name="Image 5" descr="gen-dedup-23665c0bc8193eed4b19e05b81a508d3.png">
            <a:extLst>
              <a:ext uri="{FF2B5EF4-FFF2-40B4-BE49-F238E27FC236}">
                <a16:creationId xmlns:a16="http://schemas.microsoft.com/office/drawing/2014/main" id="{2293A2AB-329A-4D4D-A2B3-1C7504C127F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063780" y="670124"/>
            <a:ext cx="10850641" cy="41935"/>
          </a:xfrm>
          <a:prstGeom prst="rect">
            <a:avLst/>
          </a:prstGeom>
        </p:spPr>
      </p:pic>
      <p:sp>
        <p:nvSpPr>
          <p:cNvPr id="106" name="Shape 12">
            <a:extLst>
              <a:ext uri="{FF2B5EF4-FFF2-40B4-BE49-F238E27FC236}">
                <a16:creationId xmlns:a16="http://schemas.microsoft.com/office/drawing/2014/main" id="{BF7862CB-A48A-41ED-BB49-4572C79D2442}"/>
              </a:ext>
            </a:extLst>
          </p:cNvPr>
          <p:cNvSpPr/>
          <p:nvPr/>
        </p:nvSpPr>
        <p:spPr>
          <a:xfrm>
            <a:off x="1063780" y="691091"/>
            <a:ext cx="10850641" cy="41635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7" name="Image 6" descr="gen-dedup-23665c0bc8193eed4b19e05b81a508d3.png">
            <a:extLst>
              <a:ext uri="{FF2B5EF4-FFF2-40B4-BE49-F238E27FC236}">
                <a16:creationId xmlns:a16="http://schemas.microsoft.com/office/drawing/2014/main" id="{20ABEAB4-CC5E-4191-B75F-C98135769AD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063780" y="1106443"/>
            <a:ext cx="10850641" cy="41935"/>
          </a:xfrm>
          <a:prstGeom prst="rect">
            <a:avLst/>
          </a:prstGeom>
        </p:spPr>
      </p:pic>
      <p:sp>
        <p:nvSpPr>
          <p:cNvPr id="108" name="Shape 13">
            <a:extLst>
              <a:ext uri="{FF2B5EF4-FFF2-40B4-BE49-F238E27FC236}">
                <a16:creationId xmlns:a16="http://schemas.microsoft.com/office/drawing/2014/main" id="{778C56FF-CFDC-45C0-B015-6894EB626093}"/>
              </a:ext>
            </a:extLst>
          </p:cNvPr>
          <p:cNvSpPr/>
          <p:nvPr/>
        </p:nvSpPr>
        <p:spPr>
          <a:xfrm>
            <a:off x="1063780" y="1127410"/>
            <a:ext cx="10850641" cy="332481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9" name="Image 7" descr="gen-dedup-23665c0bc8193eed4b19e05b81a508d3.png">
            <a:extLst>
              <a:ext uri="{FF2B5EF4-FFF2-40B4-BE49-F238E27FC236}">
                <a16:creationId xmlns:a16="http://schemas.microsoft.com/office/drawing/2014/main" id="{8EAD3060-1BC9-4720-89D3-B2F118FDED5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063780" y="1459891"/>
            <a:ext cx="10850641" cy="41935"/>
          </a:xfrm>
          <a:prstGeom prst="rect">
            <a:avLst/>
          </a:prstGeom>
        </p:spPr>
      </p:pic>
      <p:sp>
        <p:nvSpPr>
          <p:cNvPr id="110" name="Shape 14">
            <a:extLst>
              <a:ext uri="{FF2B5EF4-FFF2-40B4-BE49-F238E27FC236}">
                <a16:creationId xmlns:a16="http://schemas.microsoft.com/office/drawing/2014/main" id="{42389CBE-477E-4B1E-A4DE-6467CBB7EFEB}"/>
              </a:ext>
            </a:extLst>
          </p:cNvPr>
          <p:cNvSpPr/>
          <p:nvPr/>
        </p:nvSpPr>
        <p:spPr>
          <a:xfrm>
            <a:off x="1083557" y="1501826"/>
            <a:ext cx="2452485" cy="4368182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11" name="Shape 15">
            <a:extLst>
              <a:ext uri="{FF2B5EF4-FFF2-40B4-BE49-F238E27FC236}">
                <a16:creationId xmlns:a16="http://schemas.microsoft.com/office/drawing/2014/main" id="{C21C50EE-23E3-464C-A24A-63BA82DF84D4}"/>
              </a:ext>
            </a:extLst>
          </p:cNvPr>
          <p:cNvSpPr/>
          <p:nvPr/>
        </p:nvSpPr>
        <p:spPr>
          <a:xfrm>
            <a:off x="3595376" y="1501826"/>
            <a:ext cx="8300208" cy="4368182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12" name="Shape 16">
            <a:extLst>
              <a:ext uri="{FF2B5EF4-FFF2-40B4-BE49-F238E27FC236}">
                <a16:creationId xmlns:a16="http://schemas.microsoft.com/office/drawing/2014/main" id="{F20FF41E-0C07-442E-8C60-91349F8FAB6F}"/>
              </a:ext>
            </a:extLst>
          </p:cNvPr>
          <p:cNvSpPr/>
          <p:nvPr/>
        </p:nvSpPr>
        <p:spPr>
          <a:xfrm>
            <a:off x="1063780" y="5890974"/>
            <a:ext cx="10850641" cy="27057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3" name="Shape 17">
            <a:extLst>
              <a:ext uri="{FF2B5EF4-FFF2-40B4-BE49-F238E27FC236}">
                <a16:creationId xmlns:a16="http://schemas.microsoft.com/office/drawing/2014/main" id="{91B29A68-FFAE-4CAE-892D-A568DC5821A1}"/>
              </a:ext>
            </a:extLst>
          </p:cNvPr>
          <p:cNvSpPr/>
          <p:nvPr/>
        </p:nvSpPr>
        <p:spPr>
          <a:xfrm>
            <a:off x="11070555" y="159920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4" name="Shape 18">
            <a:extLst>
              <a:ext uri="{FF2B5EF4-FFF2-40B4-BE49-F238E27FC236}">
                <a16:creationId xmlns:a16="http://schemas.microsoft.com/office/drawing/2014/main" id="{5ED4C68E-2927-4286-A306-85C476D8C2C7}"/>
              </a:ext>
            </a:extLst>
          </p:cNvPr>
          <p:cNvSpPr/>
          <p:nvPr/>
        </p:nvSpPr>
        <p:spPr>
          <a:xfrm>
            <a:off x="11365343" y="159920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5" name="Shape 19">
            <a:extLst>
              <a:ext uri="{FF2B5EF4-FFF2-40B4-BE49-F238E27FC236}">
                <a16:creationId xmlns:a16="http://schemas.microsoft.com/office/drawing/2014/main" id="{629F123C-82EE-47C3-9DC8-E100143135E9}"/>
              </a:ext>
            </a:extLst>
          </p:cNvPr>
          <p:cNvSpPr/>
          <p:nvPr/>
        </p:nvSpPr>
        <p:spPr>
          <a:xfrm>
            <a:off x="11659189" y="159920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6" name="Text 20">
            <a:extLst>
              <a:ext uri="{FF2B5EF4-FFF2-40B4-BE49-F238E27FC236}">
                <a16:creationId xmlns:a16="http://schemas.microsoft.com/office/drawing/2014/main" id="{299A98B0-9D78-41C5-8B65-6BDFCC859999}"/>
              </a:ext>
            </a:extLst>
          </p:cNvPr>
          <p:cNvSpPr txBox="1"/>
          <p:nvPr/>
        </p:nvSpPr>
        <p:spPr>
          <a:xfrm>
            <a:off x="1100101" y="446473"/>
            <a:ext cx="2908322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파일(F)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편집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(E)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보기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(V)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도구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(T)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도움말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(H)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Shape 21">
            <a:extLst>
              <a:ext uri="{FF2B5EF4-FFF2-40B4-BE49-F238E27FC236}">
                <a16:creationId xmlns:a16="http://schemas.microsoft.com/office/drawing/2014/main" id="{BA430CC0-BC0A-472A-9F4E-CEDB0A52E19C}"/>
              </a:ext>
            </a:extLst>
          </p:cNvPr>
          <p:cNvSpPr/>
          <p:nvPr/>
        </p:nvSpPr>
        <p:spPr>
          <a:xfrm>
            <a:off x="1142891" y="743010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8" name="Shape 22">
            <a:extLst>
              <a:ext uri="{FF2B5EF4-FFF2-40B4-BE49-F238E27FC236}">
                <a16:creationId xmlns:a16="http://schemas.microsoft.com/office/drawing/2014/main" id="{D0F1BAB3-55DD-4B90-9514-6377C02A9076}"/>
              </a:ext>
            </a:extLst>
          </p:cNvPr>
          <p:cNvSpPr/>
          <p:nvPr/>
        </p:nvSpPr>
        <p:spPr>
          <a:xfrm>
            <a:off x="1485712" y="743010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9" name="Shape 23">
            <a:extLst>
              <a:ext uri="{FF2B5EF4-FFF2-40B4-BE49-F238E27FC236}">
                <a16:creationId xmlns:a16="http://schemas.microsoft.com/office/drawing/2014/main" id="{413C9993-835C-4DCE-99EE-1A4B19C69446}"/>
              </a:ext>
            </a:extLst>
          </p:cNvPr>
          <p:cNvSpPr/>
          <p:nvPr/>
        </p:nvSpPr>
        <p:spPr>
          <a:xfrm>
            <a:off x="1829474" y="743010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22" name="Shape 25">
            <a:extLst>
              <a:ext uri="{FF2B5EF4-FFF2-40B4-BE49-F238E27FC236}">
                <a16:creationId xmlns:a16="http://schemas.microsoft.com/office/drawing/2014/main" id="{F3567888-8960-4D67-8893-94ED42CC31E1}"/>
              </a:ext>
            </a:extLst>
          </p:cNvPr>
          <p:cNvSpPr/>
          <p:nvPr/>
        </p:nvSpPr>
        <p:spPr>
          <a:xfrm>
            <a:off x="1731525" y="1169345"/>
            <a:ext cx="9320193" cy="249610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23" name="Shape 26">
            <a:extLst>
              <a:ext uri="{FF2B5EF4-FFF2-40B4-BE49-F238E27FC236}">
                <a16:creationId xmlns:a16="http://schemas.microsoft.com/office/drawing/2014/main" id="{F9BE2189-0E78-419A-8C1A-57E458CD3185}"/>
              </a:ext>
            </a:extLst>
          </p:cNvPr>
          <p:cNvSpPr/>
          <p:nvPr/>
        </p:nvSpPr>
        <p:spPr>
          <a:xfrm>
            <a:off x="11149667" y="1148377"/>
            <a:ext cx="686583" cy="27057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4" name="Shape 27">
            <a:extLst>
              <a:ext uri="{FF2B5EF4-FFF2-40B4-BE49-F238E27FC236}">
                <a16:creationId xmlns:a16="http://schemas.microsoft.com/office/drawing/2014/main" id="{3BF4B2C6-B1E4-4F82-81A6-F664E976AAD4}"/>
              </a:ext>
            </a:extLst>
          </p:cNvPr>
          <p:cNvSpPr/>
          <p:nvPr/>
        </p:nvSpPr>
        <p:spPr>
          <a:xfrm>
            <a:off x="3359922" y="1522793"/>
            <a:ext cx="166701" cy="4326247"/>
          </a:xfrm>
          <a:prstGeom prst="rect">
            <a:avLst/>
          </a:prstGeom>
          <a:solidFill>
            <a:srgbClr val="DFDFDF"/>
          </a:solidFill>
          <a:ln/>
        </p:spPr>
      </p:sp>
      <p:sp>
        <p:nvSpPr>
          <p:cNvPr id="125" name="Shape 28">
            <a:extLst>
              <a:ext uri="{FF2B5EF4-FFF2-40B4-BE49-F238E27FC236}">
                <a16:creationId xmlns:a16="http://schemas.microsoft.com/office/drawing/2014/main" id="{D31BEC5E-DE7B-485B-92B6-010A35214FB6}"/>
              </a:ext>
            </a:extLst>
          </p:cNvPr>
          <p:cNvSpPr/>
          <p:nvPr/>
        </p:nvSpPr>
        <p:spPr>
          <a:xfrm>
            <a:off x="3359922" y="1522793"/>
            <a:ext cx="9418" cy="4326247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>
                <a:alpha val="0"/>
              </a:srgbClr>
            </a:solidFill>
            <a:prstDash val="solid"/>
          </a:ln>
        </p:spPr>
      </p:sp>
      <p:sp>
        <p:nvSpPr>
          <p:cNvPr id="127" name="Shape 30">
            <a:extLst>
              <a:ext uri="{FF2B5EF4-FFF2-40B4-BE49-F238E27FC236}">
                <a16:creationId xmlns:a16="http://schemas.microsoft.com/office/drawing/2014/main" id="{916FC1B2-F896-4360-AE9D-1DA7A8004F60}"/>
              </a:ext>
            </a:extLst>
          </p:cNvPr>
          <p:cNvSpPr/>
          <p:nvPr/>
        </p:nvSpPr>
        <p:spPr>
          <a:xfrm>
            <a:off x="1083557" y="5932909"/>
            <a:ext cx="2452485" cy="187707"/>
          </a:xfrm>
          <a:prstGeom prst="rect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141" name="Shape 31">
            <a:extLst>
              <a:ext uri="{FF2B5EF4-FFF2-40B4-BE49-F238E27FC236}">
                <a16:creationId xmlns:a16="http://schemas.microsoft.com/office/drawing/2014/main" id="{91123D67-B5E3-49E4-99D0-DFCAAC3F8CCA}"/>
              </a:ext>
            </a:extLst>
          </p:cNvPr>
          <p:cNvSpPr/>
          <p:nvPr/>
        </p:nvSpPr>
        <p:spPr>
          <a:xfrm>
            <a:off x="3555820" y="5932909"/>
            <a:ext cx="8338823" cy="187707"/>
          </a:xfrm>
          <a:prstGeom prst="rect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142" name="Shape 32">
            <a:extLst>
              <a:ext uri="{FF2B5EF4-FFF2-40B4-BE49-F238E27FC236}">
                <a16:creationId xmlns:a16="http://schemas.microsoft.com/office/drawing/2014/main" id="{354B1A02-7FFC-47B5-9696-E585EB5A9885}"/>
              </a:ext>
            </a:extLst>
          </p:cNvPr>
          <p:cNvSpPr/>
          <p:nvPr/>
        </p:nvSpPr>
        <p:spPr>
          <a:xfrm>
            <a:off x="3359922" y="1522793"/>
            <a:ext cx="157283" cy="16674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5" name="Shape 33">
            <a:extLst>
              <a:ext uri="{FF2B5EF4-FFF2-40B4-BE49-F238E27FC236}">
                <a16:creationId xmlns:a16="http://schemas.microsoft.com/office/drawing/2014/main" id="{DA473C0B-5729-4FD8-AD5B-3C1C059BA00F}"/>
              </a:ext>
            </a:extLst>
          </p:cNvPr>
          <p:cNvSpPr/>
          <p:nvPr/>
        </p:nvSpPr>
        <p:spPr>
          <a:xfrm>
            <a:off x="3359922" y="1689533"/>
            <a:ext cx="157283" cy="831702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6" name="Shape 34">
            <a:extLst>
              <a:ext uri="{FF2B5EF4-FFF2-40B4-BE49-F238E27FC236}">
                <a16:creationId xmlns:a16="http://schemas.microsoft.com/office/drawing/2014/main" id="{A4F36E1F-4507-4CC5-9346-4FBE0AD7F22F}"/>
              </a:ext>
            </a:extLst>
          </p:cNvPr>
          <p:cNvSpPr/>
          <p:nvPr/>
        </p:nvSpPr>
        <p:spPr>
          <a:xfrm>
            <a:off x="3359922" y="5683299"/>
            <a:ext cx="157283" cy="16674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8" name="Image 8" descr="gen-dedup-7c02ed4669765158cb6410457d6288f7.png">
            <a:extLst>
              <a:ext uri="{FF2B5EF4-FFF2-40B4-BE49-F238E27FC236}">
                <a16:creationId xmlns:a16="http://schemas.microsoft.com/office/drawing/2014/main" id="{2665EC4D-B367-4232-8285-18D4141E819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6250" b="-6250"/>
          <a:stretch/>
        </p:blipFill>
        <p:spPr>
          <a:xfrm>
            <a:off x="1123114" y="191871"/>
            <a:ext cx="157283" cy="166740"/>
          </a:xfrm>
          <a:prstGeom prst="rect">
            <a:avLst/>
          </a:prstGeom>
        </p:spPr>
      </p:pic>
      <p:sp>
        <p:nvSpPr>
          <p:cNvPr id="149" name="Text 36">
            <a:extLst>
              <a:ext uri="{FF2B5EF4-FFF2-40B4-BE49-F238E27FC236}">
                <a16:creationId xmlns:a16="http://schemas.microsoft.com/office/drawing/2014/main" id="{E428AE1F-5E2A-45BC-8AD2-EAAD85DE2C03}"/>
              </a:ext>
            </a:extLst>
          </p:cNvPr>
          <p:cNvSpPr txBox="1"/>
          <p:nvPr/>
        </p:nvSpPr>
        <p:spPr>
          <a:xfrm>
            <a:off x="1387763" y="170904"/>
            <a:ext cx="1594491" cy="20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탐색 중 - Projects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Text 37">
            <a:extLst>
              <a:ext uri="{FF2B5EF4-FFF2-40B4-BE49-F238E27FC236}">
                <a16:creationId xmlns:a16="http://schemas.microsoft.com/office/drawing/2014/main" id="{B62B1CCF-70A3-4E76-BC3F-82C5DF2D170C}"/>
              </a:ext>
            </a:extLst>
          </p:cNvPr>
          <p:cNvSpPr txBox="1"/>
          <p:nvPr/>
        </p:nvSpPr>
        <p:spPr>
          <a:xfrm>
            <a:off x="11138365" y="185880"/>
            <a:ext cx="83822" cy="14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_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1" name="Shape 38">
            <a:extLst>
              <a:ext uri="{FF2B5EF4-FFF2-40B4-BE49-F238E27FC236}">
                <a16:creationId xmlns:a16="http://schemas.microsoft.com/office/drawing/2014/main" id="{D76E0BCC-364D-4EE0-BC3A-3858A77A42F3}"/>
              </a:ext>
            </a:extLst>
          </p:cNvPr>
          <p:cNvSpPr/>
          <p:nvPr/>
        </p:nvSpPr>
        <p:spPr>
          <a:xfrm>
            <a:off x="11414317" y="206847"/>
            <a:ext cx="117727" cy="13479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52" name="Shape 39">
            <a:extLst>
              <a:ext uri="{FF2B5EF4-FFF2-40B4-BE49-F238E27FC236}">
                <a16:creationId xmlns:a16="http://schemas.microsoft.com/office/drawing/2014/main" id="{B2824EFA-3C56-436D-9EF5-EACB833A8EB2}"/>
              </a:ext>
            </a:extLst>
          </p:cNvPr>
          <p:cNvSpPr/>
          <p:nvPr/>
        </p:nvSpPr>
        <p:spPr>
          <a:xfrm>
            <a:off x="11414317" y="206847"/>
            <a:ext cx="117727" cy="20967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Text 40">
            <a:extLst>
              <a:ext uri="{FF2B5EF4-FFF2-40B4-BE49-F238E27FC236}">
                <a16:creationId xmlns:a16="http://schemas.microsoft.com/office/drawing/2014/main" id="{73B04141-7F29-472D-BF63-5B332765C610}"/>
              </a:ext>
            </a:extLst>
          </p:cNvPr>
          <p:cNvSpPr txBox="1"/>
          <p:nvPr/>
        </p:nvSpPr>
        <p:spPr>
          <a:xfrm>
            <a:off x="11727941" y="201855"/>
            <a:ext cx="88531" cy="14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8" name="Image 9" descr="gen-dedup-25afa46a09582202a40d6f31fc2ccf91.png">
            <a:extLst>
              <a:ext uri="{FF2B5EF4-FFF2-40B4-BE49-F238E27FC236}">
                <a16:creationId xmlns:a16="http://schemas.microsoft.com/office/drawing/2014/main" id="{6D3A70D4-DA94-488E-BECC-BF8D28E4351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1210702" y="815896"/>
            <a:ext cx="157283" cy="166740"/>
          </a:xfrm>
          <a:prstGeom prst="rect">
            <a:avLst/>
          </a:prstGeom>
        </p:spPr>
      </p:pic>
      <p:pic>
        <p:nvPicPr>
          <p:cNvPr id="159" name="Image 10" descr="gen-dedup-53d8cb32c6720cdad62ecd3793163a86.png">
            <a:extLst>
              <a:ext uri="{FF2B5EF4-FFF2-40B4-BE49-F238E27FC236}">
                <a16:creationId xmlns:a16="http://schemas.microsoft.com/office/drawing/2014/main" id="{38CE9DD8-4C0F-46DC-B9A0-EA21C7095C9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7143" r="-7143"/>
          <a:stretch/>
        </p:blipFill>
        <p:spPr>
          <a:xfrm>
            <a:off x="1554464" y="815896"/>
            <a:ext cx="157283" cy="166740"/>
          </a:xfrm>
          <a:prstGeom prst="rect">
            <a:avLst/>
          </a:prstGeom>
        </p:spPr>
      </p:pic>
      <p:pic>
        <p:nvPicPr>
          <p:cNvPr id="160" name="Image 11" descr="gen-dedup-fa17d56a867348b02c8a56abf7174658.png">
            <a:extLst>
              <a:ext uri="{FF2B5EF4-FFF2-40B4-BE49-F238E27FC236}">
                <a16:creationId xmlns:a16="http://schemas.microsoft.com/office/drawing/2014/main" id="{922B725B-A15E-4516-BFD5-E5CBF5F3301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16666" r="-16666"/>
          <a:stretch/>
        </p:blipFill>
        <p:spPr>
          <a:xfrm>
            <a:off x="1898227" y="815896"/>
            <a:ext cx="157283" cy="166740"/>
          </a:xfrm>
          <a:prstGeom prst="rect">
            <a:avLst/>
          </a:prstGeom>
        </p:spPr>
      </p:pic>
      <p:pic>
        <p:nvPicPr>
          <p:cNvPr id="161" name="Image 12" descr="gen-dedup-013b38688217c28f0315b66cc4dba47b.png">
            <a:extLst>
              <a:ext uri="{FF2B5EF4-FFF2-40B4-BE49-F238E27FC236}">
                <a16:creationId xmlns:a16="http://schemas.microsoft.com/office/drawing/2014/main" id="{D017ADA0-79CA-457C-8D33-D4231577065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2418108" y="815896"/>
            <a:ext cx="157283" cy="166740"/>
          </a:xfrm>
          <a:prstGeom prst="rect">
            <a:avLst/>
          </a:prstGeom>
        </p:spPr>
      </p:pic>
      <p:pic>
        <p:nvPicPr>
          <p:cNvPr id="162" name="Image 13" descr="gen-dedup-3408d1960989eaff15e10127b414fcf2.png">
            <a:extLst>
              <a:ext uri="{FF2B5EF4-FFF2-40B4-BE49-F238E27FC236}">
                <a16:creationId xmlns:a16="http://schemas.microsoft.com/office/drawing/2014/main" id="{99A1AEF4-E23A-47B4-A49D-1A8A656F8CA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7143" r="-7143"/>
          <a:stretch/>
        </p:blipFill>
        <p:spPr>
          <a:xfrm>
            <a:off x="2711955" y="815896"/>
            <a:ext cx="157283" cy="166740"/>
          </a:xfrm>
          <a:prstGeom prst="rect">
            <a:avLst/>
          </a:prstGeom>
        </p:spPr>
      </p:pic>
      <p:pic>
        <p:nvPicPr>
          <p:cNvPr id="163" name="Image 14" descr="gen-dedup-6e9e672aa626b1edf6db8640b2821839.png">
            <a:extLst>
              <a:ext uri="{FF2B5EF4-FFF2-40B4-BE49-F238E27FC236}">
                <a16:creationId xmlns:a16="http://schemas.microsoft.com/office/drawing/2014/main" id="{C9550F90-0E01-4893-B835-77A2FB3C1F4E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3006742" y="815896"/>
            <a:ext cx="157283" cy="166740"/>
          </a:xfrm>
          <a:prstGeom prst="rect">
            <a:avLst/>
          </a:prstGeom>
        </p:spPr>
      </p:pic>
      <p:sp>
        <p:nvSpPr>
          <p:cNvPr id="164" name="Text 41">
            <a:extLst>
              <a:ext uri="{FF2B5EF4-FFF2-40B4-BE49-F238E27FC236}">
                <a16:creationId xmlns:a16="http://schemas.microsoft.com/office/drawing/2014/main" id="{0762294A-6332-409C-A4B5-45E26B375792}"/>
              </a:ext>
            </a:extLst>
          </p:cNvPr>
          <p:cNvSpPr txBox="1"/>
          <p:nvPr/>
        </p:nvSpPr>
        <p:spPr>
          <a:xfrm>
            <a:off x="1142891" y="1195304"/>
            <a:ext cx="536834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주소(D)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5" name="Image 15" descr="gen-dedup-7c02ed4669765158cb6410457d6288f7.png">
            <a:extLst>
              <a:ext uri="{FF2B5EF4-FFF2-40B4-BE49-F238E27FC236}">
                <a16:creationId xmlns:a16="http://schemas.microsoft.com/office/drawing/2014/main" id="{239474F9-BA3C-417F-8CE0-5EE537895D3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6250" b="-6250"/>
          <a:stretch/>
        </p:blipFill>
        <p:spPr>
          <a:xfrm>
            <a:off x="1780500" y="1210281"/>
            <a:ext cx="157283" cy="166740"/>
          </a:xfrm>
          <a:prstGeom prst="rect">
            <a:avLst/>
          </a:prstGeom>
        </p:spPr>
      </p:pic>
      <p:sp>
        <p:nvSpPr>
          <p:cNvPr id="166" name="Text 42">
            <a:extLst>
              <a:ext uri="{FF2B5EF4-FFF2-40B4-BE49-F238E27FC236}">
                <a16:creationId xmlns:a16="http://schemas.microsoft.com/office/drawing/2014/main" id="{2A6B50A8-5D43-45FB-875F-B4B2E68A3195}"/>
              </a:ext>
            </a:extLst>
          </p:cNvPr>
          <p:cNvSpPr txBox="1"/>
          <p:nvPr/>
        </p:nvSpPr>
        <p:spPr>
          <a:xfrm>
            <a:off x="2025372" y="1216271"/>
            <a:ext cx="3451503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C:\Portfolio\Projects\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기타 프로젝트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\</a:t>
            </a:r>
            <a:r>
              <a:rPr lang="en-US" altLang="ko-KR" sz="9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PipeGame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7" name="Text 43">
            <a:extLst>
              <a:ext uri="{FF2B5EF4-FFF2-40B4-BE49-F238E27FC236}">
                <a16:creationId xmlns:a16="http://schemas.microsoft.com/office/drawing/2014/main" id="{8C4F7CE9-8270-4468-851B-DDF88A52F141}"/>
              </a:ext>
            </a:extLst>
          </p:cNvPr>
          <p:cNvSpPr txBox="1"/>
          <p:nvPr/>
        </p:nvSpPr>
        <p:spPr>
          <a:xfrm>
            <a:off x="11384179" y="1195304"/>
            <a:ext cx="244872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이동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8" name="Text 44">
            <a:extLst>
              <a:ext uri="{FF2B5EF4-FFF2-40B4-BE49-F238E27FC236}">
                <a16:creationId xmlns:a16="http://schemas.microsoft.com/office/drawing/2014/main" id="{16B13CC4-BA5A-44FF-8E47-E60E04A8820A}"/>
              </a:ext>
            </a:extLst>
          </p:cNvPr>
          <p:cNvSpPr txBox="1"/>
          <p:nvPr/>
        </p:nvSpPr>
        <p:spPr>
          <a:xfrm>
            <a:off x="1142891" y="1600671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9" name="Image 16" descr="gen-dedup-71f3cd3c0f5149b77a7c51df2d1a7eab.png">
            <a:extLst>
              <a:ext uri="{FF2B5EF4-FFF2-40B4-BE49-F238E27FC236}">
                <a16:creationId xmlns:a16="http://schemas.microsoft.com/office/drawing/2014/main" id="{5722AD78-CE8C-4097-B8F2-1C40233E278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6250" b="-6250"/>
          <a:stretch/>
        </p:blipFill>
        <p:spPr>
          <a:xfrm>
            <a:off x="1309593" y="1590687"/>
            <a:ext cx="137504" cy="145772"/>
          </a:xfrm>
          <a:prstGeom prst="rect">
            <a:avLst/>
          </a:prstGeom>
        </p:spPr>
      </p:pic>
      <p:sp>
        <p:nvSpPr>
          <p:cNvPr id="170" name="Text 45">
            <a:extLst>
              <a:ext uri="{FF2B5EF4-FFF2-40B4-BE49-F238E27FC236}">
                <a16:creationId xmlns:a16="http://schemas.microsoft.com/office/drawing/2014/main" id="{E8856BC4-07FF-4558-A9F5-EFB404064BD4}"/>
              </a:ext>
            </a:extLst>
          </p:cNvPr>
          <p:cNvSpPr txBox="1"/>
          <p:nvPr/>
        </p:nvSpPr>
        <p:spPr>
          <a:xfrm>
            <a:off x="1496072" y="1564728"/>
            <a:ext cx="607470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내 컴퓨터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1" name="Text 46">
            <a:extLst>
              <a:ext uri="{FF2B5EF4-FFF2-40B4-BE49-F238E27FC236}">
                <a16:creationId xmlns:a16="http://schemas.microsoft.com/office/drawing/2014/main" id="{E7449BCD-C7B7-4C95-AF68-25995EF1A200}"/>
              </a:ext>
            </a:extLst>
          </p:cNvPr>
          <p:cNvSpPr txBox="1"/>
          <p:nvPr/>
        </p:nvSpPr>
        <p:spPr>
          <a:xfrm>
            <a:off x="1338789" y="1881234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2" name="Image 17" descr="gen-dedup-e3bb1bdbf10fa3b8ada790141c1d3212.png">
            <a:extLst>
              <a:ext uri="{FF2B5EF4-FFF2-40B4-BE49-F238E27FC236}">
                <a16:creationId xmlns:a16="http://schemas.microsoft.com/office/drawing/2014/main" id="{24284AD3-13CD-4AEE-B86A-48EEFCA4E465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505490" y="1871249"/>
            <a:ext cx="137504" cy="145772"/>
          </a:xfrm>
          <a:prstGeom prst="rect">
            <a:avLst/>
          </a:prstGeom>
        </p:spPr>
      </p:pic>
      <p:sp>
        <p:nvSpPr>
          <p:cNvPr id="173" name="Text 47">
            <a:extLst>
              <a:ext uri="{FF2B5EF4-FFF2-40B4-BE49-F238E27FC236}">
                <a16:creationId xmlns:a16="http://schemas.microsoft.com/office/drawing/2014/main" id="{9A638C46-6AA2-4807-8EB6-3B39C7503EAB}"/>
              </a:ext>
            </a:extLst>
          </p:cNvPr>
          <p:cNvSpPr txBox="1"/>
          <p:nvPr/>
        </p:nvSpPr>
        <p:spPr>
          <a:xfrm>
            <a:off x="1691969" y="1845289"/>
            <a:ext cx="982312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C: 로컬 디스크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4" name="Text 48">
            <a:extLst>
              <a:ext uri="{FF2B5EF4-FFF2-40B4-BE49-F238E27FC236}">
                <a16:creationId xmlns:a16="http://schemas.microsoft.com/office/drawing/2014/main" id="{323AFC2D-633A-482D-BAFB-FD8F3EB4DDFB}"/>
              </a:ext>
            </a:extLst>
          </p:cNvPr>
          <p:cNvSpPr txBox="1"/>
          <p:nvPr/>
        </p:nvSpPr>
        <p:spPr>
          <a:xfrm>
            <a:off x="1534687" y="2141827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5" name="Image 18" descr="gen-dedup-ba01fa70a70d7d3a77dc83183451dc86.png">
            <a:extLst>
              <a:ext uri="{FF2B5EF4-FFF2-40B4-BE49-F238E27FC236}">
                <a16:creationId xmlns:a16="http://schemas.microsoft.com/office/drawing/2014/main" id="{6BB5E545-5BF5-498F-817C-752D4F6D61D6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701387" y="2130844"/>
            <a:ext cx="137504" cy="145772"/>
          </a:xfrm>
          <a:prstGeom prst="rect">
            <a:avLst/>
          </a:prstGeom>
        </p:spPr>
      </p:pic>
      <p:sp>
        <p:nvSpPr>
          <p:cNvPr id="176" name="Text 49">
            <a:extLst>
              <a:ext uri="{FF2B5EF4-FFF2-40B4-BE49-F238E27FC236}">
                <a16:creationId xmlns:a16="http://schemas.microsoft.com/office/drawing/2014/main" id="{1E3BD229-5997-4AB9-8C0F-C468BC742636}"/>
              </a:ext>
            </a:extLst>
          </p:cNvPr>
          <p:cNvSpPr txBox="1"/>
          <p:nvPr/>
        </p:nvSpPr>
        <p:spPr>
          <a:xfrm>
            <a:off x="1887867" y="2125852"/>
            <a:ext cx="760044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Text 50">
            <a:extLst>
              <a:ext uri="{FF2B5EF4-FFF2-40B4-BE49-F238E27FC236}">
                <a16:creationId xmlns:a16="http://schemas.microsoft.com/office/drawing/2014/main" id="{723C73E9-4A4E-4F42-AE7A-87E8358A822A}"/>
              </a:ext>
            </a:extLst>
          </p:cNvPr>
          <p:cNvSpPr txBox="1"/>
          <p:nvPr/>
        </p:nvSpPr>
        <p:spPr>
          <a:xfrm>
            <a:off x="1731525" y="2380455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8" name="Image 19" descr="gen-dedup-164d010ae7e53d534a0b3104348ed19a.png">
            <a:extLst>
              <a:ext uri="{FF2B5EF4-FFF2-40B4-BE49-F238E27FC236}">
                <a16:creationId xmlns:a16="http://schemas.microsoft.com/office/drawing/2014/main" id="{9743F858-A590-4BB3-808D-215064351692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-6250" b="-6250"/>
          <a:stretch/>
        </p:blipFill>
        <p:spPr>
          <a:xfrm>
            <a:off x="1898227" y="2370470"/>
            <a:ext cx="137504" cy="145772"/>
          </a:xfrm>
          <a:prstGeom prst="rect">
            <a:avLst/>
          </a:prstGeom>
        </p:spPr>
      </p:pic>
      <p:sp>
        <p:nvSpPr>
          <p:cNvPr id="179" name="Text 51">
            <a:extLst>
              <a:ext uri="{FF2B5EF4-FFF2-40B4-BE49-F238E27FC236}">
                <a16:creationId xmlns:a16="http://schemas.microsoft.com/office/drawing/2014/main" id="{91A6C390-EF73-4B4E-9448-4A092525C527}"/>
              </a:ext>
            </a:extLst>
          </p:cNvPr>
          <p:cNvSpPr txBox="1"/>
          <p:nvPr/>
        </p:nvSpPr>
        <p:spPr>
          <a:xfrm>
            <a:off x="2084706" y="2365478"/>
            <a:ext cx="681874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0" name="Shape 52">
            <a:extLst>
              <a:ext uri="{FF2B5EF4-FFF2-40B4-BE49-F238E27FC236}">
                <a16:creationId xmlns:a16="http://schemas.microsoft.com/office/drawing/2014/main" id="{64A3B9A6-8696-4451-88B1-C3DE0AFFCA24}"/>
              </a:ext>
            </a:extLst>
          </p:cNvPr>
          <p:cNvSpPr/>
          <p:nvPr/>
        </p:nvSpPr>
        <p:spPr>
          <a:xfrm>
            <a:off x="1092676" y="3660405"/>
            <a:ext cx="2276364" cy="155756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Text 53">
            <a:extLst>
              <a:ext uri="{FF2B5EF4-FFF2-40B4-BE49-F238E27FC236}">
                <a16:creationId xmlns:a16="http://schemas.microsoft.com/office/drawing/2014/main" id="{CAF9D105-2730-4456-BD86-A00FA06DCDA1}"/>
              </a:ext>
            </a:extLst>
          </p:cNvPr>
          <p:cNvSpPr txBox="1"/>
          <p:nvPr/>
        </p:nvSpPr>
        <p:spPr>
          <a:xfrm>
            <a:off x="2280602" y="2604105"/>
            <a:ext cx="1472055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Arial" pitchFamily="34" charset="-122"/>
                <a:cs typeface="Arial" pitchFamily="34" charset="-120"/>
              </a:rPr>
              <a:t>WinAPI_DontStarve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183" name="Image 21" descr="gen-dedup-2302e8a913f082daf4055bce75fbff92.png">
            <a:extLst>
              <a:ext uri="{FF2B5EF4-FFF2-40B4-BE49-F238E27FC236}">
                <a16:creationId xmlns:a16="http://schemas.microsoft.com/office/drawing/2014/main" id="{84D0CCAD-71D2-440D-B1DE-D8B05BC99660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2615089"/>
            <a:ext cx="137504" cy="145772"/>
          </a:xfrm>
          <a:prstGeom prst="rect">
            <a:avLst/>
          </a:prstGeom>
        </p:spPr>
      </p:pic>
      <p:sp>
        <p:nvSpPr>
          <p:cNvPr id="184" name="Text 54">
            <a:extLst>
              <a:ext uri="{FF2B5EF4-FFF2-40B4-BE49-F238E27FC236}">
                <a16:creationId xmlns:a16="http://schemas.microsoft.com/office/drawing/2014/main" id="{31E9B7CF-593C-4A81-9275-E23FA6F6FF6D}"/>
              </a:ext>
            </a:extLst>
          </p:cNvPr>
          <p:cNvSpPr txBox="1"/>
          <p:nvPr/>
        </p:nvSpPr>
        <p:spPr>
          <a:xfrm>
            <a:off x="2280602" y="2868224"/>
            <a:ext cx="976709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File Tower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Defence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5" name="Image 22" descr="gen-dedup-2302e8a913f082daf4055bce75fbff92.png">
            <a:extLst>
              <a:ext uri="{FF2B5EF4-FFF2-40B4-BE49-F238E27FC236}">
                <a16:creationId xmlns:a16="http://schemas.microsoft.com/office/drawing/2014/main" id="{A18364CD-242D-46EE-BC7A-AAB0C31013B5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2878332"/>
            <a:ext cx="137504" cy="145772"/>
          </a:xfrm>
          <a:prstGeom prst="rect">
            <a:avLst/>
          </a:prstGeom>
        </p:spPr>
      </p:pic>
      <p:sp>
        <p:nvSpPr>
          <p:cNvPr id="186" name="Text 55">
            <a:extLst>
              <a:ext uri="{FF2B5EF4-FFF2-40B4-BE49-F238E27FC236}">
                <a16:creationId xmlns:a16="http://schemas.microsoft.com/office/drawing/2014/main" id="{90569763-24C7-4A44-99BB-8107D5A4F9AE}"/>
              </a:ext>
            </a:extLst>
          </p:cNvPr>
          <p:cNvSpPr txBox="1"/>
          <p:nvPr/>
        </p:nvSpPr>
        <p:spPr>
          <a:xfrm>
            <a:off x="2280602" y="3132343"/>
            <a:ext cx="1079319" cy="15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 Racing Simulation</a:t>
            </a:r>
          </a:p>
        </p:txBody>
      </p:sp>
      <p:sp>
        <p:nvSpPr>
          <p:cNvPr id="187" name="Text 56">
            <a:extLst>
              <a:ext uri="{FF2B5EF4-FFF2-40B4-BE49-F238E27FC236}">
                <a16:creationId xmlns:a16="http://schemas.microsoft.com/office/drawing/2014/main" id="{866DB103-F61D-4F55-8CB2-0DCECDF562DE}"/>
              </a:ext>
            </a:extLst>
          </p:cNvPr>
          <p:cNvSpPr txBox="1"/>
          <p:nvPr/>
        </p:nvSpPr>
        <p:spPr>
          <a:xfrm>
            <a:off x="3389118" y="1517801"/>
            <a:ext cx="98890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▲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8" name="Text 57">
            <a:extLst>
              <a:ext uri="{FF2B5EF4-FFF2-40B4-BE49-F238E27FC236}">
                <a16:creationId xmlns:a16="http://schemas.microsoft.com/office/drawing/2014/main" id="{07972270-EEB3-4E57-A275-58C3789BD728}"/>
              </a:ext>
            </a:extLst>
          </p:cNvPr>
          <p:cNvSpPr txBox="1"/>
          <p:nvPr/>
        </p:nvSpPr>
        <p:spPr>
          <a:xfrm>
            <a:off x="3389118" y="5677309"/>
            <a:ext cx="98890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Text 59">
            <a:extLst>
              <a:ext uri="{FF2B5EF4-FFF2-40B4-BE49-F238E27FC236}">
                <a16:creationId xmlns:a16="http://schemas.microsoft.com/office/drawing/2014/main" id="{F370B7F2-545A-4C3C-AE52-60FFDC3BC6C9}"/>
              </a:ext>
            </a:extLst>
          </p:cNvPr>
          <p:cNvSpPr txBox="1"/>
          <p:nvPr/>
        </p:nvSpPr>
        <p:spPr>
          <a:xfrm>
            <a:off x="1142891" y="5937901"/>
            <a:ext cx="515173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5개 개체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2" name="Text 60">
            <a:extLst>
              <a:ext uri="{FF2B5EF4-FFF2-40B4-BE49-F238E27FC236}">
                <a16:creationId xmlns:a16="http://schemas.microsoft.com/office/drawing/2014/main" id="{56BEFB76-4CFC-42A7-B9E8-E085EEAF66E4}"/>
              </a:ext>
            </a:extLst>
          </p:cNvPr>
          <p:cNvSpPr txBox="1"/>
          <p:nvPr/>
        </p:nvSpPr>
        <p:spPr>
          <a:xfrm>
            <a:off x="3644351" y="5937901"/>
            <a:ext cx="2312154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1개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항목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선택됨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ko-KR" altLang="en-US" sz="900" dirty="0">
                <a:solidFill>
                  <a:srgbClr val="000000"/>
                </a:solidFill>
                <a:latin typeface="Calibri" panose="020F0502020204030204"/>
              </a:rPr>
              <a:t>기타 프로젝트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Shape 29">
            <a:extLst>
              <a:ext uri="{FF2B5EF4-FFF2-40B4-BE49-F238E27FC236}">
                <a16:creationId xmlns:a16="http://schemas.microsoft.com/office/drawing/2014/main" id="{C8E8281E-329E-4104-AF26-2BF462B61E3F}"/>
              </a:ext>
            </a:extLst>
          </p:cNvPr>
          <p:cNvSpPr/>
          <p:nvPr/>
        </p:nvSpPr>
        <p:spPr>
          <a:xfrm>
            <a:off x="3615584" y="1517800"/>
            <a:ext cx="8262000" cy="312984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9" name="Text 58">
            <a:extLst>
              <a:ext uri="{FF2B5EF4-FFF2-40B4-BE49-F238E27FC236}">
                <a16:creationId xmlns:a16="http://schemas.microsoft.com/office/drawing/2014/main" id="{ADA0929B-6390-4236-84B5-CBBBC1E952F8}"/>
              </a:ext>
            </a:extLst>
          </p:cNvPr>
          <p:cNvSpPr txBox="1"/>
          <p:nvPr/>
        </p:nvSpPr>
        <p:spPr>
          <a:xfrm>
            <a:off x="3680570" y="1579370"/>
            <a:ext cx="2661235" cy="190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상세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정보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– </a:t>
            </a:r>
            <a:r>
              <a:rPr lang="en-US" altLang="ko-KR" sz="1200" dirty="0" err="1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PipeGame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90" name="Table 0">
            <a:extLst>
              <a:ext uri="{FF2B5EF4-FFF2-40B4-BE49-F238E27FC236}">
                <a16:creationId xmlns:a16="http://schemas.microsoft.com/office/drawing/2014/main" id="{17C5AF9B-F49B-46DE-BE64-BBD629004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493090"/>
              </p:ext>
            </p:extLst>
          </p:nvPr>
        </p:nvGraphicFramePr>
        <p:xfrm>
          <a:off x="6888351" y="1904694"/>
          <a:ext cx="4922345" cy="1848411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012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7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3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88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15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플랫폼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dirty="0"/>
                        <a:t>모바일</a:t>
                      </a:r>
                      <a:r>
                        <a:rPr lang="en-US" altLang="ko-KR" sz="1400" dirty="0"/>
                        <a:t>(Android)</a:t>
                      </a: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장르</a:t>
                      </a:r>
                      <a:endParaRPr lang="ko-KR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퍼즐</a:t>
                      </a: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2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인원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인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개인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</a:t>
                      </a: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baseline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기간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2024.09.10 ~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2024.09.17</a:t>
                      </a:r>
                      <a:endParaRPr lang="ko-KR" altLang="en-US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65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도구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C#, Unity</a:t>
                      </a:r>
                      <a:endParaRPr lang="ko-KR" altLang="en-US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동영상</a:t>
                      </a: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baseline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링크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EE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  <a:hlinkClick r:id="rId19"/>
                        </a:rPr>
                        <a:t>유튜브 링크</a:t>
                      </a:r>
                      <a:endParaRPr lang="en-US" sz="14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" name="Shape 3">
            <a:extLst>
              <a:ext uri="{FF2B5EF4-FFF2-40B4-BE49-F238E27FC236}">
                <a16:creationId xmlns:a16="http://schemas.microsoft.com/office/drawing/2014/main" id="{8D2D6D18-3D4F-2789-2367-5B77242E2AAF}"/>
              </a:ext>
            </a:extLst>
          </p:cNvPr>
          <p:cNvSpPr/>
          <p:nvPr/>
        </p:nvSpPr>
        <p:spPr>
          <a:xfrm>
            <a:off x="250546" y="4467759"/>
            <a:ext cx="629107" cy="590702"/>
          </a:xfrm>
          <a:prstGeom prst="rect">
            <a:avLst/>
          </a:prstGeom>
          <a:solidFill>
            <a:srgbClr val="000080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0" descr="gen-dedup-57ee6a1f0d650d3a975db06a8ec6cc96.png">
            <a:extLst>
              <a:ext uri="{FF2B5EF4-FFF2-40B4-BE49-F238E27FC236}">
                <a16:creationId xmlns:a16="http://schemas.microsoft.com/office/drawing/2014/main" id="{EFCF0412-E908-C7BF-BC55-BAE05E0EE49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-6250" b="-6250"/>
          <a:stretch/>
        </p:blipFill>
        <p:spPr>
          <a:xfrm>
            <a:off x="381305" y="1047902"/>
            <a:ext cx="381305" cy="381305"/>
          </a:xfrm>
          <a:prstGeom prst="rect">
            <a:avLst/>
          </a:prstGeom>
        </p:spPr>
      </p:pic>
      <p:sp>
        <p:nvSpPr>
          <p:cNvPr id="30" name="Text 5">
            <a:extLst>
              <a:ext uri="{FF2B5EF4-FFF2-40B4-BE49-F238E27FC236}">
                <a16:creationId xmlns:a16="http://schemas.microsoft.com/office/drawing/2014/main" id="{7AAA51FF-B4B2-0FFB-7A35-7798244C584C}"/>
              </a:ext>
            </a:extLst>
          </p:cNvPr>
          <p:cNvSpPr txBox="1"/>
          <p:nvPr/>
        </p:nvSpPr>
        <p:spPr>
          <a:xfrm>
            <a:off x="269748" y="1485900"/>
            <a:ext cx="609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내 컴퓨터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184DF3B7-FDCE-FAA3-5633-C68B5A2B905F}"/>
              </a:ext>
            </a:extLst>
          </p:cNvPr>
          <p:cNvSpPr txBox="1"/>
          <p:nvPr/>
        </p:nvSpPr>
        <p:spPr>
          <a:xfrm>
            <a:off x="226771" y="2391156"/>
            <a:ext cx="695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포트폴리오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2" descr="gen-dedup-313e4be3ff4060006731241b7cc55ba4.png">
            <a:extLst>
              <a:ext uri="{FF2B5EF4-FFF2-40B4-BE49-F238E27FC236}">
                <a16:creationId xmlns:a16="http://schemas.microsoft.com/office/drawing/2014/main" id="{728E10CD-CA85-D2DB-FF94-BE9BBB734443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381305" y="2809951"/>
            <a:ext cx="381305" cy="381305"/>
          </a:xfrm>
          <a:prstGeom prst="rect">
            <a:avLst/>
          </a:prstGeom>
        </p:spPr>
      </p:pic>
      <p:sp>
        <p:nvSpPr>
          <p:cNvPr id="33" name="Text 7">
            <a:extLst>
              <a:ext uri="{FF2B5EF4-FFF2-40B4-BE49-F238E27FC236}">
                <a16:creationId xmlns:a16="http://schemas.microsoft.com/office/drawing/2014/main" id="{F7A0DC63-18A1-C8DD-A968-4357801E6074}"/>
              </a:ext>
            </a:extLst>
          </p:cNvPr>
          <p:cNvSpPr txBox="1"/>
          <p:nvPr/>
        </p:nvSpPr>
        <p:spPr>
          <a:xfrm>
            <a:off x="419710" y="3191256"/>
            <a:ext cx="342900" cy="24780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tIns="25400" rIns="381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목차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4" name="Image 3" descr="gen-dedup-ef6105ed2e63baeb37694681937bef0b.png">
            <a:extLst>
              <a:ext uri="{FF2B5EF4-FFF2-40B4-BE49-F238E27FC236}">
                <a16:creationId xmlns:a16="http://schemas.microsoft.com/office/drawing/2014/main" id="{A082A422-BE55-F011-2CC6-0BD13AAB9478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-7143" r="-7143"/>
          <a:stretch/>
        </p:blipFill>
        <p:spPr>
          <a:xfrm>
            <a:off x="381305" y="3715207"/>
            <a:ext cx="381305" cy="381305"/>
          </a:xfrm>
          <a:prstGeom prst="rect">
            <a:avLst/>
          </a:prstGeom>
        </p:spPr>
      </p:pic>
      <p:sp>
        <p:nvSpPr>
          <p:cNvPr id="35" name="Text 8">
            <a:extLst>
              <a:ext uri="{FF2B5EF4-FFF2-40B4-BE49-F238E27FC236}">
                <a16:creationId xmlns:a16="http://schemas.microsoft.com/office/drawing/2014/main" id="{5D9317CB-ACDF-B233-EDA4-3672C9C9401D}"/>
              </a:ext>
            </a:extLst>
          </p:cNvPr>
          <p:cNvSpPr txBox="1"/>
          <p:nvPr/>
        </p:nvSpPr>
        <p:spPr>
          <a:xfrm>
            <a:off x="349301" y="4153205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Image 4" descr="gen-dedup-9fdbec92b016124fd02e3850a5123f8c.png">
            <a:extLst>
              <a:ext uri="{FF2B5EF4-FFF2-40B4-BE49-F238E27FC236}">
                <a16:creationId xmlns:a16="http://schemas.microsoft.com/office/drawing/2014/main" id="{7E6D6121-5D76-57FF-25F6-6DE7C56EE4E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381305" y="4572000"/>
            <a:ext cx="381305" cy="381305"/>
          </a:xfrm>
          <a:prstGeom prst="rect">
            <a:avLst/>
          </a:prstGeom>
        </p:spPr>
      </p:pic>
      <p:sp>
        <p:nvSpPr>
          <p:cNvPr id="37" name="Text 9">
            <a:extLst>
              <a:ext uri="{FF2B5EF4-FFF2-40B4-BE49-F238E27FC236}">
                <a16:creationId xmlns:a16="http://schemas.microsoft.com/office/drawing/2014/main" id="{A8EF988B-8A30-9D89-7D01-D210D2C0B7B7}"/>
              </a:ext>
            </a:extLst>
          </p:cNvPr>
          <p:cNvSpPr txBox="1"/>
          <p:nvPr/>
        </p:nvSpPr>
        <p:spPr>
          <a:xfrm>
            <a:off x="288036" y="5009998"/>
            <a:ext cx="571500" cy="2286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프로젝트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C763788-A732-CC21-1C1E-3C4A06882F74}"/>
              </a:ext>
            </a:extLst>
          </p:cNvPr>
          <p:cNvGrpSpPr/>
          <p:nvPr/>
        </p:nvGrpSpPr>
        <p:grpSpPr>
          <a:xfrm>
            <a:off x="342900" y="1904695"/>
            <a:ext cx="457200" cy="457200"/>
            <a:chOff x="342900" y="1904695"/>
            <a:chExt cx="457200" cy="457200"/>
          </a:xfrm>
        </p:grpSpPr>
        <p:pic>
          <p:nvPicPr>
            <p:cNvPr id="39" name="Image 1" descr="gen-dedup-36f1f1ccf4a0e8533d6290f10bde510b.png">
              <a:extLst>
                <a:ext uri="{FF2B5EF4-FFF2-40B4-BE49-F238E27FC236}">
                  <a16:creationId xmlns:a16="http://schemas.microsoft.com/office/drawing/2014/main" id="{D19DF641-2009-CA60-A812-FB2E4D8CF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rcRect/>
            <a:stretch/>
          </p:blipFill>
          <p:spPr>
            <a:xfrm>
              <a:off x="342900" y="1904695"/>
              <a:ext cx="457200" cy="457200"/>
            </a:xfrm>
            <a:prstGeom prst="rect">
              <a:avLst/>
            </a:prstGeom>
          </p:spPr>
        </p:pic>
        <p:pic>
          <p:nvPicPr>
            <p:cNvPr id="40" name="Image 5" descr="gen-dedup-72bd3513d2cf055f9eacb7e2be8dea4c.png">
              <a:extLst>
                <a:ext uri="{FF2B5EF4-FFF2-40B4-BE49-F238E27FC236}">
                  <a16:creationId xmlns:a16="http://schemas.microsoft.com/office/drawing/2014/main" id="{3CC83CE2-81A3-D033-46EA-9C7AD7E63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rcRect t="-12500" b="-12500"/>
            <a:stretch/>
          </p:blipFill>
          <p:spPr>
            <a:xfrm>
              <a:off x="437998" y="2038198"/>
              <a:ext cx="267005" cy="267005"/>
            </a:xfrm>
            <a:prstGeom prst="rect">
              <a:avLst/>
            </a:prstGeom>
          </p:spPr>
        </p:pic>
      </p:grpSp>
      <p:pic>
        <p:nvPicPr>
          <p:cNvPr id="41" name="Image 22" descr="gen-dedup-2302e8a913f082daf4055bce75fbff92.png">
            <a:extLst>
              <a:ext uri="{FF2B5EF4-FFF2-40B4-BE49-F238E27FC236}">
                <a16:creationId xmlns:a16="http://schemas.microsoft.com/office/drawing/2014/main" id="{D4457459-CEDB-FBC0-F26E-E26EE78F0221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3141575"/>
            <a:ext cx="137835" cy="148774"/>
          </a:xfrm>
          <a:prstGeom prst="rect">
            <a:avLst/>
          </a:prstGeom>
        </p:spPr>
      </p:pic>
      <p:sp>
        <p:nvSpPr>
          <p:cNvPr id="42" name="Text 55">
            <a:extLst>
              <a:ext uri="{FF2B5EF4-FFF2-40B4-BE49-F238E27FC236}">
                <a16:creationId xmlns:a16="http://schemas.microsoft.com/office/drawing/2014/main" id="{156B8AB8-E0C1-DC86-9D04-EA2864B6EAFA}"/>
              </a:ext>
            </a:extLst>
          </p:cNvPr>
          <p:cNvSpPr txBox="1"/>
          <p:nvPr/>
        </p:nvSpPr>
        <p:spPr>
          <a:xfrm>
            <a:off x="2280602" y="3391468"/>
            <a:ext cx="1081917" cy="15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World First Kill</a:t>
            </a:r>
          </a:p>
        </p:txBody>
      </p:sp>
      <p:sp>
        <p:nvSpPr>
          <p:cNvPr id="44" name="Text 55">
            <a:extLst>
              <a:ext uri="{FF2B5EF4-FFF2-40B4-BE49-F238E27FC236}">
                <a16:creationId xmlns:a16="http://schemas.microsoft.com/office/drawing/2014/main" id="{10548B94-AED8-2DE4-5428-A123E913F333}"/>
              </a:ext>
            </a:extLst>
          </p:cNvPr>
          <p:cNvSpPr txBox="1"/>
          <p:nvPr/>
        </p:nvSpPr>
        <p:spPr>
          <a:xfrm>
            <a:off x="2280602" y="3653721"/>
            <a:ext cx="1081917" cy="15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기타 프로젝트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1" name="Image 18" descr="gen-dedup-ba01fa70a70d7d3a77dc83183451dc86.png">
            <a:extLst>
              <a:ext uri="{FF2B5EF4-FFF2-40B4-BE49-F238E27FC236}">
                <a16:creationId xmlns:a16="http://schemas.microsoft.com/office/drawing/2014/main" id="{168D4DC0-D96F-47D8-A951-BF723BC6F6FE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2090319" y="3674064"/>
            <a:ext cx="137504" cy="145772"/>
          </a:xfrm>
          <a:prstGeom prst="rect">
            <a:avLst/>
          </a:prstGeom>
        </p:spPr>
      </p:pic>
      <p:pic>
        <p:nvPicPr>
          <p:cNvPr id="100" name="Image 22" descr="gen-dedup-2302e8a913f082daf4055bce75fbff92.png">
            <a:extLst>
              <a:ext uri="{FF2B5EF4-FFF2-40B4-BE49-F238E27FC236}">
                <a16:creationId xmlns:a16="http://schemas.microsoft.com/office/drawing/2014/main" id="{592BA0B1-5D85-49D8-942E-5D79358F39A9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3407820"/>
            <a:ext cx="137835" cy="148774"/>
          </a:xfrm>
          <a:prstGeom prst="rect">
            <a:avLst/>
          </a:prstGeom>
        </p:spPr>
      </p:pic>
      <p:graphicFrame>
        <p:nvGraphicFramePr>
          <p:cNvPr id="121" name="Table 0">
            <a:extLst>
              <a:ext uri="{FF2B5EF4-FFF2-40B4-BE49-F238E27FC236}">
                <a16:creationId xmlns:a16="http://schemas.microsoft.com/office/drawing/2014/main" id="{A5A41744-44D6-437D-918E-F5C7CFB92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799696"/>
              </p:ext>
            </p:extLst>
          </p:nvPr>
        </p:nvGraphicFramePr>
        <p:xfrm>
          <a:off x="3680570" y="3813676"/>
          <a:ext cx="8130125" cy="1994426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4366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93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72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요약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파이프 퍼즐 게임으로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파이프 시작점을 클릭하고</a:t>
                      </a:r>
                      <a:r>
                        <a:rPr lang="en-US" altLang="ko-KR" sz="1400" dirty="0"/>
                        <a:t>, 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끝 파이프 점에 도달하여 연결하는 게임</a:t>
                      </a:r>
                      <a:endParaRPr lang="en-US" altLang="ko-KR" sz="1400" dirty="0"/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모든 파이프를 연결하면 그대로 스테이지 클리어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72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동기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한 번 간단한 게임을 혼자서 만들어보자는 목적으로 만들어 보게 되었다</a:t>
                      </a:r>
                      <a:r>
                        <a:rPr lang="en-US" altLang="ko-KR" sz="1400" dirty="0"/>
                        <a:t>.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자신이 어디까지 기능 구현을 할 수 있으며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공부 목적으로 혼자 일주일간 개발을 진행해 봤다</a:t>
                      </a:r>
                      <a:r>
                        <a:rPr lang="en-US" altLang="ko-KR" sz="1400" dirty="0"/>
                        <a:t>.</a:t>
                      </a: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9" name="Shape 13">
            <a:extLst>
              <a:ext uri="{FF2B5EF4-FFF2-40B4-BE49-F238E27FC236}">
                <a16:creationId xmlns:a16="http://schemas.microsoft.com/office/drawing/2014/main" id="{F2A6F1F2-41B8-4A97-8417-594C70B9AB96}"/>
              </a:ext>
            </a:extLst>
          </p:cNvPr>
          <p:cNvSpPr/>
          <p:nvPr/>
        </p:nvSpPr>
        <p:spPr>
          <a:xfrm>
            <a:off x="3680571" y="1879304"/>
            <a:ext cx="3157094" cy="1877147"/>
          </a:xfrm>
          <a:prstGeom prst="rect">
            <a:avLst/>
          </a:prstGeom>
          <a:solidFill>
            <a:srgbClr val="E8E8E8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1B96494-4CB5-4C54-B64B-81DCF98AD52C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261215" y="1880433"/>
            <a:ext cx="1995806" cy="187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7752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02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131" name="Shape 103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04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3" name="Shape 105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34" name="Shape 106"/>
          <p:cNvSpPr/>
          <p:nvPr/>
        </p:nvSpPr>
        <p:spPr>
          <a:xfrm>
            <a:off x="10477195" y="6534302"/>
            <a:ext cx="1619402" cy="267005"/>
          </a:xfrm>
          <a:prstGeom prst="rect">
            <a:avLst/>
          </a:prstGeom>
          <a:solidFill>
            <a:srgbClr val="C0C0C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135" name="Image 25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136" name="Text 107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7" name="Image 26" descr="gen-dedup-1027b540a23f27953c8b221c66837c2b.png"/>
          <p:cNvPicPr>
            <a:picLocks noChangeAspect="1"/>
          </p:cNvPicPr>
          <p:nvPr/>
        </p:nvPicPr>
        <p:blipFill>
          <a:blip r:embed="rId4"/>
          <a:srcRect t="-6250" b="-6250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138" name="Text 108"/>
          <p:cNvSpPr txBox="1"/>
          <p:nvPr/>
        </p:nvSpPr>
        <p:spPr>
          <a:xfrm>
            <a:off x="1238098" y="6577279"/>
            <a:ext cx="143743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탐색 중 - Projects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9" name="Image 27" descr="gen-dedup-7740a029182e5c65b65e33d2aaed94e2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10573207" y="6590995"/>
            <a:ext cx="152705" cy="152705"/>
          </a:xfrm>
          <a:prstGeom prst="rect">
            <a:avLst/>
          </a:prstGeom>
        </p:spPr>
      </p:pic>
      <p:sp>
        <p:nvSpPr>
          <p:cNvPr id="140" name="Text 109"/>
          <p:cNvSpPr txBox="1"/>
          <p:nvPr/>
        </p:nvSpPr>
        <p:spPr>
          <a:xfrm>
            <a:off x="11124590" y="6590995"/>
            <a:ext cx="7260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10:00 AM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Shape 10">
            <a:extLst>
              <a:ext uri="{FF2B5EF4-FFF2-40B4-BE49-F238E27FC236}">
                <a16:creationId xmlns:a16="http://schemas.microsoft.com/office/drawing/2014/main" id="{14A75B8D-58B7-472B-BBE7-FDD8817C001B}"/>
              </a:ext>
            </a:extLst>
          </p:cNvPr>
          <p:cNvSpPr/>
          <p:nvPr/>
        </p:nvSpPr>
        <p:spPr>
          <a:xfrm>
            <a:off x="1044001" y="108001"/>
            <a:ext cx="10890197" cy="6084503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4" name="Shape 11">
            <a:extLst>
              <a:ext uri="{FF2B5EF4-FFF2-40B4-BE49-F238E27FC236}">
                <a16:creationId xmlns:a16="http://schemas.microsoft.com/office/drawing/2014/main" id="{71A388DE-101E-4470-BFD4-A6A63EA671A5}"/>
              </a:ext>
            </a:extLst>
          </p:cNvPr>
          <p:cNvSpPr/>
          <p:nvPr/>
        </p:nvSpPr>
        <p:spPr>
          <a:xfrm>
            <a:off x="1063780" y="128969"/>
            <a:ext cx="10850641" cy="291545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5" name="Image 5" descr="gen-dedup-23665c0bc8193eed4b19e05b81a508d3.png">
            <a:extLst>
              <a:ext uri="{FF2B5EF4-FFF2-40B4-BE49-F238E27FC236}">
                <a16:creationId xmlns:a16="http://schemas.microsoft.com/office/drawing/2014/main" id="{2293A2AB-329A-4D4D-A2B3-1C7504C127F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063780" y="670124"/>
            <a:ext cx="10850641" cy="41935"/>
          </a:xfrm>
          <a:prstGeom prst="rect">
            <a:avLst/>
          </a:prstGeom>
        </p:spPr>
      </p:pic>
      <p:sp>
        <p:nvSpPr>
          <p:cNvPr id="106" name="Shape 12">
            <a:extLst>
              <a:ext uri="{FF2B5EF4-FFF2-40B4-BE49-F238E27FC236}">
                <a16:creationId xmlns:a16="http://schemas.microsoft.com/office/drawing/2014/main" id="{BF7862CB-A48A-41ED-BB49-4572C79D2442}"/>
              </a:ext>
            </a:extLst>
          </p:cNvPr>
          <p:cNvSpPr/>
          <p:nvPr/>
        </p:nvSpPr>
        <p:spPr>
          <a:xfrm>
            <a:off x="1063780" y="691091"/>
            <a:ext cx="10850641" cy="41635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7" name="Image 6" descr="gen-dedup-23665c0bc8193eed4b19e05b81a508d3.png">
            <a:extLst>
              <a:ext uri="{FF2B5EF4-FFF2-40B4-BE49-F238E27FC236}">
                <a16:creationId xmlns:a16="http://schemas.microsoft.com/office/drawing/2014/main" id="{20ABEAB4-CC5E-4191-B75F-C98135769AD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063780" y="1106443"/>
            <a:ext cx="10850641" cy="41935"/>
          </a:xfrm>
          <a:prstGeom prst="rect">
            <a:avLst/>
          </a:prstGeom>
        </p:spPr>
      </p:pic>
      <p:sp>
        <p:nvSpPr>
          <p:cNvPr id="108" name="Shape 13">
            <a:extLst>
              <a:ext uri="{FF2B5EF4-FFF2-40B4-BE49-F238E27FC236}">
                <a16:creationId xmlns:a16="http://schemas.microsoft.com/office/drawing/2014/main" id="{778C56FF-CFDC-45C0-B015-6894EB626093}"/>
              </a:ext>
            </a:extLst>
          </p:cNvPr>
          <p:cNvSpPr/>
          <p:nvPr/>
        </p:nvSpPr>
        <p:spPr>
          <a:xfrm>
            <a:off x="1063780" y="1127410"/>
            <a:ext cx="10850641" cy="332481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9" name="Image 7" descr="gen-dedup-23665c0bc8193eed4b19e05b81a508d3.png">
            <a:extLst>
              <a:ext uri="{FF2B5EF4-FFF2-40B4-BE49-F238E27FC236}">
                <a16:creationId xmlns:a16="http://schemas.microsoft.com/office/drawing/2014/main" id="{8EAD3060-1BC9-4720-89D3-B2F118FDED5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063780" y="1459891"/>
            <a:ext cx="10850641" cy="41935"/>
          </a:xfrm>
          <a:prstGeom prst="rect">
            <a:avLst/>
          </a:prstGeom>
        </p:spPr>
      </p:pic>
      <p:sp>
        <p:nvSpPr>
          <p:cNvPr id="110" name="Shape 14">
            <a:extLst>
              <a:ext uri="{FF2B5EF4-FFF2-40B4-BE49-F238E27FC236}">
                <a16:creationId xmlns:a16="http://schemas.microsoft.com/office/drawing/2014/main" id="{42389CBE-477E-4B1E-A4DE-6467CBB7EFEB}"/>
              </a:ext>
            </a:extLst>
          </p:cNvPr>
          <p:cNvSpPr/>
          <p:nvPr/>
        </p:nvSpPr>
        <p:spPr>
          <a:xfrm>
            <a:off x="1083557" y="1501826"/>
            <a:ext cx="2452485" cy="4368182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11" name="Shape 15">
            <a:extLst>
              <a:ext uri="{FF2B5EF4-FFF2-40B4-BE49-F238E27FC236}">
                <a16:creationId xmlns:a16="http://schemas.microsoft.com/office/drawing/2014/main" id="{C21C50EE-23E3-464C-A24A-63BA82DF84D4}"/>
              </a:ext>
            </a:extLst>
          </p:cNvPr>
          <p:cNvSpPr/>
          <p:nvPr/>
        </p:nvSpPr>
        <p:spPr>
          <a:xfrm>
            <a:off x="3595376" y="1501826"/>
            <a:ext cx="8300208" cy="4368182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12" name="Shape 16">
            <a:extLst>
              <a:ext uri="{FF2B5EF4-FFF2-40B4-BE49-F238E27FC236}">
                <a16:creationId xmlns:a16="http://schemas.microsoft.com/office/drawing/2014/main" id="{F20FF41E-0C07-442E-8C60-91349F8FAB6F}"/>
              </a:ext>
            </a:extLst>
          </p:cNvPr>
          <p:cNvSpPr/>
          <p:nvPr/>
        </p:nvSpPr>
        <p:spPr>
          <a:xfrm>
            <a:off x="1063780" y="5890974"/>
            <a:ext cx="10850641" cy="27057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3" name="Shape 17">
            <a:extLst>
              <a:ext uri="{FF2B5EF4-FFF2-40B4-BE49-F238E27FC236}">
                <a16:creationId xmlns:a16="http://schemas.microsoft.com/office/drawing/2014/main" id="{91B29A68-FFAE-4CAE-892D-A568DC5821A1}"/>
              </a:ext>
            </a:extLst>
          </p:cNvPr>
          <p:cNvSpPr/>
          <p:nvPr/>
        </p:nvSpPr>
        <p:spPr>
          <a:xfrm>
            <a:off x="11070555" y="159920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4" name="Shape 18">
            <a:extLst>
              <a:ext uri="{FF2B5EF4-FFF2-40B4-BE49-F238E27FC236}">
                <a16:creationId xmlns:a16="http://schemas.microsoft.com/office/drawing/2014/main" id="{5ED4C68E-2927-4286-A306-85C476D8C2C7}"/>
              </a:ext>
            </a:extLst>
          </p:cNvPr>
          <p:cNvSpPr/>
          <p:nvPr/>
        </p:nvSpPr>
        <p:spPr>
          <a:xfrm>
            <a:off x="11365343" y="159920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5" name="Shape 19">
            <a:extLst>
              <a:ext uri="{FF2B5EF4-FFF2-40B4-BE49-F238E27FC236}">
                <a16:creationId xmlns:a16="http://schemas.microsoft.com/office/drawing/2014/main" id="{629F123C-82EE-47C3-9DC8-E100143135E9}"/>
              </a:ext>
            </a:extLst>
          </p:cNvPr>
          <p:cNvSpPr/>
          <p:nvPr/>
        </p:nvSpPr>
        <p:spPr>
          <a:xfrm>
            <a:off x="11659189" y="159920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6" name="Text 20">
            <a:extLst>
              <a:ext uri="{FF2B5EF4-FFF2-40B4-BE49-F238E27FC236}">
                <a16:creationId xmlns:a16="http://schemas.microsoft.com/office/drawing/2014/main" id="{299A98B0-9D78-41C5-8B65-6BDFCC859999}"/>
              </a:ext>
            </a:extLst>
          </p:cNvPr>
          <p:cNvSpPr txBox="1"/>
          <p:nvPr/>
        </p:nvSpPr>
        <p:spPr>
          <a:xfrm>
            <a:off x="1100101" y="446473"/>
            <a:ext cx="2908322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파일(F)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편집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(E)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보기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(V)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도구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(T)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도움말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(H)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Shape 21">
            <a:extLst>
              <a:ext uri="{FF2B5EF4-FFF2-40B4-BE49-F238E27FC236}">
                <a16:creationId xmlns:a16="http://schemas.microsoft.com/office/drawing/2014/main" id="{BA430CC0-BC0A-472A-9F4E-CEDB0A52E19C}"/>
              </a:ext>
            </a:extLst>
          </p:cNvPr>
          <p:cNvSpPr/>
          <p:nvPr/>
        </p:nvSpPr>
        <p:spPr>
          <a:xfrm>
            <a:off x="1142891" y="743010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8" name="Shape 22">
            <a:extLst>
              <a:ext uri="{FF2B5EF4-FFF2-40B4-BE49-F238E27FC236}">
                <a16:creationId xmlns:a16="http://schemas.microsoft.com/office/drawing/2014/main" id="{D0F1BAB3-55DD-4B90-9514-6377C02A9076}"/>
              </a:ext>
            </a:extLst>
          </p:cNvPr>
          <p:cNvSpPr/>
          <p:nvPr/>
        </p:nvSpPr>
        <p:spPr>
          <a:xfrm>
            <a:off x="1485712" y="743010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9" name="Shape 23">
            <a:extLst>
              <a:ext uri="{FF2B5EF4-FFF2-40B4-BE49-F238E27FC236}">
                <a16:creationId xmlns:a16="http://schemas.microsoft.com/office/drawing/2014/main" id="{413C9993-835C-4DCE-99EE-1A4B19C69446}"/>
              </a:ext>
            </a:extLst>
          </p:cNvPr>
          <p:cNvSpPr/>
          <p:nvPr/>
        </p:nvSpPr>
        <p:spPr>
          <a:xfrm>
            <a:off x="1829474" y="743010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22" name="Shape 25">
            <a:extLst>
              <a:ext uri="{FF2B5EF4-FFF2-40B4-BE49-F238E27FC236}">
                <a16:creationId xmlns:a16="http://schemas.microsoft.com/office/drawing/2014/main" id="{F3567888-8960-4D67-8893-94ED42CC31E1}"/>
              </a:ext>
            </a:extLst>
          </p:cNvPr>
          <p:cNvSpPr/>
          <p:nvPr/>
        </p:nvSpPr>
        <p:spPr>
          <a:xfrm>
            <a:off x="1731525" y="1169345"/>
            <a:ext cx="9320193" cy="249610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23" name="Shape 26">
            <a:extLst>
              <a:ext uri="{FF2B5EF4-FFF2-40B4-BE49-F238E27FC236}">
                <a16:creationId xmlns:a16="http://schemas.microsoft.com/office/drawing/2014/main" id="{F9BE2189-0E78-419A-8C1A-57E458CD3185}"/>
              </a:ext>
            </a:extLst>
          </p:cNvPr>
          <p:cNvSpPr/>
          <p:nvPr/>
        </p:nvSpPr>
        <p:spPr>
          <a:xfrm>
            <a:off x="11149667" y="1148377"/>
            <a:ext cx="686583" cy="27057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4" name="Shape 27">
            <a:extLst>
              <a:ext uri="{FF2B5EF4-FFF2-40B4-BE49-F238E27FC236}">
                <a16:creationId xmlns:a16="http://schemas.microsoft.com/office/drawing/2014/main" id="{3BF4B2C6-B1E4-4F82-81A6-F664E976AAD4}"/>
              </a:ext>
            </a:extLst>
          </p:cNvPr>
          <p:cNvSpPr/>
          <p:nvPr/>
        </p:nvSpPr>
        <p:spPr>
          <a:xfrm>
            <a:off x="3359922" y="1522793"/>
            <a:ext cx="166701" cy="4326247"/>
          </a:xfrm>
          <a:prstGeom prst="rect">
            <a:avLst/>
          </a:prstGeom>
          <a:solidFill>
            <a:srgbClr val="DFDFDF"/>
          </a:solidFill>
          <a:ln/>
        </p:spPr>
      </p:sp>
      <p:sp>
        <p:nvSpPr>
          <p:cNvPr id="125" name="Shape 28">
            <a:extLst>
              <a:ext uri="{FF2B5EF4-FFF2-40B4-BE49-F238E27FC236}">
                <a16:creationId xmlns:a16="http://schemas.microsoft.com/office/drawing/2014/main" id="{D31BEC5E-DE7B-485B-92B6-010A35214FB6}"/>
              </a:ext>
            </a:extLst>
          </p:cNvPr>
          <p:cNvSpPr/>
          <p:nvPr/>
        </p:nvSpPr>
        <p:spPr>
          <a:xfrm>
            <a:off x="3359922" y="1522793"/>
            <a:ext cx="9418" cy="4326247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>
                <a:alpha val="0"/>
              </a:srgbClr>
            </a:solidFill>
            <a:prstDash val="solid"/>
          </a:ln>
        </p:spPr>
      </p:sp>
      <p:sp>
        <p:nvSpPr>
          <p:cNvPr id="127" name="Shape 30">
            <a:extLst>
              <a:ext uri="{FF2B5EF4-FFF2-40B4-BE49-F238E27FC236}">
                <a16:creationId xmlns:a16="http://schemas.microsoft.com/office/drawing/2014/main" id="{916FC1B2-F896-4360-AE9D-1DA7A8004F60}"/>
              </a:ext>
            </a:extLst>
          </p:cNvPr>
          <p:cNvSpPr/>
          <p:nvPr/>
        </p:nvSpPr>
        <p:spPr>
          <a:xfrm>
            <a:off x="1083557" y="5932909"/>
            <a:ext cx="2452485" cy="187707"/>
          </a:xfrm>
          <a:prstGeom prst="rect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141" name="Shape 31">
            <a:extLst>
              <a:ext uri="{FF2B5EF4-FFF2-40B4-BE49-F238E27FC236}">
                <a16:creationId xmlns:a16="http://schemas.microsoft.com/office/drawing/2014/main" id="{91123D67-B5E3-49E4-99D0-DFCAAC3F8CCA}"/>
              </a:ext>
            </a:extLst>
          </p:cNvPr>
          <p:cNvSpPr/>
          <p:nvPr/>
        </p:nvSpPr>
        <p:spPr>
          <a:xfrm>
            <a:off x="3555820" y="5932909"/>
            <a:ext cx="8338823" cy="187707"/>
          </a:xfrm>
          <a:prstGeom prst="rect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142" name="Shape 32">
            <a:extLst>
              <a:ext uri="{FF2B5EF4-FFF2-40B4-BE49-F238E27FC236}">
                <a16:creationId xmlns:a16="http://schemas.microsoft.com/office/drawing/2014/main" id="{354B1A02-7FFC-47B5-9696-E585EB5A9885}"/>
              </a:ext>
            </a:extLst>
          </p:cNvPr>
          <p:cNvSpPr/>
          <p:nvPr/>
        </p:nvSpPr>
        <p:spPr>
          <a:xfrm>
            <a:off x="3359922" y="1522793"/>
            <a:ext cx="157283" cy="16674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5" name="Shape 33">
            <a:extLst>
              <a:ext uri="{FF2B5EF4-FFF2-40B4-BE49-F238E27FC236}">
                <a16:creationId xmlns:a16="http://schemas.microsoft.com/office/drawing/2014/main" id="{DA473C0B-5729-4FD8-AD5B-3C1C059BA00F}"/>
              </a:ext>
            </a:extLst>
          </p:cNvPr>
          <p:cNvSpPr/>
          <p:nvPr/>
        </p:nvSpPr>
        <p:spPr>
          <a:xfrm>
            <a:off x="3359922" y="1689533"/>
            <a:ext cx="157283" cy="831702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6" name="Shape 34">
            <a:extLst>
              <a:ext uri="{FF2B5EF4-FFF2-40B4-BE49-F238E27FC236}">
                <a16:creationId xmlns:a16="http://schemas.microsoft.com/office/drawing/2014/main" id="{A4F36E1F-4507-4CC5-9346-4FBE0AD7F22F}"/>
              </a:ext>
            </a:extLst>
          </p:cNvPr>
          <p:cNvSpPr/>
          <p:nvPr/>
        </p:nvSpPr>
        <p:spPr>
          <a:xfrm>
            <a:off x="3359922" y="5683299"/>
            <a:ext cx="157283" cy="16674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8" name="Image 8" descr="gen-dedup-7c02ed4669765158cb6410457d6288f7.png">
            <a:extLst>
              <a:ext uri="{FF2B5EF4-FFF2-40B4-BE49-F238E27FC236}">
                <a16:creationId xmlns:a16="http://schemas.microsoft.com/office/drawing/2014/main" id="{2665EC4D-B367-4232-8285-18D4141E819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6250" b="-6250"/>
          <a:stretch/>
        </p:blipFill>
        <p:spPr>
          <a:xfrm>
            <a:off x="1123114" y="191871"/>
            <a:ext cx="157283" cy="166740"/>
          </a:xfrm>
          <a:prstGeom prst="rect">
            <a:avLst/>
          </a:prstGeom>
        </p:spPr>
      </p:pic>
      <p:sp>
        <p:nvSpPr>
          <p:cNvPr id="149" name="Text 36">
            <a:extLst>
              <a:ext uri="{FF2B5EF4-FFF2-40B4-BE49-F238E27FC236}">
                <a16:creationId xmlns:a16="http://schemas.microsoft.com/office/drawing/2014/main" id="{E428AE1F-5E2A-45BC-8AD2-EAAD85DE2C03}"/>
              </a:ext>
            </a:extLst>
          </p:cNvPr>
          <p:cNvSpPr txBox="1"/>
          <p:nvPr/>
        </p:nvSpPr>
        <p:spPr>
          <a:xfrm>
            <a:off x="1387763" y="170904"/>
            <a:ext cx="1594491" cy="20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탐색 중 - Projects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Text 37">
            <a:extLst>
              <a:ext uri="{FF2B5EF4-FFF2-40B4-BE49-F238E27FC236}">
                <a16:creationId xmlns:a16="http://schemas.microsoft.com/office/drawing/2014/main" id="{B62B1CCF-70A3-4E76-BC3F-82C5DF2D170C}"/>
              </a:ext>
            </a:extLst>
          </p:cNvPr>
          <p:cNvSpPr txBox="1"/>
          <p:nvPr/>
        </p:nvSpPr>
        <p:spPr>
          <a:xfrm>
            <a:off x="11138365" y="185880"/>
            <a:ext cx="83822" cy="14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_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1" name="Shape 38">
            <a:extLst>
              <a:ext uri="{FF2B5EF4-FFF2-40B4-BE49-F238E27FC236}">
                <a16:creationId xmlns:a16="http://schemas.microsoft.com/office/drawing/2014/main" id="{D76E0BCC-364D-4EE0-BC3A-3858A77A42F3}"/>
              </a:ext>
            </a:extLst>
          </p:cNvPr>
          <p:cNvSpPr/>
          <p:nvPr/>
        </p:nvSpPr>
        <p:spPr>
          <a:xfrm>
            <a:off x="11414317" y="206847"/>
            <a:ext cx="117727" cy="13479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52" name="Shape 39">
            <a:extLst>
              <a:ext uri="{FF2B5EF4-FFF2-40B4-BE49-F238E27FC236}">
                <a16:creationId xmlns:a16="http://schemas.microsoft.com/office/drawing/2014/main" id="{B2824EFA-3C56-436D-9EF5-EACB833A8EB2}"/>
              </a:ext>
            </a:extLst>
          </p:cNvPr>
          <p:cNvSpPr/>
          <p:nvPr/>
        </p:nvSpPr>
        <p:spPr>
          <a:xfrm>
            <a:off x="11414317" y="206847"/>
            <a:ext cx="117727" cy="20967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Text 40">
            <a:extLst>
              <a:ext uri="{FF2B5EF4-FFF2-40B4-BE49-F238E27FC236}">
                <a16:creationId xmlns:a16="http://schemas.microsoft.com/office/drawing/2014/main" id="{73B04141-7F29-472D-BF63-5B332765C610}"/>
              </a:ext>
            </a:extLst>
          </p:cNvPr>
          <p:cNvSpPr txBox="1"/>
          <p:nvPr/>
        </p:nvSpPr>
        <p:spPr>
          <a:xfrm>
            <a:off x="11727941" y="201855"/>
            <a:ext cx="88531" cy="14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8" name="Image 9" descr="gen-dedup-25afa46a09582202a40d6f31fc2ccf91.png">
            <a:extLst>
              <a:ext uri="{FF2B5EF4-FFF2-40B4-BE49-F238E27FC236}">
                <a16:creationId xmlns:a16="http://schemas.microsoft.com/office/drawing/2014/main" id="{6D3A70D4-DA94-488E-BECC-BF8D28E4351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1210702" y="815896"/>
            <a:ext cx="157283" cy="166740"/>
          </a:xfrm>
          <a:prstGeom prst="rect">
            <a:avLst/>
          </a:prstGeom>
        </p:spPr>
      </p:pic>
      <p:pic>
        <p:nvPicPr>
          <p:cNvPr id="159" name="Image 10" descr="gen-dedup-53d8cb32c6720cdad62ecd3793163a86.png">
            <a:extLst>
              <a:ext uri="{FF2B5EF4-FFF2-40B4-BE49-F238E27FC236}">
                <a16:creationId xmlns:a16="http://schemas.microsoft.com/office/drawing/2014/main" id="{38CE9DD8-4C0F-46DC-B9A0-EA21C7095C9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7143" r="-7143"/>
          <a:stretch/>
        </p:blipFill>
        <p:spPr>
          <a:xfrm>
            <a:off x="1554464" y="815896"/>
            <a:ext cx="157283" cy="166740"/>
          </a:xfrm>
          <a:prstGeom prst="rect">
            <a:avLst/>
          </a:prstGeom>
        </p:spPr>
      </p:pic>
      <p:pic>
        <p:nvPicPr>
          <p:cNvPr id="160" name="Image 11" descr="gen-dedup-fa17d56a867348b02c8a56abf7174658.png">
            <a:extLst>
              <a:ext uri="{FF2B5EF4-FFF2-40B4-BE49-F238E27FC236}">
                <a16:creationId xmlns:a16="http://schemas.microsoft.com/office/drawing/2014/main" id="{922B725B-A15E-4516-BFD5-E5CBF5F3301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16666" r="-16666"/>
          <a:stretch/>
        </p:blipFill>
        <p:spPr>
          <a:xfrm>
            <a:off x="1898227" y="815896"/>
            <a:ext cx="157283" cy="166740"/>
          </a:xfrm>
          <a:prstGeom prst="rect">
            <a:avLst/>
          </a:prstGeom>
        </p:spPr>
      </p:pic>
      <p:pic>
        <p:nvPicPr>
          <p:cNvPr id="161" name="Image 12" descr="gen-dedup-013b38688217c28f0315b66cc4dba47b.png">
            <a:extLst>
              <a:ext uri="{FF2B5EF4-FFF2-40B4-BE49-F238E27FC236}">
                <a16:creationId xmlns:a16="http://schemas.microsoft.com/office/drawing/2014/main" id="{D017ADA0-79CA-457C-8D33-D4231577065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2418108" y="815896"/>
            <a:ext cx="157283" cy="166740"/>
          </a:xfrm>
          <a:prstGeom prst="rect">
            <a:avLst/>
          </a:prstGeom>
        </p:spPr>
      </p:pic>
      <p:pic>
        <p:nvPicPr>
          <p:cNvPr id="162" name="Image 13" descr="gen-dedup-3408d1960989eaff15e10127b414fcf2.png">
            <a:extLst>
              <a:ext uri="{FF2B5EF4-FFF2-40B4-BE49-F238E27FC236}">
                <a16:creationId xmlns:a16="http://schemas.microsoft.com/office/drawing/2014/main" id="{99A1AEF4-E23A-47B4-A49D-1A8A656F8CA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7143" r="-7143"/>
          <a:stretch/>
        </p:blipFill>
        <p:spPr>
          <a:xfrm>
            <a:off x="2711955" y="815896"/>
            <a:ext cx="157283" cy="166740"/>
          </a:xfrm>
          <a:prstGeom prst="rect">
            <a:avLst/>
          </a:prstGeom>
        </p:spPr>
      </p:pic>
      <p:pic>
        <p:nvPicPr>
          <p:cNvPr id="163" name="Image 14" descr="gen-dedup-6e9e672aa626b1edf6db8640b2821839.png">
            <a:extLst>
              <a:ext uri="{FF2B5EF4-FFF2-40B4-BE49-F238E27FC236}">
                <a16:creationId xmlns:a16="http://schemas.microsoft.com/office/drawing/2014/main" id="{C9550F90-0E01-4893-B835-77A2FB3C1F4E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3006742" y="815896"/>
            <a:ext cx="157283" cy="166740"/>
          </a:xfrm>
          <a:prstGeom prst="rect">
            <a:avLst/>
          </a:prstGeom>
        </p:spPr>
      </p:pic>
      <p:sp>
        <p:nvSpPr>
          <p:cNvPr id="164" name="Text 41">
            <a:extLst>
              <a:ext uri="{FF2B5EF4-FFF2-40B4-BE49-F238E27FC236}">
                <a16:creationId xmlns:a16="http://schemas.microsoft.com/office/drawing/2014/main" id="{0762294A-6332-409C-A4B5-45E26B375792}"/>
              </a:ext>
            </a:extLst>
          </p:cNvPr>
          <p:cNvSpPr txBox="1"/>
          <p:nvPr/>
        </p:nvSpPr>
        <p:spPr>
          <a:xfrm>
            <a:off x="1142891" y="1195304"/>
            <a:ext cx="536834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주소(D)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5" name="Image 15" descr="gen-dedup-7c02ed4669765158cb6410457d6288f7.png">
            <a:extLst>
              <a:ext uri="{FF2B5EF4-FFF2-40B4-BE49-F238E27FC236}">
                <a16:creationId xmlns:a16="http://schemas.microsoft.com/office/drawing/2014/main" id="{239474F9-BA3C-417F-8CE0-5EE537895D3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6250" b="-6250"/>
          <a:stretch/>
        </p:blipFill>
        <p:spPr>
          <a:xfrm>
            <a:off x="1780500" y="1210281"/>
            <a:ext cx="157283" cy="166740"/>
          </a:xfrm>
          <a:prstGeom prst="rect">
            <a:avLst/>
          </a:prstGeom>
        </p:spPr>
      </p:pic>
      <p:sp>
        <p:nvSpPr>
          <p:cNvPr id="166" name="Text 42">
            <a:extLst>
              <a:ext uri="{FF2B5EF4-FFF2-40B4-BE49-F238E27FC236}">
                <a16:creationId xmlns:a16="http://schemas.microsoft.com/office/drawing/2014/main" id="{2A6B50A8-5D43-45FB-875F-B4B2E68A3195}"/>
              </a:ext>
            </a:extLst>
          </p:cNvPr>
          <p:cNvSpPr txBox="1"/>
          <p:nvPr/>
        </p:nvSpPr>
        <p:spPr>
          <a:xfrm>
            <a:off x="2025372" y="1216271"/>
            <a:ext cx="3451503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C:\Portfolio\Projects\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기타 프로젝트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\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보름달 방앗간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7" name="Text 43">
            <a:extLst>
              <a:ext uri="{FF2B5EF4-FFF2-40B4-BE49-F238E27FC236}">
                <a16:creationId xmlns:a16="http://schemas.microsoft.com/office/drawing/2014/main" id="{8C4F7CE9-8270-4468-851B-DDF88A52F141}"/>
              </a:ext>
            </a:extLst>
          </p:cNvPr>
          <p:cNvSpPr txBox="1"/>
          <p:nvPr/>
        </p:nvSpPr>
        <p:spPr>
          <a:xfrm>
            <a:off x="11384179" y="1195304"/>
            <a:ext cx="244872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이동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8" name="Text 44">
            <a:extLst>
              <a:ext uri="{FF2B5EF4-FFF2-40B4-BE49-F238E27FC236}">
                <a16:creationId xmlns:a16="http://schemas.microsoft.com/office/drawing/2014/main" id="{16B13CC4-BA5A-44FF-8E47-E60E04A8820A}"/>
              </a:ext>
            </a:extLst>
          </p:cNvPr>
          <p:cNvSpPr txBox="1"/>
          <p:nvPr/>
        </p:nvSpPr>
        <p:spPr>
          <a:xfrm>
            <a:off x="1142891" y="1600671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9" name="Image 16" descr="gen-dedup-71f3cd3c0f5149b77a7c51df2d1a7eab.png">
            <a:extLst>
              <a:ext uri="{FF2B5EF4-FFF2-40B4-BE49-F238E27FC236}">
                <a16:creationId xmlns:a16="http://schemas.microsoft.com/office/drawing/2014/main" id="{5722AD78-CE8C-4097-B8F2-1C40233E278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6250" b="-6250"/>
          <a:stretch/>
        </p:blipFill>
        <p:spPr>
          <a:xfrm>
            <a:off x="1309593" y="1590687"/>
            <a:ext cx="137504" cy="145772"/>
          </a:xfrm>
          <a:prstGeom prst="rect">
            <a:avLst/>
          </a:prstGeom>
        </p:spPr>
      </p:pic>
      <p:sp>
        <p:nvSpPr>
          <p:cNvPr id="170" name="Text 45">
            <a:extLst>
              <a:ext uri="{FF2B5EF4-FFF2-40B4-BE49-F238E27FC236}">
                <a16:creationId xmlns:a16="http://schemas.microsoft.com/office/drawing/2014/main" id="{E8856BC4-07FF-4558-A9F5-EFB404064BD4}"/>
              </a:ext>
            </a:extLst>
          </p:cNvPr>
          <p:cNvSpPr txBox="1"/>
          <p:nvPr/>
        </p:nvSpPr>
        <p:spPr>
          <a:xfrm>
            <a:off x="1496072" y="1564728"/>
            <a:ext cx="607470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내 컴퓨터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1" name="Text 46">
            <a:extLst>
              <a:ext uri="{FF2B5EF4-FFF2-40B4-BE49-F238E27FC236}">
                <a16:creationId xmlns:a16="http://schemas.microsoft.com/office/drawing/2014/main" id="{E7449BCD-C7B7-4C95-AF68-25995EF1A200}"/>
              </a:ext>
            </a:extLst>
          </p:cNvPr>
          <p:cNvSpPr txBox="1"/>
          <p:nvPr/>
        </p:nvSpPr>
        <p:spPr>
          <a:xfrm>
            <a:off x="1338789" y="1881234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2" name="Image 17" descr="gen-dedup-e3bb1bdbf10fa3b8ada790141c1d3212.png">
            <a:extLst>
              <a:ext uri="{FF2B5EF4-FFF2-40B4-BE49-F238E27FC236}">
                <a16:creationId xmlns:a16="http://schemas.microsoft.com/office/drawing/2014/main" id="{24284AD3-13CD-4AEE-B86A-48EEFCA4E465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505490" y="1871249"/>
            <a:ext cx="137504" cy="145772"/>
          </a:xfrm>
          <a:prstGeom prst="rect">
            <a:avLst/>
          </a:prstGeom>
        </p:spPr>
      </p:pic>
      <p:sp>
        <p:nvSpPr>
          <p:cNvPr id="173" name="Text 47">
            <a:extLst>
              <a:ext uri="{FF2B5EF4-FFF2-40B4-BE49-F238E27FC236}">
                <a16:creationId xmlns:a16="http://schemas.microsoft.com/office/drawing/2014/main" id="{9A638C46-6AA2-4807-8EB6-3B39C7503EAB}"/>
              </a:ext>
            </a:extLst>
          </p:cNvPr>
          <p:cNvSpPr txBox="1"/>
          <p:nvPr/>
        </p:nvSpPr>
        <p:spPr>
          <a:xfrm>
            <a:off x="1691969" y="1845289"/>
            <a:ext cx="982312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C: 로컬 디스크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4" name="Text 48">
            <a:extLst>
              <a:ext uri="{FF2B5EF4-FFF2-40B4-BE49-F238E27FC236}">
                <a16:creationId xmlns:a16="http://schemas.microsoft.com/office/drawing/2014/main" id="{323AFC2D-633A-482D-BAFB-FD8F3EB4DDFB}"/>
              </a:ext>
            </a:extLst>
          </p:cNvPr>
          <p:cNvSpPr txBox="1"/>
          <p:nvPr/>
        </p:nvSpPr>
        <p:spPr>
          <a:xfrm>
            <a:off x="1534687" y="2141827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5" name="Image 18" descr="gen-dedup-ba01fa70a70d7d3a77dc83183451dc86.png">
            <a:extLst>
              <a:ext uri="{FF2B5EF4-FFF2-40B4-BE49-F238E27FC236}">
                <a16:creationId xmlns:a16="http://schemas.microsoft.com/office/drawing/2014/main" id="{6BB5E545-5BF5-498F-817C-752D4F6D61D6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701387" y="2130844"/>
            <a:ext cx="137504" cy="145772"/>
          </a:xfrm>
          <a:prstGeom prst="rect">
            <a:avLst/>
          </a:prstGeom>
        </p:spPr>
      </p:pic>
      <p:sp>
        <p:nvSpPr>
          <p:cNvPr id="176" name="Text 49">
            <a:extLst>
              <a:ext uri="{FF2B5EF4-FFF2-40B4-BE49-F238E27FC236}">
                <a16:creationId xmlns:a16="http://schemas.microsoft.com/office/drawing/2014/main" id="{1E3BD229-5997-4AB9-8C0F-C468BC742636}"/>
              </a:ext>
            </a:extLst>
          </p:cNvPr>
          <p:cNvSpPr txBox="1"/>
          <p:nvPr/>
        </p:nvSpPr>
        <p:spPr>
          <a:xfrm>
            <a:off x="1887867" y="2125852"/>
            <a:ext cx="760044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Text 50">
            <a:extLst>
              <a:ext uri="{FF2B5EF4-FFF2-40B4-BE49-F238E27FC236}">
                <a16:creationId xmlns:a16="http://schemas.microsoft.com/office/drawing/2014/main" id="{723C73E9-4A4E-4F42-AE7A-87E8358A822A}"/>
              </a:ext>
            </a:extLst>
          </p:cNvPr>
          <p:cNvSpPr txBox="1"/>
          <p:nvPr/>
        </p:nvSpPr>
        <p:spPr>
          <a:xfrm>
            <a:off x="1731525" y="2380455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8" name="Image 19" descr="gen-dedup-164d010ae7e53d534a0b3104348ed19a.png">
            <a:extLst>
              <a:ext uri="{FF2B5EF4-FFF2-40B4-BE49-F238E27FC236}">
                <a16:creationId xmlns:a16="http://schemas.microsoft.com/office/drawing/2014/main" id="{9743F858-A590-4BB3-808D-215064351692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-6250" b="-6250"/>
          <a:stretch/>
        </p:blipFill>
        <p:spPr>
          <a:xfrm>
            <a:off x="1898227" y="2370470"/>
            <a:ext cx="137504" cy="145772"/>
          </a:xfrm>
          <a:prstGeom prst="rect">
            <a:avLst/>
          </a:prstGeom>
        </p:spPr>
      </p:pic>
      <p:sp>
        <p:nvSpPr>
          <p:cNvPr id="179" name="Text 51">
            <a:extLst>
              <a:ext uri="{FF2B5EF4-FFF2-40B4-BE49-F238E27FC236}">
                <a16:creationId xmlns:a16="http://schemas.microsoft.com/office/drawing/2014/main" id="{91A6C390-EF73-4B4E-9448-4A092525C527}"/>
              </a:ext>
            </a:extLst>
          </p:cNvPr>
          <p:cNvSpPr txBox="1"/>
          <p:nvPr/>
        </p:nvSpPr>
        <p:spPr>
          <a:xfrm>
            <a:off x="2084706" y="2365478"/>
            <a:ext cx="681874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0" name="Shape 52">
            <a:extLst>
              <a:ext uri="{FF2B5EF4-FFF2-40B4-BE49-F238E27FC236}">
                <a16:creationId xmlns:a16="http://schemas.microsoft.com/office/drawing/2014/main" id="{64A3B9A6-8696-4451-88B1-C3DE0AFFCA24}"/>
              </a:ext>
            </a:extLst>
          </p:cNvPr>
          <p:cNvSpPr/>
          <p:nvPr/>
        </p:nvSpPr>
        <p:spPr>
          <a:xfrm>
            <a:off x="1092676" y="3660405"/>
            <a:ext cx="2276364" cy="155756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Text 53">
            <a:extLst>
              <a:ext uri="{FF2B5EF4-FFF2-40B4-BE49-F238E27FC236}">
                <a16:creationId xmlns:a16="http://schemas.microsoft.com/office/drawing/2014/main" id="{CAF9D105-2730-4456-BD86-A00FA06DCDA1}"/>
              </a:ext>
            </a:extLst>
          </p:cNvPr>
          <p:cNvSpPr txBox="1"/>
          <p:nvPr/>
        </p:nvSpPr>
        <p:spPr>
          <a:xfrm>
            <a:off x="2280602" y="2604105"/>
            <a:ext cx="1472055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Arial" pitchFamily="34" charset="-122"/>
                <a:cs typeface="Arial" pitchFamily="34" charset="-120"/>
              </a:rPr>
              <a:t>WinAPI_DontStarve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183" name="Image 21" descr="gen-dedup-2302e8a913f082daf4055bce75fbff92.png">
            <a:extLst>
              <a:ext uri="{FF2B5EF4-FFF2-40B4-BE49-F238E27FC236}">
                <a16:creationId xmlns:a16="http://schemas.microsoft.com/office/drawing/2014/main" id="{84D0CCAD-71D2-440D-B1DE-D8B05BC99660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2615089"/>
            <a:ext cx="137504" cy="145772"/>
          </a:xfrm>
          <a:prstGeom prst="rect">
            <a:avLst/>
          </a:prstGeom>
        </p:spPr>
      </p:pic>
      <p:sp>
        <p:nvSpPr>
          <p:cNvPr id="184" name="Text 54">
            <a:extLst>
              <a:ext uri="{FF2B5EF4-FFF2-40B4-BE49-F238E27FC236}">
                <a16:creationId xmlns:a16="http://schemas.microsoft.com/office/drawing/2014/main" id="{31E9B7CF-593C-4A81-9275-E23FA6F6FF6D}"/>
              </a:ext>
            </a:extLst>
          </p:cNvPr>
          <p:cNvSpPr txBox="1"/>
          <p:nvPr/>
        </p:nvSpPr>
        <p:spPr>
          <a:xfrm>
            <a:off x="2280602" y="2868224"/>
            <a:ext cx="976709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File Tower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Defence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5" name="Image 22" descr="gen-dedup-2302e8a913f082daf4055bce75fbff92.png">
            <a:extLst>
              <a:ext uri="{FF2B5EF4-FFF2-40B4-BE49-F238E27FC236}">
                <a16:creationId xmlns:a16="http://schemas.microsoft.com/office/drawing/2014/main" id="{A18364CD-242D-46EE-BC7A-AAB0C31013B5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2878332"/>
            <a:ext cx="137504" cy="145772"/>
          </a:xfrm>
          <a:prstGeom prst="rect">
            <a:avLst/>
          </a:prstGeom>
        </p:spPr>
      </p:pic>
      <p:sp>
        <p:nvSpPr>
          <p:cNvPr id="186" name="Text 55">
            <a:extLst>
              <a:ext uri="{FF2B5EF4-FFF2-40B4-BE49-F238E27FC236}">
                <a16:creationId xmlns:a16="http://schemas.microsoft.com/office/drawing/2014/main" id="{90569763-24C7-4A44-99BB-8107D5A4F9AE}"/>
              </a:ext>
            </a:extLst>
          </p:cNvPr>
          <p:cNvSpPr txBox="1"/>
          <p:nvPr/>
        </p:nvSpPr>
        <p:spPr>
          <a:xfrm>
            <a:off x="2280602" y="3132343"/>
            <a:ext cx="1079319" cy="15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 Racing Simulation</a:t>
            </a:r>
          </a:p>
        </p:txBody>
      </p:sp>
      <p:sp>
        <p:nvSpPr>
          <p:cNvPr id="187" name="Text 56">
            <a:extLst>
              <a:ext uri="{FF2B5EF4-FFF2-40B4-BE49-F238E27FC236}">
                <a16:creationId xmlns:a16="http://schemas.microsoft.com/office/drawing/2014/main" id="{866DB103-F61D-4F55-8CB2-0DCECDF562DE}"/>
              </a:ext>
            </a:extLst>
          </p:cNvPr>
          <p:cNvSpPr txBox="1"/>
          <p:nvPr/>
        </p:nvSpPr>
        <p:spPr>
          <a:xfrm>
            <a:off x="3389118" y="1517801"/>
            <a:ext cx="98890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▲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8" name="Text 57">
            <a:extLst>
              <a:ext uri="{FF2B5EF4-FFF2-40B4-BE49-F238E27FC236}">
                <a16:creationId xmlns:a16="http://schemas.microsoft.com/office/drawing/2014/main" id="{07972270-EEB3-4E57-A275-58C3789BD728}"/>
              </a:ext>
            </a:extLst>
          </p:cNvPr>
          <p:cNvSpPr txBox="1"/>
          <p:nvPr/>
        </p:nvSpPr>
        <p:spPr>
          <a:xfrm>
            <a:off x="3389118" y="5677309"/>
            <a:ext cx="98890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Text 59">
            <a:extLst>
              <a:ext uri="{FF2B5EF4-FFF2-40B4-BE49-F238E27FC236}">
                <a16:creationId xmlns:a16="http://schemas.microsoft.com/office/drawing/2014/main" id="{F370B7F2-545A-4C3C-AE52-60FFDC3BC6C9}"/>
              </a:ext>
            </a:extLst>
          </p:cNvPr>
          <p:cNvSpPr txBox="1"/>
          <p:nvPr/>
        </p:nvSpPr>
        <p:spPr>
          <a:xfrm>
            <a:off x="1142891" y="5937901"/>
            <a:ext cx="515173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5개 개체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2" name="Text 60">
            <a:extLst>
              <a:ext uri="{FF2B5EF4-FFF2-40B4-BE49-F238E27FC236}">
                <a16:creationId xmlns:a16="http://schemas.microsoft.com/office/drawing/2014/main" id="{56BEFB76-4CFC-42A7-B9E8-E085EEAF66E4}"/>
              </a:ext>
            </a:extLst>
          </p:cNvPr>
          <p:cNvSpPr txBox="1"/>
          <p:nvPr/>
        </p:nvSpPr>
        <p:spPr>
          <a:xfrm>
            <a:off x="3644351" y="5937901"/>
            <a:ext cx="2312154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1개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항목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선택됨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ko-KR" altLang="en-US" sz="900" dirty="0">
                <a:solidFill>
                  <a:srgbClr val="000000"/>
                </a:solidFill>
                <a:latin typeface="Calibri" panose="020F0502020204030204"/>
              </a:rPr>
              <a:t>기타 프로젝트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Shape 29">
            <a:extLst>
              <a:ext uri="{FF2B5EF4-FFF2-40B4-BE49-F238E27FC236}">
                <a16:creationId xmlns:a16="http://schemas.microsoft.com/office/drawing/2014/main" id="{C8E8281E-329E-4104-AF26-2BF462B61E3F}"/>
              </a:ext>
            </a:extLst>
          </p:cNvPr>
          <p:cNvSpPr/>
          <p:nvPr/>
        </p:nvSpPr>
        <p:spPr>
          <a:xfrm>
            <a:off x="3615584" y="1517800"/>
            <a:ext cx="8262000" cy="312984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9" name="Text 58">
            <a:extLst>
              <a:ext uri="{FF2B5EF4-FFF2-40B4-BE49-F238E27FC236}">
                <a16:creationId xmlns:a16="http://schemas.microsoft.com/office/drawing/2014/main" id="{ADA0929B-6390-4236-84B5-CBBBC1E952F8}"/>
              </a:ext>
            </a:extLst>
          </p:cNvPr>
          <p:cNvSpPr txBox="1"/>
          <p:nvPr/>
        </p:nvSpPr>
        <p:spPr>
          <a:xfrm>
            <a:off x="3680570" y="1579370"/>
            <a:ext cx="2661235" cy="190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상세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정보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–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보름달 방앗간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90" name="Table 0">
            <a:extLst>
              <a:ext uri="{FF2B5EF4-FFF2-40B4-BE49-F238E27FC236}">
                <a16:creationId xmlns:a16="http://schemas.microsoft.com/office/drawing/2014/main" id="{17C5AF9B-F49B-46DE-BE64-BBD629004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10150"/>
              </p:ext>
            </p:extLst>
          </p:nvPr>
        </p:nvGraphicFramePr>
        <p:xfrm>
          <a:off x="6888351" y="1904694"/>
          <a:ext cx="4922345" cy="1848411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012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7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02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26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15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플랫폼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dirty="0"/>
                        <a:t>모바일</a:t>
                      </a:r>
                      <a:r>
                        <a:rPr lang="en-US" altLang="ko-KR" sz="1400" dirty="0"/>
                        <a:t>(Android)</a:t>
                      </a: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장르</a:t>
                      </a:r>
                      <a:endParaRPr lang="ko-KR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시뮬레이션</a:t>
                      </a: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2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인원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7</a:t>
                      </a:r>
                      <a:r>
                        <a:rPr lang="ko-KR" altLang="en-US" sz="1400" dirty="0"/>
                        <a:t>인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기획</a:t>
                      </a:r>
                      <a:r>
                        <a:rPr lang="en-US" altLang="ko-KR" sz="1400" dirty="0"/>
                        <a:t>1,</a:t>
                      </a:r>
                      <a:r>
                        <a:rPr lang="ko-KR" altLang="en-US" sz="1400" dirty="0"/>
                        <a:t>아트</a:t>
                      </a:r>
                      <a:r>
                        <a:rPr lang="en-US" altLang="ko-KR" sz="1400" dirty="0"/>
                        <a:t>4,</a:t>
                      </a:r>
                      <a:r>
                        <a:rPr lang="ko-KR" altLang="en-US" sz="1400" dirty="0" err="1"/>
                        <a:t>플밍</a:t>
                      </a:r>
                      <a:r>
                        <a:rPr lang="en-US" altLang="ko-KR" sz="1400" dirty="0"/>
                        <a:t>2)</a:t>
                      </a:r>
                      <a:endParaRPr lang="ko-KR" altLang="en-US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기간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2024.09. ~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2024.11.14</a:t>
                      </a:r>
                      <a:endParaRPr lang="ko-KR" altLang="en-US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65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도구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C#, Unity</a:t>
                      </a:r>
                      <a:endParaRPr lang="ko-KR" altLang="en-US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동영상 링크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EE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  <a:hlinkClick r:id="rId19"/>
                        </a:rPr>
                        <a:t>유튜브 링크</a:t>
                      </a:r>
                      <a:endParaRPr lang="en-US" sz="14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" name="Shape 3">
            <a:extLst>
              <a:ext uri="{FF2B5EF4-FFF2-40B4-BE49-F238E27FC236}">
                <a16:creationId xmlns:a16="http://schemas.microsoft.com/office/drawing/2014/main" id="{8D2D6D18-3D4F-2789-2367-5B77242E2AAF}"/>
              </a:ext>
            </a:extLst>
          </p:cNvPr>
          <p:cNvSpPr/>
          <p:nvPr/>
        </p:nvSpPr>
        <p:spPr>
          <a:xfrm>
            <a:off x="250546" y="4467759"/>
            <a:ext cx="629107" cy="590702"/>
          </a:xfrm>
          <a:prstGeom prst="rect">
            <a:avLst/>
          </a:prstGeom>
          <a:solidFill>
            <a:srgbClr val="000080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0" descr="gen-dedup-57ee6a1f0d650d3a975db06a8ec6cc96.png">
            <a:extLst>
              <a:ext uri="{FF2B5EF4-FFF2-40B4-BE49-F238E27FC236}">
                <a16:creationId xmlns:a16="http://schemas.microsoft.com/office/drawing/2014/main" id="{EFCF0412-E908-C7BF-BC55-BAE05E0EE49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-6250" b="-6250"/>
          <a:stretch/>
        </p:blipFill>
        <p:spPr>
          <a:xfrm>
            <a:off x="381305" y="1047902"/>
            <a:ext cx="381305" cy="381305"/>
          </a:xfrm>
          <a:prstGeom prst="rect">
            <a:avLst/>
          </a:prstGeom>
        </p:spPr>
      </p:pic>
      <p:sp>
        <p:nvSpPr>
          <p:cNvPr id="30" name="Text 5">
            <a:extLst>
              <a:ext uri="{FF2B5EF4-FFF2-40B4-BE49-F238E27FC236}">
                <a16:creationId xmlns:a16="http://schemas.microsoft.com/office/drawing/2014/main" id="{7AAA51FF-B4B2-0FFB-7A35-7798244C584C}"/>
              </a:ext>
            </a:extLst>
          </p:cNvPr>
          <p:cNvSpPr txBox="1"/>
          <p:nvPr/>
        </p:nvSpPr>
        <p:spPr>
          <a:xfrm>
            <a:off x="269748" y="1485900"/>
            <a:ext cx="609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내 컴퓨터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184DF3B7-FDCE-FAA3-5633-C68B5A2B905F}"/>
              </a:ext>
            </a:extLst>
          </p:cNvPr>
          <p:cNvSpPr txBox="1"/>
          <p:nvPr/>
        </p:nvSpPr>
        <p:spPr>
          <a:xfrm>
            <a:off x="226771" y="2391156"/>
            <a:ext cx="695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포트폴리오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2" descr="gen-dedup-313e4be3ff4060006731241b7cc55ba4.png">
            <a:extLst>
              <a:ext uri="{FF2B5EF4-FFF2-40B4-BE49-F238E27FC236}">
                <a16:creationId xmlns:a16="http://schemas.microsoft.com/office/drawing/2014/main" id="{728E10CD-CA85-D2DB-FF94-BE9BBB734443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381305" y="2809951"/>
            <a:ext cx="381305" cy="381305"/>
          </a:xfrm>
          <a:prstGeom prst="rect">
            <a:avLst/>
          </a:prstGeom>
        </p:spPr>
      </p:pic>
      <p:sp>
        <p:nvSpPr>
          <p:cNvPr id="33" name="Text 7">
            <a:extLst>
              <a:ext uri="{FF2B5EF4-FFF2-40B4-BE49-F238E27FC236}">
                <a16:creationId xmlns:a16="http://schemas.microsoft.com/office/drawing/2014/main" id="{F7A0DC63-18A1-C8DD-A968-4357801E6074}"/>
              </a:ext>
            </a:extLst>
          </p:cNvPr>
          <p:cNvSpPr txBox="1"/>
          <p:nvPr/>
        </p:nvSpPr>
        <p:spPr>
          <a:xfrm>
            <a:off x="419710" y="3191256"/>
            <a:ext cx="342900" cy="24780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tIns="25400" rIns="381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목차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4" name="Image 3" descr="gen-dedup-ef6105ed2e63baeb37694681937bef0b.png">
            <a:extLst>
              <a:ext uri="{FF2B5EF4-FFF2-40B4-BE49-F238E27FC236}">
                <a16:creationId xmlns:a16="http://schemas.microsoft.com/office/drawing/2014/main" id="{A082A422-BE55-F011-2CC6-0BD13AAB9478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-7143" r="-7143"/>
          <a:stretch/>
        </p:blipFill>
        <p:spPr>
          <a:xfrm>
            <a:off x="381305" y="3715207"/>
            <a:ext cx="381305" cy="381305"/>
          </a:xfrm>
          <a:prstGeom prst="rect">
            <a:avLst/>
          </a:prstGeom>
        </p:spPr>
      </p:pic>
      <p:sp>
        <p:nvSpPr>
          <p:cNvPr id="35" name="Text 8">
            <a:extLst>
              <a:ext uri="{FF2B5EF4-FFF2-40B4-BE49-F238E27FC236}">
                <a16:creationId xmlns:a16="http://schemas.microsoft.com/office/drawing/2014/main" id="{5D9317CB-ACDF-B233-EDA4-3672C9C9401D}"/>
              </a:ext>
            </a:extLst>
          </p:cNvPr>
          <p:cNvSpPr txBox="1"/>
          <p:nvPr/>
        </p:nvSpPr>
        <p:spPr>
          <a:xfrm>
            <a:off x="349301" y="4153205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Image 4" descr="gen-dedup-9fdbec92b016124fd02e3850a5123f8c.png">
            <a:extLst>
              <a:ext uri="{FF2B5EF4-FFF2-40B4-BE49-F238E27FC236}">
                <a16:creationId xmlns:a16="http://schemas.microsoft.com/office/drawing/2014/main" id="{7E6D6121-5D76-57FF-25F6-6DE7C56EE4E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381305" y="4572000"/>
            <a:ext cx="381305" cy="381305"/>
          </a:xfrm>
          <a:prstGeom prst="rect">
            <a:avLst/>
          </a:prstGeom>
        </p:spPr>
      </p:pic>
      <p:sp>
        <p:nvSpPr>
          <p:cNvPr id="37" name="Text 9">
            <a:extLst>
              <a:ext uri="{FF2B5EF4-FFF2-40B4-BE49-F238E27FC236}">
                <a16:creationId xmlns:a16="http://schemas.microsoft.com/office/drawing/2014/main" id="{A8EF988B-8A30-9D89-7D01-D210D2C0B7B7}"/>
              </a:ext>
            </a:extLst>
          </p:cNvPr>
          <p:cNvSpPr txBox="1"/>
          <p:nvPr/>
        </p:nvSpPr>
        <p:spPr>
          <a:xfrm>
            <a:off x="288036" y="5009998"/>
            <a:ext cx="571500" cy="2286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프로젝트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C763788-A732-CC21-1C1E-3C4A06882F74}"/>
              </a:ext>
            </a:extLst>
          </p:cNvPr>
          <p:cNvGrpSpPr/>
          <p:nvPr/>
        </p:nvGrpSpPr>
        <p:grpSpPr>
          <a:xfrm>
            <a:off x="342900" y="1904695"/>
            <a:ext cx="457200" cy="457200"/>
            <a:chOff x="342900" y="1904695"/>
            <a:chExt cx="457200" cy="457200"/>
          </a:xfrm>
        </p:grpSpPr>
        <p:pic>
          <p:nvPicPr>
            <p:cNvPr id="39" name="Image 1" descr="gen-dedup-36f1f1ccf4a0e8533d6290f10bde510b.png">
              <a:extLst>
                <a:ext uri="{FF2B5EF4-FFF2-40B4-BE49-F238E27FC236}">
                  <a16:creationId xmlns:a16="http://schemas.microsoft.com/office/drawing/2014/main" id="{D19DF641-2009-CA60-A812-FB2E4D8CF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rcRect/>
            <a:stretch/>
          </p:blipFill>
          <p:spPr>
            <a:xfrm>
              <a:off x="342900" y="1904695"/>
              <a:ext cx="457200" cy="457200"/>
            </a:xfrm>
            <a:prstGeom prst="rect">
              <a:avLst/>
            </a:prstGeom>
          </p:spPr>
        </p:pic>
        <p:pic>
          <p:nvPicPr>
            <p:cNvPr id="40" name="Image 5" descr="gen-dedup-72bd3513d2cf055f9eacb7e2be8dea4c.png">
              <a:extLst>
                <a:ext uri="{FF2B5EF4-FFF2-40B4-BE49-F238E27FC236}">
                  <a16:creationId xmlns:a16="http://schemas.microsoft.com/office/drawing/2014/main" id="{3CC83CE2-81A3-D033-46EA-9C7AD7E63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rcRect t="-12500" b="-12500"/>
            <a:stretch/>
          </p:blipFill>
          <p:spPr>
            <a:xfrm>
              <a:off x="437998" y="2038198"/>
              <a:ext cx="267005" cy="267005"/>
            </a:xfrm>
            <a:prstGeom prst="rect">
              <a:avLst/>
            </a:prstGeom>
          </p:spPr>
        </p:pic>
      </p:grpSp>
      <p:pic>
        <p:nvPicPr>
          <p:cNvPr id="41" name="Image 22" descr="gen-dedup-2302e8a913f082daf4055bce75fbff92.png">
            <a:extLst>
              <a:ext uri="{FF2B5EF4-FFF2-40B4-BE49-F238E27FC236}">
                <a16:creationId xmlns:a16="http://schemas.microsoft.com/office/drawing/2014/main" id="{D4457459-CEDB-FBC0-F26E-E26EE78F0221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3141575"/>
            <a:ext cx="137835" cy="148774"/>
          </a:xfrm>
          <a:prstGeom prst="rect">
            <a:avLst/>
          </a:prstGeom>
        </p:spPr>
      </p:pic>
      <p:sp>
        <p:nvSpPr>
          <p:cNvPr id="42" name="Text 55">
            <a:extLst>
              <a:ext uri="{FF2B5EF4-FFF2-40B4-BE49-F238E27FC236}">
                <a16:creationId xmlns:a16="http://schemas.microsoft.com/office/drawing/2014/main" id="{156B8AB8-E0C1-DC86-9D04-EA2864B6EAFA}"/>
              </a:ext>
            </a:extLst>
          </p:cNvPr>
          <p:cNvSpPr txBox="1"/>
          <p:nvPr/>
        </p:nvSpPr>
        <p:spPr>
          <a:xfrm>
            <a:off x="2280602" y="3391468"/>
            <a:ext cx="1081917" cy="15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World First Kill</a:t>
            </a:r>
          </a:p>
        </p:txBody>
      </p:sp>
      <p:sp>
        <p:nvSpPr>
          <p:cNvPr id="44" name="Text 55">
            <a:extLst>
              <a:ext uri="{FF2B5EF4-FFF2-40B4-BE49-F238E27FC236}">
                <a16:creationId xmlns:a16="http://schemas.microsoft.com/office/drawing/2014/main" id="{10548B94-AED8-2DE4-5428-A123E913F333}"/>
              </a:ext>
            </a:extLst>
          </p:cNvPr>
          <p:cNvSpPr txBox="1"/>
          <p:nvPr/>
        </p:nvSpPr>
        <p:spPr>
          <a:xfrm>
            <a:off x="2280602" y="3653721"/>
            <a:ext cx="1081917" cy="15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기타 프로젝트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1" name="Image 18" descr="gen-dedup-ba01fa70a70d7d3a77dc83183451dc86.png">
            <a:extLst>
              <a:ext uri="{FF2B5EF4-FFF2-40B4-BE49-F238E27FC236}">
                <a16:creationId xmlns:a16="http://schemas.microsoft.com/office/drawing/2014/main" id="{168D4DC0-D96F-47D8-A951-BF723BC6F6FE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2090319" y="3674064"/>
            <a:ext cx="137504" cy="145772"/>
          </a:xfrm>
          <a:prstGeom prst="rect">
            <a:avLst/>
          </a:prstGeom>
        </p:spPr>
      </p:pic>
      <p:pic>
        <p:nvPicPr>
          <p:cNvPr id="100" name="Image 22" descr="gen-dedup-2302e8a913f082daf4055bce75fbff92.png">
            <a:extLst>
              <a:ext uri="{FF2B5EF4-FFF2-40B4-BE49-F238E27FC236}">
                <a16:creationId xmlns:a16="http://schemas.microsoft.com/office/drawing/2014/main" id="{592BA0B1-5D85-49D8-942E-5D79358F39A9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3407820"/>
            <a:ext cx="137835" cy="148774"/>
          </a:xfrm>
          <a:prstGeom prst="rect">
            <a:avLst/>
          </a:prstGeom>
        </p:spPr>
      </p:pic>
      <p:graphicFrame>
        <p:nvGraphicFramePr>
          <p:cNvPr id="121" name="Table 0">
            <a:extLst>
              <a:ext uri="{FF2B5EF4-FFF2-40B4-BE49-F238E27FC236}">
                <a16:creationId xmlns:a16="http://schemas.microsoft.com/office/drawing/2014/main" id="{A5A41744-44D6-437D-918E-F5C7CFB92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012572"/>
              </p:ext>
            </p:extLst>
          </p:nvPr>
        </p:nvGraphicFramePr>
        <p:xfrm>
          <a:off x="3680570" y="3813676"/>
          <a:ext cx="8130125" cy="1994426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4366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93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72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요약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NPC, </a:t>
                      </a:r>
                      <a:r>
                        <a:rPr lang="ko-KR" altLang="en-US" sz="1400" dirty="0"/>
                        <a:t>플레이어가 음식을 만들고 </a:t>
                      </a:r>
                      <a:r>
                        <a:rPr lang="ko-KR" altLang="en-US" sz="1400" dirty="0" err="1"/>
                        <a:t>서빙하며</a:t>
                      </a:r>
                      <a:r>
                        <a:rPr lang="en-US" altLang="ko-KR" sz="1400" dirty="0"/>
                        <a:t>,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손님에게 음식을 대접하고 재화를 버는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힐링형 방치게임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72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역할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아이템 카테고리별 인벤토리 시스템 개발</a:t>
                      </a:r>
                      <a:endParaRPr lang="en-US" altLang="ko-KR" sz="14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손님</a:t>
                      </a:r>
                      <a:r>
                        <a:rPr lang="en-US" altLang="ko-KR" sz="1400" dirty="0"/>
                        <a:t>,</a:t>
                      </a:r>
                      <a:r>
                        <a:rPr lang="ko-KR" altLang="en-US" sz="1400" dirty="0"/>
                        <a:t>직원들이 정해진 테이블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의자를 찾아가는 </a:t>
                      </a:r>
                      <a:r>
                        <a:rPr lang="ko-KR" altLang="en-US" sz="1400" dirty="0" err="1"/>
                        <a:t>길찾기</a:t>
                      </a:r>
                      <a:r>
                        <a:rPr lang="ko-KR" altLang="en-US" sz="1400" dirty="0"/>
                        <a:t> 시스템</a:t>
                      </a:r>
                      <a:endParaRPr lang="en-US" altLang="ko-KR" sz="1400" dirty="0"/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캐릭터 애니메이션 적용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직원 일 처리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서빙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음식 제작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등</a:t>
                      </a:r>
                      <a:r>
                        <a:rPr lang="en-US" altLang="ko-KR" sz="1400" dirty="0"/>
                        <a:t>) </a:t>
                      </a:r>
                      <a:r>
                        <a:rPr lang="ko-KR" altLang="en-US" sz="1400" dirty="0"/>
                        <a:t>시스템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8" name="Shape 13">
            <a:extLst>
              <a:ext uri="{FF2B5EF4-FFF2-40B4-BE49-F238E27FC236}">
                <a16:creationId xmlns:a16="http://schemas.microsoft.com/office/drawing/2014/main" id="{1E1D1D53-D5D8-4CD9-8BD9-8E91620CB063}"/>
              </a:ext>
            </a:extLst>
          </p:cNvPr>
          <p:cNvSpPr/>
          <p:nvPr/>
        </p:nvSpPr>
        <p:spPr>
          <a:xfrm>
            <a:off x="3680571" y="1887359"/>
            <a:ext cx="3157094" cy="1877147"/>
          </a:xfrm>
          <a:prstGeom prst="rect">
            <a:avLst/>
          </a:prstGeom>
          <a:solidFill>
            <a:srgbClr val="E8E8E8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20" name="그림 119">
            <a:extLst>
              <a:ext uri="{FF2B5EF4-FFF2-40B4-BE49-F238E27FC236}">
                <a16:creationId xmlns:a16="http://schemas.microsoft.com/office/drawing/2014/main" id="{8DDC3E1F-90AE-4CA1-9156-B5424B77B8E8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339880" y="1900968"/>
            <a:ext cx="1838476" cy="18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2493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02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131" name="Shape 103"/>
          <p:cNvSpPr/>
          <p:nvPr/>
        </p:nvSpPr>
        <p:spPr>
          <a:xfrm>
            <a:off x="0" y="6476695"/>
            <a:ext cx="12191695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04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3" name="Shape 105"/>
          <p:cNvSpPr/>
          <p:nvPr/>
        </p:nvSpPr>
        <p:spPr>
          <a:xfrm>
            <a:off x="952805" y="6515100"/>
            <a:ext cx="1714500" cy="304495"/>
          </a:xfrm>
          <a:prstGeom prst="rect">
            <a:avLst/>
          </a:prstGeom>
          <a:solidFill>
            <a:srgbClr val="E0E0E0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34" name="Shape 106"/>
          <p:cNvSpPr/>
          <p:nvPr/>
        </p:nvSpPr>
        <p:spPr>
          <a:xfrm>
            <a:off x="10477195" y="6534302"/>
            <a:ext cx="1619402" cy="267005"/>
          </a:xfrm>
          <a:prstGeom prst="rect">
            <a:avLst/>
          </a:prstGeom>
          <a:solidFill>
            <a:srgbClr val="C0C0C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135" name="Image 25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136" name="Text 107"/>
          <p:cNvSpPr txBox="1"/>
          <p:nvPr/>
        </p:nvSpPr>
        <p:spPr>
          <a:xfrm>
            <a:off x="342900" y="6572707"/>
            <a:ext cx="284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시작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7" name="Image 26" descr="gen-dedup-1027b540a23f27953c8b221c66837c2b.png"/>
          <p:cNvPicPr>
            <a:picLocks noChangeAspect="1"/>
          </p:cNvPicPr>
          <p:nvPr/>
        </p:nvPicPr>
        <p:blipFill>
          <a:blip r:embed="rId4"/>
          <a:srcRect t="-6250" b="-6250"/>
          <a:stretch/>
        </p:blipFill>
        <p:spPr>
          <a:xfrm>
            <a:off x="1028700" y="6590995"/>
            <a:ext cx="152705" cy="152705"/>
          </a:xfrm>
          <a:prstGeom prst="rect">
            <a:avLst/>
          </a:prstGeom>
        </p:spPr>
      </p:pic>
      <p:sp>
        <p:nvSpPr>
          <p:cNvPr id="138" name="Text 108"/>
          <p:cNvSpPr txBox="1"/>
          <p:nvPr/>
        </p:nvSpPr>
        <p:spPr>
          <a:xfrm>
            <a:off x="1238098" y="6577279"/>
            <a:ext cx="143743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탐색 중 - Projects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9" name="Image 27" descr="gen-dedup-7740a029182e5c65b65e33d2aaed94e2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10573207" y="6590995"/>
            <a:ext cx="152705" cy="152705"/>
          </a:xfrm>
          <a:prstGeom prst="rect">
            <a:avLst/>
          </a:prstGeom>
        </p:spPr>
      </p:pic>
      <p:sp>
        <p:nvSpPr>
          <p:cNvPr id="140" name="Text 109"/>
          <p:cNvSpPr txBox="1"/>
          <p:nvPr/>
        </p:nvSpPr>
        <p:spPr>
          <a:xfrm>
            <a:off x="11124590" y="6590995"/>
            <a:ext cx="7260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10:00 AM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Shape 10">
            <a:extLst>
              <a:ext uri="{FF2B5EF4-FFF2-40B4-BE49-F238E27FC236}">
                <a16:creationId xmlns:a16="http://schemas.microsoft.com/office/drawing/2014/main" id="{14A75B8D-58B7-472B-BBE7-FDD8817C001B}"/>
              </a:ext>
            </a:extLst>
          </p:cNvPr>
          <p:cNvSpPr/>
          <p:nvPr/>
        </p:nvSpPr>
        <p:spPr>
          <a:xfrm>
            <a:off x="1044001" y="108001"/>
            <a:ext cx="10890197" cy="6084503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4" name="Shape 11">
            <a:extLst>
              <a:ext uri="{FF2B5EF4-FFF2-40B4-BE49-F238E27FC236}">
                <a16:creationId xmlns:a16="http://schemas.microsoft.com/office/drawing/2014/main" id="{71A388DE-101E-4470-BFD4-A6A63EA671A5}"/>
              </a:ext>
            </a:extLst>
          </p:cNvPr>
          <p:cNvSpPr/>
          <p:nvPr/>
        </p:nvSpPr>
        <p:spPr>
          <a:xfrm>
            <a:off x="1063780" y="128969"/>
            <a:ext cx="10850641" cy="291545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5" name="Image 5" descr="gen-dedup-23665c0bc8193eed4b19e05b81a508d3.png">
            <a:extLst>
              <a:ext uri="{FF2B5EF4-FFF2-40B4-BE49-F238E27FC236}">
                <a16:creationId xmlns:a16="http://schemas.microsoft.com/office/drawing/2014/main" id="{2293A2AB-329A-4D4D-A2B3-1C7504C127F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063780" y="670124"/>
            <a:ext cx="10850641" cy="41935"/>
          </a:xfrm>
          <a:prstGeom prst="rect">
            <a:avLst/>
          </a:prstGeom>
        </p:spPr>
      </p:pic>
      <p:sp>
        <p:nvSpPr>
          <p:cNvPr id="106" name="Shape 12">
            <a:extLst>
              <a:ext uri="{FF2B5EF4-FFF2-40B4-BE49-F238E27FC236}">
                <a16:creationId xmlns:a16="http://schemas.microsoft.com/office/drawing/2014/main" id="{BF7862CB-A48A-41ED-BB49-4572C79D2442}"/>
              </a:ext>
            </a:extLst>
          </p:cNvPr>
          <p:cNvSpPr/>
          <p:nvPr/>
        </p:nvSpPr>
        <p:spPr>
          <a:xfrm>
            <a:off x="1063780" y="691091"/>
            <a:ext cx="10850641" cy="41635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7" name="Image 6" descr="gen-dedup-23665c0bc8193eed4b19e05b81a508d3.png">
            <a:extLst>
              <a:ext uri="{FF2B5EF4-FFF2-40B4-BE49-F238E27FC236}">
                <a16:creationId xmlns:a16="http://schemas.microsoft.com/office/drawing/2014/main" id="{20ABEAB4-CC5E-4191-B75F-C98135769AD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063780" y="1106443"/>
            <a:ext cx="10850641" cy="41935"/>
          </a:xfrm>
          <a:prstGeom prst="rect">
            <a:avLst/>
          </a:prstGeom>
        </p:spPr>
      </p:pic>
      <p:sp>
        <p:nvSpPr>
          <p:cNvPr id="108" name="Shape 13">
            <a:extLst>
              <a:ext uri="{FF2B5EF4-FFF2-40B4-BE49-F238E27FC236}">
                <a16:creationId xmlns:a16="http://schemas.microsoft.com/office/drawing/2014/main" id="{778C56FF-CFDC-45C0-B015-6894EB626093}"/>
              </a:ext>
            </a:extLst>
          </p:cNvPr>
          <p:cNvSpPr/>
          <p:nvPr/>
        </p:nvSpPr>
        <p:spPr>
          <a:xfrm>
            <a:off x="1063780" y="1127410"/>
            <a:ext cx="10850641" cy="332481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9" name="Image 7" descr="gen-dedup-23665c0bc8193eed4b19e05b81a508d3.png">
            <a:extLst>
              <a:ext uri="{FF2B5EF4-FFF2-40B4-BE49-F238E27FC236}">
                <a16:creationId xmlns:a16="http://schemas.microsoft.com/office/drawing/2014/main" id="{8EAD3060-1BC9-4720-89D3-B2F118FDED5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1063780" y="1459891"/>
            <a:ext cx="10850641" cy="41935"/>
          </a:xfrm>
          <a:prstGeom prst="rect">
            <a:avLst/>
          </a:prstGeom>
        </p:spPr>
      </p:pic>
      <p:sp>
        <p:nvSpPr>
          <p:cNvPr id="110" name="Shape 14">
            <a:extLst>
              <a:ext uri="{FF2B5EF4-FFF2-40B4-BE49-F238E27FC236}">
                <a16:creationId xmlns:a16="http://schemas.microsoft.com/office/drawing/2014/main" id="{42389CBE-477E-4B1E-A4DE-6467CBB7EFEB}"/>
              </a:ext>
            </a:extLst>
          </p:cNvPr>
          <p:cNvSpPr/>
          <p:nvPr/>
        </p:nvSpPr>
        <p:spPr>
          <a:xfrm>
            <a:off x="1083557" y="1501826"/>
            <a:ext cx="2452485" cy="4368182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11" name="Shape 15">
            <a:extLst>
              <a:ext uri="{FF2B5EF4-FFF2-40B4-BE49-F238E27FC236}">
                <a16:creationId xmlns:a16="http://schemas.microsoft.com/office/drawing/2014/main" id="{C21C50EE-23E3-464C-A24A-63BA82DF84D4}"/>
              </a:ext>
            </a:extLst>
          </p:cNvPr>
          <p:cNvSpPr/>
          <p:nvPr/>
        </p:nvSpPr>
        <p:spPr>
          <a:xfrm>
            <a:off x="3595376" y="1501826"/>
            <a:ext cx="8300208" cy="4368182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12" name="Shape 16">
            <a:extLst>
              <a:ext uri="{FF2B5EF4-FFF2-40B4-BE49-F238E27FC236}">
                <a16:creationId xmlns:a16="http://schemas.microsoft.com/office/drawing/2014/main" id="{F20FF41E-0C07-442E-8C60-91349F8FAB6F}"/>
              </a:ext>
            </a:extLst>
          </p:cNvPr>
          <p:cNvSpPr/>
          <p:nvPr/>
        </p:nvSpPr>
        <p:spPr>
          <a:xfrm>
            <a:off x="1063780" y="5890974"/>
            <a:ext cx="10850641" cy="27057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3" name="Shape 17">
            <a:extLst>
              <a:ext uri="{FF2B5EF4-FFF2-40B4-BE49-F238E27FC236}">
                <a16:creationId xmlns:a16="http://schemas.microsoft.com/office/drawing/2014/main" id="{91B29A68-FFAE-4CAE-892D-A568DC5821A1}"/>
              </a:ext>
            </a:extLst>
          </p:cNvPr>
          <p:cNvSpPr/>
          <p:nvPr/>
        </p:nvSpPr>
        <p:spPr>
          <a:xfrm>
            <a:off x="11070555" y="159920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4" name="Shape 18">
            <a:extLst>
              <a:ext uri="{FF2B5EF4-FFF2-40B4-BE49-F238E27FC236}">
                <a16:creationId xmlns:a16="http://schemas.microsoft.com/office/drawing/2014/main" id="{5ED4C68E-2927-4286-A306-85C476D8C2C7}"/>
              </a:ext>
            </a:extLst>
          </p:cNvPr>
          <p:cNvSpPr/>
          <p:nvPr/>
        </p:nvSpPr>
        <p:spPr>
          <a:xfrm>
            <a:off x="11365343" y="159920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5" name="Shape 19">
            <a:extLst>
              <a:ext uri="{FF2B5EF4-FFF2-40B4-BE49-F238E27FC236}">
                <a16:creationId xmlns:a16="http://schemas.microsoft.com/office/drawing/2014/main" id="{629F123C-82EE-47C3-9DC8-E100143135E9}"/>
              </a:ext>
            </a:extLst>
          </p:cNvPr>
          <p:cNvSpPr/>
          <p:nvPr/>
        </p:nvSpPr>
        <p:spPr>
          <a:xfrm>
            <a:off x="11659189" y="159920"/>
            <a:ext cx="215676" cy="228644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6" name="Text 20">
            <a:extLst>
              <a:ext uri="{FF2B5EF4-FFF2-40B4-BE49-F238E27FC236}">
                <a16:creationId xmlns:a16="http://schemas.microsoft.com/office/drawing/2014/main" id="{299A98B0-9D78-41C5-8B65-6BDFCC859999}"/>
              </a:ext>
            </a:extLst>
          </p:cNvPr>
          <p:cNvSpPr txBox="1"/>
          <p:nvPr/>
        </p:nvSpPr>
        <p:spPr>
          <a:xfrm>
            <a:off x="1100101" y="446473"/>
            <a:ext cx="2908322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파일(F)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편집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(E)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보기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(V)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도구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(T)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도움말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(H)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Shape 21">
            <a:extLst>
              <a:ext uri="{FF2B5EF4-FFF2-40B4-BE49-F238E27FC236}">
                <a16:creationId xmlns:a16="http://schemas.microsoft.com/office/drawing/2014/main" id="{BA430CC0-BC0A-472A-9F4E-CEDB0A52E19C}"/>
              </a:ext>
            </a:extLst>
          </p:cNvPr>
          <p:cNvSpPr/>
          <p:nvPr/>
        </p:nvSpPr>
        <p:spPr>
          <a:xfrm>
            <a:off x="1142891" y="743010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8" name="Shape 22">
            <a:extLst>
              <a:ext uri="{FF2B5EF4-FFF2-40B4-BE49-F238E27FC236}">
                <a16:creationId xmlns:a16="http://schemas.microsoft.com/office/drawing/2014/main" id="{D0F1BAB3-55DD-4B90-9514-6377C02A9076}"/>
              </a:ext>
            </a:extLst>
          </p:cNvPr>
          <p:cNvSpPr/>
          <p:nvPr/>
        </p:nvSpPr>
        <p:spPr>
          <a:xfrm>
            <a:off x="1485712" y="743010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9" name="Shape 23">
            <a:extLst>
              <a:ext uri="{FF2B5EF4-FFF2-40B4-BE49-F238E27FC236}">
                <a16:creationId xmlns:a16="http://schemas.microsoft.com/office/drawing/2014/main" id="{413C9993-835C-4DCE-99EE-1A4B19C69446}"/>
              </a:ext>
            </a:extLst>
          </p:cNvPr>
          <p:cNvSpPr/>
          <p:nvPr/>
        </p:nvSpPr>
        <p:spPr>
          <a:xfrm>
            <a:off x="1829474" y="743010"/>
            <a:ext cx="313624" cy="332481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22" name="Shape 25">
            <a:extLst>
              <a:ext uri="{FF2B5EF4-FFF2-40B4-BE49-F238E27FC236}">
                <a16:creationId xmlns:a16="http://schemas.microsoft.com/office/drawing/2014/main" id="{F3567888-8960-4D67-8893-94ED42CC31E1}"/>
              </a:ext>
            </a:extLst>
          </p:cNvPr>
          <p:cNvSpPr/>
          <p:nvPr/>
        </p:nvSpPr>
        <p:spPr>
          <a:xfrm>
            <a:off x="1731525" y="1169345"/>
            <a:ext cx="9320193" cy="249610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123" name="Shape 26">
            <a:extLst>
              <a:ext uri="{FF2B5EF4-FFF2-40B4-BE49-F238E27FC236}">
                <a16:creationId xmlns:a16="http://schemas.microsoft.com/office/drawing/2014/main" id="{F9BE2189-0E78-419A-8C1A-57E458CD3185}"/>
              </a:ext>
            </a:extLst>
          </p:cNvPr>
          <p:cNvSpPr/>
          <p:nvPr/>
        </p:nvSpPr>
        <p:spPr>
          <a:xfrm>
            <a:off x="11149667" y="1148377"/>
            <a:ext cx="686583" cy="270577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4" name="Shape 27">
            <a:extLst>
              <a:ext uri="{FF2B5EF4-FFF2-40B4-BE49-F238E27FC236}">
                <a16:creationId xmlns:a16="http://schemas.microsoft.com/office/drawing/2014/main" id="{3BF4B2C6-B1E4-4F82-81A6-F664E976AAD4}"/>
              </a:ext>
            </a:extLst>
          </p:cNvPr>
          <p:cNvSpPr/>
          <p:nvPr/>
        </p:nvSpPr>
        <p:spPr>
          <a:xfrm>
            <a:off x="3359922" y="1522793"/>
            <a:ext cx="166701" cy="4326247"/>
          </a:xfrm>
          <a:prstGeom prst="rect">
            <a:avLst/>
          </a:prstGeom>
          <a:solidFill>
            <a:srgbClr val="DFDFDF"/>
          </a:solidFill>
          <a:ln/>
        </p:spPr>
      </p:sp>
      <p:sp>
        <p:nvSpPr>
          <p:cNvPr id="125" name="Shape 28">
            <a:extLst>
              <a:ext uri="{FF2B5EF4-FFF2-40B4-BE49-F238E27FC236}">
                <a16:creationId xmlns:a16="http://schemas.microsoft.com/office/drawing/2014/main" id="{D31BEC5E-DE7B-485B-92B6-010A35214FB6}"/>
              </a:ext>
            </a:extLst>
          </p:cNvPr>
          <p:cNvSpPr/>
          <p:nvPr/>
        </p:nvSpPr>
        <p:spPr>
          <a:xfrm>
            <a:off x="3359922" y="1522793"/>
            <a:ext cx="9418" cy="4326247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>
                <a:alpha val="0"/>
              </a:srgbClr>
            </a:solidFill>
            <a:prstDash val="solid"/>
          </a:ln>
        </p:spPr>
      </p:sp>
      <p:sp>
        <p:nvSpPr>
          <p:cNvPr id="127" name="Shape 30">
            <a:extLst>
              <a:ext uri="{FF2B5EF4-FFF2-40B4-BE49-F238E27FC236}">
                <a16:creationId xmlns:a16="http://schemas.microsoft.com/office/drawing/2014/main" id="{916FC1B2-F896-4360-AE9D-1DA7A8004F60}"/>
              </a:ext>
            </a:extLst>
          </p:cNvPr>
          <p:cNvSpPr/>
          <p:nvPr/>
        </p:nvSpPr>
        <p:spPr>
          <a:xfrm>
            <a:off x="1083557" y="5932909"/>
            <a:ext cx="2452485" cy="187707"/>
          </a:xfrm>
          <a:prstGeom prst="rect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141" name="Shape 31">
            <a:extLst>
              <a:ext uri="{FF2B5EF4-FFF2-40B4-BE49-F238E27FC236}">
                <a16:creationId xmlns:a16="http://schemas.microsoft.com/office/drawing/2014/main" id="{91123D67-B5E3-49E4-99D0-DFCAAC3F8CCA}"/>
              </a:ext>
            </a:extLst>
          </p:cNvPr>
          <p:cNvSpPr/>
          <p:nvPr/>
        </p:nvSpPr>
        <p:spPr>
          <a:xfrm>
            <a:off x="3555820" y="5932909"/>
            <a:ext cx="8338823" cy="187707"/>
          </a:xfrm>
          <a:prstGeom prst="rect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142" name="Shape 32">
            <a:extLst>
              <a:ext uri="{FF2B5EF4-FFF2-40B4-BE49-F238E27FC236}">
                <a16:creationId xmlns:a16="http://schemas.microsoft.com/office/drawing/2014/main" id="{354B1A02-7FFC-47B5-9696-E585EB5A9885}"/>
              </a:ext>
            </a:extLst>
          </p:cNvPr>
          <p:cNvSpPr/>
          <p:nvPr/>
        </p:nvSpPr>
        <p:spPr>
          <a:xfrm>
            <a:off x="3359922" y="1522793"/>
            <a:ext cx="157283" cy="16674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5" name="Shape 33">
            <a:extLst>
              <a:ext uri="{FF2B5EF4-FFF2-40B4-BE49-F238E27FC236}">
                <a16:creationId xmlns:a16="http://schemas.microsoft.com/office/drawing/2014/main" id="{DA473C0B-5729-4FD8-AD5B-3C1C059BA00F}"/>
              </a:ext>
            </a:extLst>
          </p:cNvPr>
          <p:cNvSpPr/>
          <p:nvPr/>
        </p:nvSpPr>
        <p:spPr>
          <a:xfrm>
            <a:off x="3359922" y="1689533"/>
            <a:ext cx="157283" cy="831702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6" name="Shape 34">
            <a:extLst>
              <a:ext uri="{FF2B5EF4-FFF2-40B4-BE49-F238E27FC236}">
                <a16:creationId xmlns:a16="http://schemas.microsoft.com/office/drawing/2014/main" id="{A4F36E1F-4507-4CC5-9346-4FBE0AD7F22F}"/>
              </a:ext>
            </a:extLst>
          </p:cNvPr>
          <p:cNvSpPr/>
          <p:nvPr/>
        </p:nvSpPr>
        <p:spPr>
          <a:xfrm>
            <a:off x="3359922" y="5683299"/>
            <a:ext cx="157283" cy="166740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8" name="Image 8" descr="gen-dedup-7c02ed4669765158cb6410457d6288f7.png">
            <a:extLst>
              <a:ext uri="{FF2B5EF4-FFF2-40B4-BE49-F238E27FC236}">
                <a16:creationId xmlns:a16="http://schemas.microsoft.com/office/drawing/2014/main" id="{2665EC4D-B367-4232-8285-18D4141E819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6250" b="-6250"/>
          <a:stretch/>
        </p:blipFill>
        <p:spPr>
          <a:xfrm>
            <a:off x="1123114" y="191871"/>
            <a:ext cx="157283" cy="166740"/>
          </a:xfrm>
          <a:prstGeom prst="rect">
            <a:avLst/>
          </a:prstGeom>
        </p:spPr>
      </p:pic>
      <p:sp>
        <p:nvSpPr>
          <p:cNvPr id="149" name="Text 36">
            <a:extLst>
              <a:ext uri="{FF2B5EF4-FFF2-40B4-BE49-F238E27FC236}">
                <a16:creationId xmlns:a16="http://schemas.microsoft.com/office/drawing/2014/main" id="{E428AE1F-5E2A-45BC-8AD2-EAAD85DE2C03}"/>
              </a:ext>
            </a:extLst>
          </p:cNvPr>
          <p:cNvSpPr txBox="1"/>
          <p:nvPr/>
        </p:nvSpPr>
        <p:spPr>
          <a:xfrm>
            <a:off x="1387763" y="170904"/>
            <a:ext cx="1594491" cy="20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탐색 중 - Projects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Text 37">
            <a:extLst>
              <a:ext uri="{FF2B5EF4-FFF2-40B4-BE49-F238E27FC236}">
                <a16:creationId xmlns:a16="http://schemas.microsoft.com/office/drawing/2014/main" id="{B62B1CCF-70A3-4E76-BC3F-82C5DF2D170C}"/>
              </a:ext>
            </a:extLst>
          </p:cNvPr>
          <p:cNvSpPr txBox="1"/>
          <p:nvPr/>
        </p:nvSpPr>
        <p:spPr>
          <a:xfrm>
            <a:off x="11138365" y="185880"/>
            <a:ext cx="83822" cy="14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_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1" name="Shape 38">
            <a:extLst>
              <a:ext uri="{FF2B5EF4-FFF2-40B4-BE49-F238E27FC236}">
                <a16:creationId xmlns:a16="http://schemas.microsoft.com/office/drawing/2014/main" id="{D76E0BCC-364D-4EE0-BC3A-3858A77A42F3}"/>
              </a:ext>
            </a:extLst>
          </p:cNvPr>
          <p:cNvSpPr/>
          <p:nvPr/>
        </p:nvSpPr>
        <p:spPr>
          <a:xfrm>
            <a:off x="11414317" y="206847"/>
            <a:ext cx="117727" cy="13479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52" name="Shape 39">
            <a:extLst>
              <a:ext uri="{FF2B5EF4-FFF2-40B4-BE49-F238E27FC236}">
                <a16:creationId xmlns:a16="http://schemas.microsoft.com/office/drawing/2014/main" id="{B2824EFA-3C56-436D-9EF5-EACB833A8EB2}"/>
              </a:ext>
            </a:extLst>
          </p:cNvPr>
          <p:cNvSpPr/>
          <p:nvPr/>
        </p:nvSpPr>
        <p:spPr>
          <a:xfrm>
            <a:off x="11414317" y="206847"/>
            <a:ext cx="117727" cy="20967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Text 40">
            <a:extLst>
              <a:ext uri="{FF2B5EF4-FFF2-40B4-BE49-F238E27FC236}">
                <a16:creationId xmlns:a16="http://schemas.microsoft.com/office/drawing/2014/main" id="{73B04141-7F29-472D-BF63-5B332765C610}"/>
              </a:ext>
            </a:extLst>
          </p:cNvPr>
          <p:cNvSpPr txBox="1"/>
          <p:nvPr/>
        </p:nvSpPr>
        <p:spPr>
          <a:xfrm>
            <a:off x="11727941" y="201855"/>
            <a:ext cx="88531" cy="14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8" name="Image 9" descr="gen-dedup-25afa46a09582202a40d6f31fc2ccf91.png">
            <a:extLst>
              <a:ext uri="{FF2B5EF4-FFF2-40B4-BE49-F238E27FC236}">
                <a16:creationId xmlns:a16="http://schemas.microsoft.com/office/drawing/2014/main" id="{6D3A70D4-DA94-488E-BECC-BF8D28E4351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1210702" y="815896"/>
            <a:ext cx="157283" cy="166740"/>
          </a:xfrm>
          <a:prstGeom prst="rect">
            <a:avLst/>
          </a:prstGeom>
        </p:spPr>
      </p:pic>
      <p:pic>
        <p:nvPicPr>
          <p:cNvPr id="159" name="Image 10" descr="gen-dedup-53d8cb32c6720cdad62ecd3793163a86.png">
            <a:extLst>
              <a:ext uri="{FF2B5EF4-FFF2-40B4-BE49-F238E27FC236}">
                <a16:creationId xmlns:a16="http://schemas.microsoft.com/office/drawing/2014/main" id="{38CE9DD8-4C0F-46DC-B9A0-EA21C7095C9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7143" r="-7143"/>
          <a:stretch/>
        </p:blipFill>
        <p:spPr>
          <a:xfrm>
            <a:off x="1554464" y="815896"/>
            <a:ext cx="157283" cy="166740"/>
          </a:xfrm>
          <a:prstGeom prst="rect">
            <a:avLst/>
          </a:prstGeom>
        </p:spPr>
      </p:pic>
      <p:pic>
        <p:nvPicPr>
          <p:cNvPr id="160" name="Image 11" descr="gen-dedup-fa17d56a867348b02c8a56abf7174658.png">
            <a:extLst>
              <a:ext uri="{FF2B5EF4-FFF2-40B4-BE49-F238E27FC236}">
                <a16:creationId xmlns:a16="http://schemas.microsoft.com/office/drawing/2014/main" id="{922B725B-A15E-4516-BFD5-E5CBF5F3301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16666" r="-16666"/>
          <a:stretch/>
        </p:blipFill>
        <p:spPr>
          <a:xfrm>
            <a:off x="1898227" y="815896"/>
            <a:ext cx="157283" cy="166740"/>
          </a:xfrm>
          <a:prstGeom prst="rect">
            <a:avLst/>
          </a:prstGeom>
        </p:spPr>
      </p:pic>
      <p:pic>
        <p:nvPicPr>
          <p:cNvPr id="161" name="Image 12" descr="gen-dedup-013b38688217c28f0315b66cc4dba47b.png">
            <a:extLst>
              <a:ext uri="{FF2B5EF4-FFF2-40B4-BE49-F238E27FC236}">
                <a16:creationId xmlns:a16="http://schemas.microsoft.com/office/drawing/2014/main" id="{D017ADA0-79CA-457C-8D33-D4231577065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2418108" y="815896"/>
            <a:ext cx="157283" cy="166740"/>
          </a:xfrm>
          <a:prstGeom prst="rect">
            <a:avLst/>
          </a:prstGeom>
        </p:spPr>
      </p:pic>
      <p:pic>
        <p:nvPicPr>
          <p:cNvPr id="162" name="Image 13" descr="gen-dedup-3408d1960989eaff15e10127b414fcf2.png">
            <a:extLst>
              <a:ext uri="{FF2B5EF4-FFF2-40B4-BE49-F238E27FC236}">
                <a16:creationId xmlns:a16="http://schemas.microsoft.com/office/drawing/2014/main" id="{99A1AEF4-E23A-47B4-A49D-1A8A656F8CA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7143" r="-7143"/>
          <a:stretch/>
        </p:blipFill>
        <p:spPr>
          <a:xfrm>
            <a:off x="2711955" y="815896"/>
            <a:ext cx="157283" cy="166740"/>
          </a:xfrm>
          <a:prstGeom prst="rect">
            <a:avLst/>
          </a:prstGeom>
        </p:spPr>
      </p:pic>
      <p:pic>
        <p:nvPicPr>
          <p:cNvPr id="163" name="Image 14" descr="gen-dedup-6e9e672aa626b1edf6db8640b2821839.png">
            <a:extLst>
              <a:ext uri="{FF2B5EF4-FFF2-40B4-BE49-F238E27FC236}">
                <a16:creationId xmlns:a16="http://schemas.microsoft.com/office/drawing/2014/main" id="{C9550F90-0E01-4893-B835-77A2FB3C1F4E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3006742" y="815896"/>
            <a:ext cx="157283" cy="166740"/>
          </a:xfrm>
          <a:prstGeom prst="rect">
            <a:avLst/>
          </a:prstGeom>
        </p:spPr>
      </p:pic>
      <p:sp>
        <p:nvSpPr>
          <p:cNvPr id="164" name="Text 41">
            <a:extLst>
              <a:ext uri="{FF2B5EF4-FFF2-40B4-BE49-F238E27FC236}">
                <a16:creationId xmlns:a16="http://schemas.microsoft.com/office/drawing/2014/main" id="{0762294A-6332-409C-A4B5-45E26B375792}"/>
              </a:ext>
            </a:extLst>
          </p:cNvPr>
          <p:cNvSpPr txBox="1"/>
          <p:nvPr/>
        </p:nvSpPr>
        <p:spPr>
          <a:xfrm>
            <a:off x="1142891" y="1195304"/>
            <a:ext cx="536834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주소(D)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5" name="Image 15" descr="gen-dedup-7c02ed4669765158cb6410457d6288f7.png">
            <a:extLst>
              <a:ext uri="{FF2B5EF4-FFF2-40B4-BE49-F238E27FC236}">
                <a16:creationId xmlns:a16="http://schemas.microsoft.com/office/drawing/2014/main" id="{239474F9-BA3C-417F-8CE0-5EE537895D3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6250" b="-6250"/>
          <a:stretch/>
        </p:blipFill>
        <p:spPr>
          <a:xfrm>
            <a:off x="1780500" y="1210281"/>
            <a:ext cx="157283" cy="166740"/>
          </a:xfrm>
          <a:prstGeom prst="rect">
            <a:avLst/>
          </a:prstGeom>
        </p:spPr>
      </p:pic>
      <p:sp>
        <p:nvSpPr>
          <p:cNvPr id="166" name="Text 42">
            <a:extLst>
              <a:ext uri="{FF2B5EF4-FFF2-40B4-BE49-F238E27FC236}">
                <a16:creationId xmlns:a16="http://schemas.microsoft.com/office/drawing/2014/main" id="{2A6B50A8-5D43-45FB-875F-B4B2E68A3195}"/>
              </a:ext>
            </a:extLst>
          </p:cNvPr>
          <p:cNvSpPr txBox="1"/>
          <p:nvPr/>
        </p:nvSpPr>
        <p:spPr>
          <a:xfrm>
            <a:off x="2025372" y="1216271"/>
            <a:ext cx="3451503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C:\Portfolio\Projects\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기타 프로젝트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\</a:t>
            </a:r>
            <a:r>
              <a:rPr kumimoji="0" lang="en-US" altLang="ko-K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WinAPI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Shooting Game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7" name="Text 43">
            <a:extLst>
              <a:ext uri="{FF2B5EF4-FFF2-40B4-BE49-F238E27FC236}">
                <a16:creationId xmlns:a16="http://schemas.microsoft.com/office/drawing/2014/main" id="{8C4F7CE9-8270-4468-851B-DDF88A52F141}"/>
              </a:ext>
            </a:extLst>
          </p:cNvPr>
          <p:cNvSpPr txBox="1"/>
          <p:nvPr/>
        </p:nvSpPr>
        <p:spPr>
          <a:xfrm>
            <a:off x="11384179" y="1195304"/>
            <a:ext cx="244872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이동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8" name="Text 44">
            <a:extLst>
              <a:ext uri="{FF2B5EF4-FFF2-40B4-BE49-F238E27FC236}">
                <a16:creationId xmlns:a16="http://schemas.microsoft.com/office/drawing/2014/main" id="{16B13CC4-BA5A-44FF-8E47-E60E04A8820A}"/>
              </a:ext>
            </a:extLst>
          </p:cNvPr>
          <p:cNvSpPr txBox="1"/>
          <p:nvPr/>
        </p:nvSpPr>
        <p:spPr>
          <a:xfrm>
            <a:off x="1142891" y="1600671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9" name="Image 16" descr="gen-dedup-71f3cd3c0f5149b77a7c51df2d1a7eab.png">
            <a:extLst>
              <a:ext uri="{FF2B5EF4-FFF2-40B4-BE49-F238E27FC236}">
                <a16:creationId xmlns:a16="http://schemas.microsoft.com/office/drawing/2014/main" id="{5722AD78-CE8C-4097-B8F2-1C40233E278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6250" b="-6250"/>
          <a:stretch/>
        </p:blipFill>
        <p:spPr>
          <a:xfrm>
            <a:off x="1309593" y="1590687"/>
            <a:ext cx="137504" cy="145772"/>
          </a:xfrm>
          <a:prstGeom prst="rect">
            <a:avLst/>
          </a:prstGeom>
        </p:spPr>
      </p:pic>
      <p:sp>
        <p:nvSpPr>
          <p:cNvPr id="170" name="Text 45">
            <a:extLst>
              <a:ext uri="{FF2B5EF4-FFF2-40B4-BE49-F238E27FC236}">
                <a16:creationId xmlns:a16="http://schemas.microsoft.com/office/drawing/2014/main" id="{E8856BC4-07FF-4558-A9F5-EFB404064BD4}"/>
              </a:ext>
            </a:extLst>
          </p:cNvPr>
          <p:cNvSpPr txBox="1"/>
          <p:nvPr/>
        </p:nvSpPr>
        <p:spPr>
          <a:xfrm>
            <a:off x="1496072" y="1564728"/>
            <a:ext cx="607470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내 컴퓨터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1" name="Text 46">
            <a:extLst>
              <a:ext uri="{FF2B5EF4-FFF2-40B4-BE49-F238E27FC236}">
                <a16:creationId xmlns:a16="http://schemas.microsoft.com/office/drawing/2014/main" id="{E7449BCD-C7B7-4C95-AF68-25995EF1A200}"/>
              </a:ext>
            </a:extLst>
          </p:cNvPr>
          <p:cNvSpPr txBox="1"/>
          <p:nvPr/>
        </p:nvSpPr>
        <p:spPr>
          <a:xfrm>
            <a:off x="1338789" y="1881234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2" name="Image 17" descr="gen-dedup-e3bb1bdbf10fa3b8ada790141c1d3212.png">
            <a:extLst>
              <a:ext uri="{FF2B5EF4-FFF2-40B4-BE49-F238E27FC236}">
                <a16:creationId xmlns:a16="http://schemas.microsoft.com/office/drawing/2014/main" id="{24284AD3-13CD-4AEE-B86A-48EEFCA4E465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505490" y="1871249"/>
            <a:ext cx="137504" cy="145772"/>
          </a:xfrm>
          <a:prstGeom prst="rect">
            <a:avLst/>
          </a:prstGeom>
        </p:spPr>
      </p:pic>
      <p:sp>
        <p:nvSpPr>
          <p:cNvPr id="173" name="Text 47">
            <a:extLst>
              <a:ext uri="{FF2B5EF4-FFF2-40B4-BE49-F238E27FC236}">
                <a16:creationId xmlns:a16="http://schemas.microsoft.com/office/drawing/2014/main" id="{9A638C46-6AA2-4807-8EB6-3B39C7503EAB}"/>
              </a:ext>
            </a:extLst>
          </p:cNvPr>
          <p:cNvSpPr txBox="1"/>
          <p:nvPr/>
        </p:nvSpPr>
        <p:spPr>
          <a:xfrm>
            <a:off x="1691969" y="1845289"/>
            <a:ext cx="982312" cy="197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C: 로컬 디스크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4" name="Text 48">
            <a:extLst>
              <a:ext uri="{FF2B5EF4-FFF2-40B4-BE49-F238E27FC236}">
                <a16:creationId xmlns:a16="http://schemas.microsoft.com/office/drawing/2014/main" id="{323AFC2D-633A-482D-BAFB-FD8F3EB4DDFB}"/>
              </a:ext>
            </a:extLst>
          </p:cNvPr>
          <p:cNvSpPr txBox="1"/>
          <p:nvPr/>
        </p:nvSpPr>
        <p:spPr>
          <a:xfrm>
            <a:off x="1534687" y="2141827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5" name="Image 18" descr="gen-dedup-ba01fa70a70d7d3a77dc83183451dc86.png">
            <a:extLst>
              <a:ext uri="{FF2B5EF4-FFF2-40B4-BE49-F238E27FC236}">
                <a16:creationId xmlns:a16="http://schemas.microsoft.com/office/drawing/2014/main" id="{6BB5E545-5BF5-498F-817C-752D4F6D61D6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701387" y="2130844"/>
            <a:ext cx="137504" cy="145772"/>
          </a:xfrm>
          <a:prstGeom prst="rect">
            <a:avLst/>
          </a:prstGeom>
        </p:spPr>
      </p:pic>
      <p:sp>
        <p:nvSpPr>
          <p:cNvPr id="176" name="Text 49">
            <a:extLst>
              <a:ext uri="{FF2B5EF4-FFF2-40B4-BE49-F238E27FC236}">
                <a16:creationId xmlns:a16="http://schemas.microsoft.com/office/drawing/2014/main" id="{1E3BD229-5997-4AB9-8C0F-C468BC742636}"/>
              </a:ext>
            </a:extLst>
          </p:cNvPr>
          <p:cNvSpPr txBox="1"/>
          <p:nvPr/>
        </p:nvSpPr>
        <p:spPr>
          <a:xfrm>
            <a:off x="1887867" y="2125852"/>
            <a:ext cx="760044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Text 50">
            <a:extLst>
              <a:ext uri="{FF2B5EF4-FFF2-40B4-BE49-F238E27FC236}">
                <a16:creationId xmlns:a16="http://schemas.microsoft.com/office/drawing/2014/main" id="{723C73E9-4A4E-4F42-AE7A-87E8358A822A}"/>
              </a:ext>
            </a:extLst>
          </p:cNvPr>
          <p:cNvSpPr txBox="1"/>
          <p:nvPr/>
        </p:nvSpPr>
        <p:spPr>
          <a:xfrm>
            <a:off x="1731525" y="2380455"/>
            <a:ext cx="117727" cy="124805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8" name="Image 19" descr="gen-dedup-164d010ae7e53d534a0b3104348ed19a.png">
            <a:extLst>
              <a:ext uri="{FF2B5EF4-FFF2-40B4-BE49-F238E27FC236}">
                <a16:creationId xmlns:a16="http://schemas.microsoft.com/office/drawing/2014/main" id="{9743F858-A590-4BB3-808D-215064351692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-6250" b="-6250"/>
          <a:stretch/>
        </p:blipFill>
        <p:spPr>
          <a:xfrm>
            <a:off x="1898227" y="2370470"/>
            <a:ext cx="137504" cy="145772"/>
          </a:xfrm>
          <a:prstGeom prst="rect">
            <a:avLst/>
          </a:prstGeom>
        </p:spPr>
      </p:pic>
      <p:sp>
        <p:nvSpPr>
          <p:cNvPr id="179" name="Text 51">
            <a:extLst>
              <a:ext uri="{FF2B5EF4-FFF2-40B4-BE49-F238E27FC236}">
                <a16:creationId xmlns:a16="http://schemas.microsoft.com/office/drawing/2014/main" id="{91A6C390-EF73-4B4E-9448-4A092525C527}"/>
              </a:ext>
            </a:extLst>
          </p:cNvPr>
          <p:cNvSpPr txBox="1"/>
          <p:nvPr/>
        </p:nvSpPr>
        <p:spPr>
          <a:xfrm>
            <a:off x="2084706" y="2365478"/>
            <a:ext cx="681874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0" name="Shape 52">
            <a:extLst>
              <a:ext uri="{FF2B5EF4-FFF2-40B4-BE49-F238E27FC236}">
                <a16:creationId xmlns:a16="http://schemas.microsoft.com/office/drawing/2014/main" id="{64A3B9A6-8696-4451-88B1-C3DE0AFFCA24}"/>
              </a:ext>
            </a:extLst>
          </p:cNvPr>
          <p:cNvSpPr/>
          <p:nvPr/>
        </p:nvSpPr>
        <p:spPr>
          <a:xfrm>
            <a:off x="1092676" y="3660405"/>
            <a:ext cx="2276364" cy="155756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Text 53">
            <a:extLst>
              <a:ext uri="{FF2B5EF4-FFF2-40B4-BE49-F238E27FC236}">
                <a16:creationId xmlns:a16="http://schemas.microsoft.com/office/drawing/2014/main" id="{CAF9D105-2730-4456-BD86-A00FA06DCDA1}"/>
              </a:ext>
            </a:extLst>
          </p:cNvPr>
          <p:cNvSpPr txBox="1"/>
          <p:nvPr/>
        </p:nvSpPr>
        <p:spPr>
          <a:xfrm>
            <a:off x="2280602" y="2604105"/>
            <a:ext cx="1472055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Arial" pitchFamily="34" charset="-122"/>
                <a:cs typeface="Arial" pitchFamily="34" charset="-120"/>
              </a:rPr>
              <a:t>WinAPI_DontStarve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183" name="Image 21" descr="gen-dedup-2302e8a913f082daf4055bce75fbff92.png">
            <a:extLst>
              <a:ext uri="{FF2B5EF4-FFF2-40B4-BE49-F238E27FC236}">
                <a16:creationId xmlns:a16="http://schemas.microsoft.com/office/drawing/2014/main" id="{84D0CCAD-71D2-440D-B1DE-D8B05BC99660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2615089"/>
            <a:ext cx="137504" cy="145772"/>
          </a:xfrm>
          <a:prstGeom prst="rect">
            <a:avLst/>
          </a:prstGeom>
        </p:spPr>
      </p:pic>
      <p:sp>
        <p:nvSpPr>
          <p:cNvPr id="184" name="Text 54">
            <a:extLst>
              <a:ext uri="{FF2B5EF4-FFF2-40B4-BE49-F238E27FC236}">
                <a16:creationId xmlns:a16="http://schemas.microsoft.com/office/drawing/2014/main" id="{31E9B7CF-593C-4A81-9275-E23FA6F6FF6D}"/>
              </a:ext>
            </a:extLst>
          </p:cNvPr>
          <p:cNvSpPr txBox="1"/>
          <p:nvPr/>
        </p:nvSpPr>
        <p:spPr>
          <a:xfrm>
            <a:off x="2280602" y="2868224"/>
            <a:ext cx="976709" cy="15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File Tower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Defence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5" name="Image 22" descr="gen-dedup-2302e8a913f082daf4055bce75fbff92.png">
            <a:extLst>
              <a:ext uri="{FF2B5EF4-FFF2-40B4-BE49-F238E27FC236}">
                <a16:creationId xmlns:a16="http://schemas.microsoft.com/office/drawing/2014/main" id="{A18364CD-242D-46EE-BC7A-AAB0C31013B5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2878332"/>
            <a:ext cx="137504" cy="145772"/>
          </a:xfrm>
          <a:prstGeom prst="rect">
            <a:avLst/>
          </a:prstGeom>
        </p:spPr>
      </p:pic>
      <p:sp>
        <p:nvSpPr>
          <p:cNvPr id="186" name="Text 55">
            <a:extLst>
              <a:ext uri="{FF2B5EF4-FFF2-40B4-BE49-F238E27FC236}">
                <a16:creationId xmlns:a16="http://schemas.microsoft.com/office/drawing/2014/main" id="{90569763-24C7-4A44-99BB-8107D5A4F9AE}"/>
              </a:ext>
            </a:extLst>
          </p:cNvPr>
          <p:cNvSpPr txBox="1"/>
          <p:nvPr/>
        </p:nvSpPr>
        <p:spPr>
          <a:xfrm>
            <a:off x="2280602" y="3132343"/>
            <a:ext cx="1079319" cy="15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 Racing Simulation</a:t>
            </a:r>
          </a:p>
        </p:txBody>
      </p:sp>
      <p:sp>
        <p:nvSpPr>
          <p:cNvPr id="187" name="Text 56">
            <a:extLst>
              <a:ext uri="{FF2B5EF4-FFF2-40B4-BE49-F238E27FC236}">
                <a16:creationId xmlns:a16="http://schemas.microsoft.com/office/drawing/2014/main" id="{866DB103-F61D-4F55-8CB2-0DCECDF562DE}"/>
              </a:ext>
            </a:extLst>
          </p:cNvPr>
          <p:cNvSpPr txBox="1"/>
          <p:nvPr/>
        </p:nvSpPr>
        <p:spPr>
          <a:xfrm>
            <a:off x="3389118" y="1517801"/>
            <a:ext cx="98890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▲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8" name="Text 57">
            <a:extLst>
              <a:ext uri="{FF2B5EF4-FFF2-40B4-BE49-F238E27FC236}">
                <a16:creationId xmlns:a16="http://schemas.microsoft.com/office/drawing/2014/main" id="{07972270-EEB3-4E57-A275-58C3789BD728}"/>
              </a:ext>
            </a:extLst>
          </p:cNvPr>
          <p:cNvSpPr txBox="1"/>
          <p:nvPr/>
        </p:nvSpPr>
        <p:spPr>
          <a:xfrm>
            <a:off x="3389118" y="5677309"/>
            <a:ext cx="98890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Text 59">
            <a:extLst>
              <a:ext uri="{FF2B5EF4-FFF2-40B4-BE49-F238E27FC236}">
                <a16:creationId xmlns:a16="http://schemas.microsoft.com/office/drawing/2014/main" id="{F370B7F2-545A-4C3C-AE52-60FFDC3BC6C9}"/>
              </a:ext>
            </a:extLst>
          </p:cNvPr>
          <p:cNvSpPr txBox="1"/>
          <p:nvPr/>
        </p:nvSpPr>
        <p:spPr>
          <a:xfrm>
            <a:off x="1142891" y="5937901"/>
            <a:ext cx="515173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5개 개체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2" name="Text 60">
            <a:extLst>
              <a:ext uri="{FF2B5EF4-FFF2-40B4-BE49-F238E27FC236}">
                <a16:creationId xmlns:a16="http://schemas.microsoft.com/office/drawing/2014/main" id="{56BEFB76-4CFC-42A7-B9E8-E085EEAF66E4}"/>
              </a:ext>
            </a:extLst>
          </p:cNvPr>
          <p:cNvSpPr txBox="1"/>
          <p:nvPr/>
        </p:nvSpPr>
        <p:spPr>
          <a:xfrm>
            <a:off x="3644351" y="5937901"/>
            <a:ext cx="2312154" cy="1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1개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항목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선택됨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ko-KR" altLang="en-US" sz="900" dirty="0">
                <a:solidFill>
                  <a:srgbClr val="000000"/>
                </a:solidFill>
                <a:latin typeface="Calibri" panose="020F0502020204030204"/>
              </a:rPr>
              <a:t>기타 프로젝트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Shape 29">
            <a:extLst>
              <a:ext uri="{FF2B5EF4-FFF2-40B4-BE49-F238E27FC236}">
                <a16:creationId xmlns:a16="http://schemas.microsoft.com/office/drawing/2014/main" id="{C8E8281E-329E-4104-AF26-2BF462B61E3F}"/>
              </a:ext>
            </a:extLst>
          </p:cNvPr>
          <p:cNvSpPr/>
          <p:nvPr/>
        </p:nvSpPr>
        <p:spPr>
          <a:xfrm>
            <a:off x="3615584" y="1517800"/>
            <a:ext cx="8262000" cy="312984"/>
          </a:xfrm>
          <a:prstGeom prst="rect">
            <a:avLst/>
          </a:prstGeom>
          <a:solidFill>
            <a:srgbClr val="000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9" name="Text 58">
            <a:extLst>
              <a:ext uri="{FF2B5EF4-FFF2-40B4-BE49-F238E27FC236}">
                <a16:creationId xmlns:a16="http://schemas.microsoft.com/office/drawing/2014/main" id="{ADA0929B-6390-4236-84B5-CBBBC1E952F8}"/>
              </a:ext>
            </a:extLst>
          </p:cNvPr>
          <p:cNvSpPr txBox="1"/>
          <p:nvPr/>
        </p:nvSpPr>
        <p:spPr>
          <a:xfrm>
            <a:off x="3680570" y="1579370"/>
            <a:ext cx="2661235" cy="190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상세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정보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–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WinAPI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 Shooting Game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90" name="Table 0">
            <a:extLst>
              <a:ext uri="{FF2B5EF4-FFF2-40B4-BE49-F238E27FC236}">
                <a16:creationId xmlns:a16="http://schemas.microsoft.com/office/drawing/2014/main" id="{17C5AF9B-F49B-46DE-BE64-BBD629004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863835"/>
              </p:ext>
            </p:extLst>
          </p:nvPr>
        </p:nvGraphicFramePr>
        <p:xfrm>
          <a:off x="6888351" y="1904694"/>
          <a:ext cx="4922345" cy="1848411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012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7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02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26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15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플랫폼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400" dirty="0"/>
                        <a:t>PC(Windows)</a:t>
                      </a: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장르</a:t>
                      </a:r>
                      <a:endParaRPr lang="ko-KR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슈팅게임</a:t>
                      </a: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2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인원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인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 err="1"/>
                        <a:t>플밍</a:t>
                      </a:r>
                      <a:r>
                        <a:rPr lang="en-US" altLang="ko-KR" sz="1400" dirty="0"/>
                        <a:t>2)</a:t>
                      </a:r>
                      <a:endParaRPr lang="ko-KR" altLang="en-US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기간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2025.05. ~ 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주간 진행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65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개발 도구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C++, </a:t>
                      </a:r>
                      <a:r>
                        <a:rPr lang="en-US" altLang="ko-KR" sz="1400" dirty="0" err="1"/>
                        <a:t>WinAPI</a:t>
                      </a:r>
                      <a:endParaRPr lang="ko-KR" altLang="en-US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동영상 링크</a:t>
                      </a:r>
                      <a:endParaRPr lang="en-US" sz="1400" baseline="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aseline="0" dirty="0">
                          <a:solidFill>
                            <a:srgbClr val="0000EE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  <a:hlinkClick r:id="rId19"/>
                        </a:rPr>
                        <a:t>유튜브 링크</a:t>
                      </a:r>
                      <a:endParaRPr lang="en-US" sz="14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" name="Shape 3">
            <a:extLst>
              <a:ext uri="{FF2B5EF4-FFF2-40B4-BE49-F238E27FC236}">
                <a16:creationId xmlns:a16="http://schemas.microsoft.com/office/drawing/2014/main" id="{8D2D6D18-3D4F-2789-2367-5B77242E2AAF}"/>
              </a:ext>
            </a:extLst>
          </p:cNvPr>
          <p:cNvSpPr/>
          <p:nvPr/>
        </p:nvSpPr>
        <p:spPr>
          <a:xfrm>
            <a:off x="250546" y="4467759"/>
            <a:ext cx="629107" cy="590702"/>
          </a:xfrm>
          <a:prstGeom prst="rect">
            <a:avLst/>
          </a:prstGeom>
          <a:solidFill>
            <a:srgbClr val="000080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0" descr="gen-dedup-57ee6a1f0d650d3a975db06a8ec6cc96.png">
            <a:extLst>
              <a:ext uri="{FF2B5EF4-FFF2-40B4-BE49-F238E27FC236}">
                <a16:creationId xmlns:a16="http://schemas.microsoft.com/office/drawing/2014/main" id="{EFCF0412-E908-C7BF-BC55-BAE05E0EE49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-6250" b="-6250"/>
          <a:stretch/>
        </p:blipFill>
        <p:spPr>
          <a:xfrm>
            <a:off x="381305" y="1047902"/>
            <a:ext cx="381305" cy="381305"/>
          </a:xfrm>
          <a:prstGeom prst="rect">
            <a:avLst/>
          </a:prstGeom>
        </p:spPr>
      </p:pic>
      <p:sp>
        <p:nvSpPr>
          <p:cNvPr id="30" name="Text 5">
            <a:extLst>
              <a:ext uri="{FF2B5EF4-FFF2-40B4-BE49-F238E27FC236}">
                <a16:creationId xmlns:a16="http://schemas.microsoft.com/office/drawing/2014/main" id="{7AAA51FF-B4B2-0FFB-7A35-7798244C584C}"/>
              </a:ext>
            </a:extLst>
          </p:cNvPr>
          <p:cNvSpPr txBox="1"/>
          <p:nvPr/>
        </p:nvSpPr>
        <p:spPr>
          <a:xfrm>
            <a:off x="269748" y="1485900"/>
            <a:ext cx="609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내 컴퓨터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184DF3B7-FDCE-FAA3-5633-C68B5A2B905F}"/>
              </a:ext>
            </a:extLst>
          </p:cNvPr>
          <p:cNvSpPr txBox="1"/>
          <p:nvPr/>
        </p:nvSpPr>
        <p:spPr>
          <a:xfrm>
            <a:off x="226771" y="2391156"/>
            <a:ext cx="695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포트폴리오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2" descr="gen-dedup-313e4be3ff4060006731241b7cc55ba4.png">
            <a:extLst>
              <a:ext uri="{FF2B5EF4-FFF2-40B4-BE49-F238E27FC236}">
                <a16:creationId xmlns:a16="http://schemas.microsoft.com/office/drawing/2014/main" id="{728E10CD-CA85-D2DB-FF94-BE9BBB734443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381305" y="2809951"/>
            <a:ext cx="381305" cy="381305"/>
          </a:xfrm>
          <a:prstGeom prst="rect">
            <a:avLst/>
          </a:prstGeom>
        </p:spPr>
      </p:pic>
      <p:sp>
        <p:nvSpPr>
          <p:cNvPr id="33" name="Text 7">
            <a:extLst>
              <a:ext uri="{FF2B5EF4-FFF2-40B4-BE49-F238E27FC236}">
                <a16:creationId xmlns:a16="http://schemas.microsoft.com/office/drawing/2014/main" id="{F7A0DC63-18A1-C8DD-A968-4357801E6074}"/>
              </a:ext>
            </a:extLst>
          </p:cNvPr>
          <p:cNvSpPr txBox="1"/>
          <p:nvPr/>
        </p:nvSpPr>
        <p:spPr>
          <a:xfrm>
            <a:off x="419710" y="3191256"/>
            <a:ext cx="342900" cy="247802"/>
          </a:xfrm>
          <a:prstGeom prst="rect">
            <a:avLst/>
          </a:prstGeom>
          <a:noFill/>
          <a:ln w="12700">
            <a:noFill/>
          </a:ln>
        </p:spPr>
        <p:txBody>
          <a:bodyPr wrap="square" lIns="38100" tIns="25400" rIns="38100" bIns="254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목차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4" name="Image 3" descr="gen-dedup-ef6105ed2e63baeb37694681937bef0b.png">
            <a:extLst>
              <a:ext uri="{FF2B5EF4-FFF2-40B4-BE49-F238E27FC236}">
                <a16:creationId xmlns:a16="http://schemas.microsoft.com/office/drawing/2014/main" id="{A082A422-BE55-F011-2CC6-0BD13AAB9478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-7143" r="-7143"/>
          <a:stretch/>
        </p:blipFill>
        <p:spPr>
          <a:xfrm>
            <a:off x="381305" y="3715207"/>
            <a:ext cx="381305" cy="381305"/>
          </a:xfrm>
          <a:prstGeom prst="rect">
            <a:avLst/>
          </a:prstGeom>
        </p:spPr>
      </p:pic>
      <p:sp>
        <p:nvSpPr>
          <p:cNvPr id="35" name="Text 8">
            <a:extLst>
              <a:ext uri="{FF2B5EF4-FFF2-40B4-BE49-F238E27FC236}">
                <a16:creationId xmlns:a16="http://schemas.microsoft.com/office/drawing/2014/main" id="{5D9317CB-ACDF-B233-EDA4-3672C9C9401D}"/>
              </a:ext>
            </a:extLst>
          </p:cNvPr>
          <p:cNvSpPr txBox="1"/>
          <p:nvPr/>
        </p:nvSpPr>
        <p:spPr>
          <a:xfrm>
            <a:off x="349301" y="4153205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Image 4" descr="gen-dedup-9fdbec92b016124fd02e3850a5123f8c.png">
            <a:extLst>
              <a:ext uri="{FF2B5EF4-FFF2-40B4-BE49-F238E27FC236}">
                <a16:creationId xmlns:a16="http://schemas.microsoft.com/office/drawing/2014/main" id="{7E6D6121-5D76-57FF-25F6-6DE7C56EE4E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381305" y="4572000"/>
            <a:ext cx="381305" cy="381305"/>
          </a:xfrm>
          <a:prstGeom prst="rect">
            <a:avLst/>
          </a:prstGeom>
        </p:spPr>
      </p:pic>
      <p:sp>
        <p:nvSpPr>
          <p:cNvPr id="37" name="Text 9">
            <a:extLst>
              <a:ext uri="{FF2B5EF4-FFF2-40B4-BE49-F238E27FC236}">
                <a16:creationId xmlns:a16="http://schemas.microsoft.com/office/drawing/2014/main" id="{A8EF988B-8A30-9D89-7D01-D210D2C0B7B7}"/>
              </a:ext>
            </a:extLst>
          </p:cNvPr>
          <p:cNvSpPr txBox="1"/>
          <p:nvPr/>
        </p:nvSpPr>
        <p:spPr>
          <a:xfrm>
            <a:off x="288036" y="5009998"/>
            <a:ext cx="571500" cy="2286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프로젝트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C763788-A732-CC21-1C1E-3C4A06882F74}"/>
              </a:ext>
            </a:extLst>
          </p:cNvPr>
          <p:cNvGrpSpPr/>
          <p:nvPr/>
        </p:nvGrpSpPr>
        <p:grpSpPr>
          <a:xfrm>
            <a:off x="342900" y="1904695"/>
            <a:ext cx="457200" cy="457200"/>
            <a:chOff x="342900" y="1904695"/>
            <a:chExt cx="457200" cy="457200"/>
          </a:xfrm>
        </p:grpSpPr>
        <p:pic>
          <p:nvPicPr>
            <p:cNvPr id="39" name="Image 1" descr="gen-dedup-36f1f1ccf4a0e8533d6290f10bde510b.png">
              <a:extLst>
                <a:ext uri="{FF2B5EF4-FFF2-40B4-BE49-F238E27FC236}">
                  <a16:creationId xmlns:a16="http://schemas.microsoft.com/office/drawing/2014/main" id="{D19DF641-2009-CA60-A812-FB2E4D8CF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rcRect/>
            <a:stretch/>
          </p:blipFill>
          <p:spPr>
            <a:xfrm>
              <a:off x="342900" y="1904695"/>
              <a:ext cx="457200" cy="457200"/>
            </a:xfrm>
            <a:prstGeom prst="rect">
              <a:avLst/>
            </a:prstGeom>
          </p:spPr>
        </p:pic>
        <p:pic>
          <p:nvPicPr>
            <p:cNvPr id="40" name="Image 5" descr="gen-dedup-72bd3513d2cf055f9eacb7e2be8dea4c.png">
              <a:extLst>
                <a:ext uri="{FF2B5EF4-FFF2-40B4-BE49-F238E27FC236}">
                  <a16:creationId xmlns:a16="http://schemas.microsoft.com/office/drawing/2014/main" id="{3CC83CE2-81A3-D033-46EA-9C7AD7E63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rcRect t="-12500" b="-12500"/>
            <a:stretch/>
          </p:blipFill>
          <p:spPr>
            <a:xfrm>
              <a:off x="437998" y="2038198"/>
              <a:ext cx="267005" cy="267005"/>
            </a:xfrm>
            <a:prstGeom prst="rect">
              <a:avLst/>
            </a:prstGeom>
          </p:spPr>
        </p:pic>
      </p:grpSp>
      <p:pic>
        <p:nvPicPr>
          <p:cNvPr id="41" name="Image 22" descr="gen-dedup-2302e8a913f082daf4055bce75fbff92.png">
            <a:extLst>
              <a:ext uri="{FF2B5EF4-FFF2-40B4-BE49-F238E27FC236}">
                <a16:creationId xmlns:a16="http://schemas.microsoft.com/office/drawing/2014/main" id="{D4457459-CEDB-FBC0-F26E-E26EE78F0221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3141575"/>
            <a:ext cx="137835" cy="148774"/>
          </a:xfrm>
          <a:prstGeom prst="rect">
            <a:avLst/>
          </a:prstGeom>
        </p:spPr>
      </p:pic>
      <p:sp>
        <p:nvSpPr>
          <p:cNvPr id="42" name="Text 55">
            <a:extLst>
              <a:ext uri="{FF2B5EF4-FFF2-40B4-BE49-F238E27FC236}">
                <a16:creationId xmlns:a16="http://schemas.microsoft.com/office/drawing/2014/main" id="{156B8AB8-E0C1-DC86-9D04-EA2864B6EAFA}"/>
              </a:ext>
            </a:extLst>
          </p:cNvPr>
          <p:cNvSpPr txBox="1"/>
          <p:nvPr/>
        </p:nvSpPr>
        <p:spPr>
          <a:xfrm>
            <a:off x="2280602" y="3391468"/>
            <a:ext cx="1081917" cy="15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World First Kill</a:t>
            </a:r>
          </a:p>
        </p:txBody>
      </p:sp>
      <p:sp>
        <p:nvSpPr>
          <p:cNvPr id="44" name="Text 55">
            <a:extLst>
              <a:ext uri="{FF2B5EF4-FFF2-40B4-BE49-F238E27FC236}">
                <a16:creationId xmlns:a16="http://schemas.microsoft.com/office/drawing/2014/main" id="{10548B94-AED8-2DE4-5428-A123E913F333}"/>
              </a:ext>
            </a:extLst>
          </p:cNvPr>
          <p:cNvSpPr txBox="1"/>
          <p:nvPr/>
        </p:nvSpPr>
        <p:spPr>
          <a:xfrm>
            <a:off x="2280602" y="3653721"/>
            <a:ext cx="1081917" cy="15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기타 프로젝트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1" name="Image 18" descr="gen-dedup-ba01fa70a70d7d3a77dc83183451dc86.png">
            <a:extLst>
              <a:ext uri="{FF2B5EF4-FFF2-40B4-BE49-F238E27FC236}">
                <a16:creationId xmlns:a16="http://schemas.microsoft.com/office/drawing/2014/main" id="{168D4DC0-D96F-47D8-A951-BF723BC6F6FE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2090319" y="3674064"/>
            <a:ext cx="137504" cy="145772"/>
          </a:xfrm>
          <a:prstGeom prst="rect">
            <a:avLst/>
          </a:prstGeom>
        </p:spPr>
      </p:pic>
      <p:pic>
        <p:nvPicPr>
          <p:cNvPr id="100" name="Image 22" descr="gen-dedup-2302e8a913f082daf4055bce75fbff92.png">
            <a:extLst>
              <a:ext uri="{FF2B5EF4-FFF2-40B4-BE49-F238E27FC236}">
                <a16:creationId xmlns:a16="http://schemas.microsoft.com/office/drawing/2014/main" id="{592BA0B1-5D85-49D8-942E-5D79358F39A9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16667" r="-16667"/>
          <a:stretch/>
        </p:blipFill>
        <p:spPr>
          <a:xfrm>
            <a:off x="2090319" y="3407820"/>
            <a:ext cx="137835" cy="148774"/>
          </a:xfrm>
          <a:prstGeom prst="rect">
            <a:avLst/>
          </a:prstGeom>
        </p:spPr>
      </p:pic>
      <p:graphicFrame>
        <p:nvGraphicFramePr>
          <p:cNvPr id="121" name="Table 0">
            <a:extLst>
              <a:ext uri="{FF2B5EF4-FFF2-40B4-BE49-F238E27FC236}">
                <a16:creationId xmlns:a16="http://schemas.microsoft.com/office/drawing/2014/main" id="{A5A41744-44D6-437D-918E-F5C7CFB92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551810"/>
              </p:ext>
            </p:extLst>
          </p:nvPr>
        </p:nvGraphicFramePr>
        <p:xfrm>
          <a:off x="3680570" y="3813676"/>
          <a:ext cx="8130125" cy="1994426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4366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93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72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요약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플레이어는 적 우주선의 탄알을 피해서 최종 보스를 물리치는 것을 목적으로 한다</a:t>
                      </a:r>
                      <a:r>
                        <a:rPr lang="en-US" altLang="ko-KR" sz="1400" dirty="0"/>
                        <a:t>.</a:t>
                      </a:r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72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역할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적 비행선 </a:t>
                      </a:r>
                      <a:r>
                        <a:rPr lang="en-US" altLang="ko-KR" sz="1400" dirty="0"/>
                        <a:t>AI </a:t>
                      </a:r>
                      <a:r>
                        <a:rPr lang="ko-KR" altLang="en-US" sz="1400" dirty="0"/>
                        <a:t>시스템</a:t>
                      </a:r>
                      <a:endParaRPr lang="en-US" altLang="ko-KR" sz="14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보스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스킬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보스 탄환 발사 기술들</a:t>
                      </a:r>
                      <a:r>
                        <a:rPr lang="en-US" altLang="ko-KR" sz="1400" dirty="0"/>
                        <a:t>)</a:t>
                      </a:r>
                      <a:r>
                        <a:rPr lang="ko-KR" altLang="en-US" sz="1400" dirty="0"/>
                        <a:t> 시스템</a:t>
                      </a:r>
                      <a:endParaRPr lang="en-US" altLang="ko-KR" sz="1400" dirty="0"/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플레이어 이동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공격 시스템</a:t>
                      </a:r>
                      <a:endParaRPr lang="en-US" altLang="ko-KR" sz="1400" dirty="0"/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적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플레이어 피격 판정 </a:t>
                      </a:r>
                      <a:r>
                        <a:rPr lang="ko-KR" altLang="en-US" sz="1400" dirty="0" err="1"/>
                        <a:t>콜라이더</a:t>
                      </a:r>
                      <a:r>
                        <a:rPr lang="ko-KR" altLang="en-US" sz="1400" dirty="0"/>
                        <a:t> 시스템</a:t>
                      </a:r>
                      <a:endParaRPr lang="en-US" altLang="ko-KR" sz="1400" dirty="0"/>
                    </a:p>
                  </a:txBody>
                  <a:tcPr marL="95098" marR="95098" marT="57607" marB="576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8" name="Shape 13">
            <a:extLst>
              <a:ext uri="{FF2B5EF4-FFF2-40B4-BE49-F238E27FC236}">
                <a16:creationId xmlns:a16="http://schemas.microsoft.com/office/drawing/2014/main" id="{1E1D1D53-D5D8-4CD9-8BD9-8E91620CB063}"/>
              </a:ext>
            </a:extLst>
          </p:cNvPr>
          <p:cNvSpPr/>
          <p:nvPr/>
        </p:nvSpPr>
        <p:spPr>
          <a:xfrm>
            <a:off x="3680571" y="1913186"/>
            <a:ext cx="3157094" cy="1877147"/>
          </a:xfrm>
          <a:prstGeom prst="rect">
            <a:avLst/>
          </a:prstGeom>
          <a:solidFill>
            <a:srgbClr val="E8E8E8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29" name="그림 128">
            <a:extLst>
              <a:ext uri="{FF2B5EF4-FFF2-40B4-BE49-F238E27FC236}">
                <a16:creationId xmlns:a16="http://schemas.microsoft.com/office/drawing/2014/main" id="{B139E9A3-4F95-41DF-B7A0-37588747295D}"/>
              </a:ext>
            </a:extLst>
          </p:cNvPr>
          <p:cNvPicPr>
            <a:picLocks noChangeAspect="1"/>
          </p:cNvPicPr>
          <p:nvPr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234" y="1958884"/>
            <a:ext cx="2645769" cy="178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618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76695"/>
          </a:xfrm>
          <a:prstGeom prst="rect">
            <a:avLst/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5" y="6515100"/>
            <a:ext cx="857707" cy="304495"/>
          </a:xfrm>
          <a:prstGeom prst="rect">
            <a:avLst/>
          </a:prstGeom>
          <a:solidFill>
            <a:srgbClr val="C0C0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0698" y="6534302"/>
            <a:ext cx="1524305" cy="267005"/>
          </a:xfrm>
          <a:prstGeom prst="rect">
            <a:avLst/>
          </a:prstGeom>
          <a:solidFill>
            <a:srgbClr val="C0C0C0"/>
          </a:solidFill>
          <a:ln w="25400">
            <a:solidFill>
              <a:srgbClr val="808080"/>
            </a:solidFill>
            <a:prstDash val="solid"/>
          </a:ln>
        </p:spPr>
      </p:sp>
      <p:pic>
        <p:nvPicPr>
          <p:cNvPr id="19" name="Image 1" descr="gen-dedup-b7042822c590cf1066a472ff1b5b8f45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14300" y="6590995"/>
            <a:ext cx="152705" cy="15270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58114" y="6601054"/>
            <a:ext cx="28437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11243462" y="6590995"/>
            <a:ext cx="7260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10:00 AM</a:t>
            </a:r>
            <a:endParaRPr lang="en-US" sz="1000" dirty="0"/>
          </a:p>
        </p:txBody>
      </p:sp>
      <p:pic>
        <p:nvPicPr>
          <p:cNvPr id="22" name="Image 2" descr="gen-dedup-7740a029182e5c65b65e33d2aaed94e2.png"/>
          <p:cNvPicPr>
            <a:picLocks noChangeAspect="1"/>
          </p:cNvPicPr>
          <p:nvPr/>
        </p:nvPicPr>
        <p:blipFill>
          <a:blip r:embed="rId4"/>
          <a:srcRect t="-12500" b="-12500"/>
          <a:stretch/>
        </p:blipFill>
        <p:spPr>
          <a:xfrm>
            <a:off x="10724998" y="6590995"/>
            <a:ext cx="152705" cy="152705"/>
          </a:xfrm>
          <a:prstGeom prst="rect">
            <a:avLst/>
          </a:prstGeom>
        </p:spPr>
      </p:pic>
      <p:grpSp>
        <p:nvGrpSpPr>
          <p:cNvPr id="36" name="그룹 35">
            <a:extLst>
              <a:ext uri="{FF2B5EF4-FFF2-40B4-BE49-F238E27FC236}">
                <a16:creationId xmlns:a16="http://schemas.microsoft.com/office/drawing/2014/main" id="{7762DEE6-3821-4BB4-ADB0-9CA052514283}"/>
              </a:ext>
            </a:extLst>
          </p:cNvPr>
          <p:cNvGrpSpPr/>
          <p:nvPr/>
        </p:nvGrpSpPr>
        <p:grpSpPr>
          <a:xfrm>
            <a:off x="2348146" y="1100091"/>
            <a:ext cx="7495708" cy="4253089"/>
            <a:chOff x="3238805" y="1524305"/>
            <a:chExt cx="5715000" cy="3429000"/>
          </a:xfrm>
        </p:grpSpPr>
        <p:sp>
          <p:nvSpPr>
            <p:cNvPr id="8" name="Shape 6"/>
            <p:cNvSpPr/>
            <p:nvPr/>
          </p:nvSpPr>
          <p:spPr>
            <a:xfrm>
              <a:off x="3238805" y="1524305"/>
              <a:ext cx="5715000" cy="3429000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3258007" y="4914900"/>
              <a:ext cx="5676595" cy="19202"/>
            </a:xfrm>
            <a:prstGeom prst="rect">
              <a:avLst/>
            </a:prstGeom>
            <a:solidFill>
              <a:srgbClr val="808080"/>
            </a:solidFill>
            <a:ln w="12700">
              <a:solidFill>
                <a:srgbClr val="808080">
                  <a:alpha val="0"/>
                </a:srgbClr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8915400" y="1543507"/>
              <a:ext cx="19202" cy="3390595"/>
            </a:xfrm>
            <a:prstGeom prst="rect">
              <a:avLst/>
            </a:prstGeom>
            <a:solidFill>
              <a:srgbClr val="808080"/>
            </a:solidFill>
            <a:ln w="12700">
              <a:solidFill>
                <a:srgbClr val="808080">
                  <a:alpha val="0"/>
                </a:srgbClr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3276295" y="1561795"/>
              <a:ext cx="5600700" cy="267005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8630107" y="1591056"/>
              <a:ext cx="209398" cy="209398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4553026" y="4381805"/>
              <a:ext cx="952805" cy="304495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5696026" y="4381805"/>
              <a:ext cx="952805" cy="304495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6839026" y="4381805"/>
              <a:ext cx="952805" cy="304495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23" name="Text 18"/>
            <p:cNvSpPr txBox="1"/>
            <p:nvPr/>
          </p:nvSpPr>
          <p:spPr>
            <a:xfrm>
              <a:off x="3353105" y="1628546"/>
              <a:ext cx="1761134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Contact Information</a:t>
              </a:r>
              <a:endParaRPr lang="en-US" sz="1000" dirty="0"/>
            </a:p>
          </p:txBody>
        </p:sp>
        <p:sp>
          <p:nvSpPr>
            <p:cNvPr id="24" name="Text 19"/>
            <p:cNvSpPr txBox="1"/>
            <p:nvPr/>
          </p:nvSpPr>
          <p:spPr>
            <a:xfrm>
              <a:off x="8695944" y="1633118"/>
              <a:ext cx="85954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X</a:t>
              </a:r>
              <a:endParaRPr lang="en-US" sz="900" dirty="0"/>
            </a:p>
          </p:txBody>
        </p:sp>
        <p:pic>
          <p:nvPicPr>
            <p:cNvPr id="25" name="Image 3" descr="gen-dedup-1cf9ab7953bfacf6dacaf14bddb4c2ba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3619195" y="2190902"/>
              <a:ext cx="457200" cy="457200"/>
            </a:xfrm>
            <a:prstGeom prst="rect">
              <a:avLst/>
            </a:prstGeom>
          </p:spPr>
        </p:pic>
        <p:sp>
          <p:nvSpPr>
            <p:cNvPr id="26" name="Text 20"/>
            <p:cNvSpPr txBox="1"/>
            <p:nvPr/>
          </p:nvSpPr>
          <p:spPr>
            <a:xfrm>
              <a:off x="4286707" y="2313887"/>
              <a:ext cx="266730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2800" b="1" dirty="0"/>
                <a:t>이민혁</a:t>
              </a:r>
              <a:endParaRPr lang="en-US" sz="2800" b="1" dirty="0"/>
            </a:p>
          </p:txBody>
        </p:sp>
        <p:sp>
          <p:nvSpPr>
            <p:cNvPr id="32" name="Text 26"/>
            <p:cNvSpPr txBox="1"/>
            <p:nvPr/>
          </p:nvSpPr>
          <p:spPr>
            <a:xfrm>
              <a:off x="4191153" y="3001061"/>
              <a:ext cx="3810305" cy="4279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000" dirty="0" err="1">
                  <a:solidFill>
                    <a:srgbClr val="333333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감사합니다</a:t>
              </a:r>
              <a:r>
                <a:rPr lang="en-US" sz="4000" dirty="0">
                  <a:solidFill>
                    <a:srgbClr val="333333"/>
                  </a:solidFill>
                  <a:latin typeface="Nanum Gothic Coding" pitchFamily="34" charset="0"/>
                  <a:ea typeface="Nanum Gothic Coding" pitchFamily="34" charset="-122"/>
                  <a:cs typeface="Nanum Gothic Coding" pitchFamily="34" charset="-120"/>
                </a:rPr>
                <a:t>! </a:t>
              </a:r>
              <a:endParaRPr lang="en-US" sz="4000" dirty="0"/>
            </a:p>
          </p:txBody>
        </p:sp>
        <p:sp>
          <p:nvSpPr>
            <p:cNvPr id="33" name="Text 27"/>
            <p:cNvSpPr txBox="1"/>
            <p:nvPr/>
          </p:nvSpPr>
          <p:spPr>
            <a:xfrm>
              <a:off x="4846549" y="4438498"/>
              <a:ext cx="372161" cy="191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76200" tIns="25400" rIns="76200" bIns="2540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OK</a:t>
              </a:r>
              <a:endParaRPr lang="en-US" sz="1600" dirty="0"/>
            </a:p>
          </p:txBody>
        </p:sp>
        <p:sp>
          <p:nvSpPr>
            <p:cNvPr id="34" name="Text 28"/>
            <p:cNvSpPr txBox="1"/>
            <p:nvPr/>
          </p:nvSpPr>
          <p:spPr>
            <a:xfrm>
              <a:off x="5856504" y="4466844"/>
              <a:ext cx="631850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Hire Me</a:t>
              </a:r>
              <a:endParaRPr lang="en-US" sz="1600" dirty="0"/>
            </a:p>
          </p:txBody>
        </p:sp>
        <p:sp>
          <p:nvSpPr>
            <p:cNvPr id="35" name="Text 29"/>
            <p:cNvSpPr txBox="1"/>
            <p:nvPr/>
          </p:nvSpPr>
          <p:spPr>
            <a:xfrm>
              <a:off x="7043852" y="4466844"/>
              <a:ext cx="543154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Cancel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2379</TotalTime>
  <Words>3204</Words>
  <Application>Microsoft Office PowerPoint</Application>
  <PresentationFormat>와이드스크린</PresentationFormat>
  <Paragraphs>820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1" baseType="lpstr">
      <vt:lpstr>Nanum Gothic</vt:lpstr>
      <vt:lpstr>Nanum Gothic Coding</vt:lpstr>
      <vt:lpstr>굴림</vt:lpstr>
      <vt:lpstr>맑은 고딕</vt:lpstr>
      <vt:lpstr>Arial</vt:lpstr>
      <vt:lpstr>Calibri</vt:lpstr>
      <vt:lpstr>Consolas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민혁 이</cp:lastModifiedBy>
  <cp:revision>163</cp:revision>
  <dcterms:created xsi:type="dcterms:W3CDTF">2026-05-20T14:37:15Z</dcterms:created>
  <dcterms:modified xsi:type="dcterms:W3CDTF">2026-06-27T04:00:42Z</dcterms:modified>
</cp:coreProperties>
</file>