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3" r:id="rId5"/>
    <p:sldId id="305" r:id="rId6"/>
    <p:sldId id="266" r:id="rId7"/>
    <p:sldId id="269" r:id="rId8"/>
    <p:sldId id="270" r:id="rId9"/>
    <p:sldId id="272" r:id="rId10"/>
    <p:sldId id="306" r:id="rId11"/>
    <p:sldId id="283" r:id="rId12"/>
    <p:sldId id="284" r:id="rId13"/>
    <p:sldId id="308" r:id="rId14"/>
    <p:sldId id="288" r:id="rId15"/>
    <p:sldId id="292" r:id="rId16"/>
    <p:sldId id="294" r:id="rId17"/>
    <p:sldId id="30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9652"/>
    <a:srgbClr val="42B8AD"/>
    <a:srgbClr val="009680"/>
    <a:srgbClr val="008080"/>
    <a:srgbClr val="E6E6E6"/>
    <a:srgbClr val="808080"/>
    <a:srgbClr val="404040"/>
    <a:srgbClr val="00CED1"/>
    <a:srgbClr val="000099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65" autoAdjust="0"/>
  </p:normalViewPr>
  <p:slideViewPr>
    <p:cSldViewPr snapToGrid="0" snapToObjects="1">
      <p:cViewPr varScale="1">
        <p:scale>
          <a:sx n="107" d="100"/>
          <a:sy n="107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21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AE54-698A-8DE6-3983-EBE94FB0D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85CD1-4E51-771E-39F5-3E6B63A9E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E14C5-47C2-4D44-EFDD-14D262FEC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929D9-1AB5-BFD9-AF53-3E75A9DC8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82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42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41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8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78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13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181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76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947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249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170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27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hyperlink" Target="https://github.com/InfiSword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hyperlink" Target="https://www.youtube.com/watch?v=TTdIN2U3gnQ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hyperlink" Target="https://www.youtube.com/watch?v=LNJKQiQ8ahs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10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1.png"/><Relationship Id="rId10" Type="http://schemas.openxmlformats.org/officeDocument/2006/relationships/image" Target="../media/image44.png"/><Relationship Id="rId4" Type="http://schemas.openxmlformats.org/officeDocument/2006/relationships/image" Target="../media/image25.png"/><Relationship Id="rId9" Type="http://schemas.openxmlformats.org/officeDocument/2006/relationships/hyperlink" Target="https://drive.google.com/drive/folders/1jXhfHFJzF-uPNl0b3EEAzeqeWNrVsouL?usp=drive_link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9.png"/><Relationship Id="rId5" Type="http://schemas.openxmlformats.org/officeDocument/2006/relationships/image" Target="../media/image11.png"/><Relationship Id="rId10" Type="http://schemas.openxmlformats.org/officeDocument/2006/relationships/image" Target="../media/image48.png"/><Relationship Id="rId4" Type="http://schemas.openxmlformats.org/officeDocument/2006/relationships/image" Target="../media/image25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hyperlink" Target="https://www.youtube.com/watch?v=EWD2YidSgp0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25.png"/><Relationship Id="rId9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gradFill flip="none" rotWithShape="1">
            <a:gsLst>
              <a:gs pos="100000">
                <a:srgbClr val="4472C4"/>
              </a:gs>
              <a:gs pos="0">
                <a:schemeClr val="accent5"/>
              </a:gs>
              <a:gs pos="0">
                <a:srgbClr val="85A3D8"/>
              </a:gs>
              <a:gs pos="21000">
                <a:schemeClr val="accent1"/>
              </a:gs>
              <a:gs pos="100000">
                <a:schemeClr val="accent1"/>
              </a:gs>
            </a:gsLst>
            <a:lin ang="3600000" scaled="0"/>
            <a:tileRect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29000"/>
            <a:ext cx="12191695" cy="2286000"/>
          </a:xfrm>
          <a:prstGeom prst="rect">
            <a:avLst/>
          </a:prstGeom>
          <a:gradFill flip="none" rotWithShape="1">
            <a:gsLst>
              <a:gs pos="73000">
                <a:srgbClr val="002060"/>
              </a:gs>
              <a:gs pos="0">
                <a:schemeClr val="accent1"/>
              </a:gs>
            </a:gsLst>
            <a:lin ang="5400000" scaled="0"/>
            <a:tileRect/>
          </a:gradFill>
          <a:ln w="12700">
            <a:noFill/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001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c0ef265bbe70951592467ef7aeb8d3f8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6086246" y="952805"/>
            <a:ext cx="19202" cy="4762195"/>
          </a:xfrm>
          <a:prstGeom prst="rect">
            <a:avLst/>
          </a:prstGeom>
        </p:spPr>
      </p:pic>
      <p:pic>
        <p:nvPicPr>
          <p:cNvPr id="8" name="Image 1" descr="gen-dedup-98bd865fe2df6b904ed24c2fe6c0f034.png"/>
          <p:cNvPicPr>
            <a:picLocks noChangeAspect="1"/>
          </p:cNvPicPr>
          <p:nvPr/>
        </p:nvPicPr>
        <p:blipFill>
          <a:blip r:embed="rId4"/>
          <a:srcRect l="-13" r="-13"/>
          <a:stretch/>
        </p:blipFill>
        <p:spPr>
          <a:xfrm>
            <a:off x="6476695" y="2667305"/>
            <a:ext cx="5181905" cy="1561795"/>
          </a:xfrm>
          <a:prstGeom prst="rect">
            <a:avLst/>
          </a:prstGeom>
        </p:spPr>
      </p:pic>
      <p:pic>
        <p:nvPicPr>
          <p:cNvPr id="9" name="Image 2" descr="gen-dedup-73525ef31dc5ad2f8798d310a672c1a9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5715000"/>
            <a:ext cx="12191695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667805" y="2857500"/>
            <a:ext cx="847649" cy="1181405"/>
          </a:xfrm>
          <a:prstGeom prst="roundRect">
            <a:avLst>
              <a:gd name="adj" fmla="val 19393"/>
            </a:avLst>
          </a:prstGeom>
          <a:solidFill>
            <a:srgbClr val="4A90E2"/>
          </a:solidFill>
          <a:ln w="25400">
            <a:solidFill>
              <a:srgbClr val="FFE66D"/>
            </a:solidFill>
            <a:prstDash val="solid"/>
          </a:ln>
        </p:spPr>
      </p:sp>
      <p:pic>
        <p:nvPicPr>
          <p:cNvPr id="11" name="Image 3" descr="gen-dedup-6ca4ce2c60311e3849bdfe56cd137382.png"/>
          <p:cNvPicPr>
            <a:picLocks noChangeAspect="1"/>
          </p:cNvPicPr>
          <p:nvPr/>
        </p:nvPicPr>
        <p:blipFill>
          <a:blip r:embed="rId6"/>
          <a:srcRect l="-34" r="-34"/>
          <a:stretch/>
        </p:blipFill>
        <p:spPr>
          <a:xfrm>
            <a:off x="7619695" y="3666744"/>
            <a:ext cx="2115007" cy="32369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810598" y="36667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BB24C"/>
          </a:solidFill>
          <a:ln w="25400">
            <a:solidFill>
              <a:srgbClr val="8FE99F"/>
            </a:solidFill>
            <a:prstDash val="solid"/>
          </a:ln>
        </p:spPr>
      </p:sp>
      <p:pic>
        <p:nvPicPr>
          <p:cNvPr id="13" name="Image 4" descr="gen-dedup-d1120f5f5c0cf9f3138152ba4121a1a7.png"/>
          <p:cNvPicPr>
            <a:picLocks noChangeAspect="1"/>
          </p:cNvPicPr>
          <p:nvPr/>
        </p:nvPicPr>
        <p:blipFill>
          <a:blip r:embed="rId7"/>
          <a:srcRect t="-113" b="-113"/>
          <a:stretch/>
        </p:blipFill>
        <p:spPr>
          <a:xfrm>
            <a:off x="9829800" y="3685946"/>
            <a:ext cx="342900" cy="15453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239451" y="3666744"/>
            <a:ext cx="381305" cy="381305"/>
          </a:xfrm>
          <a:prstGeom prst="ellipse">
            <a:avLst/>
          </a:prstGeom>
          <a:solidFill>
            <a:srgbClr val="2E5C8C"/>
          </a:solidFill>
          <a:ln w="25400">
            <a:solidFill>
              <a:srgbClr val="8FAED4"/>
            </a:solidFill>
            <a:prstDash val="solid"/>
          </a:ln>
        </p:spPr>
      </p:sp>
      <p:pic>
        <p:nvPicPr>
          <p:cNvPr id="15" name="Image 5" descr="gen-dedup-8d320f6b30d291393fafdd2a731fa9c9.png"/>
          <p:cNvPicPr>
            <a:picLocks noChangeAspect="1"/>
          </p:cNvPicPr>
          <p:nvPr/>
        </p:nvPicPr>
        <p:blipFill>
          <a:blip r:embed="rId8"/>
          <a:srcRect t="-113" b="-113"/>
          <a:stretch/>
        </p:blipFill>
        <p:spPr>
          <a:xfrm>
            <a:off x="10258654" y="3685946"/>
            <a:ext cx="342900" cy="15453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951889" y="2347265"/>
            <a:ext cx="47631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클라이언트</a:t>
            </a:r>
            <a:r>
              <a:rPr lang="en-US" altLang="ko-KR" sz="6600" b="1" i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개발자</a:t>
            </a:r>
            <a:r>
              <a:rPr lang="en-US" altLang="ko-KR" sz="6600" b="1" i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기술</a:t>
            </a:r>
            <a:r>
              <a:rPr lang="en-US" altLang="ko-KR" sz="6600" b="1" i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설명서</a:t>
            </a:r>
            <a:endParaRPr lang="en-US" altLang="ko-KR" sz="6600" i="1" dirty="0"/>
          </a:p>
        </p:txBody>
      </p:sp>
      <p:sp>
        <p:nvSpPr>
          <p:cNvPr id="20" name="Text 11"/>
          <p:cNvSpPr txBox="1"/>
          <p:nvPr/>
        </p:nvSpPr>
        <p:spPr>
          <a:xfrm>
            <a:off x="715975" y="4476902"/>
            <a:ext cx="52358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Click on your user name to begin</a:t>
            </a:r>
            <a:endParaRPr lang="en-US" sz="2100" dirty="0"/>
          </a:p>
        </p:txBody>
      </p:sp>
      <p:pic>
        <p:nvPicPr>
          <p:cNvPr id="21" name="Image 7" descr="gen-dedup-e169e92560a8b41f2f4c8d7b8fb9a799.png"/>
          <p:cNvPicPr>
            <a:picLocks noChangeAspect="1"/>
          </p:cNvPicPr>
          <p:nvPr/>
        </p:nvPicPr>
        <p:blipFill>
          <a:blip r:embed="rId9"/>
          <a:srcRect t="-12500" b="-12500"/>
          <a:stretch/>
        </p:blipFill>
        <p:spPr>
          <a:xfrm>
            <a:off x="6829654" y="3191256"/>
            <a:ext cx="476402" cy="47640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619695" y="2952598"/>
            <a:ext cx="3810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8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 </a:t>
            </a:r>
            <a:r>
              <a:rPr lang="ko-KR" alt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이민혁</a:t>
            </a:r>
            <a:endParaRPr lang="en-US" sz="1800" dirty="0"/>
          </a:p>
        </p:txBody>
      </p:sp>
      <p:sp>
        <p:nvSpPr>
          <p:cNvPr id="23" name="Text 13"/>
          <p:cNvSpPr txBox="1"/>
          <p:nvPr/>
        </p:nvSpPr>
        <p:spPr>
          <a:xfrm>
            <a:off x="7619695" y="3286354"/>
            <a:ext cx="381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Type your password</a:t>
            </a:r>
            <a:endParaRPr lang="en-US" sz="1100" dirty="0"/>
          </a:p>
        </p:txBody>
      </p:sp>
      <p:sp>
        <p:nvSpPr>
          <p:cNvPr id="24" name="Text 14"/>
          <p:cNvSpPr txBox="1"/>
          <p:nvPr/>
        </p:nvSpPr>
        <p:spPr>
          <a:xfrm>
            <a:off x="9887407" y="3666744"/>
            <a:ext cx="191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0355580" y="3666744"/>
            <a:ext cx="110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381305" y="6191402"/>
            <a:ext cx="371246" cy="371246"/>
          </a:xfrm>
          <a:prstGeom prst="roundRect">
            <a:avLst>
              <a:gd name="adj" fmla="val 50524"/>
            </a:avLst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857707" y="6191402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Turn off computer</a:t>
            </a:r>
            <a:endParaRPr lang="en-US" sz="2100" dirty="0"/>
          </a:p>
        </p:txBody>
      </p:sp>
      <p:sp>
        <p:nvSpPr>
          <p:cNvPr id="28" name="Text 18"/>
          <p:cNvSpPr txBox="1"/>
          <p:nvPr/>
        </p:nvSpPr>
        <p:spPr>
          <a:xfrm>
            <a:off x="6964985" y="6238951"/>
            <a:ext cx="48463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To add or change accounts go to Control Panel.</a:t>
            </a:r>
            <a:endParaRPr lang="en-US" sz="1300" dirty="0"/>
          </a:p>
        </p:txBody>
      </p:sp>
      <p:pic>
        <p:nvPicPr>
          <p:cNvPr id="29" name="Image 8" descr="gen-dedup-5ebd9a00e1386868d242c1402476145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7200" y="6267298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97" name="Shape 8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00" name="Shape 9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01" name="Image 7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02" name="Text 92"/>
          <p:cNvSpPr txBox="1"/>
          <p:nvPr/>
        </p:nvSpPr>
        <p:spPr>
          <a:xfrm>
            <a:off x="342900" y="6515100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103" name="Image 8" descr="gen-dedup-0e00a6cb611c2cf90ae5a210f714b78b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04" name="Text 93"/>
          <p:cNvSpPr txBox="1"/>
          <p:nvPr/>
        </p:nvSpPr>
        <p:spPr>
          <a:xfrm>
            <a:off x="1238098" y="6515100"/>
            <a:ext cx="1334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프로필.exe</a:t>
            </a:r>
            <a:endParaRPr lang="en-US" sz="900" dirty="0"/>
          </a:p>
        </p:txBody>
      </p:sp>
      <p:pic>
        <p:nvPicPr>
          <p:cNvPr id="105" name="Image 9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06" name="Text 94"/>
          <p:cNvSpPr txBox="1"/>
          <p:nvPr/>
        </p:nvSpPr>
        <p:spPr>
          <a:xfrm>
            <a:off x="10810951" y="6534302"/>
            <a:ext cx="1191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C840D7-ECE5-E8AD-357B-EB2764C9771E}"/>
              </a:ext>
            </a:extLst>
          </p:cNvPr>
          <p:cNvGrpSpPr/>
          <p:nvPr/>
        </p:nvGrpSpPr>
        <p:grpSpPr>
          <a:xfrm>
            <a:off x="186612" y="180000"/>
            <a:ext cx="11783388" cy="6120000"/>
            <a:chOff x="186612" y="180000"/>
            <a:chExt cx="11783388" cy="6120000"/>
          </a:xfrm>
        </p:grpSpPr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C558AD4F-CED2-93A3-F7AB-5D598C7A1083}"/>
                </a:ext>
              </a:extLst>
            </p:cNvPr>
            <p:cNvGrpSpPr/>
            <p:nvPr/>
          </p:nvGrpSpPr>
          <p:grpSpPr>
            <a:xfrm>
              <a:off x="186612" y="180000"/>
              <a:ext cx="11783388" cy="6120000"/>
              <a:chOff x="1066899" y="211981"/>
              <a:chExt cx="10890000" cy="6120000"/>
            </a:xfrm>
          </p:grpSpPr>
          <p:sp>
            <p:nvSpPr>
              <p:cNvPr id="17" name="Shape 10"/>
              <p:cNvSpPr/>
              <p:nvPr/>
            </p:nvSpPr>
            <p:spPr>
              <a:xfrm>
                <a:off x="1066899" y="211981"/>
                <a:ext cx="10890000" cy="6120000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grpSp>
            <p:nvGrpSpPr>
              <p:cNvPr id="262" name="그룹 261">
                <a:extLst>
                  <a:ext uri="{FF2B5EF4-FFF2-40B4-BE49-F238E27FC236}">
                    <a16:creationId xmlns:a16="http://schemas.microsoft.com/office/drawing/2014/main" id="{6B600EB2-B07C-083D-DA38-2311FA27A3A2}"/>
                  </a:ext>
                </a:extLst>
              </p:cNvPr>
              <p:cNvGrpSpPr/>
              <p:nvPr/>
            </p:nvGrpSpPr>
            <p:grpSpPr>
              <a:xfrm>
                <a:off x="1092099" y="237181"/>
                <a:ext cx="10850622" cy="295770"/>
                <a:chOff x="865047" y="138069"/>
                <a:chExt cx="10850622" cy="295770"/>
              </a:xfrm>
            </p:grpSpPr>
            <p:sp>
              <p:nvSpPr>
                <p:cNvPr id="18" name="Shape 11"/>
                <p:cNvSpPr/>
                <p:nvPr/>
              </p:nvSpPr>
              <p:spPr>
                <a:xfrm>
                  <a:off x="865047" y="138069"/>
                  <a:ext cx="10850622" cy="295770"/>
                </a:xfrm>
                <a:prstGeom prst="rect">
                  <a:avLst/>
                </a:prstGeom>
                <a:solidFill>
                  <a:srgbClr val="000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3" name="Text 36"/>
                <p:cNvSpPr txBox="1"/>
                <p:nvPr/>
              </p:nvSpPr>
              <p:spPr>
                <a:xfrm>
                  <a:off x="957044" y="176343"/>
                  <a:ext cx="842885" cy="21169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프로필.exe</a:t>
                  </a:r>
                  <a:endParaRPr lang="en-US" sz="1000" dirty="0"/>
                </a:p>
              </p:txBody>
            </p:sp>
            <p:grpSp>
              <p:nvGrpSpPr>
                <p:cNvPr id="260" name="그룹 259">
                  <a:extLst>
                    <a:ext uri="{FF2B5EF4-FFF2-40B4-BE49-F238E27FC236}">
                      <a16:creationId xmlns:a16="http://schemas.microsoft.com/office/drawing/2014/main" id="{DC1E3589-8CA7-CCED-3A0C-AA128A71ECCB}"/>
                    </a:ext>
                  </a:extLst>
                </p:cNvPr>
                <p:cNvGrpSpPr/>
                <p:nvPr/>
              </p:nvGrpSpPr>
              <p:grpSpPr>
                <a:xfrm>
                  <a:off x="11373447" y="152468"/>
                  <a:ext cx="252000" cy="252000"/>
                  <a:chOff x="11776681" y="139569"/>
                  <a:chExt cx="252000" cy="252000"/>
                </a:xfrm>
              </p:grpSpPr>
              <p:sp>
                <p:nvSpPr>
                  <p:cNvPr id="20" name="Shape 13"/>
                  <p:cNvSpPr/>
                  <p:nvPr/>
                </p:nvSpPr>
                <p:spPr>
                  <a:xfrm>
                    <a:off x="11776681" y="139569"/>
                    <a:ext cx="252000" cy="252000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FFFFFF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44" name="Text 37"/>
                  <p:cNvSpPr txBox="1"/>
                  <p:nvPr/>
                </p:nvSpPr>
                <p:spPr>
                  <a:xfrm>
                    <a:off x="11853657" y="194359"/>
                    <a:ext cx="89662" cy="14986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9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itchFamily="34" charset="-120"/>
                      </a:rPr>
                      <a:t>X</a:t>
                    </a:r>
                    <a:endParaRPr lang="en-US" sz="900" dirty="0"/>
                  </a:p>
                </p:txBody>
              </p:sp>
            </p:grpSp>
          </p:grpSp>
        </p:grpSp>
        <p:sp>
          <p:nvSpPr>
            <p:cNvPr id="19" name="Shape 12"/>
            <p:cNvSpPr/>
            <p:nvPr/>
          </p:nvSpPr>
          <p:spPr>
            <a:xfrm>
              <a:off x="313424" y="583928"/>
              <a:ext cx="11529766" cy="5544000"/>
            </a:xfrm>
            <a:prstGeom prst="rect">
              <a:avLst/>
            </a:prstGeom>
            <a:solidFill>
              <a:srgbClr val="2E6BBD"/>
            </a:solidFill>
            <a:ln w="254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294C0910-3DF6-221D-5CE1-739BE460994B}"/>
                </a:ext>
              </a:extLst>
            </p:cNvPr>
            <p:cNvGrpSpPr/>
            <p:nvPr/>
          </p:nvGrpSpPr>
          <p:grpSpPr>
            <a:xfrm>
              <a:off x="3423381" y="937826"/>
              <a:ext cx="3698857" cy="628511"/>
              <a:chOff x="4047644" y="934252"/>
              <a:chExt cx="3477706" cy="636937"/>
            </a:xfrm>
          </p:grpSpPr>
          <p:sp>
            <p:nvSpPr>
              <p:cNvPr id="54" name="Text 47"/>
              <p:cNvSpPr txBox="1"/>
              <p:nvPr/>
            </p:nvSpPr>
            <p:spPr>
              <a:xfrm>
                <a:off x="4047644" y="934252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학력/교육 이력</a:t>
                </a:r>
                <a:endParaRPr lang="en-US" dirty="0"/>
              </a:p>
            </p:txBody>
          </p:sp>
          <p:grpSp>
            <p:nvGrpSpPr>
              <p:cNvPr id="219" name="그룹 218">
                <a:extLst>
                  <a:ext uri="{FF2B5EF4-FFF2-40B4-BE49-F238E27FC236}">
                    <a16:creationId xmlns:a16="http://schemas.microsoft.com/office/drawing/2014/main" id="{F8BA2083-8CA1-2393-EEF8-95E1AF402FA9}"/>
                  </a:ext>
                </a:extLst>
              </p:cNvPr>
              <p:cNvGrpSpPr/>
              <p:nvPr/>
            </p:nvGrpSpPr>
            <p:grpSpPr>
              <a:xfrm>
                <a:off x="4047644" y="1264469"/>
                <a:ext cx="3415265" cy="306720"/>
                <a:chOff x="4047644" y="1264469"/>
                <a:chExt cx="3415265" cy="306720"/>
              </a:xfrm>
            </p:grpSpPr>
            <p:sp>
              <p:nvSpPr>
                <p:cNvPr id="22" name="Shape 15"/>
                <p:cNvSpPr/>
                <p:nvPr/>
              </p:nvSpPr>
              <p:spPr>
                <a:xfrm>
                  <a:off x="4047644" y="1264469"/>
                  <a:ext cx="1440301" cy="306720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2021.03~ </a:t>
                  </a:r>
                  <a:r>
                    <a:rPr lang="en-US" altLang="ko-KR" sz="1400" b="1" dirty="0" err="1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현재</a:t>
                  </a:r>
                  <a:endPara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Text 49"/>
                <p:cNvSpPr txBox="1"/>
                <p:nvPr/>
              </p:nvSpPr>
              <p:spPr>
                <a:xfrm>
                  <a:off x="5600928" y="1264469"/>
                  <a:ext cx="1861981" cy="26857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ko-KR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Nanum Gothic Coding" pitchFamily="34" charset="-122"/>
                      <a:cs typeface="Arial" panose="020B0604020202020204" pitchFamily="34" charset="0"/>
                    </a:rPr>
                    <a:t>동명대학교 재학</a:t>
                  </a:r>
                  <a:endParaRPr lang="en-US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00E8C3E9-0010-5BE3-7AE2-DB4F95ED5E5D}"/>
                </a:ext>
              </a:extLst>
            </p:cNvPr>
            <p:cNvGrpSpPr/>
            <p:nvPr/>
          </p:nvGrpSpPr>
          <p:grpSpPr>
            <a:xfrm>
              <a:off x="3423381" y="2184790"/>
              <a:ext cx="3990228" cy="2866445"/>
              <a:chOff x="4047644" y="2197934"/>
              <a:chExt cx="3751656" cy="2904875"/>
            </a:xfrm>
          </p:grpSpPr>
          <p:sp>
            <p:nvSpPr>
              <p:cNvPr id="57" name="Text 50"/>
              <p:cNvSpPr txBox="1"/>
              <p:nvPr/>
            </p:nvSpPr>
            <p:spPr>
              <a:xfrm>
                <a:off x="4047644" y="2197934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활동</a:t>
                </a:r>
                <a:endParaRPr lang="en-US" dirty="0"/>
              </a:p>
            </p:txBody>
          </p: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F96585EE-0C50-31C9-91B8-7289318C5D5D}"/>
                  </a:ext>
                </a:extLst>
              </p:cNvPr>
              <p:cNvGrpSpPr/>
              <p:nvPr/>
            </p:nvGrpSpPr>
            <p:grpSpPr>
              <a:xfrm>
                <a:off x="4047644" y="2509185"/>
                <a:ext cx="3617387" cy="342161"/>
                <a:chOff x="4047644" y="2509185"/>
                <a:chExt cx="3617387" cy="342161"/>
              </a:xfrm>
            </p:grpSpPr>
            <p:sp>
              <p:nvSpPr>
                <p:cNvPr id="23" name="Shape 16"/>
                <p:cNvSpPr/>
                <p:nvPr/>
              </p:nvSpPr>
              <p:spPr>
                <a:xfrm>
                  <a:off x="4047644" y="2509185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 ~ </a:t>
                  </a:r>
                  <a:r>
                    <a:rPr lang="ko-KR" altLang="en-US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현재</a:t>
                  </a:r>
                </a:p>
              </p:txBody>
            </p:sp>
            <p:sp>
              <p:nvSpPr>
                <p:cNvPr id="59" name="Text 52"/>
                <p:cNvSpPr txBox="1"/>
                <p:nvPr/>
              </p:nvSpPr>
              <p:spPr>
                <a:xfrm>
                  <a:off x="5628972" y="2509185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UpTrand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동아리 활동</a:t>
                  </a:r>
                  <a:endParaRPr lang="en-US" sz="1200" dirty="0"/>
                </a:p>
              </p:txBody>
            </p:sp>
          </p:grpSp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338738FD-536B-3F2A-52D3-7F7352941081}"/>
                  </a:ext>
                </a:extLst>
              </p:cNvPr>
              <p:cNvGrpSpPr/>
              <p:nvPr/>
            </p:nvGrpSpPr>
            <p:grpSpPr>
              <a:xfrm>
                <a:off x="4047644" y="2884186"/>
                <a:ext cx="3583246" cy="342161"/>
                <a:chOff x="4047644" y="2884186"/>
                <a:chExt cx="3583246" cy="342161"/>
              </a:xfrm>
            </p:grpSpPr>
            <p:sp>
              <p:nvSpPr>
                <p:cNvPr id="24" name="Shape 17"/>
                <p:cNvSpPr/>
                <p:nvPr/>
              </p:nvSpPr>
              <p:spPr>
                <a:xfrm>
                  <a:off x="4047644" y="2884186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100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2025.03 ~ 2026.03</a:t>
                  </a:r>
                  <a:endParaRPr lang="en-US" altLang="ko-KR" sz="11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Text 54"/>
                <p:cNvSpPr txBox="1"/>
                <p:nvPr/>
              </p:nvSpPr>
              <p:spPr>
                <a:xfrm>
                  <a:off x="5594831" y="2884186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UpTrand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동아리 회장 운영</a:t>
                  </a:r>
                  <a:endParaRPr lang="en-US" sz="1200" dirty="0"/>
                </a:p>
              </p:txBody>
            </p:sp>
          </p:grp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27FED955-0C20-A425-6E01-123FBE718533}"/>
                  </a:ext>
                </a:extLst>
              </p:cNvPr>
              <p:cNvGrpSpPr/>
              <p:nvPr/>
            </p:nvGrpSpPr>
            <p:grpSpPr>
              <a:xfrm>
                <a:off x="4047644" y="3259187"/>
                <a:ext cx="3617387" cy="342161"/>
                <a:chOff x="4047644" y="3259187"/>
                <a:chExt cx="3617387" cy="342161"/>
              </a:xfrm>
            </p:grpSpPr>
            <p:sp>
              <p:nvSpPr>
                <p:cNvPr id="25" name="Shape 18"/>
                <p:cNvSpPr/>
                <p:nvPr/>
              </p:nvSpPr>
              <p:spPr>
                <a:xfrm>
                  <a:off x="4047644" y="3259187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2026.01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Text 56"/>
                <p:cNvSpPr txBox="1"/>
                <p:nvPr/>
              </p:nvSpPr>
              <p:spPr>
                <a:xfrm>
                  <a:off x="5628972" y="3259187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MACH GAME JAM</a:t>
                  </a:r>
                  <a:endParaRPr lang="en-US" sz="1200" dirty="0"/>
                </a:p>
              </p:txBody>
            </p:sp>
          </p:grp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8FF04F8F-9FBF-423F-EED0-F2A99347BE3C}"/>
                  </a:ext>
                </a:extLst>
              </p:cNvPr>
              <p:cNvGrpSpPr/>
              <p:nvPr/>
            </p:nvGrpSpPr>
            <p:grpSpPr>
              <a:xfrm>
                <a:off x="4047644" y="3634186"/>
                <a:ext cx="3610048" cy="342161"/>
                <a:chOff x="4047644" y="3634186"/>
                <a:chExt cx="3610048" cy="342161"/>
              </a:xfrm>
            </p:grpSpPr>
            <p:sp>
              <p:nvSpPr>
                <p:cNvPr id="26" name="Shape 19"/>
                <p:cNvSpPr/>
                <p:nvPr/>
              </p:nvSpPr>
              <p:spPr>
                <a:xfrm>
                  <a:off x="4047644" y="3634186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2026.01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Text 58"/>
                <p:cNvSpPr txBox="1"/>
                <p:nvPr/>
              </p:nvSpPr>
              <p:spPr>
                <a:xfrm>
                  <a:off x="5621633" y="3634186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GGJ 글로벌 게임잼</a:t>
                  </a:r>
                  <a:endParaRPr lang="en-US" sz="1200" dirty="0"/>
                </a:p>
              </p:txBody>
            </p:sp>
          </p:grpSp>
          <p:grpSp>
            <p:nvGrpSpPr>
              <p:cNvPr id="226" name="그룹 225">
                <a:extLst>
                  <a:ext uri="{FF2B5EF4-FFF2-40B4-BE49-F238E27FC236}">
                    <a16:creationId xmlns:a16="http://schemas.microsoft.com/office/drawing/2014/main" id="{51AB0727-E023-223E-CAAC-4E7523B74A32}"/>
                  </a:ext>
                </a:extLst>
              </p:cNvPr>
              <p:cNvGrpSpPr/>
              <p:nvPr/>
            </p:nvGrpSpPr>
            <p:grpSpPr>
              <a:xfrm>
                <a:off x="4047644" y="4009187"/>
                <a:ext cx="3751656" cy="342161"/>
                <a:chOff x="4047644" y="4009187"/>
                <a:chExt cx="3751656" cy="342161"/>
              </a:xfrm>
            </p:grpSpPr>
            <p:sp>
              <p:nvSpPr>
                <p:cNvPr id="27" name="Shape 20"/>
                <p:cNvSpPr/>
                <p:nvPr/>
              </p:nvSpPr>
              <p:spPr>
                <a:xfrm>
                  <a:off x="4047644" y="4009187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2025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Text 60"/>
                <p:cNvSpPr txBox="1"/>
                <p:nvPr/>
              </p:nvSpPr>
              <p:spPr>
                <a:xfrm>
                  <a:off x="5617557" y="4009187"/>
                  <a:ext cx="2181743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서울 코믹 월드 인디 부스 참여</a:t>
                  </a:r>
                  <a:endParaRPr lang="en-US" sz="1200" dirty="0"/>
                </a:p>
              </p:txBody>
            </p:sp>
          </p:grp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437FD499-AB2B-40CE-C1A0-1907F9A20E6A}"/>
                  </a:ext>
                </a:extLst>
              </p:cNvPr>
              <p:cNvGrpSpPr/>
              <p:nvPr/>
            </p:nvGrpSpPr>
            <p:grpSpPr>
              <a:xfrm>
                <a:off x="4047644" y="4375509"/>
                <a:ext cx="3501217" cy="364405"/>
                <a:chOff x="4047644" y="4375509"/>
                <a:chExt cx="3501217" cy="364405"/>
              </a:xfrm>
            </p:grpSpPr>
            <p:sp>
              <p:nvSpPr>
                <p:cNvPr id="28" name="Shape 21"/>
                <p:cNvSpPr/>
                <p:nvPr/>
              </p:nvSpPr>
              <p:spPr>
                <a:xfrm>
                  <a:off x="4047644" y="4384185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2025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Text 62"/>
                <p:cNvSpPr txBox="1"/>
                <p:nvPr/>
              </p:nvSpPr>
              <p:spPr>
                <a:xfrm>
                  <a:off x="5612106" y="4375509"/>
                  <a:ext cx="1936755" cy="3644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지스타 학교 부스 전시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참여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,</a:t>
                  </a:r>
                  <a:r>
                    <a:rPr lang="en-US" sz="1200" dirty="0"/>
                    <a:t>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인디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쇼케이스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부스 참여</a:t>
                  </a:r>
                  <a:endParaRPr lang="en-US" sz="1200" dirty="0"/>
                </a:p>
              </p:txBody>
            </p:sp>
          </p:grpSp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AB74FE13-ADFD-15A0-F59F-75F302074564}"/>
                  </a:ext>
                </a:extLst>
              </p:cNvPr>
              <p:cNvGrpSpPr/>
              <p:nvPr/>
            </p:nvGrpSpPr>
            <p:grpSpPr>
              <a:xfrm>
                <a:off x="4047644" y="4760648"/>
                <a:ext cx="3605972" cy="342161"/>
                <a:chOff x="4047644" y="4760648"/>
                <a:chExt cx="3605972" cy="342161"/>
              </a:xfrm>
            </p:grpSpPr>
            <p:sp>
              <p:nvSpPr>
                <p:cNvPr id="29" name="Shape 22"/>
                <p:cNvSpPr/>
                <p:nvPr/>
              </p:nvSpPr>
              <p:spPr>
                <a:xfrm>
                  <a:off x="4047644" y="4760648"/>
                  <a:ext cx="1439349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Text 64"/>
                <p:cNvSpPr txBox="1"/>
                <p:nvPr/>
              </p:nvSpPr>
              <p:spPr>
                <a:xfrm>
                  <a:off x="5617557" y="4809253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지스타 학교 부스 전시 참여</a:t>
                  </a:r>
                  <a:endParaRPr lang="en-US" sz="1200" dirty="0"/>
                </a:p>
              </p:txBody>
            </p:sp>
          </p:grp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1A70E870-BA2D-E084-9248-FCEA6833DECB}"/>
                </a:ext>
              </a:extLst>
            </p:cNvPr>
            <p:cNvGrpSpPr/>
            <p:nvPr/>
          </p:nvGrpSpPr>
          <p:grpSpPr>
            <a:xfrm>
              <a:off x="3423381" y="5215105"/>
              <a:ext cx="3698859" cy="716909"/>
              <a:chOff x="4047644" y="5268877"/>
              <a:chExt cx="3477707" cy="726520"/>
            </a:xfrm>
          </p:grpSpPr>
          <p:sp>
            <p:nvSpPr>
              <p:cNvPr id="72" name="Text 65"/>
              <p:cNvSpPr txBox="1"/>
              <p:nvPr/>
            </p:nvSpPr>
            <p:spPr>
              <a:xfrm>
                <a:off x="4047644" y="5268877"/>
                <a:ext cx="3477707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기술</a:t>
                </a:r>
                <a:endParaRPr lang="en-US" sz="1500" dirty="0"/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10150861-1FBB-AEB6-3908-AFDD642A9CE3}"/>
                  </a:ext>
                </a:extLst>
              </p:cNvPr>
              <p:cNvGrpSpPr/>
              <p:nvPr/>
            </p:nvGrpSpPr>
            <p:grpSpPr>
              <a:xfrm>
                <a:off x="4078697" y="5567351"/>
                <a:ext cx="397752" cy="428046"/>
                <a:chOff x="4078697" y="5567351"/>
                <a:chExt cx="397752" cy="428046"/>
              </a:xfrm>
            </p:grpSpPr>
            <p:sp>
              <p:nvSpPr>
                <p:cNvPr id="30" name="Shape 23"/>
                <p:cNvSpPr/>
                <p:nvPr/>
              </p:nvSpPr>
              <p:spPr>
                <a:xfrm>
                  <a:off x="4078697" y="5567351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3" name="Text 66"/>
                <p:cNvSpPr txBox="1"/>
                <p:nvPr/>
              </p:nvSpPr>
              <p:spPr>
                <a:xfrm>
                  <a:off x="4183623" y="5615596"/>
                  <a:ext cx="188861" cy="33155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900" b="1" dirty="0">
                      <a:solidFill>
                        <a:srgbClr val="00599C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C</a:t>
                  </a:r>
                  <a:endParaRPr lang="en-US" sz="1900" dirty="0"/>
                </a:p>
              </p:txBody>
            </p:sp>
          </p:grpSp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41BDF65E-E3F1-CF63-2A3C-1A4567E6D8F0}"/>
                  </a:ext>
                </a:extLst>
              </p:cNvPr>
              <p:cNvGrpSpPr/>
              <p:nvPr/>
            </p:nvGrpSpPr>
            <p:grpSpPr>
              <a:xfrm>
                <a:off x="4574696" y="5567351"/>
                <a:ext cx="397752" cy="428046"/>
                <a:chOff x="4574696" y="5567351"/>
                <a:chExt cx="397752" cy="428046"/>
              </a:xfrm>
            </p:grpSpPr>
            <p:sp>
              <p:nvSpPr>
                <p:cNvPr id="31" name="Shape 24"/>
                <p:cNvSpPr/>
                <p:nvPr/>
              </p:nvSpPr>
              <p:spPr>
                <a:xfrm>
                  <a:off x="4574696" y="5567351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74" name="Image 5" descr="gen-dedup-fc2647d0e6014f880e8fdd19e327decc.png"/>
                <p:cNvPicPr>
                  <a:picLocks noChangeAspect="1"/>
                </p:cNvPicPr>
                <p:nvPr/>
              </p:nvPicPr>
              <p:blipFill>
                <a:blip r:embed="rId6"/>
                <a:srcRect l="-7143" r="-7143"/>
                <a:stretch/>
              </p:blipFill>
              <p:spPr>
                <a:xfrm>
                  <a:off x="4624298" y="5621755"/>
                  <a:ext cx="298552" cy="321291"/>
                </a:xfrm>
                <a:prstGeom prst="rect">
                  <a:avLst/>
                </a:prstGeom>
              </p:spPr>
            </p:pic>
          </p:grp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913E7036-92A1-A9E5-2931-2E517A70360D}"/>
                  </a:ext>
                </a:extLst>
              </p:cNvPr>
              <p:cNvGrpSpPr/>
              <p:nvPr/>
            </p:nvGrpSpPr>
            <p:grpSpPr>
              <a:xfrm>
                <a:off x="5071647" y="5567351"/>
                <a:ext cx="397752" cy="428046"/>
                <a:chOff x="5071647" y="5567351"/>
                <a:chExt cx="397752" cy="428046"/>
              </a:xfrm>
            </p:grpSpPr>
            <p:sp>
              <p:nvSpPr>
                <p:cNvPr id="32" name="Shape 25"/>
                <p:cNvSpPr/>
                <p:nvPr/>
              </p:nvSpPr>
              <p:spPr>
                <a:xfrm>
                  <a:off x="5071647" y="5567351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5" name="Text 67"/>
                <p:cNvSpPr txBox="1"/>
                <p:nvPr/>
              </p:nvSpPr>
              <p:spPr>
                <a:xfrm>
                  <a:off x="5143187" y="5658709"/>
                  <a:ext cx="258491" cy="24635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500" b="1" dirty="0">
                      <a:solidFill>
                        <a:srgbClr val="5C2D91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C#</a:t>
                  </a:r>
                  <a:endParaRPr lang="en-US" sz="1500" dirty="0"/>
                </a:p>
              </p:txBody>
            </p:sp>
          </p:grpSp>
          <p:grpSp>
            <p:nvGrpSpPr>
              <p:cNvPr id="243" name="그룹 242">
                <a:extLst>
                  <a:ext uri="{FF2B5EF4-FFF2-40B4-BE49-F238E27FC236}">
                    <a16:creationId xmlns:a16="http://schemas.microsoft.com/office/drawing/2014/main" id="{1153CA37-9DF0-8D67-8F4D-412C855CF4CE}"/>
                  </a:ext>
                </a:extLst>
              </p:cNvPr>
              <p:cNvGrpSpPr/>
              <p:nvPr/>
            </p:nvGrpSpPr>
            <p:grpSpPr>
              <a:xfrm>
                <a:off x="6017100" y="5557600"/>
                <a:ext cx="397752" cy="428046"/>
                <a:chOff x="6017100" y="5557600"/>
                <a:chExt cx="397752" cy="428046"/>
              </a:xfrm>
            </p:grpSpPr>
            <p:sp>
              <p:nvSpPr>
                <p:cNvPr id="33" name="Shape 26"/>
                <p:cNvSpPr/>
                <p:nvPr/>
              </p:nvSpPr>
              <p:spPr>
                <a:xfrm>
                  <a:off x="6017100" y="5557600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76" name="Image 6" descr="gen-dedup-a38bbb54004a611ce4bf74e5fb0ad39a.png"/>
                <p:cNvPicPr>
                  <a:picLocks noChangeAspect="1"/>
                </p:cNvPicPr>
                <p:nvPr/>
              </p:nvPicPr>
              <p:blipFill>
                <a:blip r:embed="rId7"/>
                <a:srcRect l="-7143" r="-7143"/>
                <a:stretch/>
              </p:blipFill>
              <p:spPr>
                <a:xfrm>
                  <a:off x="6066701" y="5610978"/>
                  <a:ext cx="298552" cy="321291"/>
                </a:xfrm>
                <a:prstGeom prst="rect">
                  <a:avLst/>
                </a:prstGeom>
              </p:spPr>
            </p:pic>
          </p:grp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382CB9D1-7906-1BDE-9973-0AE7ED6BE0BB}"/>
                  </a:ext>
                </a:extLst>
              </p:cNvPr>
              <p:cNvGrpSpPr/>
              <p:nvPr/>
            </p:nvGrpSpPr>
            <p:grpSpPr>
              <a:xfrm>
                <a:off x="5559868" y="5557600"/>
                <a:ext cx="397752" cy="428046"/>
                <a:chOff x="5559868" y="5557600"/>
                <a:chExt cx="397752" cy="428046"/>
              </a:xfrm>
            </p:grpSpPr>
            <p:sp>
              <p:nvSpPr>
                <p:cNvPr id="34" name="Shape 27"/>
                <p:cNvSpPr/>
                <p:nvPr/>
              </p:nvSpPr>
              <p:spPr>
                <a:xfrm>
                  <a:off x="5559868" y="5557600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7" name="Text 68"/>
                <p:cNvSpPr txBox="1"/>
                <p:nvPr/>
              </p:nvSpPr>
              <p:spPr>
                <a:xfrm>
                  <a:off x="5608513" y="5675647"/>
                  <a:ext cx="308091" cy="1929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b="1" dirty="0">
                      <a:solidFill>
                        <a:srgbClr val="00599C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C++</a:t>
                  </a:r>
                  <a:endParaRPr lang="en-US" sz="1200" dirty="0"/>
                </a:p>
              </p:txBody>
            </p:sp>
          </p:grpSp>
        </p:grp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3328CC0A-02FA-335E-7BC4-08E15BD759EF}"/>
                </a:ext>
              </a:extLst>
            </p:cNvPr>
            <p:cNvGrpSpPr/>
            <p:nvPr/>
          </p:nvGrpSpPr>
          <p:grpSpPr>
            <a:xfrm>
              <a:off x="7673535" y="937826"/>
              <a:ext cx="3807450" cy="1086586"/>
              <a:chOff x="8043685" y="934252"/>
              <a:chExt cx="3579806" cy="1101154"/>
            </a:xfrm>
          </p:grpSpPr>
          <p:sp>
            <p:nvSpPr>
              <p:cNvPr id="78" name="Text 69"/>
              <p:cNvSpPr txBox="1"/>
              <p:nvPr/>
            </p:nvSpPr>
            <p:spPr>
              <a:xfrm>
                <a:off x="8043685" y="934252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자격증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C958BB30-49D2-14AF-A337-BDC9E4DBD92D}"/>
                  </a:ext>
                </a:extLst>
              </p:cNvPr>
              <p:cNvGrpSpPr/>
              <p:nvPr/>
            </p:nvGrpSpPr>
            <p:grpSpPr>
              <a:xfrm>
                <a:off x="8043685" y="1264469"/>
                <a:ext cx="3579806" cy="342161"/>
                <a:chOff x="8043685" y="1264469"/>
                <a:chExt cx="3579806" cy="342161"/>
              </a:xfrm>
            </p:grpSpPr>
            <p:sp>
              <p:nvSpPr>
                <p:cNvPr id="35" name="Shape 28"/>
                <p:cNvSpPr/>
                <p:nvPr/>
              </p:nvSpPr>
              <p:spPr>
                <a:xfrm>
                  <a:off x="8043685" y="1264469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2023.04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Text 71"/>
                <p:cNvSpPr txBox="1"/>
                <p:nvPr/>
              </p:nvSpPr>
              <p:spPr>
                <a:xfrm>
                  <a:off x="9089134" y="1264469"/>
                  <a:ext cx="2534357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정보처리기능사</a:t>
                  </a:r>
                  <a:endParaRPr lang="en-US" sz="1200" dirty="0"/>
                </a:p>
              </p:txBody>
            </p:sp>
          </p:grpSp>
          <p:grpSp>
            <p:nvGrpSpPr>
              <p:cNvPr id="217" name="그룹 216">
                <a:extLst>
                  <a:ext uri="{FF2B5EF4-FFF2-40B4-BE49-F238E27FC236}">
                    <a16:creationId xmlns:a16="http://schemas.microsoft.com/office/drawing/2014/main" id="{6BCE95C8-F5DA-6B25-2D0B-27A8EF70BC2B}"/>
                  </a:ext>
                </a:extLst>
              </p:cNvPr>
              <p:cNvGrpSpPr/>
              <p:nvPr/>
            </p:nvGrpSpPr>
            <p:grpSpPr>
              <a:xfrm>
                <a:off x="8043685" y="1693245"/>
                <a:ext cx="3579806" cy="342161"/>
                <a:chOff x="8043685" y="1647181"/>
                <a:chExt cx="3579806" cy="342161"/>
              </a:xfrm>
            </p:grpSpPr>
            <p:sp>
              <p:nvSpPr>
                <p:cNvPr id="36" name="Shape 29"/>
                <p:cNvSpPr/>
                <p:nvPr/>
              </p:nvSpPr>
              <p:spPr>
                <a:xfrm>
                  <a:off x="8043685" y="1647181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2024.09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" name="Text 73"/>
                <p:cNvSpPr txBox="1"/>
                <p:nvPr/>
              </p:nvSpPr>
              <p:spPr>
                <a:xfrm>
                  <a:off x="9089134" y="1647972"/>
                  <a:ext cx="2534357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프롬프트 디자이너</a:t>
                  </a:r>
                  <a:endParaRPr lang="en-US" sz="1200" dirty="0"/>
                </a:p>
              </p:txBody>
            </p:sp>
          </p:grpSp>
        </p:grp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3C98023C-FDFD-DF15-44B3-5959E9830BEC}"/>
                </a:ext>
              </a:extLst>
            </p:cNvPr>
            <p:cNvGrpSpPr/>
            <p:nvPr/>
          </p:nvGrpSpPr>
          <p:grpSpPr>
            <a:xfrm>
              <a:off x="7673535" y="2184790"/>
              <a:ext cx="4014409" cy="2494962"/>
              <a:chOff x="8043685" y="2197934"/>
              <a:chExt cx="3774391" cy="2528412"/>
            </a:xfrm>
          </p:grpSpPr>
          <p:sp>
            <p:nvSpPr>
              <p:cNvPr id="83" name="Text 74"/>
              <p:cNvSpPr txBox="1"/>
              <p:nvPr/>
            </p:nvSpPr>
            <p:spPr>
              <a:xfrm>
                <a:off x="8043685" y="2197934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수상이력</a:t>
                </a:r>
                <a:endParaRPr lang="en-US" dirty="0"/>
              </a:p>
            </p:txBody>
          </p:sp>
          <p:grpSp>
            <p:nvGrpSpPr>
              <p:cNvPr id="230" name="그룹 229">
                <a:extLst>
                  <a:ext uri="{FF2B5EF4-FFF2-40B4-BE49-F238E27FC236}">
                    <a16:creationId xmlns:a16="http://schemas.microsoft.com/office/drawing/2014/main" id="{4081792D-15D6-19EF-003F-B2F60E0817BD}"/>
                  </a:ext>
                </a:extLst>
              </p:cNvPr>
              <p:cNvGrpSpPr/>
              <p:nvPr/>
            </p:nvGrpSpPr>
            <p:grpSpPr>
              <a:xfrm>
                <a:off x="8072341" y="2509185"/>
                <a:ext cx="3726658" cy="342161"/>
                <a:chOff x="8072341" y="2509185"/>
                <a:chExt cx="3726658" cy="342161"/>
              </a:xfrm>
            </p:grpSpPr>
            <p:sp>
              <p:nvSpPr>
                <p:cNvPr id="37" name="Shape 30"/>
                <p:cNvSpPr/>
                <p:nvPr/>
              </p:nvSpPr>
              <p:spPr>
                <a:xfrm>
                  <a:off x="8072341" y="2509185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2025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Text 76"/>
                <p:cNvSpPr txBox="1"/>
                <p:nvPr/>
              </p:nvSpPr>
              <p:spPr>
                <a:xfrm>
                  <a:off x="9115843" y="2509185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제3회 TU Game Challenge 우수상</a:t>
                  </a:r>
                  <a:endParaRPr lang="en-US" sz="1200" dirty="0"/>
                </a:p>
              </p:txBody>
            </p:sp>
          </p:grp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D01DD39A-B55F-37C0-235D-35B0EAB1015F}"/>
                  </a:ext>
                </a:extLst>
              </p:cNvPr>
              <p:cNvGrpSpPr/>
              <p:nvPr/>
            </p:nvGrpSpPr>
            <p:grpSpPr>
              <a:xfrm>
                <a:off x="8072341" y="2884186"/>
                <a:ext cx="3726658" cy="364405"/>
                <a:chOff x="8072341" y="2884186"/>
                <a:chExt cx="3726658" cy="364405"/>
              </a:xfrm>
            </p:grpSpPr>
            <p:sp>
              <p:nvSpPr>
                <p:cNvPr id="38" name="Shape 31"/>
                <p:cNvSpPr/>
                <p:nvPr/>
              </p:nvSpPr>
              <p:spPr>
                <a:xfrm>
                  <a:off x="8072341" y="2884186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87" name="Text 78"/>
                <p:cNvSpPr txBox="1"/>
                <p:nvPr/>
              </p:nvSpPr>
              <p:spPr>
                <a:xfrm>
                  <a:off x="9115843" y="2884186"/>
                  <a:ext cx="2683156" cy="3644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지스타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인디어워즈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Best</a:t>
                  </a:r>
                  <a:r>
                    <a:rPr lang="en-US" sz="12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Experimental Game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32" name="그룹 231">
                <a:extLst>
                  <a:ext uri="{FF2B5EF4-FFF2-40B4-BE49-F238E27FC236}">
                    <a16:creationId xmlns:a16="http://schemas.microsoft.com/office/drawing/2014/main" id="{7A8F0AA2-9212-3649-7E8F-33E5077D6477}"/>
                  </a:ext>
                </a:extLst>
              </p:cNvPr>
              <p:cNvGrpSpPr/>
              <p:nvPr/>
            </p:nvGrpSpPr>
            <p:grpSpPr>
              <a:xfrm>
                <a:off x="8072341" y="3259187"/>
                <a:ext cx="3726658" cy="342161"/>
                <a:chOff x="8072341" y="3259187"/>
                <a:chExt cx="3726658" cy="342161"/>
              </a:xfrm>
            </p:grpSpPr>
            <p:sp>
              <p:nvSpPr>
                <p:cNvPr id="39" name="Shape 32"/>
                <p:cNvSpPr/>
                <p:nvPr/>
              </p:nvSpPr>
              <p:spPr>
                <a:xfrm>
                  <a:off x="8072341" y="3259187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89" name="Text 80"/>
                <p:cNvSpPr txBox="1"/>
                <p:nvPr/>
              </p:nvSpPr>
              <p:spPr>
                <a:xfrm>
                  <a:off x="9115843" y="3259187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창업아이디어 경진대회 우수상</a:t>
                  </a:r>
                  <a:endParaRPr lang="en-US" sz="1200" dirty="0"/>
                </a:p>
              </p:txBody>
            </p:sp>
          </p:grpSp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0FAFA8E5-896E-37AD-2A82-A378723C82DD}"/>
                  </a:ext>
                </a:extLst>
              </p:cNvPr>
              <p:cNvGrpSpPr/>
              <p:nvPr/>
            </p:nvGrpSpPr>
            <p:grpSpPr>
              <a:xfrm>
                <a:off x="8072341" y="3634186"/>
                <a:ext cx="3726656" cy="342161"/>
                <a:chOff x="8072341" y="3634186"/>
                <a:chExt cx="3726656" cy="342161"/>
              </a:xfrm>
            </p:grpSpPr>
            <p:sp>
              <p:nvSpPr>
                <p:cNvPr id="40" name="Shape 33"/>
                <p:cNvSpPr/>
                <p:nvPr/>
              </p:nvSpPr>
              <p:spPr>
                <a:xfrm>
                  <a:off x="8072341" y="3634186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91" name="Text 82"/>
                <p:cNvSpPr txBox="1"/>
                <p:nvPr/>
              </p:nvSpPr>
              <p:spPr>
                <a:xfrm>
                  <a:off x="9115841" y="3634186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부산지역인재 장학금 IT분야 수여</a:t>
                  </a:r>
                  <a:endParaRPr lang="en-US" sz="1200" dirty="0"/>
                </a:p>
              </p:txBody>
            </p: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654A73BF-56DE-B303-08DB-807AD0618151}"/>
                  </a:ext>
                </a:extLst>
              </p:cNvPr>
              <p:cNvGrpSpPr/>
              <p:nvPr/>
            </p:nvGrpSpPr>
            <p:grpSpPr>
              <a:xfrm>
                <a:off x="8072341" y="4009187"/>
                <a:ext cx="3726656" cy="342161"/>
                <a:chOff x="8072341" y="4009187"/>
                <a:chExt cx="3726656" cy="342161"/>
              </a:xfrm>
            </p:grpSpPr>
            <p:sp>
              <p:nvSpPr>
                <p:cNvPr id="41" name="Shape 34"/>
                <p:cNvSpPr/>
                <p:nvPr/>
              </p:nvSpPr>
              <p:spPr>
                <a:xfrm>
                  <a:off x="8072341" y="4009187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93" name="Text 84"/>
                <p:cNvSpPr txBox="1"/>
                <p:nvPr/>
              </p:nvSpPr>
              <p:spPr>
                <a:xfrm>
                  <a:off x="9115841" y="4009187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대동장학재단 장학금 수여</a:t>
                  </a:r>
                  <a:endParaRPr lang="en-US" sz="1200" dirty="0"/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EFADA170-C630-AE76-72BC-8623AA2C2FB9}"/>
                  </a:ext>
                </a:extLst>
              </p:cNvPr>
              <p:cNvGrpSpPr/>
              <p:nvPr/>
            </p:nvGrpSpPr>
            <p:grpSpPr>
              <a:xfrm>
                <a:off x="8072341" y="4384185"/>
                <a:ext cx="3745735" cy="342161"/>
                <a:chOff x="8072341" y="4384185"/>
                <a:chExt cx="3745735" cy="342161"/>
              </a:xfrm>
            </p:grpSpPr>
            <p:sp>
              <p:nvSpPr>
                <p:cNvPr id="42" name="Shape 35"/>
                <p:cNvSpPr/>
                <p:nvPr/>
              </p:nvSpPr>
              <p:spPr>
                <a:xfrm>
                  <a:off x="8072341" y="4384185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2021</a:t>
                  </a:r>
                  <a:endParaRPr lang="ko-KR" altLang="en-US" sz="1400" b="1" dirty="0"/>
                </a:p>
              </p:txBody>
            </p:sp>
            <p:sp>
              <p:nvSpPr>
                <p:cNvPr id="95" name="Text 86"/>
                <p:cNvSpPr txBox="1"/>
                <p:nvPr/>
              </p:nvSpPr>
              <p:spPr>
                <a:xfrm>
                  <a:off x="9134920" y="4384185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TU-SEED 리빙랩 경진대회 입상</a:t>
                  </a:r>
                  <a:endParaRPr lang="en-US" sz="1200" dirty="0"/>
                </a:p>
              </p:txBody>
            </p:sp>
          </p:grp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ED1AACE-9D40-4D5E-A10A-B9395CD9B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2719" y="915759"/>
              <a:ext cx="1988712" cy="2498927"/>
            </a:xfrm>
            <a:prstGeom prst="rect">
              <a:avLst/>
            </a:prstGeom>
          </p:spPr>
        </p:pic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F4D08E8-079E-1D9B-FB02-DFBAE29A032D}"/>
                </a:ext>
              </a:extLst>
            </p:cNvPr>
            <p:cNvGrpSpPr/>
            <p:nvPr/>
          </p:nvGrpSpPr>
          <p:grpSpPr>
            <a:xfrm>
              <a:off x="687994" y="3866235"/>
              <a:ext cx="2559848" cy="1451158"/>
              <a:chOff x="687994" y="3866235"/>
              <a:chExt cx="2559848" cy="1451158"/>
            </a:xfrm>
          </p:grpSpPr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C572F4E2-24DA-DA13-77E8-FA473EB968E3}"/>
                  </a:ext>
                </a:extLst>
              </p:cNvPr>
              <p:cNvGrpSpPr/>
              <p:nvPr/>
            </p:nvGrpSpPr>
            <p:grpSpPr>
              <a:xfrm>
                <a:off x="687994" y="3866235"/>
                <a:ext cx="2431328" cy="1147373"/>
                <a:chOff x="1475803" y="4612674"/>
                <a:chExt cx="2285961" cy="1162755"/>
              </a:xfrm>
            </p:grpSpPr>
            <p:sp>
              <p:nvSpPr>
                <p:cNvPr id="47" name="Text 40"/>
                <p:cNvSpPr txBox="1"/>
                <p:nvPr/>
              </p:nvSpPr>
              <p:spPr>
                <a:xfrm>
                  <a:off x="1475803" y="4612674"/>
                  <a:ext cx="2186205" cy="21453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500" b="1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개인</a:t>
                  </a:r>
                  <a:r>
                    <a:rPr lang="en-US" sz="1500" b="1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</a:t>
                  </a:r>
                  <a:r>
                    <a:rPr lang="en-US" sz="1500" b="1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정보</a:t>
                  </a:r>
                  <a:endParaRPr lang="en-US" sz="1500" dirty="0"/>
                </a:p>
              </p:txBody>
            </p:sp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6CA92BF4-26E4-0FE1-CBA7-1F3CE89CFD74}"/>
                    </a:ext>
                  </a:extLst>
                </p:cNvPr>
                <p:cNvGrpSpPr/>
                <p:nvPr/>
              </p:nvGrpSpPr>
              <p:grpSpPr>
                <a:xfrm>
                  <a:off x="1475803" y="4996371"/>
                  <a:ext cx="1045968" cy="180617"/>
                  <a:chOff x="1475803" y="4996371"/>
                  <a:chExt cx="1045968" cy="180617"/>
                </a:xfrm>
              </p:grpSpPr>
              <p:sp>
                <p:nvSpPr>
                  <p:cNvPr id="48" name="Text 41"/>
                  <p:cNvSpPr txBox="1"/>
                  <p:nvPr/>
                </p:nvSpPr>
                <p:spPr>
                  <a:xfrm>
                    <a:off x="1475803" y="5015829"/>
                    <a:ext cx="596151" cy="16115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이름</a:t>
                    </a:r>
                    <a:endParaRPr lang="en-US" sz="1200" dirty="0"/>
                  </a:p>
                </p:txBody>
              </p:sp>
              <p:sp>
                <p:nvSpPr>
                  <p:cNvPr id="49" name="Text 42"/>
                  <p:cNvSpPr txBox="1"/>
                  <p:nvPr/>
                </p:nvSpPr>
                <p:spPr>
                  <a:xfrm>
                    <a:off x="2063927" y="4996371"/>
                    <a:ext cx="457844" cy="16115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b="1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이민혁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062662A7-BC4A-9F20-D91A-C87FF2EEDBBA}"/>
                    </a:ext>
                  </a:extLst>
                </p:cNvPr>
                <p:cNvGrpSpPr/>
                <p:nvPr/>
              </p:nvGrpSpPr>
              <p:grpSpPr>
                <a:xfrm>
                  <a:off x="1475803" y="5284813"/>
                  <a:ext cx="2285961" cy="190883"/>
                  <a:chOff x="1475803" y="5284813"/>
                  <a:chExt cx="2285961" cy="190883"/>
                </a:xfrm>
              </p:grpSpPr>
              <p:sp>
                <p:nvSpPr>
                  <p:cNvPr id="50" name="Text 43"/>
                  <p:cNvSpPr txBox="1"/>
                  <p:nvPr/>
                </p:nvSpPr>
                <p:spPr>
                  <a:xfrm>
                    <a:off x="1475803" y="5304273"/>
                    <a:ext cx="596151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이메일</a:t>
                    </a:r>
                    <a:endParaRPr lang="en-US" sz="1200" dirty="0"/>
                  </a:p>
                </p:txBody>
              </p:sp>
              <p:sp>
                <p:nvSpPr>
                  <p:cNvPr id="51" name="Text 44"/>
                  <p:cNvSpPr txBox="1"/>
                  <p:nvPr/>
                </p:nvSpPr>
                <p:spPr>
                  <a:xfrm>
                    <a:off x="2063926" y="5284813"/>
                    <a:ext cx="1697838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itchFamily="34" charset="-120"/>
                      </a:rPr>
                      <a:t>self4688@gmail.com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214" name="그룹 213">
                  <a:extLst>
                    <a:ext uri="{FF2B5EF4-FFF2-40B4-BE49-F238E27FC236}">
                      <a16:creationId xmlns:a16="http://schemas.microsoft.com/office/drawing/2014/main" id="{42323709-70F5-6D3F-3372-9FADA054AD44}"/>
                    </a:ext>
                  </a:extLst>
                </p:cNvPr>
                <p:cNvGrpSpPr/>
                <p:nvPr/>
              </p:nvGrpSpPr>
              <p:grpSpPr>
                <a:xfrm>
                  <a:off x="1475803" y="5584546"/>
                  <a:ext cx="1814763" cy="190883"/>
                  <a:chOff x="1475803" y="5584546"/>
                  <a:chExt cx="1814763" cy="190883"/>
                </a:xfrm>
              </p:grpSpPr>
              <p:sp>
                <p:nvSpPr>
                  <p:cNvPr id="52" name="Text 45"/>
                  <p:cNvSpPr txBox="1"/>
                  <p:nvPr/>
                </p:nvSpPr>
                <p:spPr>
                  <a:xfrm>
                    <a:off x="1475803" y="5604006"/>
                    <a:ext cx="596151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번호</a:t>
                    </a:r>
                    <a:endParaRPr lang="en-US" sz="1200" dirty="0"/>
                  </a:p>
                </p:txBody>
              </p:sp>
              <p:sp>
                <p:nvSpPr>
                  <p:cNvPr id="53" name="Text 46"/>
                  <p:cNvSpPr txBox="1"/>
                  <p:nvPr/>
                </p:nvSpPr>
                <p:spPr>
                  <a:xfrm>
                    <a:off x="2063926" y="5584546"/>
                    <a:ext cx="1226640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itchFamily="34" charset="-120"/>
                      </a:rPr>
                      <a:t>010-2058-3532</a:t>
                    </a:r>
                    <a:endParaRPr lang="en-US" sz="1200" dirty="0"/>
                  </a:p>
                </p:txBody>
              </p:sp>
            </p:grpSp>
          </p:grpSp>
          <p:sp>
            <p:nvSpPr>
              <p:cNvPr id="126" name="Text 45">
                <a:extLst>
                  <a:ext uri="{FF2B5EF4-FFF2-40B4-BE49-F238E27FC236}">
                    <a16:creationId xmlns:a16="http://schemas.microsoft.com/office/drawing/2014/main" id="{65BC8066-F5C7-4F87-8519-AAB4704A54EF}"/>
                  </a:ext>
                </a:extLst>
              </p:cNvPr>
              <p:cNvSpPr txBox="1"/>
              <p:nvPr/>
            </p:nvSpPr>
            <p:spPr>
              <a:xfrm>
                <a:off x="687994" y="5148238"/>
                <a:ext cx="634061" cy="169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sz="1200" dirty="0" err="1">
                    <a:solidFill>
                      <a:schemeClr val="bg1"/>
                    </a:solidFill>
                  </a:rPr>
                  <a:t>깃허브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Text 46">
                <a:extLst>
                  <a:ext uri="{FF2B5EF4-FFF2-40B4-BE49-F238E27FC236}">
                    <a16:creationId xmlns:a16="http://schemas.microsoft.com/office/drawing/2014/main" id="{F7EDE0FD-8D7C-4A88-A2EC-C89BD9E76E01}"/>
                  </a:ext>
                </a:extLst>
              </p:cNvPr>
              <p:cNvSpPr txBox="1"/>
              <p:nvPr/>
            </p:nvSpPr>
            <p:spPr>
              <a:xfrm>
                <a:off x="1313517" y="5129035"/>
                <a:ext cx="1934325" cy="169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itchFamily="34" charset="-122"/>
                    <a:cs typeface="Arial" pitchFamily="34" charset="-120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https://github.com/InfiSword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lang="en-US" sz="900" dirty="0"/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661626" y="166485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701182" y="1560309"/>
            <a:ext cx="10812027" cy="4648743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E65B657-856D-1E2A-31B9-614924527E31}"/>
              </a:ext>
            </a:extLst>
          </p:cNvPr>
          <p:cNvGrpSpPr/>
          <p:nvPr/>
        </p:nvGrpSpPr>
        <p:grpSpPr>
          <a:xfrm>
            <a:off x="681405" y="196889"/>
            <a:ext cx="10850641" cy="1372857"/>
            <a:chOff x="831321" y="26288"/>
            <a:chExt cx="10850641" cy="1372857"/>
          </a:xfrm>
        </p:grpSpPr>
        <p:sp>
          <p:nvSpPr>
            <p:cNvPr id="104" name="Shape 11">
              <a:extLst>
                <a:ext uri="{FF2B5EF4-FFF2-40B4-BE49-F238E27FC236}">
                  <a16:creationId xmlns:a16="http://schemas.microsoft.com/office/drawing/2014/main" id="{71A388DE-101E-4470-BFD4-A6A63EA671A5}"/>
                </a:ext>
              </a:extLst>
            </p:cNvPr>
            <p:cNvSpPr/>
            <p:nvPr/>
          </p:nvSpPr>
          <p:spPr>
            <a:xfrm>
              <a:off x="831321" y="26288"/>
              <a:ext cx="10850641" cy="29154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5" name="Image 5" descr="gen-dedup-23665c0bc8193eed4b19e05b81a508d3.png">
              <a:extLst>
                <a:ext uri="{FF2B5EF4-FFF2-40B4-BE49-F238E27FC236}">
                  <a16:creationId xmlns:a16="http://schemas.microsoft.com/office/drawing/2014/main" id="{2293A2AB-329A-4D4D-A2B3-1C7504C12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399" b="-399"/>
            <a:stretch/>
          </p:blipFill>
          <p:spPr>
            <a:xfrm>
              <a:off x="831321" y="567443"/>
              <a:ext cx="10850641" cy="41935"/>
            </a:xfrm>
            <a:prstGeom prst="rect">
              <a:avLst/>
            </a:prstGeom>
          </p:spPr>
        </p:pic>
        <p:sp>
          <p:nvSpPr>
            <p:cNvPr id="106" name="Shape 12">
              <a:extLst>
                <a:ext uri="{FF2B5EF4-FFF2-40B4-BE49-F238E27FC236}">
                  <a16:creationId xmlns:a16="http://schemas.microsoft.com/office/drawing/2014/main" id="{BF7862CB-A48A-41ED-BB49-4572C79D2442}"/>
                </a:ext>
              </a:extLst>
            </p:cNvPr>
            <p:cNvSpPr/>
            <p:nvPr/>
          </p:nvSpPr>
          <p:spPr>
            <a:xfrm>
              <a:off x="831321" y="588410"/>
              <a:ext cx="10850641" cy="41635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7" name="Image 6" descr="gen-dedup-23665c0bc8193eed4b19e05b81a508d3.png">
              <a:extLst>
                <a:ext uri="{FF2B5EF4-FFF2-40B4-BE49-F238E27FC236}">
                  <a16:creationId xmlns:a16="http://schemas.microsoft.com/office/drawing/2014/main" id="{20ABEAB4-CC5E-4191-B75F-C98135769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399" b="-399"/>
            <a:stretch/>
          </p:blipFill>
          <p:spPr>
            <a:xfrm>
              <a:off x="831321" y="1003762"/>
              <a:ext cx="10850641" cy="41935"/>
            </a:xfrm>
            <a:prstGeom prst="rect">
              <a:avLst/>
            </a:prstGeom>
          </p:spPr>
        </p:pic>
        <p:sp>
          <p:nvSpPr>
            <p:cNvPr id="108" name="Shape 13">
              <a:extLst>
                <a:ext uri="{FF2B5EF4-FFF2-40B4-BE49-F238E27FC236}">
                  <a16:creationId xmlns:a16="http://schemas.microsoft.com/office/drawing/2014/main" id="{778C56FF-CFDC-45C0-B015-6894EB626093}"/>
                </a:ext>
              </a:extLst>
            </p:cNvPr>
            <p:cNvSpPr/>
            <p:nvPr/>
          </p:nvSpPr>
          <p:spPr>
            <a:xfrm>
              <a:off x="831321" y="1024729"/>
              <a:ext cx="10850641" cy="332481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9" name="Image 7" descr="gen-dedup-23665c0bc8193eed4b19e05b81a508d3.png">
              <a:extLst>
                <a:ext uri="{FF2B5EF4-FFF2-40B4-BE49-F238E27FC236}">
                  <a16:creationId xmlns:a16="http://schemas.microsoft.com/office/drawing/2014/main" id="{8EAD3060-1BC9-4720-89D3-B2F118FDE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399" b="-399"/>
            <a:stretch/>
          </p:blipFill>
          <p:spPr>
            <a:xfrm>
              <a:off x="831321" y="1357210"/>
              <a:ext cx="10850641" cy="41935"/>
            </a:xfrm>
            <a:prstGeom prst="rect">
              <a:avLst/>
            </a:prstGeom>
          </p:spPr>
        </p:pic>
        <p:sp>
          <p:nvSpPr>
            <p:cNvPr id="113" name="Shape 17">
              <a:extLst>
                <a:ext uri="{FF2B5EF4-FFF2-40B4-BE49-F238E27FC236}">
                  <a16:creationId xmlns:a16="http://schemas.microsoft.com/office/drawing/2014/main" id="{91B29A68-FFAE-4CAE-892D-A568DC5821A1}"/>
                </a:ext>
              </a:extLst>
            </p:cNvPr>
            <p:cNvSpPr/>
            <p:nvPr/>
          </p:nvSpPr>
          <p:spPr>
            <a:xfrm>
              <a:off x="10838096" y="57239"/>
              <a:ext cx="215676" cy="22864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4" name="Shape 18">
              <a:extLst>
                <a:ext uri="{FF2B5EF4-FFF2-40B4-BE49-F238E27FC236}">
                  <a16:creationId xmlns:a16="http://schemas.microsoft.com/office/drawing/2014/main" id="{5ED4C68E-2927-4286-A306-85C476D8C2C7}"/>
                </a:ext>
              </a:extLst>
            </p:cNvPr>
            <p:cNvSpPr/>
            <p:nvPr/>
          </p:nvSpPr>
          <p:spPr>
            <a:xfrm>
              <a:off x="11132884" y="57239"/>
              <a:ext cx="215676" cy="22864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5" name="Shape 19">
              <a:extLst>
                <a:ext uri="{FF2B5EF4-FFF2-40B4-BE49-F238E27FC236}">
                  <a16:creationId xmlns:a16="http://schemas.microsoft.com/office/drawing/2014/main" id="{629F123C-82EE-47C3-9DC8-E100143135E9}"/>
                </a:ext>
              </a:extLst>
            </p:cNvPr>
            <p:cNvSpPr/>
            <p:nvPr/>
          </p:nvSpPr>
          <p:spPr>
            <a:xfrm>
              <a:off x="11426730" y="57239"/>
              <a:ext cx="215676" cy="22864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6" name="Text 20">
              <a:extLst>
                <a:ext uri="{FF2B5EF4-FFF2-40B4-BE49-F238E27FC236}">
                  <a16:creationId xmlns:a16="http://schemas.microsoft.com/office/drawing/2014/main" id="{299A98B0-9D78-41C5-8B65-6BDFCC859999}"/>
                </a:ext>
              </a:extLst>
            </p:cNvPr>
            <p:cNvSpPr txBox="1"/>
            <p:nvPr/>
          </p:nvSpPr>
          <p:spPr>
            <a:xfrm>
              <a:off x="867642" y="343792"/>
              <a:ext cx="2908322" cy="197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파일(F)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편집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(E)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보기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(V)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도구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(T)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도움말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(H)</a:t>
              </a:r>
              <a:endParaRPr lang="en-US" sz="900" dirty="0"/>
            </a:p>
          </p:txBody>
        </p:sp>
        <p:sp>
          <p:nvSpPr>
            <p:cNvPr id="117" name="Shape 21">
              <a:extLst>
                <a:ext uri="{FF2B5EF4-FFF2-40B4-BE49-F238E27FC236}">
                  <a16:creationId xmlns:a16="http://schemas.microsoft.com/office/drawing/2014/main" id="{BA430CC0-BC0A-472A-9F4E-CEDB0A52E19C}"/>
                </a:ext>
              </a:extLst>
            </p:cNvPr>
            <p:cNvSpPr/>
            <p:nvPr/>
          </p:nvSpPr>
          <p:spPr>
            <a:xfrm>
              <a:off x="910432" y="640329"/>
              <a:ext cx="313624" cy="33248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8" name="Shape 22">
              <a:extLst>
                <a:ext uri="{FF2B5EF4-FFF2-40B4-BE49-F238E27FC236}">
                  <a16:creationId xmlns:a16="http://schemas.microsoft.com/office/drawing/2014/main" id="{D0F1BAB3-55DD-4B90-9514-6377C02A9076}"/>
                </a:ext>
              </a:extLst>
            </p:cNvPr>
            <p:cNvSpPr/>
            <p:nvPr/>
          </p:nvSpPr>
          <p:spPr>
            <a:xfrm>
              <a:off x="1253253" y="640329"/>
              <a:ext cx="313624" cy="33248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9" name="Shape 23">
              <a:extLst>
                <a:ext uri="{FF2B5EF4-FFF2-40B4-BE49-F238E27FC236}">
                  <a16:creationId xmlns:a16="http://schemas.microsoft.com/office/drawing/2014/main" id="{413C9993-835C-4DCE-99EE-1A4B19C69446}"/>
                </a:ext>
              </a:extLst>
            </p:cNvPr>
            <p:cNvSpPr/>
            <p:nvPr/>
          </p:nvSpPr>
          <p:spPr>
            <a:xfrm>
              <a:off x="1597015" y="640329"/>
              <a:ext cx="313624" cy="33248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2" name="Shape 25">
              <a:extLst>
                <a:ext uri="{FF2B5EF4-FFF2-40B4-BE49-F238E27FC236}">
                  <a16:creationId xmlns:a16="http://schemas.microsoft.com/office/drawing/2014/main" id="{F3567888-8960-4D67-8893-94ED42CC31E1}"/>
                </a:ext>
              </a:extLst>
            </p:cNvPr>
            <p:cNvSpPr/>
            <p:nvPr/>
          </p:nvSpPr>
          <p:spPr>
            <a:xfrm>
              <a:off x="1499066" y="1066664"/>
              <a:ext cx="9320193" cy="24961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23" name="Shape 26">
              <a:extLst>
                <a:ext uri="{FF2B5EF4-FFF2-40B4-BE49-F238E27FC236}">
                  <a16:creationId xmlns:a16="http://schemas.microsoft.com/office/drawing/2014/main" id="{F9BE2189-0E78-419A-8C1A-57E458CD3185}"/>
                </a:ext>
              </a:extLst>
            </p:cNvPr>
            <p:cNvSpPr/>
            <p:nvPr/>
          </p:nvSpPr>
          <p:spPr>
            <a:xfrm>
              <a:off x="10917208" y="1045696"/>
              <a:ext cx="686583" cy="270577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148" name="Image 8" descr="gen-dedup-7c02ed4669765158cb6410457d6288f7.png">
              <a:extLst>
                <a:ext uri="{FF2B5EF4-FFF2-40B4-BE49-F238E27FC236}">
                  <a16:creationId xmlns:a16="http://schemas.microsoft.com/office/drawing/2014/main" id="{2665EC4D-B367-4232-8285-18D4141E8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6250" b="-6250"/>
            <a:stretch/>
          </p:blipFill>
          <p:spPr>
            <a:xfrm>
              <a:off x="890655" y="89190"/>
              <a:ext cx="157283" cy="166740"/>
            </a:xfrm>
            <a:prstGeom prst="rect">
              <a:avLst/>
            </a:prstGeom>
          </p:spPr>
        </p:pic>
        <p:sp>
          <p:nvSpPr>
            <p:cNvPr id="149" name="Text 36">
              <a:extLst>
                <a:ext uri="{FF2B5EF4-FFF2-40B4-BE49-F238E27FC236}">
                  <a16:creationId xmlns:a16="http://schemas.microsoft.com/office/drawing/2014/main" id="{E428AE1F-5E2A-45BC-8AD2-EAAD85DE2C03}"/>
                </a:ext>
              </a:extLst>
            </p:cNvPr>
            <p:cNvSpPr txBox="1"/>
            <p:nvPr/>
          </p:nvSpPr>
          <p:spPr>
            <a:xfrm>
              <a:off x="1155304" y="68223"/>
              <a:ext cx="1594491" cy="208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탐색 중 - Projects</a:t>
              </a:r>
              <a:endParaRPr lang="en-US" sz="1000" dirty="0"/>
            </a:p>
          </p:txBody>
        </p:sp>
        <p:sp>
          <p:nvSpPr>
            <p:cNvPr id="150" name="Text 37">
              <a:extLst>
                <a:ext uri="{FF2B5EF4-FFF2-40B4-BE49-F238E27FC236}">
                  <a16:creationId xmlns:a16="http://schemas.microsoft.com/office/drawing/2014/main" id="{B62B1CCF-70A3-4E76-BC3F-82C5DF2D170C}"/>
                </a:ext>
              </a:extLst>
            </p:cNvPr>
            <p:cNvSpPr txBox="1"/>
            <p:nvPr/>
          </p:nvSpPr>
          <p:spPr>
            <a:xfrm>
              <a:off x="10905906" y="83199"/>
              <a:ext cx="83822" cy="145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_</a:t>
              </a:r>
              <a:endParaRPr lang="en-US" sz="900" dirty="0"/>
            </a:p>
          </p:txBody>
        </p:sp>
        <p:sp>
          <p:nvSpPr>
            <p:cNvPr id="151" name="Shape 38">
              <a:extLst>
                <a:ext uri="{FF2B5EF4-FFF2-40B4-BE49-F238E27FC236}">
                  <a16:creationId xmlns:a16="http://schemas.microsoft.com/office/drawing/2014/main" id="{D76E0BCC-364D-4EE0-BC3A-3858A77A42F3}"/>
                </a:ext>
              </a:extLst>
            </p:cNvPr>
            <p:cNvSpPr/>
            <p:nvPr/>
          </p:nvSpPr>
          <p:spPr>
            <a:xfrm>
              <a:off x="11181858" y="104166"/>
              <a:ext cx="117727" cy="13479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52" name="Shape 39">
              <a:extLst>
                <a:ext uri="{FF2B5EF4-FFF2-40B4-BE49-F238E27FC236}">
                  <a16:creationId xmlns:a16="http://schemas.microsoft.com/office/drawing/2014/main" id="{B2824EFA-3C56-436D-9EF5-EACB833A8EB2}"/>
                </a:ext>
              </a:extLst>
            </p:cNvPr>
            <p:cNvSpPr/>
            <p:nvPr/>
          </p:nvSpPr>
          <p:spPr>
            <a:xfrm>
              <a:off x="11181858" y="104166"/>
              <a:ext cx="117727" cy="2096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157" name="Text 40">
              <a:extLst>
                <a:ext uri="{FF2B5EF4-FFF2-40B4-BE49-F238E27FC236}">
                  <a16:creationId xmlns:a16="http://schemas.microsoft.com/office/drawing/2014/main" id="{73B04141-7F29-472D-BF63-5B332765C610}"/>
                </a:ext>
              </a:extLst>
            </p:cNvPr>
            <p:cNvSpPr txBox="1"/>
            <p:nvPr/>
          </p:nvSpPr>
          <p:spPr>
            <a:xfrm>
              <a:off x="11495482" y="99174"/>
              <a:ext cx="88531" cy="145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pic>
          <p:nvPicPr>
            <p:cNvPr id="158" name="Image 9" descr="gen-dedup-25afa46a09582202a40d6f31fc2ccf91.png">
              <a:extLst>
                <a:ext uri="{FF2B5EF4-FFF2-40B4-BE49-F238E27FC236}">
                  <a16:creationId xmlns:a16="http://schemas.microsoft.com/office/drawing/2014/main" id="{6D3A70D4-DA94-488E-BECC-BF8D28E43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7143" r="-7143"/>
            <a:stretch/>
          </p:blipFill>
          <p:spPr>
            <a:xfrm>
              <a:off x="978243" y="713215"/>
              <a:ext cx="157283" cy="166740"/>
            </a:xfrm>
            <a:prstGeom prst="rect">
              <a:avLst/>
            </a:prstGeom>
          </p:spPr>
        </p:pic>
        <p:pic>
          <p:nvPicPr>
            <p:cNvPr id="159" name="Image 10" descr="gen-dedup-53d8cb32c6720cdad62ecd3793163a86.png">
              <a:extLst>
                <a:ext uri="{FF2B5EF4-FFF2-40B4-BE49-F238E27FC236}">
                  <a16:creationId xmlns:a16="http://schemas.microsoft.com/office/drawing/2014/main" id="{38CE9DD8-4C0F-46DC-B9A0-EA21C7095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-7143" r="-7143"/>
            <a:stretch/>
          </p:blipFill>
          <p:spPr>
            <a:xfrm>
              <a:off x="1322005" y="713215"/>
              <a:ext cx="157283" cy="166740"/>
            </a:xfrm>
            <a:prstGeom prst="rect">
              <a:avLst/>
            </a:prstGeom>
          </p:spPr>
        </p:pic>
        <p:pic>
          <p:nvPicPr>
            <p:cNvPr id="160" name="Image 11" descr="gen-dedup-fa17d56a867348b02c8a56abf7174658.png">
              <a:extLst>
                <a:ext uri="{FF2B5EF4-FFF2-40B4-BE49-F238E27FC236}">
                  <a16:creationId xmlns:a16="http://schemas.microsoft.com/office/drawing/2014/main" id="{922B725B-A15E-4516-BFD5-E5CBF5F33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16666" r="-16666"/>
            <a:stretch/>
          </p:blipFill>
          <p:spPr>
            <a:xfrm>
              <a:off x="1665768" y="713215"/>
              <a:ext cx="157283" cy="166740"/>
            </a:xfrm>
            <a:prstGeom prst="rect">
              <a:avLst/>
            </a:prstGeom>
          </p:spPr>
        </p:pic>
        <p:pic>
          <p:nvPicPr>
            <p:cNvPr id="161" name="Image 12" descr="gen-dedup-013b38688217c28f0315b66cc4dba47b.png">
              <a:extLst>
                <a:ext uri="{FF2B5EF4-FFF2-40B4-BE49-F238E27FC236}">
                  <a16:creationId xmlns:a16="http://schemas.microsoft.com/office/drawing/2014/main" id="{D017ADA0-79CA-457C-8D33-D42315770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2185649" y="713215"/>
              <a:ext cx="157283" cy="166740"/>
            </a:xfrm>
            <a:prstGeom prst="rect">
              <a:avLst/>
            </a:prstGeom>
          </p:spPr>
        </p:pic>
        <p:pic>
          <p:nvPicPr>
            <p:cNvPr id="162" name="Image 13" descr="gen-dedup-3408d1960989eaff15e10127b414fcf2.png">
              <a:extLst>
                <a:ext uri="{FF2B5EF4-FFF2-40B4-BE49-F238E27FC236}">
                  <a16:creationId xmlns:a16="http://schemas.microsoft.com/office/drawing/2014/main" id="{99A1AEF4-E23A-47B4-A49D-1A8A656F8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7143" r="-7143"/>
            <a:stretch/>
          </p:blipFill>
          <p:spPr>
            <a:xfrm>
              <a:off x="2479496" y="713215"/>
              <a:ext cx="157283" cy="166740"/>
            </a:xfrm>
            <a:prstGeom prst="rect">
              <a:avLst/>
            </a:prstGeom>
          </p:spPr>
        </p:pic>
        <p:pic>
          <p:nvPicPr>
            <p:cNvPr id="163" name="Image 14" descr="gen-dedup-6e9e672aa626b1edf6db8640b2821839.png">
              <a:extLst>
                <a:ext uri="{FF2B5EF4-FFF2-40B4-BE49-F238E27FC236}">
                  <a16:creationId xmlns:a16="http://schemas.microsoft.com/office/drawing/2014/main" id="{C9550F90-0E01-4893-B835-77A2FB3C1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2774283" y="713215"/>
              <a:ext cx="157283" cy="166740"/>
            </a:xfrm>
            <a:prstGeom prst="rect">
              <a:avLst/>
            </a:prstGeom>
          </p:spPr>
        </p:pic>
        <p:sp>
          <p:nvSpPr>
            <p:cNvPr id="164" name="Text 41">
              <a:extLst>
                <a:ext uri="{FF2B5EF4-FFF2-40B4-BE49-F238E27FC236}">
                  <a16:creationId xmlns:a16="http://schemas.microsoft.com/office/drawing/2014/main" id="{0762294A-6332-409C-A4B5-45E26B375792}"/>
                </a:ext>
              </a:extLst>
            </p:cNvPr>
            <p:cNvSpPr txBox="1"/>
            <p:nvPr/>
          </p:nvSpPr>
          <p:spPr>
            <a:xfrm>
              <a:off x="910432" y="1092623"/>
              <a:ext cx="536834" cy="197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주소(D)</a:t>
              </a:r>
              <a:endParaRPr lang="en-US" sz="900" dirty="0"/>
            </a:p>
          </p:txBody>
        </p:sp>
        <p:pic>
          <p:nvPicPr>
            <p:cNvPr id="165" name="Image 15" descr="gen-dedup-7c02ed4669765158cb6410457d6288f7.png">
              <a:extLst>
                <a:ext uri="{FF2B5EF4-FFF2-40B4-BE49-F238E27FC236}">
                  <a16:creationId xmlns:a16="http://schemas.microsoft.com/office/drawing/2014/main" id="{239474F9-BA3C-417F-8CE0-5EE537895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6250" b="-6250"/>
            <a:stretch/>
          </p:blipFill>
          <p:spPr>
            <a:xfrm>
              <a:off x="1548041" y="1107600"/>
              <a:ext cx="157283" cy="166740"/>
            </a:xfrm>
            <a:prstGeom prst="rect">
              <a:avLst/>
            </a:prstGeom>
          </p:spPr>
        </p:pic>
        <p:sp>
          <p:nvSpPr>
            <p:cNvPr id="166" name="Text 42">
              <a:extLst>
                <a:ext uri="{FF2B5EF4-FFF2-40B4-BE49-F238E27FC236}">
                  <a16:creationId xmlns:a16="http://schemas.microsoft.com/office/drawing/2014/main" id="{2A6B50A8-5D43-45FB-875F-B4B2E68A3195}"/>
                </a:ext>
              </a:extLst>
            </p:cNvPr>
            <p:cNvSpPr txBox="1"/>
            <p:nvPr/>
          </p:nvSpPr>
          <p:spPr>
            <a:xfrm>
              <a:off x="1792913" y="1113590"/>
              <a:ext cx="2744447" cy="156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C:\Portfolio\Projects\WinAPI_DontStarve</a:t>
              </a:r>
              <a:endParaRPr lang="en-US" sz="900" dirty="0"/>
            </a:p>
          </p:txBody>
        </p:sp>
        <p:sp>
          <p:nvSpPr>
            <p:cNvPr id="167" name="Text 43">
              <a:extLst>
                <a:ext uri="{FF2B5EF4-FFF2-40B4-BE49-F238E27FC236}">
                  <a16:creationId xmlns:a16="http://schemas.microsoft.com/office/drawing/2014/main" id="{8C4F7CE9-8270-4468-851B-DDF88A52F141}"/>
                </a:ext>
              </a:extLst>
            </p:cNvPr>
            <p:cNvSpPr txBox="1"/>
            <p:nvPr/>
          </p:nvSpPr>
          <p:spPr>
            <a:xfrm>
              <a:off x="11151720" y="1092623"/>
              <a:ext cx="244872" cy="177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이동</a:t>
              </a:r>
              <a:endParaRPr lang="en-US" sz="9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611E6B0-ECF9-6E35-61A8-57D7E50DDEF7}"/>
              </a:ext>
            </a:extLst>
          </p:cNvPr>
          <p:cNvGrpSpPr/>
          <p:nvPr/>
        </p:nvGrpSpPr>
        <p:grpSpPr>
          <a:xfrm>
            <a:off x="681405" y="1576284"/>
            <a:ext cx="10813804" cy="312984"/>
            <a:chOff x="3635363" y="1517800"/>
            <a:chExt cx="8262000" cy="312984"/>
          </a:xfrm>
        </p:grpSpPr>
        <p:sp>
          <p:nvSpPr>
            <p:cNvPr id="126" name="Shape 29">
              <a:extLst>
                <a:ext uri="{FF2B5EF4-FFF2-40B4-BE49-F238E27FC236}">
                  <a16:creationId xmlns:a16="http://schemas.microsoft.com/office/drawing/2014/main" id="{C8E8281E-329E-4104-AF26-2BF462B61E3F}"/>
                </a:ext>
              </a:extLst>
            </p:cNvPr>
            <p:cNvSpPr/>
            <p:nvPr/>
          </p:nvSpPr>
          <p:spPr>
            <a:xfrm>
              <a:off x="3635363" y="1517800"/>
              <a:ext cx="8262000" cy="312984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89" name="Text 58">
              <a:extLst>
                <a:ext uri="{FF2B5EF4-FFF2-40B4-BE49-F238E27FC236}">
                  <a16:creationId xmlns:a16="http://schemas.microsoft.com/office/drawing/2014/main" id="{ADA0929B-6390-4236-84B5-CBBBC1E952F8}"/>
                </a:ext>
              </a:extLst>
            </p:cNvPr>
            <p:cNvSpPr txBox="1"/>
            <p:nvPr/>
          </p:nvSpPr>
          <p:spPr>
            <a:xfrm>
              <a:off x="3691554" y="1562216"/>
              <a:ext cx="2358078" cy="2132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WinAPI</a:t>
              </a: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 돈스타브 모작</a:t>
              </a:r>
              <a:endParaRPr lang="en-US" sz="1200" dirty="0"/>
            </a:p>
          </p:txBody>
        </p:sp>
      </p:grp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46096"/>
              </p:ext>
            </p:extLst>
          </p:nvPr>
        </p:nvGraphicFramePr>
        <p:xfrm>
          <a:off x="754951" y="1936306"/>
          <a:ext cx="6525929" cy="417828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플랫폼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PC(Windows)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개발 인원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1인(개인)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개발 기간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2025. 12. 05 ~ 2026. 02. 04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(대략 2달)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개발 도구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C++, WinAPI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동영상 링크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  <a:hlinkClick r:id="rId14"/>
                        </a:rPr>
                        <a:t>유튜브 링크</a:t>
                      </a:r>
                      <a:endParaRPr 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요약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플레이어는 마우스 조작을 통하여 이동, 상호작용을 할 수 있으며, 최종 목표인 최종 보스 몬스터를 쓰러트리는 것을 목적으로 한다.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최종 보스 몬스터를 쓰러트리기 위해서 플레이어는 재화를 수집하여, 한정된 자원으로 아이템을 만들어 보스에 도전할 수 있다.</a:t>
                      </a:r>
                      <a:endParaRPr lang="en-US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동기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게임 엔진을 의존하지 않고, WinAPI를 이용하여 완전 밑바닥부터 게임을 만들어보고자 모작에 도전하게 되었다.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게임 실행의 전체적인 파이프라인을 파악하고, 이를 스스로 설계해보고자 하여 시작하게 되었다.</a:t>
                      </a:r>
                      <a:endParaRPr lang="en-US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2D758DB-2549-4AD8-B1F9-7837FB8EBD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0436" y="2351987"/>
            <a:ext cx="4153217" cy="3268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5" name="Shape 29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39" name="Image 4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1" name="Image 5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900" b="1" dirty="0"/>
          </a:p>
        </p:txBody>
      </p:sp>
      <p:sp>
        <p:nvSpPr>
          <p:cNvPr id="13" name="Shape 8"/>
          <p:cNvSpPr/>
          <p:nvPr/>
        </p:nvSpPr>
        <p:spPr>
          <a:xfrm>
            <a:off x="267005" y="108000"/>
            <a:ext cx="11666995" cy="629280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9193" y="128108"/>
            <a:ext cx="11622618" cy="279592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99079" y="514799"/>
            <a:ext cx="11435584" cy="5811355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25472" y="157791"/>
            <a:ext cx="241962" cy="21927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6260" y="612088"/>
            <a:ext cx="11069211" cy="37842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31834" y="167366"/>
            <a:ext cx="1690563" cy="200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1000" b="1" dirty="0"/>
          </a:p>
        </p:txBody>
      </p:sp>
      <p:sp>
        <p:nvSpPr>
          <p:cNvPr id="25" name="Text 20"/>
          <p:cNvSpPr txBox="1"/>
          <p:nvPr/>
        </p:nvSpPr>
        <p:spPr>
          <a:xfrm>
            <a:off x="11701548" y="198006"/>
            <a:ext cx="99321" cy="139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693515" y="746219"/>
            <a:ext cx="8805718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그리드 공간 분할 </a:t>
            </a:r>
            <a:r>
              <a:rPr lang="ko-KR" altLang="en-US" sz="2000" b="1" dirty="0" err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컬링</a:t>
            </a:r>
            <a:r>
              <a:rPr lang="ko-KR" altLang="en-US" sz="2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설계</a:t>
            </a:r>
            <a:endParaRPr lang="en-US"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E9822D-72A2-6292-7EA3-9B1419B83A66}"/>
              </a:ext>
            </a:extLst>
          </p:cNvPr>
          <p:cNvGrpSpPr/>
          <p:nvPr/>
        </p:nvGrpSpPr>
        <p:grpSpPr>
          <a:xfrm>
            <a:off x="539384" y="1068945"/>
            <a:ext cx="11086088" cy="1396045"/>
            <a:chOff x="596665" y="1312403"/>
            <a:chExt cx="11006620" cy="1396045"/>
          </a:xfrm>
        </p:grpSpPr>
        <p:sp>
          <p:nvSpPr>
            <p:cNvPr id="18" name="Shape 13"/>
            <p:cNvSpPr/>
            <p:nvPr/>
          </p:nvSpPr>
          <p:spPr>
            <a:xfrm>
              <a:off x="596665" y="1312403"/>
              <a:ext cx="11006619" cy="139604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28" name="Text 23"/>
            <p:cNvSpPr txBox="1"/>
            <p:nvPr/>
          </p:nvSpPr>
          <p:spPr>
            <a:xfrm>
              <a:off x="925677" y="1931553"/>
              <a:ext cx="10566016" cy="7181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 dirty="0" err="1"/>
                <a:t>맵에</a:t>
              </a:r>
              <a:r>
                <a:rPr lang="ko-KR" altLang="en-US" sz="1600" b="1" dirty="0"/>
                <a:t> 배치되는 오브젝트가 </a:t>
              </a:r>
              <a:r>
                <a:rPr lang="en-US" altLang="ko-KR" sz="1600" b="1" dirty="0"/>
                <a:t>1,000~10,000</a:t>
              </a:r>
              <a:r>
                <a:rPr lang="ko-KR" altLang="en-US" sz="1600" b="1" dirty="0"/>
                <a:t>개로 늘어남에 따라 </a:t>
              </a:r>
              <a:r>
                <a:rPr lang="ko-KR" altLang="en-US" sz="1600" b="1" dirty="0" err="1"/>
                <a:t>뷰포트</a:t>
              </a:r>
              <a:r>
                <a:rPr lang="ko-KR" altLang="en-US" sz="1600" b="1" dirty="0"/>
                <a:t> 내 검사 후보를 찾기 위한 루프 비용 과다 발생</a:t>
              </a:r>
              <a:r>
                <a:rPr lang="en-US" altLang="ko-KR" sz="1600" b="1" dirty="0"/>
                <a:t>.</a:t>
              </a:r>
            </a:p>
            <a:p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뷰포트만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아니라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오브젝트의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콜라이더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검사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상호작용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처리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로직에서도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수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많은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객체의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루프에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대한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부담</a:t>
              </a:r>
              <a:r>
                <a:rPr lang="ko-KR" altLang="en-US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이 생긴다</a:t>
              </a:r>
              <a:r>
                <a:rPr lang="en-US" altLang="ko-KR" sz="1600" b="1" dirty="0">
                  <a:solidFill>
                    <a:srgbClr val="000000"/>
                  </a:solidFill>
                  <a:ea typeface="Arial" pitchFamily="34" charset="-122"/>
                  <a:cs typeface="Arial" pitchFamily="34" charset="-120"/>
                </a:rPr>
                <a:t>.</a:t>
              </a:r>
              <a:endParaRPr lang="en-US" altLang="ko-KR" sz="1600" b="1" dirty="0"/>
            </a:p>
            <a:p>
              <a:endParaRPr lang="en-US" altLang="ko-KR" sz="1600" dirty="0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8DF21A-BE25-4546-9792-99FA5780F682}"/>
                </a:ext>
              </a:extLst>
            </p:cNvPr>
            <p:cNvGrpSpPr/>
            <p:nvPr/>
          </p:nvGrpSpPr>
          <p:grpSpPr>
            <a:xfrm>
              <a:off x="623616" y="1352618"/>
              <a:ext cx="10979669" cy="299699"/>
              <a:chOff x="623616" y="1352618"/>
              <a:chExt cx="10979669" cy="299699"/>
            </a:xfrm>
          </p:grpSpPr>
          <p:sp>
            <p:nvSpPr>
              <p:cNvPr id="21" name="Shape 16"/>
              <p:cNvSpPr/>
              <p:nvPr/>
            </p:nvSpPr>
            <p:spPr>
              <a:xfrm>
                <a:off x="623616" y="1352618"/>
                <a:ext cx="10979669" cy="299699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" name="Text 21">
                <a:extLst>
                  <a:ext uri="{FF2B5EF4-FFF2-40B4-BE49-F238E27FC236}">
                    <a16:creationId xmlns:a16="http://schemas.microsoft.com/office/drawing/2014/main" id="{87D476CB-62CF-7359-7EF3-0EB12CC5752A}"/>
                  </a:ext>
                </a:extLst>
              </p:cNvPr>
              <p:cNvSpPr txBox="1"/>
              <p:nvPr/>
            </p:nvSpPr>
            <p:spPr>
              <a:xfrm>
                <a:off x="1697643" y="1411025"/>
                <a:ext cx="8805718" cy="2001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5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문제 상황</a:t>
                </a:r>
                <a:endParaRPr lang="en-US" sz="15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88EF130-5262-4607-9000-E44530E098E2}"/>
              </a:ext>
            </a:extLst>
          </p:cNvPr>
          <p:cNvGrpSpPr/>
          <p:nvPr/>
        </p:nvGrpSpPr>
        <p:grpSpPr>
          <a:xfrm>
            <a:off x="539383" y="2573069"/>
            <a:ext cx="3734198" cy="3639884"/>
            <a:chOff x="4212293" y="2583635"/>
            <a:chExt cx="7390991" cy="3639884"/>
          </a:xfrm>
        </p:grpSpPr>
        <p:sp>
          <p:nvSpPr>
            <p:cNvPr id="62" name="Shape 14">
              <a:extLst>
                <a:ext uri="{FF2B5EF4-FFF2-40B4-BE49-F238E27FC236}">
                  <a16:creationId xmlns:a16="http://schemas.microsoft.com/office/drawing/2014/main" id="{94BD9C8A-2858-4FE7-A305-7201CD9061AB}"/>
                </a:ext>
              </a:extLst>
            </p:cNvPr>
            <p:cNvSpPr/>
            <p:nvPr/>
          </p:nvSpPr>
          <p:spPr>
            <a:xfrm>
              <a:off x="4212293" y="2583635"/>
              <a:ext cx="7390991" cy="3639884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4D0CC97-DB4A-4BA0-9F77-B7F5B8FFAE73}"/>
                </a:ext>
              </a:extLst>
            </p:cNvPr>
            <p:cNvGrpSpPr/>
            <p:nvPr/>
          </p:nvGrpSpPr>
          <p:grpSpPr>
            <a:xfrm>
              <a:off x="4234481" y="2613880"/>
              <a:ext cx="7346210" cy="365070"/>
              <a:chOff x="4264912" y="2693419"/>
              <a:chExt cx="7241611" cy="365070"/>
            </a:xfrm>
          </p:grpSpPr>
          <p:sp>
            <p:nvSpPr>
              <p:cNvPr id="64" name="Shape 15">
                <a:extLst>
                  <a:ext uri="{FF2B5EF4-FFF2-40B4-BE49-F238E27FC236}">
                    <a16:creationId xmlns:a16="http://schemas.microsoft.com/office/drawing/2014/main" id="{F94C8D5C-A887-4DFE-90E8-5742F4E0D7F0}"/>
                  </a:ext>
                </a:extLst>
              </p:cNvPr>
              <p:cNvSpPr/>
              <p:nvPr/>
            </p:nvSpPr>
            <p:spPr>
              <a:xfrm>
                <a:off x="4264912" y="2693419"/>
                <a:ext cx="7241611" cy="365070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5" name="Text 21">
                <a:extLst>
                  <a:ext uri="{FF2B5EF4-FFF2-40B4-BE49-F238E27FC236}">
                    <a16:creationId xmlns:a16="http://schemas.microsoft.com/office/drawing/2014/main" id="{1C163ECB-19AD-4A3D-A759-57A600DE4B88}"/>
                  </a:ext>
                </a:extLst>
              </p:cNvPr>
              <p:cNvSpPr txBox="1"/>
              <p:nvPr/>
            </p:nvSpPr>
            <p:spPr>
              <a:xfrm>
                <a:off x="6371738" y="2744042"/>
                <a:ext cx="3072100" cy="2638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300" b="1" dirty="0">
                    <a:solidFill>
                      <a:srgbClr val="FFD700"/>
                    </a:solidFill>
                    <a:latin typeface="Arial" panose="020B0604020202020204" pitchFamily="34" charset="0"/>
                    <a:cs typeface="Arial" pitchFamily="34" charset="-120"/>
                  </a:rPr>
                  <a:t>관련 코드</a:t>
                </a:r>
                <a:endParaRPr lang="en-US" sz="1300" dirty="0"/>
              </a:p>
            </p:txBody>
          </p:sp>
        </p:grpSp>
      </p:grpSp>
      <p:pic>
        <p:nvPicPr>
          <p:cNvPr id="47" name="그림 46">
            <a:extLst>
              <a:ext uri="{FF2B5EF4-FFF2-40B4-BE49-F238E27FC236}">
                <a16:creationId xmlns:a16="http://schemas.microsoft.com/office/drawing/2014/main" id="{54BD71D2-97C1-446A-8D6D-17FD6E3132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31236" b="22594"/>
          <a:stretch/>
        </p:blipFill>
        <p:spPr>
          <a:xfrm>
            <a:off x="594878" y="3414980"/>
            <a:ext cx="3667288" cy="1994755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0B46730A-D02F-4A5B-A39B-DEFA3214EFDC}"/>
              </a:ext>
            </a:extLst>
          </p:cNvPr>
          <p:cNvGrpSpPr/>
          <p:nvPr/>
        </p:nvGrpSpPr>
        <p:grpSpPr>
          <a:xfrm>
            <a:off x="4341603" y="2573069"/>
            <a:ext cx="7283869" cy="3639884"/>
            <a:chOff x="4341603" y="2583635"/>
            <a:chExt cx="7283869" cy="3639884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66CDA368-2E32-42B8-8229-85E6394668F3}"/>
                </a:ext>
              </a:extLst>
            </p:cNvPr>
            <p:cNvGrpSpPr/>
            <p:nvPr/>
          </p:nvGrpSpPr>
          <p:grpSpPr>
            <a:xfrm>
              <a:off x="4341603" y="2583635"/>
              <a:ext cx="7283869" cy="3639884"/>
              <a:chOff x="4341603" y="2583635"/>
              <a:chExt cx="7283869" cy="3639884"/>
            </a:xfrm>
          </p:grpSpPr>
          <p:sp>
            <p:nvSpPr>
              <p:cNvPr id="19" name="Shape 14"/>
              <p:cNvSpPr/>
              <p:nvPr/>
            </p:nvSpPr>
            <p:spPr>
              <a:xfrm>
                <a:off x="4341603" y="2583635"/>
                <a:ext cx="7261681" cy="3639884"/>
              </a:xfrm>
              <a:prstGeom prst="rect">
                <a:avLst/>
              </a:prstGeom>
              <a:solidFill>
                <a:srgbClr val="E8E8E8"/>
              </a:solidFill>
              <a:ln w="254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5942FF27-EEBC-45F8-90AA-81DD62E9E291}"/>
                  </a:ext>
                </a:extLst>
              </p:cNvPr>
              <p:cNvGrpSpPr/>
              <p:nvPr/>
            </p:nvGrpSpPr>
            <p:grpSpPr>
              <a:xfrm>
                <a:off x="4363791" y="2613880"/>
                <a:ext cx="7261681" cy="365070"/>
                <a:chOff x="4392381" y="2693419"/>
                <a:chExt cx="7158285" cy="365070"/>
              </a:xfrm>
            </p:grpSpPr>
            <p:sp>
              <p:nvSpPr>
                <p:cNvPr id="49" name="Shape 15">
                  <a:extLst>
                    <a:ext uri="{FF2B5EF4-FFF2-40B4-BE49-F238E27FC236}">
                      <a16:creationId xmlns:a16="http://schemas.microsoft.com/office/drawing/2014/main" id="{27A508E4-EF9B-48F1-B965-E756DF656778}"/>
                    </a:ext>
                  </a:extLst>
                </p:cNvPr>
                <p:cNvSpPr/>
                <p:nvPr/>
              </p:nvSpPr>
              <p:spPr>
                <a:xfrm>
                  <a:off x="4392381" y="2693419"/>
                  <a:ext cx="7158285" cy="365070"/>
                </a:xfrm>
                <a:prstGeom prst="rect">
                  <a:avLst/>
                </a:prstGeom>
                <a:solidFill>
                  <a:srgbClr val="000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0" name="Text 21">
                  <a:extLst>
                    <a:ext uri="{FF2B5EF4-FFF2-40B4-BE49-F238E27FC236}">
                      <a16:creationId xmlns:a16="http://schemas.microsoft.com/office/drawing/2014/main" id="{FD4E26C1-5B7D-4B27-A5ED-9DBF75ADF405}"/>
                    </a:ext>
                  </a:extLst>
                </p:cNvPr>
                <p:cNvSpPr txBox="1"/>
                <p:nvPr/>
              </p:nvSpPr>
              <p:spPr>
                <a:xfrm>
                  <a:off x="6371738" y="2744042"/>
                  <a:ext cx="3072100" cy="26382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1300" b="1" dirty="0">
                      <a:solidFill>
                        <a:schemeClr val="accent4"/>
                      </a:solidFill>
                    </a:rPr>
                    <a:t>관련 이미지</a:t>
                  </a:r>
                  <a:endParaRPr lang="en-US" sz="1300" b="1" dirty="0">
                    <a:solidFill>
                      <a:schemeClr val="accent4"/>
                    </a:solidFill>
                  </a:endParaRPr>
                </a:p>
              </p:txBody>
            </p:sp>
          </p:grpSp>
        </p:grpSp>
        <p:sp>
          <p:nvSpPr>
            <p:cNvPr id="46" name="Text 25">
              <a:extLst>
                <a:ext uri="{FF2B5EF4-FFF2-40B4-BE49-F238E27FC236}">
                  <a16:creationId xmlns:a16="http://schemas.microsoft.com/office/drawing/2014/main" id="{71AED885-FC7F-486E-8AD8-72A412115880}"/>
                </a:ext>
              </a:extLst>
            </p:cNvPr>
            <p:cNvSpPr txBox="1"/>
            <p:nvPr/>
          </p:nvSpPr>
          <p:spPr>
            <a:xfrm>
              <a:off x="5950571" y="5680876"/>
              <a:ext cx="3801935" cy="449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월드 오브젝트 개체가 많아질 수록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순회의 부담감이 증가</a:t>
              </a:r>
              <a:endParaRPr lang="en-US" dirty="0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163AAB6-B9C9-40C6-A12A-3DF553424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09234" y="3258036"/>
              <a:ext cx="3403840" cy="2308727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BD50DE20-4BFE-4A5D-AAA8-5D81AEC45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26145" y="3266247"/>
              <a:ext cx="3134107" cy="2327075"/>
            </a:xfrm>
            <a:prstGeom prst="rect">
              <a:avLst/>
            </a:prstGeom>
          </p:spPr>
        </p:pic>
        <p:pic>
          <p:nvPicPr>
            <p:cNvPr id="48" name="Image 3" descr="gen-dedup-7d2446d15a7d1cb81fff2aee29f8065d.png">
              <a:extLst>
                <a:ext uri="{FF2B5EF4-FFF2-40B4-BE49-F238E27FC236}">
                  <a16:creationId xmlns:a16="http://schemas.microsoft.com/office/drawing/2014/main" id="{3818FE80-0ED6-4B4B-A214-88740BE52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50241" r="-50241"/>
            <a:stretch/>
          </p:blipFill>
          <p:spPr>
            <a:xfrm>
              <a:off x="7338204" y="4075832"/>
              <a:ext cx="1026670" cy="497186"/>
            </a:xfrm>
            <a:prstGeom prst="rect">
              <a:avLst/>
            </a:prstGeom>
          </p:spPr>
        </p:pic>
      </p:grpSp>
      <p:sp>
        <p:nvSpPr>
          <p:cNvPr id="22" name="Text 25">
            <a:extLst>
              <a:ext uri="{FF2B5EF4-FFF2-40B4-BE49-F238E27FC236}">
                <a16:creationId xmlns:a16="http://schemas.microsoft.com/office/drawing/2014/main" id="{4A25AE7C-FFED-F1C9-8686-B3A2AB147317}"/>
              </a:ext>
            </a:extLst>
          </p:cNvPr>
          <p:cNvSpPr txBox="1"/>
          <p:nvPr/>
        </p:nvSpPr>
        <p:spPr>
          <a:xfrm>
            <a:off x="516723" y="5658254"/>
            <a:ext cx="3801935" cy="449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-120"/>
              </a:rPr>
              <a:t>모든 월드 오브젝트를 순회하여 </a:t>
            </a:r>
            <a:r>
              <a:rPr lang="ko-KR" altLang="en-U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itchFamily="34" charset="-120"/>
              </a:rPr>
              <a:t>뷰포트안에</a:t>
            </a:r>
            <a:r>
              <a:rPr lang="ko-KR" alt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-120"/>
              </a:rPr>
              <a:t> 존재하는지 확인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BC9DA-A783-74CC-62A5-31DB4562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5A2BF1-DD4D-3F76-D4E2-43B36785D2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85FEE5-E4F4-9260-CD4F-F81CE61036B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58B89F-8939-E31A-882D-0EC358DA9205}"/>
              </a:ext>
            </a:extLst>
          </p:cNvPr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1D1CE78F-88FF-658F-A78C-2113713BFF9C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A8425149-CB1D-F7E0-D9A0-F92950892338}"/>
              </a:ext>
            </a:extLst>
          </p:cNvPr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BE191AEB-7FD5-A6DD-6AD3-B3EEF2D54C36}"/>
              </a:ext>
            </a:extLst>
          </p:cNvPr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3DC3C533-92A9-C345-DCD9-9F3468BA59ED}"/>
              </a:ext>
            </a:extLst>
          </p:cNvPr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39" name="Image 4" descr="gen-dedup-b7042822c590cf1066a472ff1b5b8f45.png">
            <a:extLst>
              <a:ext uri="{FF2B5EF4-FFF2-40B4-BE49-F238E27FC236}">
                <a16:creationId xmlns:a16="http://schemas.microsoft.com/office/drawing/2014/main" id="{4534EA5B-146C-7474-3F07-894675B494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0" name="Text 33">
            <a:extLst>
              <a:ext uri="{FF2B5EF4-FFF2-40B4-BE49-F238E27FC236}">
                <a16:creationId xmlns:a16="http://schemas.microsoft.com/office/drawing/2014/main" id="{422B837E-E7FB-27D7-2D63-643D120AEB47}"/>
              </a:ext>
            </a:extLst>
          </p:cNvPr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1" name="Image 5" descr="gen-dedup-ba9d3020b28ee88c3f41e8c221d65fea.png">
            <a:extLst>
              <a:ext uri="{FF2B5EF4-FFF2-40B4-BE49-F238E27FC236}">
                <a16:creationId xmlns:a16="http://schemas.microsoft.com/office/drawing/2014/main" id="{A8005A27-E068-72A4-0C50-44165A6B9B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2" name="Text 34">
            <a:extLst>
              <a:ext uri="{FF2B5EF4-FFF2-40B4-BE49-F238E27FC236}">
                <a16:creationId xmlns:a16="http://schemas.microsoft.com/office/drawing/2014/main" id="{C2A7FD10-99D6-840F-5457-7918C1E83B0D}"/>
              </a:ext>
            </a:extLst>
          </p:cNvPr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900" b="1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8D9423A-4D94-63F5-7948-388656053728}"/>
              </a:ext>
            </a:extLst>
          </p:cNvPr>
          <p:cNvSpPr/>
          <p:nvPr/>
        </p:nvSpPr>
        <p:spPr>
          <a:xfrm>
            <a:off x="267005" y="108000"/>
            <a:ext cx="11666995" cy="629280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2B38E943-F27F-D542-6958-A5C197119392}"/>
              </a:ext>
            </a:extLst>
          </p:cNvPr>
          <p:cNvSpPr/>
          <p:nvPr/>
        </p:nvSpPr>
        <p:spPr>
          <a:xfrm>
            <a:off x="289193" y="128108"/>
            <a:ext cx="11622618" cy="279592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7841DF5-7C5C-9E57-CC1C-6E0546393643}"/>
              </a:ext>
            </a:extLst>
          </p:cNvPr>
          <p:cNvSpPr/>
          <p:nvPr/>
        </p:nvSpPr>
        <p:spPr>
          <a:xfrm>
            <a:off x="399079" y="514799"/>
            <a:ext cx="11435584" cy="5811355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3AB2227-3AB6-DC88-B7A8-0A12F6BB2170}"/>
              </a:ext>
            </a:extLst>
          </p:cNvPr>
          <p:cNvSpPr/>
          <p:nvPr/>
        </p:nvSpPr>
        <p:spPr>
          <a:xfrm>
            <a:off x="11625472" y="157791"/>
            <a:ext cx="241962" cy="21927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8170081-D7FF-4627-0C13-E3DC4B94FE91}"/>
              </a:ext>
            </a:extLst>
          </p:cNvPr>
          <p:cNvSpPr/>
          <p:nvPr/>
        </p:nvSpPr>
        <p:spPr>
          <a:xfrm>
            <a:off x="556260" y="612088"/>
            <a:ext cx="11069211" cy="37842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C56D0B1-6D7D-ACEF-83F3-E86C68D97E71}"/>
              </a:ext>
            </a:extLst>
          </p:cNvPr>
          <p:cNvSpPr txBox="1"/>
          <p:nvPr/>
        </p:nvSpPr>
        <p:spPr>
          <a:xfrm>
            <a:off x="431834" y="167366"/>
            <a:ext cx="1690563" cy="200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1000" b="1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FE8324A2-7BC6-2A6F-A36A-0A76E0100980}"/>
              </a:ext>
            </a:extLst>
          </p:cNvPr>
          <p:cNvSpPr txBox="1"/>
          <p:nvPr/>
        </p:nvSpPr>
        <p:spPr>
          <a:xfrm>
            <a:off x="11701548" y="198006"/>
            <a:ext cx="99321" cy="139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2EDAAC2-207C-480E-F4B3-9F0EF63AAECC}"/>
              </a:ext>
            </a:extLst>
          </p:cNvPr>
          <p:cNvSpPr txBox="1"/>
          <p:nvPr/>
        </p:nvSpPr>
        <p:spPr>
          <a:xfrm>
            <a:off x="1693515" y="746219"/>
            <a:ext cx="8805718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그리드 공간 분할 </a:t>
            </a:r>
            <a:r>
              <a:rPr lang="ko-KR" altLang="en-US" sz="2000" b="1" dirty="0" err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컬링</a:t>
            </a:r>
            <a:r>
              <a:rPr lang="ko-KR" altLang="en-US" sz="2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설계</a:t>
            </a:r>
            <a:endParaRPr lang="en-US" sz="2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3209A13-BE2B-8708-2AF0-865985C75D2E}"/>
              </a:ext>
            </a:extLst>
          </p:cNvPr>
          <p:cNvGrpSpPr/>
          <p:nvPr/>
        </p:nvGrpSpPr>
        <p:grpSpPr>
          <a:xfrm>
            <a:off x="556260" y="1042088"/>
            <a:ext cx="11069211" cy="1087355"/>
            <a:chOff x="596665" y="1312402"/>
            <a:chExt cx="11006619" cy="1125761"/>
          </a:xfrm>
        </p:grpSpPr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1EC9F12C-9E28-790E-C724-5408D7712BCA}"/>
                </a:ext>
              </a:extLst>
            </p:cNvPr>
            <p:cNvSpPr/>
            <p:nvPr/>
          </p:nvSpPr>
          <p:spPr>
            <a:xfrm>
              <a:off x="596665" y="1312402"/>
              <a:ext cx="11006619" cy="1125761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0" name="Text 23">
              <a:extLst>
                <a:ext uri="{FF2B5EF4-FFF2-40B4-BE49-F238E27FC236}">
                  <a16:creationId xmlns:a16="http://schemas.microsoft.com/office/drawing/2014/main" id="{B8A4EFCB-FBDA-5075-1F7D-82EC23782667}"/>
                </a:ext>
              </a:extLst>
            </p:cNvPr>
            <p:cNvSpPr txBox="1"/>
            <p:nvPr/>
          </p:nvSpPr>
          <p:spPr>
            <a:xfrm>
              <a:off x="837760" y="1667914"/>
              <a:ext cx="10574836" cy="684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/>
                <a:t>먼저 전체 월드 공간을 일정한 크기인  </a:t>
              </a:r>
              <a:r>
                <a:rPr lang="en-US" altLang="ko-KR" sz="1400" b="1" dirty="0"/>
                <a:t>GRID_CELL_SIZE  </a:t>
              </a:r>
              <a:r>
                <a:rPr lang="ko-KR" altLang="en-US" sz="1400" b="1" dirty="0"/>
                <a:t>단위의 격자</a:t>
              </a:r>
              <a:r>
                <a:rPr lang="en-US" altLang="ko-KR" sz="1400" b="1" dirty="0"/>
                <a:t>(Grid Cell)</a:t>
              </a:r>
              <a:r>
                <a:rPr lang="ko-KR" altLang="en-US" sz="1400" b="1" dirty="0"/>
                <a:t>로 분할하고</a:t>
              </a:r>
              <a:r>
                <a:rPr lang="en-US" altLang="ko-KR" sz="1400" b="1" dirty="0"/>
                <a:t>, </a:t>
              </a:r>
              <a:r>
                <a:rPr lang="ko-KR" altLang="en-US" sz="1400" b="1" dirty="0"/>
                <a:t>각 게임 오브젝트의 중심 좌표를 기준으로 소속 격자를 계산하여 </a:t>
              </a:r>
              <a:r>
                <a:rPr lang="en-US" altLang="ko-KR" sz="1400" b="1" dirty="0"/>
                <a:t>2</a:t>
              </a:r>
              <a:r>
                <a:rPr lang="ko-KR" altLang="en-US" sz="1400" b="1" dirty="0"/>
                <a:t>차원 공간 배열</a:t>
              </a:r>
              <a:r>
                <a:rPr lang="en-US" altLang="ko-KR" sz="1400" b="1" dirty="0"/>
                <a:t>(</a:t>
              </a:r>
              <a:r>
                <a:rPr lang="en-US" altLang="ko-KR" sz="1400" b="1" dirty="0" err="1"/>
                <a:t>m_spatialGrid</a:t>
              </a:r>
              <a:r>
                <a:rPr lang="en-US" altLang="ko-KR" sz="1400" b="1" dirty="0"/>
                <a:t>)</a:t>
              </a:r>
              <a:r>
                <a:rPr lang="ko-KR" altLang="en-US" sz="1400" b="1" dirty="0"/>
                <a:t>에 할당</a:t>
              </a:r>
              <a:r>
                <a:rPr lang="en-US" altLang="ko-KR" sz="1400" b="1" dirty="0"/>
                <a:t>, </a:t>
              </a:r>
              <a:r>
                <a:rPr lang="ko-KR" altLang="en-US" sz="1400" b="1" dirty="0"/>
                <a:t>관리한다</a:t>
              </a:r>
              <a:r>
                <a:rPr lang="en-US" altLang="ko-KR" sz="1400" b="1" dirty="0"/>
                <a:t>.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2BAEA3F-0C01-F669-B100-B2C803F5AFC2}"/>
                </a:ext>
              </a:extLst>
            </p:cNvPr>
            <p:cNvGrpSpPr/>
            <p:nvPr/>
          </p:nvGrpSpPr>
          <p:grpSpPr>
            <a:xfrm>
              <a:off x="613420" y="1312402"/>
              <a:ext cx="10979669" cy="355511"/>
              <a:chOff x="613420" y="1312402"/>
              <a:chExt cx="10979669" cy="355511"/>
            </a:xfrm>
          </p:grpSpPr>
          <p:sp>
            <p:nvSpPr>
              <p:cNvPr id="12" name="Shape 16">
                <a:extLst>
                  <a:ext uri="{FF2B5EF4-FFF2-40B4-BE49-F238E27FC236}">
                    <a16:creationId xmlns:a16="http://schemas.microsoft.com/office/drawing/2014/main" id="{FAC2CBEF-0E98-804E-660F-837D2DB5BEFE}"/>
                  </a:ext>
                </a:extLst>
              </p:cNvPr>
              <p:cNvSpPr/>
              <p:nvPr/>
            </p:nvSpPr>
            <p:spPr>
              <a:xfrm>
                <a:off x="613420" y="1319852"/>
                <a:ext cx="10979669" cy="348061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21">
                <a:extLst>
                  <a:ext uri="{FF2B5EF4-FFF2-40B4-BE49-F238E27FC236}">
                    <a16:creationId xmlns:a16="http://schemas.microsoft.com/office/drawing/2014/main" id="{2543E6B0-CE2E-91F6-B3AB-FC9002DD9D89}"/>
                  </a:ext>
                </a:extLst>
              </p:cNvPr>
              <p:cNvSpPr txBox="1"/>
              <p:nvPr/>
            </p:nvSpPr>
            <p:spPr>
              <a:xfrm>
                <a:off x="1687446" y="1312402"/>
                <a:ext cx="8805718" cy="3356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설계 내용</a:t>
                </a:r>
                <a:endParaRPr lang="en-US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A5A94B2-560B-D885-0EC4-E0910156010D}"/>
              </a:ext>
            </a:extLst>
          </p:cNvPr>
          <p:cNvGrpSpPr/>
          <p:nvPr/>
        </p:nvGrpSpPr>
        <p:grpSpPr>
          <a:xfrm>
            <a:off x="6511349" y="2222666"/>
            <a:ext cx="5268671" cy="1403126"/>
            <a:chOff x="596665" y="1312403"/>
            <a:chExt cx="11006620" cy="1403126"/>
          </a:xfrm>
        </p:grpSpPr>
        <p:sp>
          <p:nvSpPr>
            <p:cNvPr id="44" name="Shape 13">
              <a:extLst>
                <a:ext uri="{FF2B5EF4-FFF2-40B4-BE49-F238E27FC236}">
                  <a16:creationId xmlns:a16="http://schemas.microsoft.com/office/drawing/2014/main" id="{0163249F-4287-1EE9-D760-A2D1EA6586FE}"/>
                </a:ext>
              </a:extLst>
            </p:cNvPr>
            <p:cNvSpPr/>
            <p:nvPr/>
          </p:nvSpPr>
          <p:spPr>
            <a:xfrm>
              <a:off x="596665" y="1312403"/>
              <a:ext cx="11006620" cy="139604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48028FCD-A931-56F7-36DD-6DDC9718AD06}"/>
                </a:ext>
              </a:extLst>
            </p:cNvPr>
            <p:cNvSpPr txBox="1"/>
            <p:nvPr/>
          </p:nvSpPr>
          <p:spPr>
            <a:xfrm>
              <a:off x="715030" y="1590911"/>
              <a:ext cx="10769889" cy="11246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dirty="0"/>
                <a:t>해당 그림에서 </a:t>
              </a:r>
              <a:r>
                <a:rPr lang="en-US" altLang="ko-KR" sz="1600" dirty="0"/>
                <a:t>GRID_CELL_SIZE</a:t>
              </a:r>
              <a:r>
                <a:rPr lang="ko-KR" altLang="en-US" sz="1600" dirty="0"/>
                <a:t>는 </a:t>
              </a:r>
              <a:r>
                <a:rPr lang="en-US" altLang="ko-KR" sz="1600" dirty="0"/>
                <a:t>256, </a:t>
              </a:r>
              <a:r>
                <a:rPr lang="ko-KR" altLang="en-US" sz="1600" dirty="0"/>
                <a:t>타일 크기는 </a:t>
              </a:r>
              <a:r>
                <a:rPr lang="en-US" altLang="ko-KR" sz="1600" dirty="0"/>
                <a:t>128 x</a:t>
              </a:r>
              <a:r>
                <a:rPr lang="ko-KR" altLang="en-US" sz="1600" dirty="0"/>
                <a:t> </a:t>
              </a:r>
              <a:r>
                <a:rPr lang="en-US" altLang="ko-KR" sz="1600" dirty="0"/>
                <a:t>128</a:t>
              </a:r>
              <a:r>
                <a:rPr lang="ko-KR" altLang="en-US" sz="1600" dirty="0"/>
                <a:t>이며</a:t>
              </a:r>
              <a:r>
                <a:rPr lang="en-US" altLang="ko-KR" sz="1600" dirty="0"/>
                <a:t>, 1200 x 780 </a:t>
              </a:r>
              <a:r>
                <a:rPr lang="ko-KR" altLang="en-US" sz="1600" dirty="0"/>
                <a:t>윈도우 화면</a:t>
              </a:r>
              <a:r>
                <a:rPr lang="en-US" altLang="ko-KR" sz="1600" dirty="0"/>
                <a:t>(</a:t>
              </a:r>
              <a:r>
                <a:rPr lang="ko-KR" altLang="en-US" sz="1600" dirty="0" err="1"/>
                <a:t>뷰포트</a:t>
              </a:r>
              <a:r>
                <a:rPr lang="ko-KR" altLang="en-US" sz="1600" dirty="0"/>
                <a:t> 크기</a:t>
              </a:r>
              <a:r>
                <a:rPr lang="en-US" altLang="ko-KR" sz="1600" dirty="0"/>
                <a:t>)</a:t>
              </a:r>
              <a:r>
                <a:rPr lang="ko-KR" altLang="en-US" sz="1600" dirty="0"/>
                <a:t>의 구성으로 이뤄진다</a:t>
              </a:r>
              <a:r>
                <a:rPr lang="en-US" altLang="ko-KR" sz="1600" dirty="0"/>
                <a:t>.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55E96EA-2FE2-F6E5-4E36-9AF84176D8FE}"/>
                </a:ext>
              </a:extLst>
            </p:cNvPr>
            <p:cNvGrpSpPr/>
            <p:nvPr/>
          </p:nvGrpSpPr>
          <p:grpSpPr>
            <a:xfrm>
              <a:off x="623616" y="1321338"/>
              <a:ext cx="10979669" cy="276181"/>
              <a:chOff x="623616" y="1321338"/>
              <a:chExt cx="10979669" cy="276181"/>
            </a:xfrm>
          </p:grpSpPr>
          <p:sp>
            <p:nvSpPr>
              <p:cNvPr id="53" name="Shape 16">
                <a:extLst>
                  <a:ext uri="{FF2B5EF4-FFF2-40B4-BE49-F238E27FC236}">
                    <a16:creationId xmlns:a16="http://schemas.microsoft.com/office/drawing/2014/main" id="{E7994EAF-75E0-E592-A491-72764841903C}"/>
                  </a:ext>
                </a:extLst>
              </p:cNvPr>
              <p:cNvSpPr/>
              <p:nvPr/>
            </p:nvSpPr>
            <p:spPr>
              <a:xfrm>
                <a:off x="623616" y="1321338"/>
                <a:ext cx="10979669" cy="276181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4" name="Text 21">
                <a:extLst>
                  <a:ext uri="{FF2B5EF4-FFF2-40B4-BE49-F238E27FC236}">
                    <a16:creationId xmlns:a16="http://schemas.microsoft.com/office/drawing/2014/main" id="{06C5306D-EDAB-17E1-C5A9-9DCAC2D80DA9}"/>
                  </a:ext>
                </a:extLst>
              </p:cNvPr>
              <p:cNvSpPr txBox="1"/>
              <p:nvPr/>
            </p:nvSpPr>
            <p:spPr>
              <a:xfrm>
                <a:off x="1697645" y="1407126"/>
                <a:ext cx="8805718" cy="109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5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그림 예시</a:t>
                </a:r>
                <a:endParaRPr lang="en-US" sz="15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4ACC978-7AAF-CC2F-E9DF-87C464CD958B}"/>
              </a:ext>
            </a:extLst>
          </p:cNvPr>
          <p:cNvSpPr txBox="1"/>
          <p:nvPr/>
        </p:nvSpPr>
        <p:spPr>
          <a:xfrm>
            <a:off x="6568008" y="3638150"/>
            <a:ext cx="52686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       활성 오브젝트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뷰포트</a:t>
            </a:r>
            <a:r>
              <a:rPr lang="ko-KR" altLang="en-US" sz="1600" dirty="0"/>
              <a:t> 영역 내부에 있는 </a:t>
            </a:r>
            <a:r>
              <a:rPr lang="ko-KR" altLang="en-US" sz="1600" dirty="0" err="1"/>
              <a:t>민트색</a:t>
            </a:r>
            <a:r>
              <a:rPr lang="ko-KR" altLang="en-US" sz="1600" dirty="0"/>
              <a:t> 테두리 오브젝트들</a:t>
            </a:r>
            <a:endParaRPr lang="en-US" altLang="ko-KR" sz="1600" dirty="0"/>
          </a:p>
          <a:p>
            <a:r>
              <a:rPr lang="en-US" altLang="ko-KR" sz="1600" dirty="0"/>
              <a:t>        </a:t>
            </a:r>
          </a:p>
          <a:p>
            <a:r>
              <a:rPr lang="ko-KR" altLang="en-US" sz="1600" dirty="0"/>
              <a:t>       후보군 오브젝트</a:t>
            </a:r>
            <a:r>
              <a:rPr lang="en-US" altLang="ko-KR" sz="1600" dirty="0"/>
              <a:t>:  </a:t>
            </a:r>
            <a:r>
              <a:rPr lang="ko-KR" altLang="en-US" sz="1600" dirty="0" err="1"/>
              <a:t>뷰포트</a:t>
            </a:r>
            <a:r>
              <a:rPr lang="ko-KR" altLang="en-US" sz="1600" dirty="0"/>
              <a:t> 영역 밖에 있지만 그리드 영역에 존재하는 노란색 테두리 오브젝트들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ko-KR" altLang="en-US" sz="1600" dirty="0"/>
              <a:t>      비활성 오브젝트</a:t>
            </a:r>
            <a:r>
              <a:rPr lang="en-US" altLang="ko-KR" sz="1600" dirty="0"/>
              <a:t>: </a:t>
            </a:r>
            <a:r>
              <a:rPr lang="ko-KR" altLang="en-US" sz="1600" dirty="0"/>
              <a:t>그리드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뷰포트</a:t>
            </a:r>
            <a:r>
              <a:rPr lang="ko-KR" altLang="en-US" sz="1600" dirty="0"/>
              <a:t> 영역을 벗어나 </a:t>
            </a:r>
            <a:r>
              <a:rPr lang="ko-KR" altLang="en-US" sz="1600" dirty="0" err="1"/>
              <a:t>컬링</a:t>
            </a:r>
            <a:r>
              <a:rPr lang="ko-KR" altLang="en-US" sz="1600" dirty="0"/>
              <a:t>(</a:t>
            </a:r>
            <a:r>
              <a:rPr lang="ko-KR" altLang="en-US" sz="1600" dirty="0" err="1"/>
              <a:t>Culling</a:t>
            </a:r>
            <a:r>
              <a:rPr lang="ko-KR" altLang="en-US" sz="1600" dirty="0"/>
              <a:t>)되어 연산에서 배제된 오브젝트들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CAB56AF-AA5C-4C22-B9F6-E5A45A54A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45" y="2254963"/>
            <a:ext cx="6097804" cy="3294189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FE008823-06D3-4393-87DF-B192106CE7A5}"/>
              </a:ext>
            </a:extLst>
          </p:cNvPr>
          <p:cNvSpPr/>
          <p:nvPr/>
        </p:nvSpPr>
        <p:spPr>
          <a:xfrm>
            <a:off x="6738338" y="3699672"/>
            <a:ext cx="179295" cy="205772"/>
          </a:xfrm>
          <a:prstGeom prst="ellipse">
            <a:avLst/>
          </a:prstGeom>
          <a:solidFill>
            <a:srgbClr val="42B8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5492ACA-72AB-44F1-A67A-1EBB541B57BA}"/>
              </a:ext>
            </a:extLst>
          </p:cNvPr>
          <p:cNvSpPr/>
          <p:nvPr/>
        </p:nvSpPr>
        <p:spPr>
          <a:xfrm>
            <a:off x="6738338" y="4405936"/>
            <a:ext cx="179295" cy="2057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26BC8D2-B67F-40AE-8D6E-F57CB3A8BC24}"/>
              </a:ext>
            </a:extLst>
          </p:cNvPr>
          <p:cNvSpPr/>
          <p:nvPr/>
        </p:nvSpPr>
        <p:spPr>
          <a:xfrm>
            <a:off x="6738338" y="5135775"/>
            <a:ext cx="179295" cy="20577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12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lang="en-US" sz="900" dirty="0"/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690822" y="174896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710601" y="195864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710601" y="737019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710601" y="757986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710601" y="1173338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710601" y="1194305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710601" y="1526786"/>
            <a:ext cx="10850641" cy="41935"/>
          </a:xfrm>
          <a:prstGeom prst="rect">
            <a:avLst/>
          </a:prstGeom>
        </p:spPr>
      </p:pic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746922" y="1568721"/>
            <a:ext cx="10795483" cy="4612766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0717376" y="226815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012164" y="226815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306010" y="226815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746922" y="513368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lang="en-US" sz="900" dirty="0"/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789712" y="809905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132533" y="809905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476295" y="809905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378346" y="1236240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0796488" y="1215272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769935" y="258766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034584" y="237799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lang="en-US" sz="1000" dirty="0"/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0785186" y="252775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lang="en-US" sz="900" dirty="0"/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061138" y="273742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061138" y="273742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374762" y="268750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857523" y="882791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01285" y="882791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6666" r="-16666"/>
          <a:stretch/>
        </p:blipFill>
        <p:spPr>
          <a:xfrm>
            <a:off x="1545048" y="882791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064929" y="882791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2358776" y="882791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653563" y="882791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789712" y="1262199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lang="en-US" sz="900" dirty="0"/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1427321" y="1277176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1672193" y="1283166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lang="en-US" altLang="ko-KR" sz="900" dirty="0"/>
              <a:t>File Tower </a:t>
            </a:r>
            <a:r>
              <a:rPr lang="en-US" altLang="ko-KR" sz="900" dirty="0" err="1"/>
              <a:t>Defence</a:t>
            </a:r>
            <a:endParaRPr lang="en-US" altLang="ko-KR" sz="900" dirty="0"/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031000" y="1262199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lang="en-US" sz="9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3C8C852-9A0E-B9B4-6A73-5498BA2ACE95}"/>
              </a:ext>
            </a:extLst>
          </p:cNvPr>
          <p:cNvGrpSpPr/>
          <p:nvPr/>
        </p:nvGrpSpPr>
        <p:grpSpPr>
          <a:xfrm>
            <a:off x="769935" y="1584695"/>
            <a:ext cx="10772470" cy="312984"/>
            <a:chOff x="3615584" y="1517800"/>
            <a:chExt cx="8262000" cy="312984"/>
          </a:xfrm>
        </p:grpSpPr>
        <p:sp>
          <p:nvSpPr>
            <p:cNvPr id="126" name="Shape 29">
              <a:extLst>
                <a:ext uri="{FF2B5EF4-FFF2-40B4-BE49-F238E27FC236}">
                  <a16:creationId xmlns:a16="http://schemas.microsoft.com/office/drawing/2014/main" id="{C8E8281E-329E-4104-AF26-2BF462B61E3F}"/>
                </a:ext>
              </a:extLst>
            </p:cNvPr>
            <p:cNvSpPr/>
            <p:nvPr/>
          </p:nvSpPr>
          <p:spPr>
            <a:xfrm>
              <a:off x="3615584" y="1517800"/>
              <a:ext cx="8262000" cy="312984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89" name="Text 58">
              <a:extLst>
                <a:ext uri="{FF2B5EF4-FFF2-40B4-BE49-F238E27FC236}">
                  <a16:creationId xmlns:a16="http://schemas.microsoft.com/office/drawing/2014/main" id="{ADA0929B-6390-4236-84B5-CBBBC1E952F8}"/>
                </a:ext>
              </a:extLst>
            </p:cNvPr>
            <p:cNvSpPr txBox="1"/>
            <p:nvPr/>
          </p:nvSpPr>
          <p:spPr>
            <a:xfrm>
              <a:off x="3680571" y="1569538"/>
              <a:ext cx="2358078" cy="2132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상세</a:t>
              </a: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정보</a:t>
              </a: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 – File Tower </a:t>
              </a:r>
              <a:r>
                <a:rPr lang="en-US" sz="1200" b="1" dirty="0" err="1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Defence</a:t>
              </a:r>
              <a:endParaRPr lang="en-US" sz="1200" dirty="0"/>
            </a:p>
          </p:txBody>
        </p:sp>
      </p:grp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859906"/>
              </p:ext>
            </p:extLst>
          </p:nvPr>
        </p:nvGraphicFramePr>
        <p:xfrm>
          <a:off x="828228" y="1949417"/>
          <a:ext cx="6155533" cy="41746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23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7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PC(Windows)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로그 </a:t>
                      </a:r>
                      <a:r>
                        <a:rPr lang="ko-KR" altLang="en-US" sz="14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라이크</a:t>
                      </a:r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타워 디펜스</a:t>
                      </a:r>
                      <a:endParaRPr lang="ko-KR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2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4인(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기획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1,</a:t>
                      </a:r>
                      <a:r>
                        <a:rPr lang="ko-KR" alt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플밍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2,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아트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2025. 05 ~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현재</a:t>
                      </a:r>
                      <a:endParaRPr lang="en-US" sz="1400" baseline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C#, Unity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3"/>
                        </a:rPr>
                        <a:t>유튜브</a:t>
                      </a: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3"/>
                        </a:rPr>
                        <a:t>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2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요약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ko-KR" sz="1400" dirty="0"/>
                        <a:t>indows OS</a:t>
                      </a:r>
                      <a:r>
                        <a:rPr lang="ko-KR" altLang="en-US" sz="1400" dirty="0"/>
                        <a:t>와 파일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확장자를 컨셉으로 하여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주어진 경로에 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바이러스를 막는 디펜스 게임이다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 플레이어는 라운드를 클리어하여 얻은 재화를 통해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더 상위인 파일을 해금하거나 영구적으로 파일들의 위력을 높일 수 있다</a:t>
                      </a:r>
                      <a:r>
                        <a:rPr lang="en-US" altLang="ko-KR" sz="1400" dirty="0"/>
                        <a:t>. </a:t>
                      </a: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2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charset="0"/>
                          <a:cs typeface="Arial" panose="020B0604020202020204" pitchFamily="34" charset="0"/>
                        </a:rPr>
                        <a:t>역할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파일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바이러스</a:t>
                      </a:r>
                      <a:r>
                        <a:rPr lang="en-US" altLang="ko-KR" sz="1400" dirty="0"/>
                        <a:t>/UI </a:t>
                      </a:r>
                      <a:r>
                        <a:rPr lang="ko-KR" altLang="en-US" sz="1400" dirty="0"/>
                        <a:t>입력 및 상호작용 이벤트 시스템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버프 파일 유닛의 버프 부여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해제 로직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그리드 기반 오브젝트 배치 시스템 설계</a:t>
                      </a:r>
                      <a:endParaRPr lang="en-US" altLang="ko-KR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5CC81EB2-0589-48F3-9294-89159E56D0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39861" y="2660595"/>
            <a:ext cx="4439976" cy="275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6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7FE073A-820D-C76A-6572-137FA8E151EA}"/>
              </a:ext>
            </a:extLst>
          </p:cNvPr>
          <p:cNvGrpSpPr/>
          <p:nvPr/>
        </p:nvGrpSpPr>
        <p:grpSpPr>
          <a:xfrm>
            <a:off x="114300" y="108000"/>
            <a:ext cx="11850220" cy="6084503"/>
            <a:chOff x="1524305" y="571500"/>
            <a:chExt cx="10096805" cy="5715000"/>
          </a:xfrm>
        </p:grpSpPr>
        <p:sp>
          <p:nvSpPr>
            <p:cNvPr id="13" name="Shape 8"/>
            <p:cNvSpPr/>
            <p:nvPr/>
          </p:nvSpPr>
          <p:spPr>
            <a:xfrm>
              <a:off x="1524305" y="571500"/>
              <a:ext cx="10096805" cy="5715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1543507" y="590702"/>
              <a:ext cx="100584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1638605" y="952805"/>
              <a:ext cx="9868205" cy="5238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11354105" y="619049"/>
              <a:ext cx="209398" cy="209398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809598" y="1143000"/>
              <a:ext cx="9525305" cy="476402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8" name="Shape 13"/>
            <p:cNvSpPr/>
            <p:nvPr/>
          </p:nvSpPr>
          <p:spPr>
            <a:xfrm>
              <a:off x="1809598" y="1809598"/>
              <a:ext cx="4762195" cy="419069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9" name="Shape 14"/>
            <p:cNvSpPr/>
            <p:nvPr/>
          </p:nvSpPr>
          <p:spPr>
            <a:xfrm>
              <a:off x="6762902" y="1809598"/>
              <a:ext cx="4572000" cy="419069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20" name="Shape 15"/>
            <p:cNvSpPr/>
            <p:nvPr/>
          </p:nvSpPr>
          <p:spPr>
            <a:xfrm>
              <a:off x="1848002" y="1848002"/>
              <a:ext cx="4686300" cy="34290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1" name="Shape 16"/>
            <p:cNvSpPr/>
            <p:nvPr/>
          </p:nvSpPr>
          <p:spPr>
            <a:xfrm>
              <a:off x="6801307" y="1848002"/>
              <a:ext cx="4496105" cy="34290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2" name="Shape 17"/>
            <p:cNvSpPr/>
            <p:nvPr/>
          </p:nvSpPr>
          <p:spPr>
            <a:xfrm>
              <a:off x="6831958" y="2298363"/>
              <a:ext cx="4427049" cy="43799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1666951" y="629107"/>
              <a:ext cx="146304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File Tower Defence.exe</a:t>
              </a:r>
              <a:endParaRPr lang="en-US" altLang="ko-KR" sz="1000" b="1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11419942" y="657454"/>
              <a:ext cx="859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3159015" y="1253185"/>
              <a:ext cx="7207773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UI </a:t>
              </a:r>
              <a:r>
                <a:rPr lang="ko-KR" altLang="en-US" sz="16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기반 설계로 인한 월드 좌표계와의 변환이 까다로운 문제점</a:t>
              </a:r>
              <a:endParaRPr lang="en-US" sz="16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3207715" y="1895551"/>
              <a:ext cx="197601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300" b="1" dirty="0">
                  <a:solidFill>
                    <a:srgbClr val="FFD7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문제 설명</a:t>
              </a:r>
              <a:endParaRPr lang="en-US" sz="1300" dirty="0"/>
            </a:p>
          </p:txBody>
        </p:sp>
        <p:sp>
          <p:nvSpPr>
            <p:cNvPr id="27" name="Text 22"/>
            <p:cNvSpPr txBox="1"/>
            <p:nvPr/>
          </p:nvSpPr>
          <p:spPr>
            <a:xfrm>
              <a:off x="1904695" y="2335186"/>
              <a:ext cx="4572000" cy="558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b="1" dirty="0">
                  <a:solidFill>
                    <a:schemeClr val="accent1"/>
                  </a:solidFill>
                </a:rPr>
                <a:t>1. </a:t>
              </a:r>
              <a:r>
                <a:rPr lang="ko-KR" altLang="en-US" sz="1600" b="1" dirty="0">
                  <a:solidFill>
                    <a:schemeClr val="accent1"/>
                  </a:solidFill>
                </a:rPr>
                <a:t>개발 모티브</a:t>
              </a:r>
              <a:endParaRPr lang="en-US" altLang="ko-KR" sz="1600" b="1" dirty="0">
                <a:solidFill>
                  <a:schemeClr val="accent1"/>
                </a:solidFill>
              </a:endParaRPr>
            </a:p>
            <a:p>
              <a:r>
                <a:rPr lang="ko-KR" altLang="en-US" sz="1400" b="1" dirty="0"/>
                <a:t>초기 개발 단계에서</a:t>
              </a:r>
              <a:r>
                <a:rPr lang="en-US" altLang="ko-KR" sz="1400" b="1" dirty="0"/>
                <a:t>, </a:t>
              </a:r>
              <a:r>
                <a:rPr lang="ko-KR" altLang="en-US" sz="1400" b="1" dirty="0"/>
                <a:t>우리 </a:t>
              </a:r>
              <a:r>
                <a:rPr lang="en-US" altLang="ko-KR" sz="1400" b="1" dirty="0"/>
                <a:t>Windows OS</a:t>
              </a:r>
              <a:r>
                <a:rPr lang="ko-KR" altLang="en-US" sz="1400" b="1" dirty="0"/>
                <a:t>에 존재하는 파일의 </a:t>
              </a:r>
              <a:endParaRPr lang="en-US" altLang="ko-KR" sz="1400" b="1" dirty="0"/>
            </a:p>
            <a:p>
              <a:r>
                <a:rPr lang="ko-KR" altLang="en-US" sz="1400" b="1" dirty="0"/>
                <a:t>드래그</a:t>
              </a:r>
              <a:r>
                <a:rPr lang="en-US" altLang="ko-KR" sz="1400" b="1" dirty="0"/>
                <a:t>&amp;</a:t>
              </a:r>
              <a:r>
                <a:rPr lang="ko-KR" altLang="en-US" sz="1400" b="1" dirty="0"/>
                <a:t>드랍의 배치 느낌을 모티브를 삼았다</a:t>
              </a:r>
              <a:r>
                <a:rPr lang="en-US" altLang="ko-KR" sz="1400" b="1" dirty="0"/>
                <a:t>. </a:t>
              </a:r>
              <a:endParaRPr lang="ko-KR" altLang="en-US" sz="1400" b="1" dirty="0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1904695" y="3236963"/>
              <a:ext cx="4572000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b="1" dirty="0">
                  <a:solidFill>
                    <a:schemeClr val="accent1"/>
                  </a:solidFill>
                </a:rPr>
                <a:t>2. </a:t>
              </a:r>
              <a:r>
                <a:rPr lang="ko-KR" altLang="en-US" sz="1600" b="1" dirty="0">
                  <a:solidFill>
                    <a:schemeClr val="accent1"/>
                  </a:solidFill>
                </a:rPr>
                <a:t>초기 개발 설계</a:t>
              </a:r>
              <a:endParaRPr lang="en-US" altLang="ko-KR" sz="1600" b="1" dirty="0">
                <a:solidFill>
                  <a:schemeClr val="accent1"/>
                </a:solidFill>
              </a:endParaRPr>
            </a:p>
            <a:p>
              <a:r>
                <a:rPr lang="ko-KR" altLang="en-US" sz="1400" b="1" dirty="0"/>
                <a:t>실제 파일들이 </a:t>
              </a:r>
              <a:r>
                <a:rPr lang="en-US" altLang="ko-KR" sz="1400" b="1" dirty="0"/>
                <a:t>UI</a:t>
              </a:r>
              <a:r>
                <a:rPr lang="ko-KR" altLang="en-US" sz="1400" b="1" dirty="0"/>
                <a:t>이기도 하니까</a:t>
              </a:r>
              <a:r>
                <a:rPr lang="en-US" altLang="ko-KR" sz="1400" b="1" dirty="0"/>
                <a:t>  </a:t>
              </a:r>
              <a:r>
                <a:rPr lang="ko-KR" altLang="en-US" sz="1400" b="1" dirty="0">
                  <a:solidFill>
                    <a:srgbClr val="00B050"/>
                  </a:solidFill>
                </a:rPr>
                <a:t>파일 유닛을 </a:t>
              </a:r>
              <a:r>
                <a:rPr lang="en-US" altLang="ko-KR" sz="1400" b="1" dirty="0">
                  <a:solidFill>
                    <a:srgbClr val="00B050"/>
                  </a:solidFill>
                </a:rPr>
                <a:t>“UI Slot</a:t>
              </a:r>
              <a:r>
                <a:rPr lang="ko-KR" altLang="en-US" sz="1400" b="1" dirty="0">
                  <a:solidFill>
                    <a:srgbClr val="00B050"/>
                  </a:solidFill>
                </a:rPr>
                <a:t>에 배치하면</a:t>
              </a:r>
              <a:r>
                <a:rPr lang="en-US" altLang="ko-KR" sz="1400" b="1" dirty="0">
                  <a:solidFill>
                    <a:srgbClr val="00B050"/>
                  </a:solidFill>
                </a:rPr>
                <a:t> </a:t>
              </a:r>
              <a:r>
                <a:rPr lang="ko-KR" altLang="en-US" sz="1400" b="1" dirty="0">
                  <a:solidFill>
                    <a:srgbClr val="00B050"/>
                  </a:solidFill>
                </a:rPr>
                <a:t>되지 않을까</a:t>
              </a:r>
              <a:r>
                <a:rPr lang="en-US" altLang="ko-KR" sz="1400" b="1" dirty="0">
                  <a:solidFill>
                    <a:srgbClr val="00B050"/>
                  </a:solidFill>
                </a:rPr>
                <a:t>?” </a:t>
              </a:r>
              <a:r>
                <a:rPr lang="ko-KR" altLang="en-US" sz="1400" b="1" dirty="0"/>
                <a:t>라는 생각을 하고 만듦</a:t>
              </a:r>
            </a:p>
          </p:txBody>
        </p:sp>
        <p:sp>
          <p:nvSpPr>
            <p:cNvPr id="31" name="Text 24"/>
            <p:cNvSpPr txBox="1"/>
            <p:nvPr/>
          </p:nvSpPr>
          <p:spPr>
            <a:xfrm>
              <a:off x="1904695" y="4008889"/>
              <a:ext cx="4177894" cy="1905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b="1" dirty="0">
                  <a:solidFill>
                    <a:schemeClr val="accent1"/>
                  </a:solidFill>
                  <a:latin typeface="Noto"/>
                </a:rPr>
                <a:t>3. </a:t>
              </a:r>
              <a:r>
                <a:rPr lang="ko-KR" altLang="en-US" sz="1600" b="1" dirty="0">
                  <a:solidFill>
                    <a:schemeClr val="accent1"/>
                  </a:solidFill>
                  <a:latin typeface="Noto"/>
                </a:rPr>
                <a:t>실질적인 문제점</a:t>
              </a:r>
              <a:endParaRPr lang="en-US" altLang="ko-KR" sz="1600" b="1" dirty="0">
                <a:solidFill>
                  <a:schemeClr val="accent1"/>
                </a:solidFill>
                <a:latin typeface="Noto"/>
              </a:endParaRPr>
            </a:p>
            <a:p>
              <a:r>
                <a:rPr lang="ko-KR" altLang="en-US" sz="1400" b="1" dirty="0">
                  <a:latin typeface="Noto"/>
                </a:rPr>
                <a:t>바이러스가 </a:t>
              </a:r>
              <a:r>
                <a:rPr lang="en-US" altLang="ko-KR" sz="1400" b="1" dirty="0">
                  <a:latin typeface="Noto"/>
                </a:rPr>
                <a:t>UI(</a:t>
              </a:r>
              <a:r>
                <a:rPr lang="en-US" altLang="ko-KR" sz="1400" b="1" dirty="0" err="1">
                  <a:latin typeface="Noto"/>
                </a:rPr>
                <a:t>RectTransform</a:t>
              </a:r>
              <a:r>
                <a:rPr lang="en-US" altLang="ko-KR" sz="1400" b="1" dirty="0">
                  <a:latin typeface="Noto"/>
                </a:rPr>
                <a:t>) </a:t>
              </a:r>
              <a:r>
                <a:rPr lang="ko-KR" altLang="en-US" sz="1400" b="1" dirty="0">
                  <a:latin typeface="Noto"/>
                </a:rPr>
                <a:t>객체의 위치를</a:t>
              </a:r>
              <a:endParaRPr lang="en-US" altLang="ko-KR" sz="1400" b="1" dirty="0">
                <a:latin typeface="Noto"/>
              </a:endParaRPr>
            </a:p>
            <a:p>
              <a:r>
                <a:rPr lang="ko-KR" altLang="en-US" sz="1400" b="1" dirty="0">
                  <a:latin typeface="Noto"/>
                </a:rPr>
                <a:t> 비교하거나 찾고자 할 때 </a:t>
              </a:r>
              <a:endParaRPr lang="en-US" altLang="ko-KR" sz="1400" b="1" dirty="0">
                <a:latin typeface="Noto"/>
              </a:endParaRPr>
            </a:p>
            <a:p>
              <a:r>
                <a:rPr lang="ko-KR" altLang="en-US" sz="1400" b="1" dirty="0">
                  <a:solidFill>
                    <a:srgbClr val="FF0000"/>
                  </a:solidFill>
                  <a:latin typeface="Noto"/>
                </a:rPr>
                <a:t>빈번한 좌표계 변환으로 로직의 복잡도가 올라갔음</a:t>
              </a:r>
              <a:endParaRPr lang="en-US" altLang="ko-KR" sz="1400" b="1" dirty="0">
                <a:solidFill>
                  <a:srgbClr val="FF0000"/>
                </a:solidFill>
                <a:latin typeface="Noto"/>
              </a:endParaRPr>
            </a:p>
            <a:p>
              <a:endParaRPr lang="en-US" altLang="ko-KR" sz="1400" b="1" dirty="0">
                <a:latin typeface="Noto"/>
              </a:endParaRPr>
            </a:p>
            <a:p>
              <a:r>
                <a:rPr lang="ko-KR" altLang="en-US" sz="1400" b="1" dirty="0">
                  <a:latin typeface="Noto"/>
                </a:rPr>
                <a:t>다른 </a:t>
              </a:r>
              <a:r>
                <a:rPr lang="en-US" altLang="ko-KR" sz="1400" b="1" dirty="0">
                  <a:latin typeface="Noto"/>
                </a:rPr>
                <a:t>Canvas</a:t>
              </a:r>
              <a:r>
                <a:rPr lang="ko-KR" altLang="en-US" sz="1400" b="1" dirty="0">
                  <a:latin typeface="Noto"/>
                </a:rPr>
                <a:t>나</a:t>
              </a:r>
              <a:r>
                <a:rPr lang="en-US" altLang="ko-KR" sz="1400" b="1" dirty="0">
                  <a:latin typeface="Noto"/>
                </a:rPr>
                <a:t>, </a:t>
              </a:r>
              <a:r>
                <a:rPr lang="ko-KR" altLang="en-US" sz="1400" b="1" dirty="0">
                  <a:latin typeface="Noto"/>
                </a:rPr>
                <a:t>부모 </a:t>
              </a:r>
              <a:r>
                <a:rPr lang="en-US" altLang="ko-KR" sz="1400" b="1" dirty="0" err="1">
                  <a:latin typeface="Noto"/>
                </a:rPr>
                <a:t>RectTransform</a:t>
              </a:r>
              <a:r>
                <a:rPr lang="ko-KR" altLang="en-US" sz="1400" b="1" dirty="0">
                  <a:latin typeface="Noto"/>
                </a:rPr>
                <a:t>로 이동했을 때</a:t>
              </a:r>
              <a:endParaRPr lang="en-US" altLang="ko-KR" sz="1400" b="1" dirty="0">
                <a:latin typeface="Noto"/>
              </a:endParaRPr>
            </a:p>
            <a:p>
              <a:r>
                <a:rPr lang="en-US" altLang="ko-KR" sz="1400" b="1" dirty="0">
                  <a:latin typeface="Noto"/>
                </a:rPr>
                <a:t> </a:t>
              </a:r>
              <a:r>
                <a:rPr lang="ko-KR" altLang="en-US" sz="1400" b="1" dirty="0">
                  <a:latin typeface="Noto"/>
                </a:rPr>
                <a:t>그리고 </a:t>
              </a:r>
              <a:r>
                <a:rPr lang="en-US" altLang="ko-KR" sz="1400" b="1" dirty="0">
                  <a:latin typeface="Noto"/>
                </a:rPr>
                <a:t>Canvas </a:t>
              </a:r>
              <a:r>
                <a:rPr lang="ko-KR" altLang="en-US" sz="1400" b="1" dirty="0">
                  <a:latin typeface="Noto"/>
                </a:rPr>
                <a:t>안에 수 많은 </a:t>
              </a:r>
              <a:r>
                <a:rPr lang="en-US" altLang="ko-KR" sz="1400" b="1" dirty="0">
                  <a:latin typeface="Noto"/>
                </a:rPr>
                <a:t>UI </a:t>
              </a:r>
              <a:r>
                <a:rPr lang="ko-KR" altLang="en-US" sz="1400" b="1" dirty="0">
                  <a:latin typeface="Noto"/>
                </a:rPr>
                <a:t>자식들이 존재했을 때 </a:t>
              </a:r>
              <a:endParaRPr lang="en-US" altLang="ko-KR" sz="1400" b="1" dirty="0">
                <a:latin typeface="Noto"/>
              </a:endParaRPr>
            </a:p>
            <a:p>
              <a:r>
                <a:rPr lang="en-US" altLang="ko-KR" sz="1400" b="1" dirty="0">
                  <a:solidFill>
                    <a:srgbClr val="FF0000"/>
                  </a:solidFill>
                  <a:latin typeface="Noto"/>
                </a:rPr>
                <a:t>UI</a:t>
              </a:r>
              <a:r>
                <a:rPr lang="ko-KR" altLang="en-US" sz="1400" b="1" dirty="0">
                  <a:solidFill>
                    <a:srgbClr val="FF0000"/>
                  </a:solidFill>
                  <a:latin typeface="Noto"/>
                </a:rPr>
                <a:t> </a:t>
              </a:r>
              <a:r>
                <a:rPr lang="en-US" altLang="ko-KR" sz="1400" b="1" dirty="0" err="1">
                  <a:solidFill>
                    <a:srgbClr val="FF0000"/>
                  </a:solidFill>
                  <a:latin typeface="Noto"/>
                </a:rPr>
                <a:t>ReBuilding</a:t>
              </a:r>
              <a:r>
                <a:rPr lang="ko-KR" altLang="en-US" sz="1400" b="1" dirty="0">
                  <a:solidFill>
                    <a:srgbClr val="FF0000"/>
                  </a:solidFill>
                  <a:latin typeface="Noto"/>
                </a:rPr>
                <a:t>으로 인한 성능적인</a:t>
              </a:r>
              <a:r>
                <a:rPr lang="en-US" altLang="ko-KR" sz="1400" b="1" dirty="0">
                  <a:solidFill>
                    <a:srgbClr val="FF0000"/>
                  </a:solidFill>
                  <a:latin typeface="Noto"/>
                </a:rPr>
                <a:t> </a:t>
              </a:r>
              <a:r>
                <a:rPr lang="ko-KR" altLang="en-US" sz="1400" b="1" dirty="0">
                  <a:solidFill>
                    <a:srgbClr val="FF0000"/>
                  </a:solidFill>
                  <a:latin typeface="Noto"/>
                </a:rPr>
                <a:t>부하도 존재함 </a:t>
              </a:r>
            </a:p>
            <a:p>
              <a:endParaRPr lang="ko-KR" altLang="en-US" sz="1400" b="1" dirty="0">
                <a:latin typeface="Noto"/>
              </a:endParaRPr>
            </a:p>
          </p:txBody>
        </p:sp>
        <p:sp>
          <p:nvSpPr>
            <p:cNvPr id="32" name="Text 25"/>
            <p:cNvSpPr txBox="1"/>
            <p:nvPr/>
          </p:nvSpPr>
          <p:spPr>
            <a:xfrm>
              <a:off x="8448142" y="1895551"/>
              <a:ext cx="120700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300" b="1" dirty="0">
                  <a:solidFill>
                    <a:srgbClr val="FFD7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예시 자료</a:t>
              </a:r>
              <a:endParaRPr lang="en-US" sz="1300" dirty="0"/>
            </a:p>
          </p:txBody>
        </p:sp>
        <p:sp>
          <p:nvSpPr>
            <p:cNvPr id="33" name="Text 26"/>
            <p:cNvSpPr txBox="1"/>
            <p:nvPr/>
          </p:nvSpPr>
          <p:spPr>
            <a:xfrm>
              <a:off x="6782105" y="2412663"/>
              <a:ext cx="453999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💡 </a:t>
              </a:r>
              <a:r>
                <a:rPr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좌표계가 다르므로 변환은 필수적임</a:t>
              </a:r>
              <a:endParaRPr lang="en-US" sz="1200" dirty="0"/>
            </a:p>
          </p:txBody>
        </p:sp>
      </p:grp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BE86387-1B21-BD92-D4E4-B54B69646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14006"/>
              </p:ext>
            </p:extLst>
          </p:nvPr>
        </p:nvGraphicFramePr>
        <p:xfrm>
          <a:off x="6349576" y="2534520"/>
          <a:ext cx="5189958" cy="3261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993">
                  <a:extLst>
                    <a:ext uri="{9D8B030D-6E8A-4147-A177-3AD203B41FA5}">
                      <a16:colId xmlns:a16="http://schemas.microsoft.com/office/drawing/2014/main" val="808323853"/>
                    </a:ext>
                  </a:extLst>
                </a:gridCol>
                <a:gridCol w="864993">
                  <a:extLst>
                    <a:ext uri="{9D8B030D-6E8A-4147-A177-3AD203B41FA5}">
                      <a16:colId xmlns:a16="http://schemas.microsoft.com/office/drawing/2014/main" val="2167153556"/>
                    </a:ext>
                  </a:extLst>
                </a:gridCol>
                <a:gridCol w="864993">
                  <a:extLst>
                    <a:ext uri="{9D8B030D-6E8A-4147-A177-3AD203B41FA5}">
                      <a16:colId xmlns:a16="http://schemas.microsoft.com/office/drawing/2014/main" val="1596330565"/>
                    </a:ext>
                  </a:extLst>
                </a:gridCol>
                <a:gridCol w="864993">
                  <a:extLst>
                    <a:ext uri="{9D8B030D-6E8A-4147-A177-3AD203B41FA5}">
                      <a16:colId xmlns:a16="http://schemas.microsoft.com/office/drawing/2014/main" val="1436345483"/>
                    </a:ext>
                  </a:extLst>
                </a:gridCol>
                <a:gridCol w="864993">
                  <a:extLst>
                    <a:ext uri="{9D8B030D-6E8A-4147-A177-3AD203B41FA5}">
                      <a16:colId xmlns:a16="http://schemas.microsoft.com/office/drawing/2014/main" val="2426059796"/>
                    </a:ext>
                  </a:extLst>
                </a:gridCol>
                <a:gridCol w="864993">
                  <a:extLst>
                    <a:ext uri="{9D8B030D-6E8A-4147-A177-3AD203B41FA5}">
                      <a16:colId xmlns:a16="http://schemas.microsoft.com/office/drawing/2014/main" val="2697451490"/>
                    </a:ext>
                  </a:extLst>
                </a:gridCol>
              </a:tblGrid>
              <a:tr h="65239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0238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531159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27754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494980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06972"/>
                  </a:ext>
                </a:extLst>
              </a:tr>
            </a:tbl>
          </a:graphicData>
        </a:graphic>
      </p:graphicFrame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lang="en-US" sz="900" dirty="0"/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63C82EFC-403E-F362-D822-88E215EFE01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728511" y="2853961"/>
            <a:ext cx="4052963" cy="1949460"/>
          </a:xfrm>
          <a:prstGeom prst="bentConnector3">
            <a:avLst>
              <a:gd name="adj1" fmla="val 44234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Image 3">
            <a:extLst>
              <a:ext uri="{FF2B5EF4-FFF2-40B4-BE49-F238E27FC236}">
                <a16:creationId xmlns:a16="http://schemas.microsoft.com/office/drawing/2014/main" id="{C8263B33-D53D-488C-AAC4-5460A0C55D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40533" y="3205154"/>
            <a:ext cx="544702" cy="544702"/>
          </a:xfrm>
          <a:prstGeom prst="rect">
            <a:avLst/>
          </a:prstGeom>
        </p:spPr>
      </p:pic>
      <p:pic>
        <p:nvPicPr>
          <p:cNvPr id="81" name="Image 6">
            <a:extLst>
              <a:ext uri="{FF2B5EF4-FFF2-40B4-BE49-F238E27FC236}">
                <a16:creationId xmlns:a16="http://schemas.microsoft.com/office/drawing/2014/main" id="{452A2032-BFB0-4369-BA87-515AD5B91FA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</a:blip>
          <a:srcRect l="-16667" r="-16667"/>
          <a:stretch/>
        </p:blipFill>
        <p:spPr>
          <a:xfrm>
            <a:off x="7240140" y="3094681"/>
            <a:ext cx="768045" cy="768045"/>
          </a:xfrm>
          <a:prstGeom prst="rect">
            <a:avLst/>
          </a:prstGeom>
        </p:spPr>
      </p:pic>
      <p:pic>
        <p:nvPicPr>
          <p:cNvPr id="30" name="Image 0" descr="gen-dedup-57ee6a1f0d650d3a975db06a8ec6cc96.png">
            <a:extLst>
              <a:ext uri="{FF2B5EF4-FFF2-40B4-BE49-F238E27FC236}">
                <a16:creationId xmlns:a16="http://schemas.microsoft.com/office/drawing/2014/main" id="{FBB2E004-88EE-7234-C38D-6B1F0BE062D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10781474" y="4470979"/>
            <a:ext cx="664883" cy="664883"/>
          </a:xfrm>
          <a:prstGeom prst="rect">
            <a:avLst/>
          </a:prstGeom>
        </p:spPr>
      </p:pic>
      <p:pic>
        <p:nvPicPr>
          <p:cNvPr id="60" name="Image 4" descr="gen-dedup-9fdbec92b016124fd02e3850a5123f8c.png">
            <a:extLst>
              <a:ext uri="{FF2B5EF4-FFF2-40B4-BE49-F238E27FC236}">
                <a16:creationId xmlns:a16="http://schemas.microsoft.com/office/drawing/2014/main" id="{1D4A33A4-26BD-B637-9FFE-BEE1883C43E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50864" y="3871546"/>
            <a:ext cx="542235" cy="542235"/>
          </a:xfrm>
          <a:prstGeom prst="rect">
            <a:avLst/>
          </a:prstGeom>
        </p:spPr>
      </p:pic>
      <p:pic>
        <p:nvPicPr>
          <p:cNvPr id="72" name="Image 4" descr="gen-dedup-21ca404cb11db46d70576942e588b6e2.png">
            <a:extLst>
              <a:ext uri="{FF2B5EF4-FFF2-40B4-BE49-F238E27FC236}">
                <a16:creationId xmlns:a16="http://schemas.microsoft.com/office/drawing/2014/main" id="{0790DD10-42FE-FDD1-1BB4-F4B1B7DFBD2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</a:blip>
          <a:srcRect l="-30000" r="-30000"/>
          <a:stretch/>
        </p:blipFill>
        <p:spPr>
          <a:xfrm>
            <a:off x="7357861" y="3434540"/>
            <a:ext cx="726887" cy="726887"/>
          </a:xfrm>
          <a:prstGeom prst="rect">
            <a:avLst/>
          </a:prstGeom>
          <a:ln>
            <a:noFill/>
          </a:ln>
        </p:spPr>
      </p:pic>
      <p:grpSp>
        <p:nvGrpSpPr>
          <p:cNvPr id="73" name="그룹 72">
            <a:extLst>
              <a:ext uri="{FF2B5EF4-FFF2-40B4-BE49-F238E27FC236}">
                <a16:creationId xmlns:a16="http://schemas.microsoft.com/office/drawing/2014/main" id="{FFCF6FAA-D04C-1DA2-DD2D-B8C5A560862C}"/>
              </a:ext>
            </a:extLst>
          </p:cNvPr>
          <p:cNvGrpSpPr/>
          <p:nvPr/>
        </p:nvGrpSpPr>
        <p:grpSpPr>
          <a:xfrm>
            <a:off x="9132296" y="2534520"/>
            <a:ext cx="2355311" cy="1034414"/>
            <a:chOff x="9151516" y="2859399"/>
            <a:chExt cx="2355311" cy="1034414"/>
          </a:xfrm>
        </p:grpSpPr>
        <p:sp>
          <p:nvSpPr>
            <p:cNvPr id="71" name="말풍선: 타원형 70">
              <a:extLst>
                <a:ext uri="{FF2B5EF4-FFF2-40B4-BE49-F238E27FC236}">
                  <a16:creationId xmlns:a16="http://schemas.microsoft.com/office/drawing/2014/main" id="{2B33DCFA-EE88-1EB9-B6CD-65E40869D40F}"/>
                </a:ext>
              </a:extLst>
            </p:cNvPr>
            <p:cNvSpPr/>
            <p:nvPr/>
          </p:nvSpPr>
          <p:spPr>
            <a:xfrm>
              <a:off x="9405934" y="2903452"/>
              <a:ext cx="2100893" cy="990361"/>
            </a:xfrm>
            <a:prstGeom prst="wedgeEllipseCallout">
              <a:avLst>
                <a:gd name="adj1" fmla="val -76966"/>
                <a:gd name="adj2" fmla="val 80288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파일과 </a:t>
              </a:r>
              <a:r>
                <a:rPr lang="ko-KR" altLang="en-US" sz="1400" dirty="0" err="1"/>
                <a:t>바이러는</a:t>
              </a:r>
              <a:r>
                <a:rPr lang="ko-KR" altLang="en-US" sz="1400" dirty="0"/>
                <a:t> 좌표가 달라 변환이 필요함 </a:t>
              </a:r>
            </a:p>
          </p:txBody>
        </p:sp>
        <p:sp>
          <p:nvSpPr>
            <p:cNvPr id="10" name="&quot;허용 안 됨&quot; 기호 9">
              <a:extLst>
                <a:ext uri="{FF2B5EF4-FFF2-40B4-BE49-F238E27FC236}">
                  <a16:creationId xmlns:a16="http://schemas.microsoft.com/office/drawing/2014/main" id="{F99B210B-83BF-4108-B11A-81CE19C3F31B}"/>
                </a:ext>
              </a:extLst>
            </p:cNvPr>
            <p:cNvSpPr/>
            <p:nvPr/>
          </p:nvSpPr>
          <p:spPr>
            <a:xfrm>
              <a:off x="9151516" y="2859399"/>
              <a:ext cx="486550" cy="468565"/>
            </a:xfrm>
            <a:prstGeom prst="noSmoking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74" name="Image 6">
            <a:extLst>
              <a:ext uri="{FF2B5EF4-FFF2-40B4-BE49-F238E27FC236}">
                <a16:creationId xmlns:a16="http://schemas.microsoft.com/office/drawing/2014/main" id="{A43ED3D0-EBE0-C615-A34A-735989B06F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6667" r="-16667"/>
          <a:stretch/>
        </p:blipFill>
        <p:spPr>
          <a:xfrm>
            <a:off x="6407112" y="4438601"/>
            <a:ext cx="768045" cy="768045"/>
          </a:xfrm>
          <a:prstGeom prst="rect">
            <a:avLst/>
          </a:prstGeom>
        </p:spPr>
      </p:pic>
      <p:pic>
        <p:nvPicPr>
          <p:cNvPr id="84" name="Image 4" descr="gen-dedup-21ca404cb11db46d70576942e588b6e2.png">
            <a:extLst>
              <a:ext uri="{FF2B5EF4-FFF2-40B4-BE49-F238E27FC236}">
                <a16:creationId xmlns:a16="http://schemas.microsoft.com/office/drawing/2014/main" id="{6649E134-0BDF-19FE-647D-30B9C508E3C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-30000" r="-30000"/>
          <a:stretch/>
        </p:blipFill>
        <p:spPr>
          <a:xfrm>
            <a:off x="6572500" y="4704966"/>
            <a:ext cx="726887" cy="726887"/>
          </a:xfrm>
          <a:prstGeom prst="rect">
            <a:avLst/>
          </a:prstGeom>
          <a:ln>
            <a:noFill/>
          </a:ln>
        </p:spPr>
      </p:pic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AA29195-A45E-EB31-EA69-73801CBDF07F}"/>
              </a:ext>
            </a:extLst>
          </p:cNvPr>
          <p:cNvCxnSpPr/>
          <p:nvPr/>
        </p:nvCxnSpPr>
        <p:spPr>
          <a:xfrm flipH="1">
            <a:off x="6908800" y="3828691"/>
            <a:ext cx="715362" cy="1307171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73C9D02-E6DC-12CD-1D93-AFF3E61FDCBB}"/>
              </a:ext>
            </a:extLst>
          </p:cNvPr>
          <p:cNvGrpSpPr/>
          <p:nvPr/>
        </p:nvGrpSpPr>
        <p:grpSpPr>
          <a:xfrm>
            <a:off x="7624163" y="4961739"/>
            <a:ext cx="2157336" cy="1118964"/>
            <a:chOff x="9007132" y="2965815"/>
            <a:chExt cx="2321953" cy="1462359"/>
          </a:xfrm>
        </p:grpSpPr>
        <p:sp>
          <p:nvSpPr>
            <p:cNvPr id="96" name="말풍선: 타원형 95">
              <a:extLst>
                <a:ext uri="{FF2B5EF4-FFF2-40B4-BE49-F238E27FC236}">
                  <a16:creationId xmlns:a16="http://schemas.microsoft.com/office/drawing/2014/main" id="{A3D771D0-46C2-C53B-154F-3B23AED7FE28}"/>
                </a:ext>
              </a:extLst>
            </p:cNvPr>
            <p:cNvSpPr/>
            <p:nvPr/>
          </p:nvSpPr>
          <p:spPr>
            <a:xfrm>
              <a:off x="9228192" y="3115823"/>
              <a:ext cx="2100893" cy="1312351"/>
            </a:xfrm>
            <a:prstGeom prst="wedgeEllipseCallout">
              <a:avLst>
                <a:gd name="adj1" fmla="val -84287"/>
                <a:gd name="adj2" fmla="val -60886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파일 이동시</a:t>
              </a:r>
              <a:r>
                <a:rPr lang="en-US" altLang="ko-KR" sz="1400" dirty="0"/>
                <a:t>, UI Rebuilding</a:t>
              </a:r>
              <a:r>
                <a:rPr lang="ko-KR" altLang="en-US" sz="1400" dirty="0"/>
                <a:t>으로 인한 성능 부하</a:t>
              </a:r>
            </a:p>
          </p:txBody>
        </p:sp>
        <p:sp>
          <p:nvSpPr>
            <p:cNvPr id="97" name="&quot;허용 안 됨&quot; 기호 96">
              <a:extLst>
                <a:ext uri="{FF2B5EF4-FFF2-40B4-BE49-F238E27FC236}">
                  <a16:creationId xmlns:a16="http://schemas.microsoft.com/office/drawing/2014/main" id="{0F1BF280-8B13-39FA-52EE-E1CADC9835D0}"/>
                </a:ext>
              </a:extLst>
            </p:cNvPr>
            <p:cNvSpPr/>
            <p:nvPr/>
          </p:nvSpPr>
          <p:spPr>
            <a:xfrm>
              <a:off x="9007132" y="2965815"/>
              <a:ext cx="560202" cy="711863"/>
            </a:xfrm>
            <a:prstGeom prst="noSmoking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891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7FE073A-820D-C76A-6572-137FA8E151EA}"/>
              </a:ext>
            </a:extLst>
          </p:cNvPr>
          <p:cNvGrpSpPr/>
          <p:nvPr/>
        </p:nvGrpSpPr>
        <p:grpSpPr>
          <a:xfrm>
            <a:off x="193040" y="108000"/>
            <a:ext cx="11771480" cy="6084503"/>
            <a:chOff x="1524305" y="571500"/>
            <a:chExt cx="10096805" cy="5715000"/>
          </a:xfrm>
        </p:grpSpPr>
        <p:sp>
          <p:nvSpPr>
            <p:cNvPr id="13" name="Shape 8"/>
            <p:cNvSpPr/>
            <p:nvPr/>
          </p:nvSpPr>
          <p:spPr>
            <a:xfrm>
              <a:off x="1524305" y="571500"/>
              <a:ext cx="10096805" cy="5715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1543507" y="590702"/>
              <a:ext cx="100584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1638605" y="952805"/>
              <a:ext cx="9868205" cy="5238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11354105" y="619049"/>
              <a:ext cx="209398" cy="209398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809598" y="1143000"/>
              <a:ext cx="9525305" cy="476402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1666951" y="629107"/>
              <a:ext cx="146304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File Tower Defence.exe</a:t>
              </a:r>
              <a:endParaRPr lang="en-US" altLang="ko-KR" sz="1000" b="1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11419942" y="657454"/>
              <a:ext cx="859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3159015" y="1253185"/>
              <a:ext cx="7207773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2000" b="1" dirty="0">
                  <a:solidFill>
                    <a:srgbClr val="FFFFFF"/>
                  </a:solidFill>
                  <a:ea typeface="Nanum Gothic Coding" pitchFamily="34" charset="-122"/>
                  <a:cs typeface="Nanum Gothic Coding" pitchFamily="34" charset="-120"/>
                </a:rPr>
                <a:t>Grid </a:t>
              </a:r>
              <a:r>
                <a:rPr lang="ko-KR" altLang="en-US" sz="2000" b="1" dirty="0">
                  <a:solidFill>
                    <a:srgbClr val="FFFFFF"/>
                  </a:solidFill>
                  <a:ea typeface="Nanum Gothic Coding" pitchFamily="34" charset="-122"/>
                  <a:cs typeface="Nanum Gothic Coding" pitchFamily="34" charset="-120"/>
                </a:rPr>
                <a:t>방식의 오브젝트 구조 변환 </a:t>
              </a:r>
              <a:r>
                <a:rPr lang="en-US" altLang="ko-KR" sz="2000" b="1" dirty="0" err="1">
                  <a:solidFill>
                    <a:srgbClr val="FFFFFF"/>
                  </a:solidFill>
                  <a:ea typeface="Nanum Gothic Coding" pitchFamily="34" charset="-122"/>
                  <a:cs typeface="Nanum Gothic Coding" pitchFamily="34" charset="-120"/>
                </a:rPr>
                <a:t>설계</a:t>
              </a:r>
              <a:endParaRPr lang="en-US" altLang="ko-KR" sz="2000" dirty="0"/>
            </a:p>
          </p:txBody>
        </p:sp>
      </p:grp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lang="en-US" sz="900" dirty="0"/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B0297758-3683-4DB8-8D33-6B3F683044A6}"/>
              </a:ext>
            </a:extLst>
          </p:cNvPr>
          <p:cNvSpPr/>
          <p:nvPr/>
        </p:nvSpPr>
        <p:spPr>
          <a:xfrm>
            <a:off x="525652" y="1380971"/>
            <a:ext cx="2286000" cy="4095598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67793AFC-0C5A-4528-9D17-E860ADCB0ED5}"/>
              </a:ext>
            </a:extLst>
          </p:cNvPr>
          <p:cNvSpPr/>
          <p:nvPr/>
        </p:nvSpPr>
        <p:spPr>
          <a:xfrm>
            <a:off x="3004692" y="1352133"/>
            <a:ext cx="2286000" cy="4095598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D657F9F6-B074-484F-82E5-CB931A50F7FB}"/>
              </a:ext>
            </a:extLst>
          </p:cNvPr>
          <p:cNvSpPr/>
          <p:nvPr/>
        </p:nvSpPr>
        <p:spPr>
          <a:xfrm>
            <a:off x="564058" y="1381431"/>
            <a:ext cx="2213460" cy="3429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0" name="Image 3" descr="gen-dedup-97f54f886636472c6bbb592f820c4ba3.png">
            <a:extLst>
              <a:ext uri="{FF2B5EF4-FFF2-40B4-BE49-F238E27FC236}">
                <a16:creationId xmlns:a16="http://schemas.microsoft.com/office/drawing/2014/main" id="{8E95717E-4024-4F78-AB53-F44A0E34E1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621664" y="3867685"/>
            <a:ext cx="2095805" cy="9144"/>
          </a:xfrm>
          <a:prstGeom prst="rect">
            <a:avLst/>
          </a:prstGeom>
        </p:spPr>
      </p:pic>
      <p:sp>
        <p:nvSpPr>
          <p:cNvPr id="73" name="Shape 19">
            <a:extLst>
              <a:ext uri="{FF2B5EF4-FFF2-40B4-BE49-F238E27FC236}">
                <a16:creationId xmlns:a16="http://schemas.microsoft.com/office/drawing/2014/main" id="{686DA45E-D943-4649-B5A2-49A50DF318D3}"/>
              </a:ext>
            </a:extLst>
          </p:cNvPr>
          <p:cNvSpPr/>
          <p:nvPr/>
        </p:nvSpPr>
        <p:spPr>
          <a:xfrm>
            <a:off x="3043096" y="1390538"/>
            <a:ext cx="2210105" cy="3429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4" name="Image 5" descr="gen-dedup-97f54f886636472c6bbb592f820c4ba3.png">
            <a:extLst>
              <a:ext uri="{FF2B5EF4-FFF2-40B4-BE49-F238E27FC236}">
                <a16:creationId xmlns:a16="http://schemas.microsoft.com/office/drawing/2014/main" id="{A1E79E11-5D24-4088-B3E8-1F10A45BBA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3099789" y="3876792"/>
            <a:ext cx="2095805" cy="9144"/>
          </a:xfrm>
          <a:prstGeom prst="rect">
            <a:avLst/>
          </a:prstGeom>
        </p:spPr>
      </p:pic>
      <p:pic>
        <p:nvPicPr>
          <p:cNvPr id="79" name="Image 6" descr="gen-dedup-66fb39db38496a85d21c93a1ae9bd156.png">
            <a:extLst>
              <a:ext uri="{FF2B5EF4-FFF2-40B4-BE49-F238E27FC236}">
                <a16:creationId xmlns:a16="http://schemas.microsoft.com/office/drawing/2014/main" id="{428CDBCF-1293-4682-975C-E81625BA91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659155" y="1457326"/>
            <a:ext cx="190195" cy="190195"/>
          </a:xfrm>
          <a:prstGeom prst="rect">
            <a:avLst/>
          </a:prstGeom>
        </p:spPr>
      </p:pic>
      <p:sp>
        <p:nvSpPr>
          <p:cNvPr id="80" name="Text 26">
            <a:extLst>
              <a:ext uri="{FF2B5EF4-FFF2-40B4-BE49-F238E27FC236}">
                <a16:creationId xmlns:a16="http://schemas.microsoft.com/office/drawing/2014/main" id="{BD422DF5-5163-4159-8085-BA6985CB5171}"/>
              </a:ext>
            </a:extLst>
          </p:cNvPr>
          <p:cNvSpPr txBox="1"/>
          <p:nvPr/>
        </p:nvSpPr>
        <p:spPr>
          <a:xfrm>
            <a:off x="708532" y="1452754"/>
            <a:ext cx="19275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FileGridManager</a:t>
            </a:r>
            <a:endParaRPr lang="en-US" sz="1100" dirty="0"/>
          </a:p>
        </p:txBody>
      </p:sp>
      <p:sp>
        <p:nvSpPr>
          <p:cNvPr id="82" name="Text 27">
            <a:extLst>
              <a:ext uri="{FF2B5EF4-FFF2-40B4-BE49-F238E27FC236}">
                <a16:creationId xmlns:a16="http://schemas.microsoft.com/office/drawing/2014/main" id="{295C001D-A806-4D10-BFB7-6E8359B6B61F}"/>
              </a:ext>
            </a:extLst>
          </p:cNvPr>
          <p:cNvSpPr txBox="1"/>
          <p:nvPr/>
        </p:nvSpPr>
        <p:spPr>
          <a:xfrm>
            <a:off x="621664" y="1819429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TrySetUnitAtGrid</a:t>
            </a:r>
            <a:endParaRPr lang="en-US" sz="900" dirty="0"/>
          </a:p>
        </p:txBody>
      </p:sp>
      <p:sp>
        <p:nvSpPr>
          <p:cNvPr id="83" name="Text 28">
            <a:extLst>
              <a:ext uri="{FF2B5EF4-FFF2-40B4-BE49-F238E27FC236}">
                <a16:creationId xmlns:a16="http://schemas.microsoft.com/office/drawing/2014/main" id="{62F402CF-1E67-444F-8F69-6E9B5F653ED3}"/>
              </a:ext>
            </a:extLst>
          </p:cNvPr>
          <p:cNvSpPr txBox="1"/>
          <p:nvPr/>
        </p:nvSpPr>
        <p:spPr>
          <a:xfrm>
            <a:off x="621664" y="2000480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그리드에 유닛(파일) 배치</a:t>
            </a:r>
            <a:endParaRPr lang="en-US" sz="900" dirty="0"/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3E618733-4692-440D-B28F-387D6E1E4C4D}"/>
              </a:ext>
            </a:extLst>
          </p:cNvPr>
          <p:cNvSpPr txBox="1"/>
          <p:nvPr/>
        </p:nvSpPr>
        <p:spPr>
          <a:xfrm>
            <a:off x="627278" y="2300823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WorldToGridIndex</a:t>
            </a:r>
            <a:endParaRPr lang="en-US" sz="900" dirty="0"/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E3556A1-8CFE-4479-A45F-1A7E2B50506A}"/>
              </a:ext>
            </a:extLst>
          </p:cNvPr>
          <p:cNvSpPr txBox="1"/>
          <p:nvPr/>
        </p:nvSpPr>
        <p:spPr>
          <a:xfrm>
            <a:off x="627278" y="2481874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월드 좌표 → 인덱스 변환</a:t>
            </a:r>
            <a:endParaRPr lang="en-US" sz="900" dirty="0"/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0B732739-180F-4FA1-8A3A-0AE81CDB4ABC}"/>
              </a:ext>
            </a:extLst>
          </p:cNvPr>
          <p:cNvSpPr txBox="1"/>
          <p:nvPr/>
        </p:nvSpPr>
        <p:spPr>
          <a:xfrm>
            <a:off x="613005" y="4003462"/>
            <a:ext cx="2095805" cy="90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유닛이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올바른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찾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 점유하도록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도와주는 클래스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여러 좌표 변환 </a:t>
            </a:r>
            <a:r>
              <a:rPr lang="ko-KR" altLang="en-US" sz="10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핼퍼함수를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제공</a:t>
            </a:r>
            <a:endParaRPr lang="en-US" altLang="ko-KR" sz="1000" b="1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특정 조건이나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상황에 따른 그리드를 찾을 수 있도록 도와주는 </a:t>
            </a:r>
            <a:r>
              <a:rPr lang="ko-KR" altLang="en-US" sz="10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핼퍼함수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제공</a:t>
            </a:r>
            <a:endParaRPr lang="en-US" altLang="ko-KR" sz="1000" b="1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98" name="Image 8" descr="gen-dedup-3b498654e1f5fded2f9a601bc4e297c1.png">
            <a:extLst>
              <a:ext uri="{FF2B5EF4-FFF2-40B4-BE49-F238E27FC236}">
                <a16:creationId xmlns:a16="http://schemas.microsoft.com/office/drawing/2014/main" id="{F2857240-CF53-4526-94D2-79138F251B6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6667" r="-16667"/>
          <a:stretch/>
        </p:blipFill>
        <p:spPr>
          <a:xfrm>
            <a:off x="3138194" y="1466433"/>
            <a:ext cx="190195" cy="190195"/>
          </a:xfrm>
          <a:prstGeom prst="rect">
            <a:avLst/>
          </a:prstGeom>
        </p:spPr>
      </p:pic>
      <p:sp>
        <p:nvSpPr>
          <p:cNvPr id="99" name="Text 42">
            <a:extLst>
              <a:ext uri="{FF2B5EF4-FFF2-40B4-BE49-F238E27FC236}">
                <a16:creationId xmlns:a16="http://schemas.microsoft.com/office/drawing/2014/main" id="{FFA8E263-1DF5-4FB9-AD41-8AF187045838}"/>
              </a:ext>
            </a:extLst>
          </p:cNvPr>
          <p:cNvSpPr txBox="1"/>
          <p:nvPr/>
        </p:nvSpPr>
        <p:spPr>
          <a:xfrm>
            <a:off x="3327475" y="1481064"/>
            <a:ext cx="16440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FileGrid</a:t>
            </a:r>
            <a:endParaRPr lang="en-US" sz="1100" dirty="0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7DC84CC3-641F-4153-B1CB-EDE32EE21B4F}"/>
              </a:ext>
            </a:extLst>
          </p:cNvPr>
          <p:cNvSpPr txBox="1"/>
          <p:nvPr/>
        </p:nvSpPr>
        <p:spPr>
          <a:xfrm>
            <a:off x="3099789" y="1828536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fileUnit</a:t>
            </a:r>
            <a:endParaRPr lang="en-US" sz="900" dirty="0"/>
          </a:p>
        </p:txBody>
      </p:sp>
      <p:sp>
        <p:nvSpPr>
          <p:cNvPr id="101" name="Text 44">
            <a:extLst>
              <a:ext uri="{FF2B5EF4-FFF2-40B4-BE49-F238E27FC236}">
                <a16:creationId xmlns:a16="http://schemas.microsoft.com/office/drawing/2014/main" id="{2B1FE259-F193-4948-958D-C45857AC78F3}"/>
              </a:ext>
            </a:extLst>
          </p:cNvPr>
          <p:cNvSpPr txBox="1"/>
          <p:nvPr/>
        </p:nvSpPr>
        <p:spPr>
          <a:xfrm>
            <a:off x="3099789" y="1990385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배치된 파일 유닛 데이터</a:t>
            </a:r>
            <a:endParaRPr lang="en-US" sz="900" dirty="0"/>
          </a:p>
        </p:txBody>
      </p:sp>
      <p:sp>
        <p:nvSpPr>
          <p:cNvPr id="102" name="Text 45">
            <a:extLst>
              <a:ext uri="{FF2B5EF4-FFF2-40B4-BE49-F238E27FC236}">
                <a16:creationId xmlns:a16="http://schemas.microsoft.com/office/drawing/2014/main" id="{BB2FD984-61CA-4A9C-8021-19349450EFE9}"/>
              </a:ext>
            </a:extLst>
          </p:cNvPr>
          <p:cNvSpPr txBox="1"/>
          <p:nvPr/>
        </p:nvSpPr>
        <p:spPr>
          <a:xfrm>
            <a:off x="3099789" y="2229043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activeBuffSources</a:t>
            </a:r>
            <a:endParaRPr lang="en-US" sz="900" dirty="0"/>
          </a:p>
        </p:txBody>
      </p:sp>
      <p:sp>
        <p:nvSpPr>
          <p:cNvPr id="103" name="Text 46">
            <a:extLst>
              <a:ext uri="{FF2B5EF4-FFF2-40B4-BE49-F238E27FC236}">
                <a16:creationId xmlns:a16="http://schemas.microsoft.com/office/drawing/2014/main" id="{99D01364-C8BE-467F-AD0C-85519539BA8F}"/>
              </a:ext>
            </a:extLst>
          </p:cNvPr>
          <p:cNvSpPr txBox="1"/>
          <p:nvPr/>
        </p:nvSpPr>
        <p:spPr>
          <a:xfrm>
            <a:off x="3099789" y="2390892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적용된 버프 목록</a:t>
            </a:r>
            <a:endParaRPr lang="en-US" sz="900" dirty="0"/>
          </a:p>
        </p:txBody>
      </p:sp>
      <p:sp>
        <p:nvSpPr>
          <p:cNvPr id="104" name="Text 47">
            <a:extLst>
              <a:ext uri="{FF2B5EF4-FFF2-40B4-BE49-F238E27FC236}">
                <a16:creationId xmlns:a16="http://schemas.microsoft.com/office/drawing/2014/main" id="{6B49F167-9605-4950-B0BB-A199AA1C086D}"/>
              </a:ext>
            </a:extLst>
          </p:cNvPr>
          <p:cNvSpPr txBox="1"/>
          <p:nvPr/>
        </p:nvSpPr>
        <p:spPr>
          <a:xfrm>
            <a:off x="3099789" y="2628636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gridX,Y</a:t>
            </a:r>
            <a:endParaRPr lang="en-US" sz="900" dirty="0"/>
          </a:p>
        </p:txBody>
      </p:sp>
      <p:sp>
        <p:nvSpPr>
          <p:cNvPr id="105" name="Text 48">
            <a:extLst>
              <a:ext uri="{FF2B5EF4-FFF2-40B4-BE49-F238E27FC236}">
                <a16:creationId xmlns:a16="http://schemas.microsoft.com/office/drawing/2014/main" id="{897C4AFB-CA16-4896-9506-39194DCCFC86}"/>
              </a:ext>
            </a:extLst>
          </p:cNvPr>
          <p:cNvSpPr txBox="1"/>
          <p:nvPr/>
        </p:nvSpPr>
        <p:spPr>
          <a:xfrm>
            <a:off x="3099789" y="2790485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좌표 위치</a:t>
            </a:r>
            <a:endParaRPr lang="en-US" sz="900" dirty="0"/>
          </a:p>
        </p:txBody>
      </p:sp>
      <p:sp>
        <p:nvSpPr>
          <p:cNvPr id="106" name="Text 49">
            <a:extLst>
              <a:ext uri="{FF2B5EF4-FFF2-40B4-BE49-F238E27FC236}">
                <a16:creationId xmlns:a16="http://schemas.microsoft.com/office/drawing/2014/main" id="{52DB53CF-A080-4C2D-BDEF-5C17E3E6CC06}"/>
              </a:ext>
            </a:extLst>
          </p:cNvPr>
          <p:cNvSpPr txBox="1"/>
          <p:nvPr/>
        </p:nvSpPr>
        <p:spPr>
          <a:xfrm>
            <a:off x="3099789" y="3029143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ApplyGridBuffs</a:t>
            </a:r>
            <a:endParaRPr lang="en-US" sz="900" dirty="0"/>
          </a:p>
        </p:txBody>
      </p:sp>
      <p:sp>
        <p:nvSpPr>
          <p:cNvPr id="107" name="Text 50">
            <a:extLst>
              <a:ext uri="{FF2B5EF4-FFF2-40B4-BE49-F238E27FC236}">
                <a16:creationId xmlns:a16="http://schemas.microsoft.com/office/drawing/2014/main" id="{96EE129B-898D-464C-A7BA-A0125D0D204C}"/>
              </a:ext>
            </a:extLst>
          </p:cNvPr>
          <p:cNvSpPr txBox="1"/>
          <p:nvPr/>
        </p:nvSpPr>
        <p:spPr>
          <a:xfrm>
            <a:off x="3099789" y="3190992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영역에 속성(버프) 적용</a:t>
            </a:r>
            <a:endParaRPr lang="en-US" sz="900" dirty="0"/>
          </a:p>
        </p:txBody>
      </p:sp>
      <p:sp>
        <p:nvSpPr>
          <p:cNvPr id="108" name="Text 51">
            <a:extLst>
              <a:ext uri="{FF2B5EF4-FFF2-40B4-BE49-F238E27FC236}">
                <a16:creationId xmlns:a16="http://schemas.microsoft.com/office/drawing/2014/main" id="{E94DF58C-ACF2-4919-BC7B-DCBB7DEC9B82}"/>
              </a:ext>
            </a:extLst>
          </p:cNvPr>
          <p:cNvSpPr txBox="1"/>
          <p:nvPr/>
        </p:nvSpPr>
        <p:spPr>
          <a:xfrm>
            <a:off x="3099789" y="3971889"/>
            <a:ext cx="2095805" cy="56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담아 관리하는 그리드</a:t>
            </a:r>
            <a:endParaRPr lang="en-US" altLang="ko-KR" sz="1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자신이 속한 위치(그리드)의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버프를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파악하고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상태를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갱신</a:t>
            </a:r>
            <a:r>
              <a:rPr lang="ko-KR" alt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하는 클래스 </a:t>
            </a:r>
            <a:endParaRPr lang="en-US" sz="1000" b="1" dirty="0"/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6E4E8B63-D7E0-4315-BD67-3FF184A263D7}"/>
              </a:ext>
            </a:extLst>
          </p:cNvPr>
          <p:cNvSpPr txBox="1"/>
          <p:nvPr/>
        </p:nvSpPr>
        <p:spPr>
          <a:xfrm>
            <a:off x="627278" y="2768972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GridIndexToWorld</a:t>
            </a:r>
            <a:endParaRPr lang="en-US" sz="9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F884AA8A-EB44-47E0-9533-7EC4EADE9020}"/>
              </a:ext>
            </a:extLst>
          </p:cNvPr>
          <p:cNvSpPr txBox="1"/>
          <p:nvPr/>
        </p:nvSpPr>
        <p:spPr>
          <a:xfrm>
            <a:off x="627278" y="2950023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인덱스 → 월드 좌표 변환</a:t>
            </a:r>
            <a:endParaRPr lang="en-US" sz="900" dirty="0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5D52F361-F1A9-4060-BEB4-11DA1DBEA727}"/>
              </a:ext>
            </a:extLst>
          </p:cNvPr>
          <p:cNvSpPr/>
          <p:nvPr/>
        </p:nvSpPr>
        <p:spPr>
          <a:xfrm>
            <a:off x="5447724" y="1378915"/>
            <a:ext cx="2286000" cy="4095598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8A20259F-B5B6-4230-90C0-1244EF17D008}"/>
              </a:ext>
            </a:extLst>
          </p:cNvPr>
          <p:cNvSpPr/>
          <p:nvPr/>
        </p:nvSpPr>
        <p:spPr>
          <a:xfrm>
            <a:off x="5485214" y="1417320"/>
            <a:ext cx="2210105" cy="3429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4" descr="gen-dedup-97f54f886636472c6bbb592f820c4ba3.png">
            <a:extLst>
              <a:ext uri="{FF2B5EF4-FFF2-40B4-BE49-F238E27FC236}">
                <a16:creationId xmlns:a16="http://schemas.microsoft.com/office/drawing/2014/main" id="{13A33950-0432-47AC-BF8D-5C6026C7BF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5542821" y="3903574"/>
            <a:ext cx="2095805" cy="9144"/>
          </a:xfrm>
          <a:prstGeom prst="rect">
            <a:avLst/>
          </a:prstGeom>
        </p:spPr>
      </p:pic>
      <p:pic>
        <p:nvPicPr>
          <p:cNvPr id="67" name="Image 7" descr="gen-dedup-1633b5bfc17bd0e2978daf73c061acf0.png">
            <a:extLst>
              <a:ext uri="{FF2B5EF4-FFF2-40B4-BE49-F238E27FC236}">
                <a16:creationId xmlns:a16="http://schemas.microsoft.com/office/drawing/2014/main" id="{9E4AE852-2AAE-4B43-AE12-02F7616F023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81226" y="1493215"/>
            <a:ext cx="190195" cy="190195"/>
          </a:xfrm>
          <a:prstGeom prst="rect">
            <a:avLst/>
          </a:prstGeom>
        </p:spPr>
      </p:pic>
      <p:sp>
        <p:nvSpPr>
          <p:cNvPr id="69" name="Text 34">
            <a:extLst>
              <a:ext uri="{FF2B5EF4-FFF2-40B4-BE49-F238E27FC236}">
                <a16:creationId xmlns:a16="http://schemas.microsoft.com/office/drawing/2014/main" id="{2A40234D-A7D9-4314-8EDF-23E8ABC19037}"/>
              </a:ext>
            </a:extLst>
          </p:cNvPr>
          <p:cNvSpPr txBox="1"/>
          <p:nvPr/>
        </p:nvSpPr>
        <p:spPr>
          <a:xfrm>
            <a:off x="5328852" y="1507846"/>
            <a:ext cx="252831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GameObjectGridLayout</a:t>
            </a:r>
            <a:endParaRPr lang="en-US" sz="1100" dirty="0"/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080EC121-D8D6-48EE-B8CF-F1BBB673D593}"/>
              </a:ext>
            </a:extLst>
          </p:cNvPr>
          <p:cNvSpPr txBox="1"/>
          <p:nvPr/>
        </p:nvSpPr>
        <p:spPr>
          <a:xfrm>
            <a:off x="5542821" y="1855318"/>
            <a:ext cx="246430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grid columns, rows / cellsize</a:t>
            </a:r>
            <a:endParaRPr lang="en-US" sz="900" dirty="0"/>
          </a:p>
        </p:txBody>
      </p:sp>
      <p:sp>
        <p:nvSpPr>
          <p:cNvPr id="72" name="Text 36">
            <a:extLst>
              <a:ext uri="{FF2B5EF4-FFF2-40B4-BE49-F238E27FC236}">
                <a16:creationId xmlns:a16="http://schemas.microsoft.com/office/drawing/2014/main" id="{C43C6671-AAD3-4790-93DD-755305D13A8E}"/>
              </a:ext>
            </a:extLst>
          </p:cNvPr>
          <p:cNvSpPr txBox="1"/>
          <p:nvPr/>
        </p:nvSpPr>
        <p:spPr>
          <a:xfrm>
            <a:off x="5542821" y="2036369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 </a:t>
            </a: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간격 속성 지정</a:t>
            </a:r>
            <a:endParaRPr lang="en-US" sz="900" dirty="0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A9E943EC-227A-415D-B00B-FFE454581B9D}"/>
              </a:ext>
            </a:extLst>
          </p:cNvPr>
          <p:cNvSpPr txBox="1"/>
          <p:nvPr/>
        </p:nvSpPr>
        <p:spPr>
          <a:xfrm>
            <a:off x="5542821" y="2312518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FitToScreen</a:t>
            </a:r>
            <a:endParaRPr lang="en-US" sz="900" dirty="0"/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E6535B71-2076-4245-9C76-CA6A04768B26}"/>
              </a:ext>
            </a:extLst>
          </p:cNvPr>
          <p:cNvSpPr txBox="1"/>
          <p:nvPr/>
        </p:nvSpPr>
        <p:spPr>
          <a:xfrm>
            <a:off x="5542821" y="2493569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해상도 자동 맞춤</a:t>
            </a:r>
            <a:endParaRPr lang="en-US" sz="900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A729E7EE-C91D-4829-8A0E-E3C5986B2B86}"/>
              </a:ext>
            </a:extLst>
          </p:cNvPr>
          <p:cNvSpPr txBox="1"/>
          <p:nvPr/>
        </p:nvSpPr>
        <p:spPr>
          <a:xfrm>
            <a:off x="5542821" y="2769718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AddGridObject</a:t>
            </a:r>
            <a:endParaRPr lang="en-US" sz="90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00DAFCDC-7BF3-48DB-B2C2-9EEDCC6ED016}"/>
              </a:ext>
            </a:extLst>
          </p:cNvPr>
          <p:cNvSpPr txBox="1"/>
          <p:nvPr/>
        </p:nvSpPr>
        <p:spPr>
          <a:xfrm>
            <a:off x="5542821" y="2950769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레이아웃 노드 추가</a:t>
            </a:r>
            <a:endParaRPr lang="en-US" sz="900" dirty="0"/>
          </a:p>
        </p:txBody>
      </p:sp>
      <p:sp>
        <p:nvSpPr>
          <p:cNvPr id="81" name="Text 41">
            <a:extLst>
              <a:ext uri="{FF2B5EF4-FFF2-40B4-BE49-F238E27FC236}">
                <a16:creationId xmlns:a16="http://schemas.microsoft.com/office/drawing/2014/main" id="{AF6982DD-44A9-4EDB-96EB-5355DDC14761}"/>
              </a:ext>
            </a:extLst>
          </p:cNvPr>
          <p:cNvSpPr txBox="1"/>
          <p:nvPr/>
        </p:nvSpPr>
        <p:spPr>
          <a:xfrm>
            <a:off x="5542821" y="3971889"/>
            <a:ext cx="2095805" cy="85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r>
              <a:rPr lang="ko-KR" alt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존재하는 그리드 오브젝트를 생성하고 정렬하는 것을 도와주는 클래스이다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ko-KR" alt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사이 간격과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행과 열 개수를 자유롭게 지정할 수 있다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EC2A08E-D734-4AE3-8356-0D7130CEFADD}"/>
              </a:ext>
            </a:extLst>
          </p:cNvPr>
          <p:cNvSpPr/>
          <p:nvPr/>
        </p:nvSpPr>
        <p:spPr>
          <a:xfrm>
            <a:off x="8512955" y="1426464"/>
            <a:ext cx="2662518" cy="6453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GameObjectGridLayout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BF22D70C-F54E-4046-92E6-3192F0174171}"/>
              </a:ext>
            </a:extLst>
          </p:cNvPr>
          <p:cNvSpPr/>
          <p:nvPr/>
        </p:nvSpPr>
        <p:spPr>
          <a:xfrm>
            <a:off x="8512955" y="3040687"/>
            <a:ext cx="2662518" cy="6453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FileGridManager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E619F5C-11EA-4EAB-9B60-6454B5A05764}"/>
              </a:ext>
            </a:extLst>
          </p:cNvPr>
          <p:cNvSpPr/>
          <p:nvPr/>
        </p:nvSpPr>
        <p:spPr>
          <a:xfrm>
            <a:off x="8512955" y="4654910"/>
            <a:ext cx="2662518" cy="6453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FileGrid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FD14EF-2807-43B2-B02A-95B78357883E}"/>
              </a:ext>
            </a:extLst>
          </p:cNvPr>
          <p:cNvSpPr txBox="1"/>
          <p:nvPr/>
        </p:nvSpPr>
        <p:spPr>
          <a:xfrm>
            <a:off x="8466314" y="2118700"/>
            <a:ext cx="275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레이아웃 생성 정보 제공 역할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D2FA67-F922-4AA8-A167-BC9608F8D63F}"/>
              </a:ext>
            </a:extLst>
          </p:cNvPr>
          <p:cNvSpPr txBox="1"/>
          <p:nvPr/>
        </p:nvSpPr>
        <p:spPr>
          <a:xfrm>
            <a:off x="8185960" y="3698256"/>
            <a:ext cx="3286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GameObjectLayout</a:t>
            </a:r>
            <a:r>
              <a:rPr lang="ko-KR" altLang="en-US" sz="1200" dirty="0"/>
              <a:t>의 정보를 통한 그리드 생성</a:t>
            </a:r>
            <a:r>
              <a:rPr lang="en-US" altLang="ko-KR" sz="1200" dirty="0"/>
              <a:t>, 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서칭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핼퍼</a:t>
            </a:r>
            <a:r>
              <a:rPr lang="ko-KR" altLang="en-US" sz="1200" dirty="0"/>
              <a:t> 함수  제공</a:t>
            </a:r>
            <a:endParaRPr lang="en-US" altLang="ko-KR" sz="1200" dirty="0"/>
          </a:p>
          <a:p>
            <a:r>
              <a:rPr lang="ko-KR" altLang="en-US" sz="1200" dirty="0"/>
              <a:t>화면상 </a:t>
            </a:r>
            <a:r>
              <a:rPr lang="en-US" altLang="ko-KR" sz="1200" dirty="0"/>
              <a:t>2</a:t>
            </a:r>
            <a:r>
              <a:rPr lang="ko-KR" altLang="en-US" sz="1200" dirty="0"/>
              <a:t>차원 공간 배열로 모든 그리드를 관리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7A7D2A5-C48C-4D24-8ABD-C013EA2016D8}"/>
              </a:ext>
            </a:extLst>
          </p:cNvPr>
          <p:cNvSpPr txBox="1"/>
          <p:nvPr/>
        </p:nvSpPr>
        <p:spPr>
          <a:xfrm>
            <a:off x="8466314" y="5336580"/>
            <a:ext cx="2755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파일 유닛의 점유와 해제를 담당함</a:t>
            </a:r>
            <a:r>
              <a:rPr lang="en-US" altLang="ko-KR" sz="1300" dirty="0"/>
              <a:t> </a:t>
            </a:r>
          </a:p>
          <a:p>
            <a:r>
              <a:rPr lang="ko-KR" altLang="en-US" sz="1300" dirty="0"/>
              <a:t>버프에 대한 정보를 보유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32E6419-34A5-4180-B04A-B06AC59FF9A6}"/>
              </a:ext>
            </a:extLst>
          </p:cNvPr>
          <p:cNvCxnSpPr>
            <a:cxnSpLocks/>
            <a:stCxn id="20" idx="3"/>
            <a:endCxn id="89" idx="3"/>
          </p:cNvCxnSpPr>
          <p:nvPr/>
        </p:nvCxnSpPr>
        <p:spPr>
          <a:xfrm>
            <a:off x="11175473" y="1749115"/>
            <a:ext cx="12700" cy="1614223"/>
          </a:xfrm>
          <a:prstGeom prst="bentConnector3">
            <a:avLst>
              <a:gd name="adj1" fmla="val 2788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FD6DD1F6-7E92-4F51-8E27-233761FED66B}"/>
              </a:ext>
            </a:extLst>
          </p:cNvPr>
          <p:cNvCxnSpPr>
            <a:cxnSpLocks/>
            <a:stCxn id="89" idx="1"/>
            <a:endCxn id="90" idx="1"/>
          </p:cNvCxnSpPr>
          <p:nvPr/>
        </p:nvCxnSpPr>
        <p:spPr>
          <a:xfrm rot="10800000" flipV="1">
            <a:off x="8512955" y="3363337"/>
            <a:ext cx="12700" cy="1614223"/>
          </a:xfrm>
          <a:prstGeom prst="bentConnector3">
            <a:avLst>
              <a:gd name="adj1" fmla="val 31411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505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7FE073A-820D-C76A-6572-137FA8E151EA}"/>
              </a:ext>
            </a:extLst>
          </p:cNvPr>
          <p:cNvGrpSpPr/>
          <p:nvPr/>
        </p:nvGrpSpPr>
        <p:grpSpPr>
          <a:xfrm>
            <a:off x="342900" y="108000"/>
            <a:ext cx="11621620" cy="6084503"/>
            <a:chOff x="1524305" y="571500"/>
            <a:chExt cx="10096805" cy="5715000"/>
          </a:xfrm>
        </p:grpSpPr>
        <p:sp>
          <p:nvSpPr>
            <p:cNvPr id="13" name="Shape 8"/>
            <p:cNvSpPr/>
            <p:nvPr/>
          </p:nvSpPr>
          <p:spPr>
            <a:xfrm>
              <a:off x="1524305" y="571500"/>
              <a:ext cx="10096805" cy="5715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1543507" y="590702"/>
              <a:ext cx="100584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1691035" y="928993"/>
              <a:ext cx="9868205" cy="5238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Shape 11"/>
            <p:cNvSpPr/>
            <p:nvPr/>
          </p:nvSpPr>
          <p:spPr>
            <a:xfrm>
              <a:off x="11354105" y="619049"/>
              <a:ext cx="209398" cy="209398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809598" y="1012633"/>
              <a:ext cx="9544506" cy="21603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1666951" y="629107"/>
              <a:ext cx="146304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File Tower Defence.exe</a:t>
              </a:r>
              <a:endParaRPr lang="en-US" altLang="ko-KR" sz="1000" b="1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11419942" y="657454"/>
              <a:ext cx="859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3150692" y="1071141"/>
              <a:ext cx="7222303" cy="1161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월드 좌표로 변환한 결과</a:t>
              </a:r>
              <a:endParaRPr lang="en-US" altLang="ko-KR" sz="1600" dirty="0"/>
            </a:p>
          </p:txBody>
        </p:sp>
      </p:grp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lang="en-US" sz="900" dirty="0"/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F8E8F5E-EC29-474F-8E31-44F16054C662}"/>
              </a:ext>
            </a:extLst>
          </p:cNvPr>
          <p:cNvGrpSpPr/>
          <p:nvPr/>
        </p:nvGrpSpPr>
        <p:grpSpPr>
          <a:xfrm>
            <a:off x="671278" y="900948"/>
            <a:ext cx="9291653" cy="2811071"/>
            <a:chOff x="763211" y="1320319"/>
            <a:chExt cx="10816619" cy="2872530"/>
          </a:xfrm>
        </p:grpSpPr>
        <p:sp>
          <p:nvSpPr>
            <p:cNvPr id="131" name="Text 29">
              <a:extLst>
                <a:ext uri="{FF2B5EF4-FFF2-40B4-BE49-F238E27FC236}">
                  <a16:creationId xmlns:a16="http://schemas.microsoft.com/office/drawing/2014/main" id="{F9A61A57-9D78-49EF-A53E-AA520266138E}"/>
                </a:ext>
              </a:extLst>
            </p:cNvPr>
            <p:cNvSpPr txBox="1"/>
            <p:nvPr/>
          </p:nvSpPr>
          <p:spPr>
            <a:xfrm>
              <a:off x="8150830" y="1376097"/>
              <a:ext cx="34290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결과물</a:t>
              </a:r>
              <a:r>
                <a:rPr lang="en-US" altLang="ko-KR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(Result)</a:t>
              </a:r>
              <a:endParaRPr lang="en-US" sz="1000" dirty="0"/>
            </a:p>
          </p:txBody>
        </p:sp>
        <p:sp>
          <p:nvSpPr>
            <p:cNvPr id="140" name="Shape 13">
              <a:extLst>
                <a:ext uri="{FF2B5EF4-FFF2-40B4-BE49-F238E27FC236}">
                  <a16:creationId xmlns:a16="http://schemas.microsoft.com/office/drawing/2014/main" id="{B52AFB9F-B39A-4E06-A4BD-659BD9175110}"/>
                </a:ext>
              </a:extLst>
            </p:cNvPr>
            <p:cNvSpPr/>
            <p:nvPr/>
          </p:nvSpPr>
          <p:spPr>
            <a:xfrm>
              <a:off x="4304460" y="1320319"/>
              <a:ext cx="5770943" cy="28575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1" name="Shape 16">
              <a:extLst>
                <a:ext uri="{FF2B5EF4-FFF2-40B4-BE49-F238E27FC236}">
                  <a16:creationId xmlns:a16="http://schemas.microsoft.com/office/drawing/2014/main" id="{0A07C36E-D9BA-46E4-A3A8-4CC9FB2CF8FD}"/>
                </a:ext>
              </a:extLst>
            </p:cNvPr>
            <p:cNvSpPr/>
            <p:nvPr/>
          </p:nvSpPr>
          <p:spPr>
            <a:xfrm>
              <a:off x="4323663" y="1339521"/>
              <a:ext cx="5751741" cy="22860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42" name="Shape 17">
              <a:extLst>
                <a:ext uri="{FF2B5EF4-FFF2-40B4-BE49-F238E27FC236}">
                  <a16:creationId xmlns:a16="http://schemas.microsoft.com/office/drawing/2014/main" id="{FD53BA0A-54C2-40C6-B740-ABBDE82B2557}"/>
                </a:ext>
              </a:extLst>
            </p:cNvPr>
            <p:cNvSpPr/>
            <p:nvPr/>
          </p:nvSpPr>
          <p:spPr>
            <a:xfrm>
              <a:off x="4337835" y="1567749"/>
              <a:ext cx="5718414" cy="237744"/>
            </a:xfrm>
            <a:prstGeom prst="rect">
              <a:avLst/>
            </a:prstGeom>
            <a:solidFill>
              <a:srgbClr val="E8E8E8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3" name="Shape 18">
              <a:extLst>
                <a:ext uri="{FF2B5EF4-FFF2-40B4-BE49-F238E27FC236}">
                  <a16:creationId xmlns:a16="http://schemas.microsoft.com/office/drawing/2014/main" id="{B7B2972A-6056-4D7E-AE36-AAA30F69AD62}"/>
                </a:ext>
              </a:extLst>
            </p:cNvPr>
            <p:cNvSpPr/>
            <p:nvPr/>
          </p:nvSpPr>
          <p:spPr>
            <a:xfrm>
              <a:off x="4301215" y="1796720"/>
              <a:ext cx="5770943" cy="46719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44" name="Shape 19">
              <a:extLst>
                <a:ext uri="{FF2B5EF4-FFF2-40B4-BE49-F238E27FC236}">
                  <a16:creationId xmlns:a16="http://schemas.microsoft.com/office/drawing/2014/main" id="{629A2D5A-85DF-47F0-8153-01D1098FE29A}"/>
                </a:ext>
              </a:extLst>
            </p:cNvPr>
            <p:cNvSpPr/>
            <p:nvPr/>
          </p:nvSpPr>
          <p:spPr>
            <a:xfrm>
              <a:off x="4352009" y="1844270"/>
              <a:ext cx="5690068" cy="22576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  <a:prstDash val="solid"/>
            </a:ln>
          </p:spPr>
        </p:sp>
        <p:sp>
          <p:nvSpPr>
            <p:cNvPr id="145" name="Text 29">
              <a:extLst>
                <a:ext uri="{FF2B5EF4-FFF2-40B4-BE49-F238E27FC236}">
                  <a16:creationId xmlns:a16="http://schemas.microsoft.com/office/drawing/2014/main" id="{C33C90BB-517F-411A-9F68-CD101BF1A714}"/>
                </a:ext>
              </a:extLst>
            </p:cNvPr>
            <p:cNvSpPr txBox="1"/>
            <p:nvPr/>
          </p:nvSpPr>
          <p:spPr>
            <a:xfrm>
              <a:off x="4399558" y="1357809"/>
              <a:ext cx="550651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결과물</a:t>
              </a:r>
              <a:r>
                <a:rPr lang="en-US" altLang="ko-KR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(Result)</a:t>
              </a:r>
              <a:endParaRPr lang="en-US" sz="1000" dirty="0"/>
            </a:p>
          </p:txBody>
        </p:sp>
        <p:sp>
          <p:nvSpPr>
            <p:cNvPr id="148" name="Shape 14">
              <a:extLst>
                <a:ext uri="{FF2B5EF4-FFF2-40B4-BE49-F238E27FC236}">
                  <a16:creationId xmlns:a16="http://schemas.microsoft.com/office/drawing/2014/main" id="{FEE14546-C370-48B9-9930-B849DB504F69}"/>
                </a:ext>
              </a:extLst>
            </p:cNvPr>
            <p:cNvSpPr/>
            <p:nvPr/>
          </p:nvSpPr>
          <p:spPr>
            <a:xfrm>
              <a:off x="763211" y="1335350"/>
              <a:ext cx="3113406" cy="2857499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</p:sp>
        <p:pic>
          <p:nvPicPr>
            <p:cNvPr id="149" name="Image 10" descr="gen-dedup-bfb30a8c33a15379318ffec01db3f8c0.png">
              <a:extLst>
                <a:ext uri="{FF2B5EF4-FFF2-40B4-BE49-F238E27FC236}">
                  <a16:creationId xmlns:a16="http://schemas.microsoft.com/office/drawing/2014/main" id="{CF76E0CD-7DD1-4B0E-8D0C-07789AB4F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69978" y="1406172"/>
              <a:ext cx="524052" cy="40883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5A131D7-9870-489F-99DE-D7802B2FEE96}"/>
                </a:ext>
              </a:extLst>
            </p:cNvPr>
            <p:cNvSpPr txBox="1"/>
            <p:nvPr/>
          </p:nvSpPr>
          <p:spPr>
            <a:xfrm>
              <a:off x="763212" y="1894831"/>
              <a:ext cx="3113405" cy="1855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/>
                <a:t>그리드 공간 별로 </a:t>
              </a:r>
              <a:endParaRPr lang="en-US" altLang="ko-KR" sz="1400" dirty="0"/>
            </a:p>
            <a:p>
              <a:r>
                <a:rPr lang="ko-KR" altLang="en-US" sz="1400" dirty="0"/>
                <a:t>유닛 배치 및 영역 밖에 있는 </a:t>
              </a:r>
              <a:endParaRPr lang="en-US" altLang="ko-KR" sz="1400" dirty="0"/>
            </a:p>
            <a:p>
              <a:r>
                <a:rPr lang="ko-KR" altLang="en-US" sz="1400" dirty="0"/>
                <a:t>파일 유닛은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근접한 그리드로 점유 하도록 설계</a:t>
              </a:r>
              <a:endParaRPr lang="en-US" altLang="ko-KR" sz="1400" dirty="0"/>
            </a:p>
            <a:p>
              <a:endParaRPr lang="en-US" altLang="ko-KR" sz="1400" dirty="0"/>
            </a:p>
            <a:p>
              <a:r>
                <a:rPr lang="ko-KR" altLang="en-US" sz="1400" dirty="0"/>
                <a:t>이 결과 </a:t>
              </a:r>
              <a:r>
                <a:rPr lang="en-US" altLang="ko-KR" sz="1400" dirty="0"/>
                <a:t>Windows </a:t>
              </a:r>
              <a:r>
                <a:rPr lang="ko-KR" altLang="en-US" sz="1400" dirty="0"/>
                <a:t>바탕화면 아이콘을 드래그</a:t>
              </a:r>
              <a:r>
                <a:rPr lang="en-US" altLang="ko-KR" sz="1400" dirty="0"/>
                <a:t>&amp;</a:t>
              </a:r>
              <a:r>
                <a:rPr lang="ko-KR" altLang="en-US" sz="1400" dirty="0" err="1"/>
                <a:t>드랍하는</a:t>
              </a:r>
              <a:r>
                <a:rPr lang="ko-KR" altLang="en-US" sz="1400" dirty="0"/>
                <a:t> 느낌을 유지할 수 있었음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6A4E0A6-820D-41BD-9E65-F21A299B76B2}"/>
              </a:ext>
            </a:extLst>
          </p:cNvPr>
          <p:cNvGrpSpPr/>
          <p:nvPr/>
        </p:nvGrpSpPr>
        <p:grpSpPr>
          <a:xfrm>
            <a:off x="671278" y="3790114"/>
            <a:ext cx="2674467" cy="2141326"/>
            <a:chOff x="1352568" y="3840241"/>
            <a:chExt cx="2674467" cy="2141326"/>
          </a:xfrm>
        </p:grpSpPr>
        <p:sp>
          <p:nvSpPr>
            <p:cNvPr id="168" name="Shape 14">
              <a:extLst>
                <a:ext uri="{FF2B5EF4-FFF2-40B4-BE49-F238E27FC236}">
                  <a16:creationId xmlns:a16="http://schemas.microsoft.com/office/drawing/2014/main" id="{5DFD5209-E325-443C-BC8F-C82A0060A6A3}"/>
                </a:ext>
              </a:extLst>
            </p:cNvPr>
            <p:cNvSpPr/>
            <p:nvPr/>
          </p:nvSpPr>
          <p:spPr>
            <a:xfrm>
              <a:off x="1352568" y="3840241"/>
              <a:ext cx="2674467" cy="2141326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</p:sp>
        <p:pic>
          <p:nvPicPr>
            <p:cNvPr id="169" name="Image 10" descr="gen-dedup-bfb30a8c33a15379318ffec01db3f8c0.png">
              <a:extLst>
                <a:ext uri="{FF2B5EF4-FFF2-40B4-BE49-F238E27FC236}">
                  <a16:creationId xmlns:a16="http://schemas.microsoft.com/office/drawing/2014/main" id="{C0E4B414-6D89-4057-802B-216949DAF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466547" y="3933706"/>
              <a:ext cx="450493" cy="399600"/>
            </a:xfrm>
            <a:prstGeom prst="rect">
              <a:avLst/>
            </a:prstGeom>
          </p:spPr>
        </p:pic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D75178B-19E2-4A9D-ADF3-97E07D46D288}"/>
                </a:ext>
              </a:extLst>
            </p:cNvPr>
            <p:cNvSpPr txBox="1"/>
            <p:nvPr/>
          </p:nvSpPr>
          <p:spPr>
            <a:xfrm>
              <a:off x="1352569" y="4415502"/>
              <a:ext cx="2653472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/>
                <a:t>유연한 그리드 설정 수정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그리드 셸 크기 자동 조정 기능을 가진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레이아웃 클래스</a:t>
              </a:r>
              <a:endParaRPr lang="en-US" altLang="ko-KR" sz="1400" dirty="0"/>
            </a:p>
            <a:p>
              <a:endParaRPr lang="en-US" altLang="ko-KR" sz="1400" dirty="0"/>
            </a:p>
            <a:p>
              <a:r>
                <a:rPr lang="ko-KR" altLang="en-US" sz="1400" dirty="0"/>
                <a:t>해당 레이아웃으로 생성한 그리드들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초록색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52CCF0CA-14E5-4F14-A182-9CD7212D9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3270" y="3938916"/>
            <a:ext cx="4653564" cy="18791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77B2C4E-FA64-40E5-896D-AC188ED067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8395" y="3761387"/>
            <a:ext cx="3108947" cy="2234236"/>
          </a:xfrm>
          <a:prstGeom prst="rect">
            <a:avLst/>
          </a:prstGeom>
        </p:spPr>
      </p:pic>
      <p:pic>
        <p:nvPicPr>
          <p:cNvPr id="18" name="그림 17">
            <a:hlinkClick r:id="rId9"/>
            <a:extLst>
              <a:ext uri="{FF2B5EF4-FFF2-40B4-BE49-F238E27FC236}">
                <a16:creationId xmlns:a16="http://schemas.microsoft.com/office/drawing/2014/main" id="{AD212D13-EFB3-495B-961B-79CE4C2A3D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1938" y="1394168"/>
            <a:ext cx="4925877" cy="2240622"/>
          </a:xfrm>
          <a:prstGeom prst="rect">
            <a:avLst/>
          </a:prstGeom>
        </p:spPr>
      </p:pic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C8CE977E-AD49-4207-AB06-8CDED28304EE}"/>
              </a:ext>
            </a:extLst>
          </p:cNvPr>
          <p:cNvSpPr/>
          <p:nvPr/>
        </p:nvSpPr>
        <p:spPr>
          <a:xfrm>
            <a:off x="9206753" y="1124656"/>
            <a:ext cx="2540799" cy="1340637"/>
          </a:xfrm>
          <a:prstGeom prst="wedgeRoundRectCallout">
            <a:avLst>
              <a:gd name="adj1" fmla="val -66805"/>
              <a:gd name="adj2" fmla="val 325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</a:t>
            </a:r>
            <a:r>
              <a:rPr lang="en-US" altLang="ko-KR" dirty="0"/>
              <a:t>Ctrl+</a:t>
            </a:r>
            <a:r>
              <a:rPr lang="ko-KR" altLang="en-US" dirty="0"/>
              <a:t>클릭 시</a:t>
            </a:r>
            <a:endParaRPr lang="en-US" altLang="ko-KR" dirty="0"/>
          </a:p>
          <a:p>
            <a:pPr algn="ctr"/>
            <a:r>
              <a:rPr lang="ko-KR" altLang="en-US" dirty="0"/>
              <a:t>영상 시청 가능합니다</a:t>
            </a:r>
          </a:p>
        </p:txBody>
      </p:sp>
    </p:spTree>
    <p:extLst>
      <p:ext uri="{BB962C8B-B14F-4D97-AF65-F5344CB8AC3E}">
        <p14:creationId xmlns:p14="http://schemas.microsoft.com/office/powerpoint/2010/main" val="355223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7FE073A-820D-C76A-6572-137FA8E151EA}"/>
              </a:ext>
            </a:extLst>
          </p:cNvPr>
          <p:cNvGrpSpPr/>
          <p:nvPr/>
        </p:nvGrpSpPr>
        <p:grpSpPr>
          <a:xfrm>
            <a:off x="193040" y="108000"/>
            <a:ext cx="11771480" cy="6084503"/>
            <a:chOff x="1524305" y="571500"/>
            <a:chExt cx="10096805" cy="5715000"/>
          </a:xfrm>
        </p:grpSpPr>
        <p:sp>
          <p:nvSpPr>
            <p:cNvPr id="13" name="Shape 8"/>
            <p:cNvSpPr/>
            <p:nvPr/>
          </p:nvSpPr>
          <p:spPr>
            <a:xfrm>
              <a:off x="1524305" y="571500"/>
              <a:ext cx="10096805" cy="5715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1543507" y="590702"/>
              <a:ext cx="100584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1638605" y="952805"/>
              <a:ext cx="9868205" cy="5238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11354105" y="619049"/>
              <a:ext cx="209398" cy="209398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809598" y="1143000"/>
              <a:ext cx="9525305" cy="476402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1666951" y="629107"/>
              <a:ext cx="146304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File Tower Defence.exe</a:t>
              </a:r>
              <a:endParaRPr lang="en-US" altLang="ko-KR" sz="1000" b="1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11419942" y="657454"/>
              <a:ext cx="859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3159015" y="1253185"/>
              <a:ext cx="7207773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20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입력</a:t>
              </a:r>
              <a:r>
                <a:rPr lang="en-US" altLang="ko-KR" sz="20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이벤트</a:t>
              </a:r>
              <a:r>
                <a:rPr lang="en-US" altLang="ko-KR" sz="20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처리</a:t>
              </a:r>
              <a:r>
                <a:rPr lang="en-US" altLang="ko-KR" sz="20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ko-KR" altLang="en-US" sz="20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시스템</a:t>
              </a:r>
              <a:endParaRPr lang="en-US" altLang="ko-KR" sz="2000" dirty="0"/>
            </a:p>
          </p:txBody>
        </p:sp>
      </p:grp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lang="en-US" sz="900" dirty="0"/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sp>
        <p:nvSpPr>
          <p:cNvPr id="130" name="Shape 14">
            <a:extLst>
              <a:ext uri="{FF2B5EF4-FFF2-40B4-BE49-F238E27FC236}">
                <a16:creationId xmlns:a16="http://schemas.microsoft.com/office/drawing/2014/main" id="{7AF23700-181C-431A-8919-4E408B02679D}"/>
              </a:ext>
            </a:extLst>
          </p:cNvPr>
          <p:cNvSpPr/>
          <p:nvPr/>
        </p:nvSpPr>
        <p:spPr>
          <a:xfrm>
            <a:off x="525652" y="1327299"/>
            <a:ext cx="9525305" cy="914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>
                <a:alpha val="0"/>
              </a:srgbClr>
            </a:solidFill>
            <a:prstDash val="solid"/>
          </a:ln>
        </p:spPr>
      </p:sp>
      <p:sp>
        <p:nvSpPr>
          <p:cNvPr id="131" name="Shape 15">
            <a:extLst>
              <a:ext uri="{FF2B5EF4-FFF2-40B4-BE49-F238E27FC236}">
                <a16:creationId xmlns:a16="http://schemas.microsoft.com/office/drawing/2014/main" id="{CB85F1E3-B426-49A8-A149-B484A3AE4525}"/>
              </a:ext>
            </a:extLst>
          </p:cNvPr>
          <p:cNvSpPr/>
          <p:nvPr/>
        </p:nvSpPr>
        <p:spPr>
          <a:xfrm>
            <a:off x="525652" y="1431540"/>
            <a:ext cx="11105190" cy="4381805"/>
          </a:xfrm>
          <a:prstGeom prst="rect">
            <a:avLst/>
          </a:prstGeom>
          <a:solidFill>
            <a:srgbClr val="1A365D"/>
          </a:solidFill>
          <a:ln w="25400">
            <a:solidFill>
              <a:srgbClr val="808080"/>
            </a:solidFill>
            <a:prstDash val="solid"/>
          </a:ln>
        </p:spPr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9D95F899-D19C-4A33-86E1-BE7BAECF47A4}"/>
              </a:ext>
            </a:extLst>
          </p:cNvPr>
          <p:cNvGrpSpPr/>
          <p:nvPr/>
        </p:nvGrpSpPr>
        <p:grpSpPr>
          <a:xfrm>
            <a:off x="561158" y="1579046"/>
            <a:ext cx="2934310" cy="647395"/>
            <a:chOff x="2987100" y="1714499"/>
            <a:chExt cx="2934310" cy="647395"/>
          </a:xfrm>
        </p:grpSpPr>
        <p:sp>
          <p:nvSpPr>
            <p:cNvPr id="133" name="Shape 16">
              <a:extLst>
                <a:ext uri="{FF2B5EF4-FFF2-40B4-BE49-F238E27FC236}">
                  <a16:creationId xmlns:a16="http://schemas.microsoft.com/office/drawing/2014/main" id="{C2203D33-307F-499F-9126-2C9079693C0F}"/>
                </a:ext>
              </a:extLst>
            </p:cNvPr>
            <p:cNvSpPr/>
            <p:nvPr/>
          </p:nvSpPr>
          <p:spPr>
            <a:xfrm>
              <a:off x="3463503" y="1714499"/>
              <a:ext cx="2457907" cy="647395"/>
            </a:xfrm>
            <a:prstGeom prst="rect">
              <a:avLst/>
            </a:prstGeom>
            <a:solidFill>
              <a:srgbClr val="00CED1"/>
            </a:solidFill>
            <a:ln w="25400">
              <a:solidFill>
                <a:srgbClr val="008B8B"/>
              </a:solidFill>
              <a:prstDash val="solid"/>
            </a:ln>
          </p:spPr>
        </p:sp>
        <p:pic>
          <p:nvPicPr>
            <p:cNvPr id="134" name="Image 4" descr="gen-dedup-21ca404cb11db46d70576942e588b6e2.png">
              <a:extLst>
                <a:ext uri="{FF2B5EF4-FFF2-40B4-BE49-F238E27FC236}">
                  <a16:creationId xmlns:a16="http://schemas.microsoft.com/office/drawing/2014/main" id="{D9580949-1911-46E9-8E3B-721F0DFE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30000" r="-30000"/>
            <a:stretch/>
          </p:blipFill>
          <p:spPr>
            <a:xfrm>
              <a:off x="2987100" y="1809597"/>
              <a:ext cx="381305" cy="381305"/>
            </a:xfrm>
            <a:prstGeom prst="rect">
              <a:avLst/>
            </a:prstGeom>
          </p:spPr>
        </p:pic>
        <p:sp>
          <p:nvSpPr>
            <p:cNvPr id="135" name="Text 26">
              <a:extLst>
                <a:ext uri="{FF2B5EF4-FFF2-40B4-BE49-F238E27FC236}">
                  <a16:creationId xmlns:a16="http://schemas.microsoft.com/office/drawing/2014/main" id="{E0DEFD80-AB55-45D8-8FC8-24A241CCE017}"/>
                </a:ext>
              </a:extLst>
            </p:cNvPr>
            <p:cNvSpPr txBox="1"/>
            <p:nvPr/>
          </p:nvSpPr>
          <p:spPr>
            <a:xfrm>
              <a:off x="3558600" y="1790394"/>
              <a:ext cx="22293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InputManager</a:t>
              </a:r>
              <a:endPara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(</a:t>
              </a:r>
              <a:r>
                <a:rPr lang="ko-KR" alt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 관리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200" dirty="0"/>
            </a:p>
          </p:txBody>
        </p:sp>
      </p:grpSp>
      <p:sp>
        <p:nvSpPr>
          <p:cNvPr id="136" name="Text 27">
            <a:extLst>
              <a:ext uri="{FF2B5EF4-FFF2-40B4-BE49-F238E27FC236}">
                <a16:creationId xmlns:a16="http://schemas.microsoft.com/office/drawing/2014/main" id="{9B4518B8-39A7-4A75-A914-418F95AD1B0A}"/>
              </a:ext>
            </a:extLst>
          </p:cNvPr>
          <p:cNvSpPr txBox="1"/>
          <p:nvPr/>
        </p:nvSpPr>
        <p:spPr>
          <a:xfrm>
            <a:off x="3686758" y="1721099"/>
            <a:ext cx="3269854" cy="428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dirty="0">
                <a:solidFill>
                  <a:schemeClr val="bg1"/>
                </a:solidFill>
              </a:rPr>
              <a:t>마우스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키보드 입력을 처리하는 매니저 클래스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입력 상태에 따른 분기를 나눠서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Hover, Click, Drag </a:t>
            </a:r>
            <a:r>
              <a:rPr lang="ko-KR" altLang="en-US" sz="1200" dirty="0">
                <a:solidFill>
                  <a:schemeClr val="bg1"/>
                </a:solidFill>
              </a:rPr>
              <a:t>상태를 체크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402E85A4-997D-45CC-8142-56BF688C162F}"/>
              </a:ext>
            </a:extLst>
          </p:cNvPr>
          <p:cNvGrpSpPr/>
          <p:nvPr/>
        </p:nvGrpSpPr>
        <p:grpSpPr>
          <a:xfrm>
            <a:off x="561158" y="2722046"/>
            <a:ext cx="3001975" cy="647395"/>
            <a:chOff x="2987100" y="2857499"/>
            <a:chExt cx="3001975" cy="647395"/>
          </a:xfrm>
        </p:grpSpPr>
        <p:sp>
          <p:nvSpPr>
            <p:cNvPr id="138" name="Shape 17">
              <a:extLst>
                <a:ext uri="{FF2B5EF4-FFF2-40B4-BE49-F238E27FC236}">
                  <a16:creationId xmlns:a16="http://schemas.microsoft.com/office/drawing/2014/main" id="{967F570E-D56C-4E95-97E5-949E020B52A8}"/>
                </a:ext>
              </a:extLst>
            </p:cNvPr>
            <p:cNvSpPr/>
            <p:nvPr/>
          </p:nvSpPr>
          <p:spPr>
            <a:xfrm>
              <a:off x="3463503" y="2857499"/>
              <a:ext cx="2457907" cy="647395"/>
            </a:xfrm>
            <a:prstGeom prst="rect">
              <a:avLst/>
            </a:prstGeom>
            <a:solidFill>
              <a:srgbClr val="4169E1"/>
            </a:solidFill>
            <a:ln w="25400">
              <a:solidFill>
                <a:srgbClr val="00008B"/>
              </a:solidFill>
              <a:prstDash val="solid"/>
            </a:ln>
          </p:spPr>
        </p:sp>
        <p:pic>
          <p:nvPicPr>
            <p:cNvPr id="139" name="Image 5" descr="gen-dedup-25f611c0af0f2b822630a480420c27ac.png">
              <a:extLst>
                <a:ext uri="{FF2B5EF4-FFF2-40B4-BE49-F238E27FC236}">
                  <a16:creationId xmlns:a16="http://schemas.microsoft.com/office/drawing/2014/main" id="{99E06B62-35B1-4F5D-B4AB-46318B3A3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7143" r="-7143"/>
            <a:stretch/>
          </p:blipFill>
          <p:spPr>
            <a:xfrm>
              <a:off x="2987100" y="2952597"/>
              <a:ext cx="381305" cy="381305"/>
            </a:xfrm>
            <a:prstGeom prst="rect">
              <a:avLst/>
            </a:prstGeom>
          </p:spPr>
        </p:pic>
        <p:sp>
          <p:nvSpPr>
            <p:cNvPr id="140" name="Text 28">
              <a:extLst>
                <a:ext uri="{FF2B5EF4-FFF2-40B4-BE49-F238E27FC236}">
                  <a16:creationId xmlns:a16="http://schemas.microsoft.com/office/drawing/2014/main" id="{DBECEA11-05BE-4938-B824-EB84532BD591}"/>
                </a:ext>
              </a:extLst>
            </p:cNvPr>
            <p:cNvSpPr txBox="1"/>
            <p:nvPr/>
          </p:nvSpPr>
          <p:spPr>
            <a:xfrm>
              <a:off x="3359261" y="3047694"/>
              <a:ext cx="26298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InteractionHandler</a:t>
              </a:r>
              <a:endPara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(</a:t>
              </a:r>
              <a:r>
                <a:rPr lang="ko-KR" alt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상호작용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200" dirty="0"/>
            </a:p>
          </p:txBody>
        </p:sp>
      </p:grpSp>
      <p:sp>
        <p:nvSpPr>
          <p:cNvPr id="141" name="Text 29">
            <a:extLst>
              <a:ext uri="{FF2B5EF4-FFF2-40B4-BE49-F238E27FC236}">
                <a16:creationId xmlns:a16="http://schemas.microsoft.com/office/drawing/2014/main" id="{8B7621B2-3FE1-46A9-A182-86B14FB832E8}"/>
              </a:ext>
            </a:extLst>
          </p:cNvPr>
          <p:cNvSpPr txBox="1"/>
          <p:nvPr/>
        </p:nvSpPr>
        <p:spPr>
          <a:xfrm>
            <a:off x="3686758" y="2736922"/>
            <a:ext cx="39794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ko-KR" altLang="en-US" sz="1200" dirty="0">
                <a:solidFill>
                  <a:srgbClr val="FFFFFF"/>
                </a:solidFill>
                <a:ea typeface="Nanum Gothic" pitchFamily="34" charset="-122"/>
                <a:cs typeface="Nanum Gothic" pitchFamily="34" charset="-120"/>
              </a:rPr>
              <a:t>실질적인 이벤트를 날려주는 </a:t>
            </a:r>
            <a:r>
              <a:rPr lang="ko-KR" altLang="en-US" sz="1200" dirty="0" err="1">
                <a:solidFill>
                  <a:srgbClr val="FFFFFF"/>
                </a:solidFill>
                <a:ea typeface="Nanum Gothic" pitchFamily="34" charset="-122"/>
                <a:cs typeface="Nanum Gothic" pitchFamily="34" charset="-120"/>
              </a:rPr>
              <a:t>핸들러</a:t>
            </a:r>
            <a:r>
              <a:rPr lang="ko-KR" altLang="en-US" sz="1200" dirty="0">
                <a:solidFill>
                  <a:srgbClr val="FFFFFF"/>
                </a:solidFill>
                <a:ea typeface="Nanum Gothic" pitchFamily="34" charset="-122"/>
                <a:cs typeface="Nanum Gothic" pitchFamily="34" charset="-120"/>
              </a:rPr>
              <a:t> 클래스 </a:t>
            </a:r>
            <a:endParaRPr lang="en-US" altLang="ko-KR" sz="1200" dirty="0">
              <a:solidFill>
                <a:srgbClr val="FFFFFF"/>
              </a:solidFill>
              <a:ea typeface="Nanum Gothic" pitchFamily="34" charset="-122"/>
              <a:cs typeface="Nanum Gothic" pitchFamily="34" charset="-120"/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InputManager</a:t>
            </a:r>
            <a:r>
              <a:rPr lang="ko-KR" altLang="en-US" sz="1200" dirty="0">
                <a:solidFill>
                  <a:schemeClr val="bg1"/>
                </a:solidFill>
              </a:rPr>
              <a:t>로 부터 받은 입력 이벤트를 호출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C7005864-26A5-4D47-A49A-1E15AD7A3BE1}"/>
              </a:ext>
            </a:extLst>
          </p:cNvPr>
          <p:cNvGrpSpPr/>
          <p:nvPr/>
        </p:nvGrpSpPr>
        <p:grpSpPr>
          <a:xfrm>
            <a:off x="561158" y="3865046"/>
            <a:ext cx="2934310" cy="647395"/>
            <a:chOff x="2987100" y="4000499"/>
            <a:chExt cx="2934310" cy="647395"/>
          </a:xfrm>
        </p:grpSpPr>
        <p:sp>
          <p:nvSpPr>
            <p:cNvPr id="143" name="Shape 18">
              <a:extLst>
                <a:ext uri="{FF2B5EF4-FFF2-40B4-BE49-F238E27FC236}">
                  <a16:creationId xmlns:a16="http://schemas.microsoft.com/office/drawing/2014/main" id="{44BD7857-78A8-46C8-AE34-06EB608D5656}"/>
                </a:ext>
              </a:extLst>
            </p:cNvPr>
            <p:cNvSpPr/>
            <p:nvPr/>
          </p:nvSpPr>
          <p:spPr>
            <a:xfrm>
              <a:off x="3463503" y="4000499"/>
              <a:ext cx="2457907" cy="647395"/>
            </a:xfrm>
            <a:prstGeom prst="rect">
              <a:avLst/>
            </a:prstGeom>
            <a:solidFill>
              <a:srgbClr val="9370DB"/>
            </a:solidFill>
            <a:ln w="25400">
              <a:solidFill>
                <a:srgbClr val="4B0082"/>
              </a:solidFill>
              <a:prstDash val="solid"/>
            </a:ln>
          </p:spPr>
        </p:sp>
        <p:pic>
          <p:nvPicPr>
            <p:cNvPr id="144" name="Image 6" descr="gen-dedup-b3b306f6b95ab5d3d964c2bde3ad1d93.png">
              <a:extLst>
                <a:ext uri="{FF2B5EF4-FFF2-40B4-BE49-F238E27FC236}">
                  <a16:creationId xmlns:a16="http://schemas.microsoft.com/office/drawing/2014/main" id="{EE5BFA2B-65CC-43DF-8135-BD1930128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16667" r="-16667"/>
            <a:stretch/>
          </p:blipFill>
          <p:spPr>
            <a:xfrm>
              <a:off x="2987100" y="4095597"/>
              <a:ext cx="381305" cy="381305"/>
            </a:xfrm>
            <a:prstGeom prst="rect">
              <a:avLst/>
            </a:prstGeom>
          </p:spPr>
        </p:pic>
        <p:sp>
          <p:nvSpPr>
            <p:cNvPr id="145" name="Text 30">
              <a:extLst>
                <a:ext uri="{FF2B5EF4-FFF2-40B4-BE49-F238E27FC236}">
                  <a16:creationId xmlns:a16="http://schemas.microsoft.com/office/drawing/2014/main" id="{B6EA5A55-BA68-45AD-BEA1-F3EE1712C9B4}"/>
                </a:ext>
              </a:extLst>
            </p:cNvPr>
            <p:cNvSpPr txBox="1"/>
            <p:nvPr/>
          </p:nvSpPr>
          <p:spPr>
            <a:xfrm>
              <a:off x="3444300" y="4190694"/>
              <a:ext cx="2457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IInteractable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ko-KR" alt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상호작용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인터페이스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200" dirty="0"/>
            </a:p>
          </p:txBody>
        </p:sp>
      </p:grpSp>
      <p:sp>
        <p:nvSpPr>
          <p:cNvPr id="146" name="Text 31">
            <a:extLst>
              <a:ext uri="{FF2B5EF4-FFF2-40B4-BE49-F238E27FC236}">
                <a16:creationId xmlns:a16="http://schemas.microsoft.com/office/drawing/2014/main" id="{5519F398-6BDE-4B73-8813-EE2F65D16831}"/>
              </a:ext>
            </a:extLst>
          </p:cNvPr>
          <p:cNvSpPr txBox="1"/>
          <p:nvPr/>
        </p:nvSpPr>
        <p:spPr>
          <a:xfrm>
            <a:off x="3686758" y="3941112"/>
            <a:ext cx="3269854" cy="54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dirty="0">
                <a:solidFill>
                  <a:schemeClr val="bg1"/>
                </a:solidFill>
              </a:rPr>
              <a:t>상호작용 이벤트가 필요한 객체에게 상속하여 이벤트 함수를 각 클래스에서 구현한다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5DA99F2D-4AA4-4312-AF27-4D4B6CE94303}"/>
              </a:ext>
            </a:extLst>
          </p:cNvPr>
          <p:cNvGrpSpPr/>
          <p:nvPr/>
        </p:nvGrpSpPr>
        <p:grpSpPr>
          <a:xfrm>
            <a:off x="777240" y="5110643"/>
            <a:ext cx="1890065" cy="457200"/>
            <a:chOff x="1844100" y="5143499"/>
            <a:chExt cx="1890065" cy="457200"/>
          </a:xfrm>
        </p:grpSpPr>
        <p:sp>
          <p:nvSpPr>
            <p:cNvPr id="148" name="Shape 19">
              <a:extLst>
                <a:ext uri="{FF2B5EF4-FFF2-40B4-BE49-F238E27FC236}">
                  <a16:creationId xmlns:a16="http://schemas.microsoft.com/office/drawing/2014/main" id="{4897F64B-2ABE-4E68-ADCD-917DD48D07EC}"/>
                </a:ext>
              </a:extLst>
            </p:cNvPr>
            <p:cNvSpPr/>
            <p:nvPr/>
          </p:nvSpPr>
          <p:spPr>
            <a:xfrm>
              <a:off x="1844100" y="5143499"/>
              <a:ext cx="1410005" cy="457200"/>
            </a:xfrm>
            <a:prstGeom prst="rect">
              <a:avLst/>
            </a:prstGeom>
            <a:solidFill>
              <a:srgbClr val="32CD32"/>
            </a:solidFill>
            <a:ln w="25400">
              <a:solidFill>
                <a:srgbClr val="228B22"/>
              </a:solidFill>
              <a:prstDash val="solid"/>
            </a:ln>
          </p:spPr>
        </p:sp>
        <p:pic>
          <p:nvPicPr>
            <p:cNvPr id="149" name="Image 7" descr="gen-dedup-418f606c4a14ab7b19d947aa84904ed7.png">
              <a:extLst>
                <a:ext uri="{FF2B5EF4-FFF2-40B4-BE49-F238E27FC236}">
                  <a16:creationId xmlns:a16="http://schemas.microsoft.com/office/drawing/2014/main" id="{2861D189-BFB4-470F-B478-B9DB86982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-16667" r="-16667"/>
            <a:stretch/>
          </p:blipFill>
          <p:spPr>
            <a:xfrm>
              <a:off x="1987661" y="5210250"/>
              <a:ext cx="286207" cy="286207"/>
            </a:xfrm>
            <a:prstGeom prst="rect">
              <a:avLst/>
            </a:prstGeom>
          </p:spPr>
        </p:pic>
        <p:sp>
          <p:nvSpPr>
            <p:cNvPr id="150" name="Text 32">
              <a:extLst>
                <a:ext uri="{FF2B5EF4-FFF2-40B4-BE49-F238E27FC236}">
                  <a16:creationId xmlns:a16="http://schemas.microsoft.com/office/drawing/2014/main" id="{8020FDED-2DB0-4433-BCBB-BA69D0081483}"/>
                </a:ext>
              </a:extLst>
            </p:cNvPr>
            <p:cNvSpPr txBox="1"/>
            <p:nvPr/>
          </p:nvSpPr>
          <p:spPr>
            <a:xfrm>
              <a:off x="2273868" y="5277001"/>
              <a:ext cx="146029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File Unit 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60274629-7274-459A-89A1-38A6E05DBB40}"/>
              </a:ext>
            </a:extLst>
          </p:cNvPr>
          <p:cNvGrpSpPr/>
          <p:nvPr/>
        </p:nvGrpSpPr>
        <p:grpSpPr>
          <a:xfrm>
            <a:off x="2320503" y="5110643"/>
            <a:ext cx="1858061" cy="457200"/>
            <a:chOff x="3273307" y="5143499"/>
            <a:chExt cx="1858061" cy="457200"/>
          </a:xfrm>
        </p:grpSpPr>
        <p:sp>
          <p:nvSpPr>
            <p:cNvPr id="152" name="Shape 20">
              <a:extLst>
                <a:ext uri="{FF2B5EF4-FFF2-40B4-BE49-F238E27FC236}">
                  <a16:creationId xmlns:a16="http://schemas.microsoft.com/office/drawing/2014/main" id="{38F1BC4D-0593-409A-A1BA-21DF0A7FC944}"/>
                </a:ext>
              </a:extLst>
            </p:cNvPr>
            <p:cNvSpPr/>
            <p:nvPr/>
          </p:nvSpPr>
          <p:spPr>
            <a:xfrm>
              <a:off x="3273307" y="5143499"/>
              <a:ext cx="1410005" cy="457200"/>
            </a:xfrm>
            <a:prstGeom prst="rect">
              <a:avLst/>
            </a:prstGeom>
            <a:solidFill>
              <a:srgbClr val="FF4500"/>
            </a:solidFill>
            <a:ln w="25400">
              <a:solidFill>
                <a:srgbClr val="B22222"/>
              </a:solidFill>
              <a:prstDash val="solid"/>
            </a:ln>
          </p:spPr>
        </p:sp>
        <p:pic>
          <p:nvPicPr>
            <p:cNvPr id="153" name="Image 8" descr="gen-dedup-795de46cd7bbd129a2cf67b77e58225d.png">
              <a:extLst>
                <a:ext uri="{FF2B5EF4-FFF2-40B4-BE49-F238E27FC236}">
                  <a16:creationId xmlns:a16="http://schemas.microsoft.com/office/drawing/2014/main" id="{0D5FD0BE-9BD5-47EB-BE72-4F7B34432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15954" y="5210250"/>
              <a:ext cx="286207" cy="286207"/>
            </a:xfrm>
            <a:prstGeom prst="rect">
              <a:avLst/>
            </a:prstGeom>
          </p:spPr>
        </p:pic>
        <p:sp>
          <p:nvSpPr>
            <p:cNvPr id="154" name="Text 33">
              <a:extLst>
                <a:ext uri="{FF2B5EF4-FFF2-40B4-BE49-F238E27FC236}">
                  <a16:creationId xmlns:a16="http://schemas.microsoft.com/office/drawing/2014/main" id="{93C7C35A-24BD-4564-8E59-4D965EC8566A}"/>
                </a:ext>
              </a:extLst>
            </p:cNvPr>
            <p:cNvSpPr txBox="1"/>
            <p:nvPr/>
          </p:nvSpPr>
          <p:spPr>
            <a:xfrm>
              <a:off x="3572316" y="5277001"/>
              <a:ext cx="155905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Virus Unit </a:t>
              </a:r>
              <a:endParaRPr lang="en-US" sz="1000" dirty="0"/>
            </a:p>
          </p:txBody>
        </p: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F4B4EBF3-4125-46DC-A0F1-1D30AF69B241}"/>
              </a:ext>
            </a:extLst>
          </p:cNvPr>
          <p:cNvGrpSpPr/>
          <p:nvPr/>
        </p:nvGrpSpPr>
        <p:grpSpPr>
          <a:xfrm>
            <a:off x="3852421" y="5131357"/>
            <a:ext cx="1853489" cy="457200"/>
            <a:chOff x="4701600" y="5143499"/>
            <a:chExt cx="1853489" cy="457200"/>
          </a:xfrm>
        </p:grpSpPr>
        <p:sp>
          <p:nvSpPr>
            <p:cNvPr id="156" name="Shape 21">
              <a:extLst>
                <a:ext uri="{FF2B5EF4-FFF2-40B4-BE49-F238E27FC236}">
                  <a16:creationId xmlns:a16="http://schemas.microsoft.com/office/drawing/2014/main" id="{210C2039-FB29-40BA-8E4E-0E8993008B6A}"/>
                </a:ext>
              </a:extLst>
            </p:cNvPr>
            <p:cNvSpPr/>
            <p:nvPr/>
          </p:nvSpPr>
          <p:spPr>
            <a:xfrm>
              <a:off x="4701600" y="5143499"/>
              <a:ext cx="1410005" cy="457200"/>
            </a:xfrm>
            <a:prstGeom prst="rect">
              <a:avLst/>
            </a:prstGeom>
            <a:solidFill>
              <a:srgbClr val="DAA520"/>
            </a:solidFill>
            <a:ln w="25400">
              <a:solidFill>
                <a:srgbClr val="B8860B"/>
              </a:solidFill>
              <a:prstDash val="solid"/>
            </a:ln>
          </p:spPr>
        </p:sp>
        <p:pic>
          <p:nvPicPr>
            <p:cNvPr id="157" name="Image 9" descr="gen-dedup-a812be61b3d8307780ea9a8b372b8335.png">
              <a:extLst>
                <a:ext uri="{FF2B5EF4-FFF2-40B4-BE49-F238E27FC236}">
                  <a16:creationId xmlns:a16="http://schemas.microsoft.com/office/drawing/2014/main" id="{58752C86-4051-4AA8-BB35-40910F17D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845161" y="5210250"/>
              <a:ext cx="286207" cy="286207"/>
            </a:xfrm>
            <a:prstGeom prst="rect">
              <a:avLst/>
            </a:prstGeom>
          </p:spPr>
        </p:pic>
        <p:sp>
          <p:nvSpPr>
            <p:cNvPr id="158" name="Text 34">
              <a:extLst>
                <a:ext uri="{FF2B5EF4-FFF2-40B4-BE49-F238E27FC236}">
                  <a16:creationId xmlns:a16="http://schemas.microsoft.com/office/drawing/2014/main" id="{1B57B879-8AE2-4EEA-99B0-51ACEE2B5619}"/>
                </a:ext>
              </a:extLst>
            </p:cNvPr>
            <p:cNvSpPr txBox="1"/>
            <p:nvPr/>
          </p:nvSpPr>
          <p:spPr>
            <a:xfrm>
              <a:off x="4997866" y="5277001"/>
              <a:ext cx="155722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UI Element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9EC0A3C-A86B-4290-AB63-F9156AA65DD6}"/>
              </a:ext>
            </a:extLst>
          </p:cNvPr>
          <p:cNvCxnSpPr>
            <a:cxnSpLocks/>
            <a:stCxn id="133" idx="2"/>
            <a:endCxn id="138" idx="0"/>
          </p:cNvCxnSpPr>
          <p:nvPr/>
        </p:nvCxnSpPr>
        <p:spPr>
          <a:xfrm>
            <a:off x="2266515" y="2226441"/>
            <a:ext cx="0" cy="495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856032D9-6C59-4AE6-A50D-DF3040826902}"/>
              </a:ext>
            </a:extLst>
          </p:cNvPr>
          <p:cNvCxnSpPr>
            <a:cxnSpLocks/>
            <a:stCxn id="138" idx="2"/>
            <a:endCxn id="143" idx="0"/>
          </p:cNvCxnSpPr>
          <p:nvPr/>
        </p:nvCxnSpPr>
        <p:spPr>
          <a:xfrm>
            <a:off x="2266515" y="3369441"/>
            <a:ext cx="0" cy="495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F0659A5-7AB7-429F-AE4D-3D71E9AC5803}"/>
              </a:ext>
            </a:extLst>
          </p:cNvPr>
          <p:cNvCxnSpPr>
            <a:cxnSpLocks/>
            <a:stCxn id="143" idx="2"/>
            <a:endCxn id="148" idx="0"/>
          </p:cNvCxnSpPr>
          <p:nvPr/>
        </p:nvCxnSpPr>
        <p:spPr>
          <a:xfrm rot="5400000">
            <a:off x="1575278" y="4419406"/>
            <a:ext cx="598202" cy="7842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284020FA-4972-4902-B532-603267419B23}"/>
              </a:ext>
            </a:extLst>
          </p:cNvPr>
          <p:cNvCxnSpPr>
            <a:cxnSpLocks/>
            <a:stCxn id="143" idx="2"/>
            <a:endCxn id="156" idx="0"/>
          </p:cNvCxnSpPr>
          <p:nvPr/>
        </p:nvCxnSpPr>
        <p:spPr>
          <a:xfrm rot="16200000" flipH="1">
            <a:off x="3102511" y="3676444"/>
            <a:ext cx="618916" cy="22909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6684D43C-5683-41FD-8C55-8DA1306C4643}"/>
              </a:ext>
            </a:extLst>
          </p:cNvPr>
          <p:cNvCxnSpPr>
            <a:cxnSpLocks/>
            <a:stCxn id="143" idx="2"/>
            <a:endCxn id="152" idx="0"/>
          </p:cNvCxnSpPr>
          <p:nvPr/>
        </p:nvCxnSpPr>
        <p:spPr>
          <a:xfrm rot="16200000" flipH="1">
            <a:off x="2346909" y="4432046"/>
            <a:ext cx="598202" cy="758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179EB4A1-ABFA-41D8-A5D7-9518E95048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0121" y="1654941"/>
            <a:ext cx="4470453" cy="36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9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627278" y="180886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647057" y="201854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647057" y="743009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647057" y="763976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647057" y="1179328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647057" y="1200295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647057" y="1532776"/>
            <a:ext cx="10850641" cy="41935"/>
          </a:xfrm>
          <a:prstGeom prst="rect">
            <a:avLst/>
          </a:prstGeom>
        </p:spPr>
      </p:pic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647057" y="1574710"/>
            <a:ext cx="10831804" cy="4665083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0653832" y="232805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0948620" y="232805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242466" y="232805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683378" y="519358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726168" y="815895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068989" y="815895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412751" y="815895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314802" y="1242230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0732944" y="1221262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706391" y="264756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971040" y="243789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0721642" y="258765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0997594" y="279732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0997594" y="279732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311218" y="274740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793979" y="888781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137741" y="888781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6666" r="-16666"/>
          <a:stretch/>
        </p:blipFill>
        <p:spPr>
          <a:xfrm>
            <a:off x="1481504" y="888781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001385" y="888781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2295232" y="888781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590019" y="888781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726168" y="1268189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1363777" y="1283166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1608649" y="1289156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0967456" y="1268189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666834" y="1590685"/>
            <a:ext cx="10794027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709859" y="1643291"/>
            <a:ext cx="347681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964739"/>
              </p:ext>
            </p:extLst>
          </p:nvPr>
        </p:nvGraphicFramePr>
        <p:xfrm>
          <a:off x="726169" y="2059693"/>
          <a:ext cx="6822117" cy="405489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7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4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모바일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(Android)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RPG,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시뮬레이션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4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9인(기획1, 아트4,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플밍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4)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2025.03 ~ 2025.09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4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C#, Unity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3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요약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매 한 판 한 판이 달라지는 </a:t>
                      </a:r>
                      <a:r>
                        <a:rPr lang="en-US" altLang="ko-KR" sz="1400" dirty="0"/>
                        <a:t>RPG</a:t>
                      </a:r>
                      <a:r>
                        <a:rPr lang="ko-KR" altLang="en-US" sz="1400" dirty="0"/>
                        <a:t>의 재미를 줄 수 있는 게임이다</a:t>
                      </a:r>
                      <a:r>
                        <a:rPr lang="en-US" altLang="ko-KR" sz="1400" dirty="0"/>
                        <a:t>.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매 판마다 등장하는 맵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퀘스트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직업 정보가 달라지므로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이런 상황적 랜덤성을 이용해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플레이어는 상황에 맞는 전략과 빌드를 선택해서 게임을 즐길 수 있다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24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동기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서버로부터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받아온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CSV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파싱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시스템과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CSV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버전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</a:t>
                      </a:r>
                      <a:endParaRPr lang="en-US" altLang="ko-KR" sz="1400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퀘스트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수락과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보상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클리어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altLang="ko-KR" sz="1400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맵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이동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altLang="ko-KR" sz="1400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Seed/Token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기반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세이브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로드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altLang="ko-KR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75C3BAD-535B-45DC-8AB9-632238C2F5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32529" y="2036278"/>
            <a:ext cx="2588186" cy="409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06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7A43ED-167C-466F-B0D2-3F8027BE0BD2}"/>
              </a:ext>
            </a:extLst>
          </p:cNvPr>
          <p:cNvGrpSpPr/>
          <p:nvPr/>
        </p:nvGrpSpPr>
        <p:grpSpPr>
          <a:xfrm>
            <a:off x="267005" y="108000"/>
            <a:ext cx="11697515" cy="6084503"/>
            <a:chOff x="267005" y="108000"/>
            <a:chExt cx="11697515" cy="6084503"/>
          </a:xfrm>
        </p:grpSpPr>
        <p:sp>
          <p:nvSpPr>
            <p:cNvPr id="13" name="Shape 8"/>
            <p:cNvSpPr/>
            <p:nvPr/>
          </p:nvSpPr>
          <p:spPr>
            <a:xfrm>
              <a:off x="267005" y="108000"/>
              <a:ext cx="11697515" cy="6084503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289252" y="128444"/>
              <a:ext cx="11653022" cy="284268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399426" y="513958"/>
              <a:ext cx="11432673" cy="55772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11655185" y="158623"/>
              <a:ext cx="242595" cy="222937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432265" y="169331"/>
              <a:ext cx="2409838" cy="2229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World First Kill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.exe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11731459" y="199511"/>
              <a:ext cx="99581" cy="142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8F126EA-5A8E-46F5-A088-4B6DC2D35653}"/>
                </a:ext>
              </a:extLst>
            </p:cNvPr>
            <p:cNvGrpSpPr/>
            <p:nvPr/>
          </p:nvGrpSpPr>
          <p:grpSpPr>
            <a:xfrm>
              <a:off x="398368" y="666597"/>
              <a:ext cx="11432672" cy="381305"/>
              <a:chOff x="1749003" y="666597"/>
              <a:chExt cx="9525305" cy="381305"/>
            </a:xfrm>
          </p:grpSpPr>
          <p:sp>
            <p:nvSpPr>
              <p:cNvPr id="60" name="Shape 12">
                <a:extLst>
                  <a:ext uri="{FF2B5EF4-FFF2-40B4-BE49-F238E27FC236}">
                    <a16:creationId xmlns:a16="http://schemas.microsoft.com/office/drawing/2014/main" id="{A770E5B3-FE8D-4D94-9B23-DD92101DB259}"/>
                  </a:ext>
                </a:extLst>
              </p:cNvPr>
              <p:cNvSpPr/>
              <p:nvPr/>
            </p:nvSpPr>
            <p:spPr>
              <a:xfrm>
                <a:off x="1749003" y="666597"/>
                <a:ext cx="9525305" cy="381305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71" name="Text 24">
                <a:extLst>
                  <a:ext uri="{FF2B5EF4-FFF2-40B4-BE49-F238E27FC236}">
                    <a16:creationId xmlns:a16="http://schemas.microsoft.com/office/drawing/2014/main" id="{001482B1-6544-4606-8D2E-039404005D40}"/>
                  </a:ext>
                </a:extLst>
              </p:cNvPr>
              <p:cNvSpPr txBox="1"/>
              <p:nvPr/>
            </p:nvSpPr>
            <p:spPr>
              <a:xfrm>
                <a:off x="4111812" y="743406"/>
                <a:ext cx="4799686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800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Json </a:t>
                </a:r>
                <a:r>
                  <a:rPr lang="en-US" altLang="ko-KR" sz="1800" b="1" dirty="0" err="1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기반</a:t>
                </a:r>
                <a:r>
                  <a:rPr lang="en-US" altLang="ko-KR" sz="1800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 </a:t>
                </a:r>
                <a:r>
                  <a:rPr lang="en-US" altLang="ko-KR" sz="1800" b="1" dirty="0" err="1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저장의</a:t>
                </a:r>
                <a:r>
                  <a:rPr lang="en-US" altLang="ko-KR" sz="1800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 </a:t>
                </a:r>
                <a:r>
                  <a:rPr lang="en-US" altLang="ko-KR" sz="1800" b="1" dirty="0" err="1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부담</a:t>
                </a:r>
                <a:r>
                  <a:rPr lang="ko-KR" altLang="en-US" sz="1800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감에 대한 문제에 대한 고민</a:t>
                </a:r>
                <a:endPara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61" name="Shape 13">
              <a:extLst>
                <a:ext uri="{FF2B5EF4-FFF2-40B4-BE49-F238E27FC236}">
                  <a16:creationId xmlns:a16="http://schemas.microsoft.com/office/drawing/2014/main" id="{AF6218FB-2B32-438A-8EE6-B7AA6156CD47}"/>
                </a:ext>
              </a:extLst>
            </p:cNvPr>
            <p:cNvSpPr/>
            <p:nvPr/>
          </p:nvSpPr>
          <p:spPr>
            <a:xfrm>
              <a:off x="519953" y="1149148"/>
              <a:ext cx="11211506" cy="4848240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63" name="Shape 15">
              <a:extLst>
                <a:ext uri="{FF2B5EF4-FFF2-40B4-BE49-F238E27FC236}">
                  <a16:creationId xmlns:a16="http://schemas.microsoft.com/office/drawing/2014/main" id="{8D2C872E-01D9-489C-B75B-C709E3C640D3}"/>
                </a:ext>
              </a:extLst>
            </p:cNvPr>
            <p:cNvSpPr/>
            <p:nvPr/>
          </p:nvSpPr>
          <p:spPr>
            <a:xfrm>
              <a:off x="519953" y="1155872"/>
              <a:ext cx="11211506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3" name="Text 22">
              <a:extLst>
                <a:ext uri="{FF2B5EF4-FFF2-40B4-BE49-F238E27FC236}">
                  <a16:creationId xmlns:a16="http://schemas.microsoft.com/office/drawing/2014/main" id="{192E3E1E-3942-4755-9A6C-5D7A5BBDDDF3}"/>
                </a:ext>
              </a:extLst>
            </p:cNvPr>
            <p:cNvSpPr txBox="1"/>
            <p:nvPr/>
          </p:nvSpPr>
          <p:spPr>
            <a:xfrm>
              <a:off x="5245517" y="1222623"/>
              <a:ext cx="172384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상황 분석 및 고민</a:t>
              </a:r>
              <a:endParaRPr lang="en-US" sz="1300" dirty="0"/>
            </a:p>
          </p:txBody>
        </p:sp>
        <p:sp>
          <p:nvSpPr>
            <p:cNvPr id="75" name="Text 24">
              <a:extLst>
                <a:ext uri="{FF2B5EF4-FFF2-40B4-BE49-F238E27FC236}">
                  <a16:creationId xmlns:a16="http://schemas.microsoft.com/office/drawing/2014/main" id="{8A6714CB-2516-4921-8616-F6F43DDA0F21}"/>
                </a:ext>
              </a:extLst>
            </p:cNvPr>
            <p:cNvSpPr txBox="1"/>
            <p:nvPr/>
          </p:nvSpPr>
          <p:spPr>
            <a:xfrm>
              <a:off x="1105052" y="1532604"/>
              <a:ext cx="9833627" cy="671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던전</a:t>
              </a: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, 직업 스킬 및 조합, 퀘스트, 직업 정보를 다 </a:t>
              </a:r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Json으로 저장하면 데이터 크기가 커지고 </a:t>
              </a:r>
              <a:r>
                <a:rPr lang="en-US" sz="1400" dirty="0" err="1">
                  <a:solidFill>
                    <a:srgbClr val="FF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관리하기</a:t>
              </a:r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FF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번거</a:t>
              </a:r>
              <a:r>
                <a:rPr lang="ko-KR" altLang="en-US" sz="1400" dirty="0">
                  <a:solidFill>
                    <a:srgbClr val="FF0000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로울 수 있음</a:t>
              </a:r>
              <a:endParaRPr lang="en-US" sz="1400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  <a:p>
              <a:r>
                <a: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방대한 </a:t>
              </a: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Json</a:t>
              </a:r>
              <a:r>
                <a: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을 해석하고</a:t>
              </a: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이를 게임에 적용하기에 </a:t>
              </a:r>
              <a:r>
                <a:rPr lang="ko-KR" alt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파싱하는</a:t>
              </a:r>
              <a:r>
                <a: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과정에서 오버헤드나</a:t>
              </a: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코드의 복잡성이 올라갈 수 있다</a:t>
              </a: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6643CFF5-0DF3-478B-8179-0CFB134066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013" y="2828452"/>
            <a:ext cx="5224420" cy="305386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E6E2A894-D506-4420-91D3-B31ADFC87FE9}"/>
              </a:ext>
            </a:extLst>
          </p:cNvPr>
          <p:cNvGrpSpPr/>
          <p:nvPr/>
        </p:nvGrpSpPr>
        <p:grpSpPr>
          <a:xfrm>
            <a:off x="6371539" y="2257528"/>
            <a:ext cx="5214523" cy="476402"/>
            <a:chOff x="6819596" y="1817641"/>
            <a:chExt cx="4401007" cy="476402"/>
          </a:xfrm>
        </p:grpSpPr>
        <p:sp>
          <p:nvSpPr>
            <p:cNvPr id="68" name="Shape 17">
              <a:extLst>
                <a:ext uri="{FF2B5EF4-FFF2-40B4-BE49-F238E27FC236}">
                  <a16:creationId xmlns:a16="http://schemas.microsoft.com/office/drawing/2014/main" id="{D210CFD1-9621-492C-A4EB-5070E45889B9}"/>
                </a:ext>
              </a:extLst>
            </p:cNvPr>
            <p:cNvSpPr/>
            <p:nvPr/>
          </p:nvSpPr>
          <p:spPr>
            <a:xfrm>
              <a:off x="6819596" y="1817641"/>
              <a:ext cx="4401007" cy="47640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70" name="Text 26">
              <a:extLst>
                <a:ext uri="{FF2B5EF4-FFF2-40B4-BE49-F238E27FC236}">
                  <a16:creationId xmlns:a16="http://schemas.microsoft.com/office/drawing/2014/main" id="{AA6AB1C4-5C4B-4651-A53A-814C0A06E888}"/>
                </a:ext>
              </a:extLst>
            </p:cNvPr>
            <p:cNvSpPr txBox="1"/>
            <p:nvPr/>
          </p:nvSpPr>
          <p:spPr>
            <a:xfrm>
              <a:off x="6819596" y="1951143"/>
              <a:ext cx="43863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💡 </a:t>
              </a:r>
              <a:r>
                <a:rPr lang="ko-KR" alt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마인크래프트라는</a:t>
              </a:r>
              <a:r>
                <a:rPr lang="ko-KR" alt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게임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을 참고하여 Seed </a:t>
              </a: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시스템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아이디어 구상</a:t>
              </a:r>
              <a:endParaRPr lang="en-US" sz="1200" dirty="0"/>
            </a:p>
          </p:txBody>
        </p:sp>
      </p:grpSp>
      <p:sp>
        <p:nvSpPr>
          <p:cNvPr id="72" name="Shape 13">
            <a:extLst>
              <a:ext uri="{FF2B5EF4-FFF2-40B4-BE49-F238E27FC236}">
                <a16:creationId xmlns:a16="http://schemas.microsoft.com/office/drawing/2014/main" id="{A0DE705D-1369-4966-9CF2-D5AB46D0B179}"/>
              </a:ext>
            </a:extLst>
          </p:cNvPr>
          <p:cNvSpPr/>
          <p:nvPr/>
        </p:nvSpPr>
        <p:spPr>
          <a:xfrm>
            <a:off x="627278" y="2262112"/>
            <a:ext cx="4762195" cy="3620202"/>
          </a:xfrm>
          <a:prstGeom prst="rect">
            <a:avLst/>
          </a:prstGeom>
          <a:solidFill>
            <a:srgbClr val="E8E8E8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6" name="Shape 15">
            <a:extLst>
              <a:ext uri="{FF2B5EF4-FFF2-40B4-BE49-F238E27FC236}">
                <a16:creationId xmlns:a16="http://schemas.microsoft.com/office/drawing/2014/main" id="{C085D54F-999E-4D6C-9E0F-941167370722}"/>
              </a:ext>
            </a:extLst>
          </p:cNvPr>
          <p:cNvSpPr/>
          <p:nvPr/>
        </p:nvSpPr>
        <p:spPr>
          <a:xfrm>
            <a:off x="665682" y="2300516"/>
            <a:ext cx="4686300" cy="2833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BFD617C0-631D-4C61-8DD0-4F179E633101}"/>
              </a:ext>
            </a:extLst>
          </p:cNvPr>
          <p:cNvSpPr txBox="1"/>
          <p:nvPr/>
        </p:nvSpPr>
        <p:spPr>
          <a:xfrm>
            <a:off x="1647748" y="2348065"/>
            <a:ext cx="2725826" cy="204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기반 생성 아이디어 도출</a:t>
            </a:r>
            <a:endParaRPr lang="en-US" sz="1300" dirty="0"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6600C929-8188-4D05-B0C7-408CF32F54B7}"/>
              </a:ext>
            </a:extLst>
          </p:cNvPr>
          <p:cNvSpPr txBox="1"/>
          <p:nvPr/>
        </p:nvSpPr>
        <p:spPr>
          <a:xfrm>
            <a:off x="896112" y="2919565"/>
            <a:ext cx="4349404" cy="56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마인크래프트의 Seed형 맵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생성을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떠올려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Seed/Token 형식의 맵 생성, </a:t>
            </a:r>
            <a:r>
              <a:rPr lang="en-US" sz="1300" b="1" dirty="0" err="1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퀘스트</a:t>
            </a:r>
            <a:r>
              <a:rPr 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</a:t>
            </a:r>
            <a:r>
              <a:rPr lang="ko-KR" alt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</a:t>
            </a:r>
            <a:r>
              <a:rPr 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</a:t>
            </a:r>
            <a:r>
              <a:rPr lang="ko-KR" alt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</a:t>
            </a:r>
            <a:endParaRPr lang="en-US" altLang="ko-KR" sz="1300" b="1" dirty="0">
              <a:solidFill>
                <a:srgbClr val="0000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플레이어</a:t>
            </a:r>
            <a:r>
              <a:rPr 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3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직업과 클래스를 생성해 보자</a:t>
            </a:r>
            <a:endParaRPr lang="en-US" sz="1300" dirty="0"/>
          </a:p>
        </p:txBody>
      </p:sp>
      <p:pic>
        <p:nvPicPr>
          <p:cNvPr id="80" name="Image 3" descr="gen-dedup-71753b08b0053994a79b5429ad4ecf11.png">
            <a:extLst>
              <a:ext uri="{FF2B5EF4-FFF2-40B4-BE49-F238E27FC236}">
                <a16:creationId xmlns:a16="http://schemas.microsoft.com/office/drawing/2014/main" id="{3CB61054-11FA-4D42-B424-39B1068169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2913278" y="3675198"/>
            <a:ext cx="190195" cy="157137"/>
          </a:xfrm>
          <a:prstGeom prst="rect">
            <a:avLst/>
          </a:prstGeom>
        </p:spPr>
      </p:pic>
      <p:sp>
        <p:nvSpPr>
          <p:cNvPr id="81" name="Text 23">
            <a:extLst>
              <a:ext uri="{FF2B5EF4-FFF2-40B4-BE49-F238E27FC236}">
                <a16:creationId xmlns:a16="http://schemas.microsoft.com/office/drawing/2014/main" id="{415244A4-8BAC-4BBE-B1E9-7E221B0F9F74}"/>
              </a:ext>
            </a:extLst>
          </p:cNvPr>
          <p:cNvSpPr txBox="1"/>
          <p:nvPr/>
        </p:nvSpPr>
        <p:spPr>
          <a:xfrm>
            <a:off x="896111" y="4083152"/>
            <a:ext cx="4349405" cy="56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마인크래프트에서는 해당 시드로, 지형, 환경, 구조물 등을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코드형태로 생성할 수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있으며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똑같은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시드를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불러오면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맵의 정보를 그대로 </a:t>
            </a:r>
            <a:r>
              <a:rPr lang="en-US" sz="1300" b="1" dirty="0" err="1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가져와</a:t>
            </a:r>
            <a:r>
              <a:rPr lang="en-US" sz="13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똑같</a:t>
            </a:r>
            <a:r>
              <a:rPr lang="ko-KR" altLang="en-US" sz="13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만들어 줄 수 있다</a:t>
            </a:r>
            <a:r>
              <a:rPr lang="en-US" altLang="ko-KR" sz="13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7E1446A-33AA-4307-B83A-A9571E125B50}"/>
              </a:ext>
            </a:extLst>
          </p:cNvPr>
          <p:cNvSpPr/>
          <p:nvPr/>
        </p:nvSpPr>
        <p:spPr>
          <a:xfrm>
            <a:off x="5563442" y="3646684"/>
            <a:ext cx="634127" cy="430636"/>
          </a:xfrm>
          <a:prstGeom prst="rightArrow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6ACBF-7572-4211-A4C4-36FAD3142D98}"/>
              </a:ext>
            </a:extLst>
          </p:cNvPr>
          <p:cNvSpPr txBox="1"/>
          <p:nvPr/>
        </p:nvSpPr>
        <p:spPr>
          <a:xfrm>
            <a:off x="1028700" y="5127812"/>
            <a:ext cx="4000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핵심은 하나의 </a:t>
            </a:r>
            <a:r>
              <a:rPr lang="ko-KR" altLang="en-US" b="1" dirty="0" err="1">
                <a:solidFill>
                  <a:srgbClr val="FF0000"/>
                </a:solidFill>
              </a:rPr>
              <a:t>시드로</a:t>
            </a:r>
            <a:r>
              <a:rPr lang="ko-KR" altLang="en-US" b="1" dirty="0">
                <a:solidFill>
                  <a:srgbClr val="FF0000"/>
                </a:solidFill>
              </a:rPr>
              <a:t> 세이브</a:t>
            </a:r>
            <a:r>
              <a:rPr lang="en-US" altLang="ko-KR" b="1" dirty="0">
                <a:solidFill>
                  <a:srgbClr val="FF0000"/>
                </a:solidFill>
              </a:rPr>
              <a:t>/</a:t>
            </a:r>
            <a:r>
              <a:rPr lang="ko-KR" altLang="en-US" b="1" dirty="0">
                <a:solidFill>
                  <a:srgbClr val="FF0000"/>
                </a:solidFill>
              </a:rPr>
              <a:t>로드 가능하게 하는 것이다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888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8249" y="108000"/>
            <a:ext cx="11716271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67006" y="128444"/>
            <a:ext cx="11676746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51104" y="513958"/>
            <a:ext cx="11489791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51104" y="151855"/>
            <a:ext cx="2414744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351104" y="621772"/>
            <a:ext cx="11489792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800" b="1" dirty="0">
                  <a:solidFill>
                    <a:schemeClr val="accent4"/>
                  </a:solidFill>
                </a:rPr>
                <a:t>Seed</a:t>
              </a:r>
              <a:r>
                <a:rPr lang="ko-KR" altLang="en-US" sz="1800" b="1" dirty="0">
                  <a:solidFill>
                    <a:schemeClr val="accent4"/>
                  </a:solidFill>
                </a:rPr>
                <a:t>기반 난수 생성</a:t>
              </a:r>
              <a:endParaRPr lang="en-US" altLang="ko-KR" sz="180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A097A40-42F8-416C-A6C6-3994F5086BFE}"/>
              </a:ext>
            </a:extLst>
          </p:cNvPr>
          <p:cNvGrpSpPr/>
          <p:nvPr/>
        </p:nvGrpSpPr>
        <p:grpSpPr>
          <a:xfrm>
            <a:off x="480877" y="1212137"/>
            <a:ext cx="7988169" cy="4658311"/>
            <a:chOff x="462407" y="1938000"/>
            <a:chExt cx="7192623" cy="4433725"/>
          </a:xfrm>
        </p:grpSpPr>
        <p:sp>
          <p:nvSpPr>
            <p:cNvPr id="51" name="Shape 13">
              <a:extLst>
                <a:ext uri="{FF2B5EF4-FFF2-40B4-BE49-F238E27FC236}">
                  <a16:creationId xmlns:a16="http://schemas.microsoft.com/office/drawing/2014/main" id="{CF16398E-DD25-4250-9083-05216E1C4346}"/>
                </a:ext>
              </a:extLst>
            </p:cNvPr>
            <p:cNvSpPr/>
            <p:nvPr/>
          </p:nvSpPr>
          <p:spPr>
            <a:xfrm>
              <a:off x="462407" y="1938000"/>
              <a:ext cx="7192623" cy="443372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3C05242-7FBD-4E44-888D-0C465F7C3905}"/>
                </a:ext>
              </a:extLst>
            </p:cNvPr>
            <p:cNvGrpSpPr/>
            <p:nvPr/>
          </p:nvGrpSpPr>
          <p:grpSpPr>
            <a:xfrm>
              <a:off x="476123" y="1938001"/>
              <a:ext cx="7139741" cy="495602"/>
              <a:chOff x="1791976" y="2530228"/>
              <a:chExt cx="6182329" cy="495602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202141FF-2295-44E1-A230-18243AE2D4CD}"/>
                  </a:ext>
                </a:extLst>
              </p:cNvPr>
              <p:cNvGrpSpPr/>
              <p:nvPr/>
            </p:nvGrpSpPr>
            <p:grpSpPr>
              <a:xfrm>
                <a:off x="1791976" y="2530228"/>
                <a:ext cx="6182329" cy="495602"/>
                <a:chOff x="1791976" y="2530228"/>
                <a:chExt cx="6182329" cy="495602"/>
              </a:xfrm>
            </p:grpSpPr>
            <p:sp>
              <p:nvSpPr>
                <p:cNvPr id="126" name="Shape 16">
                  <a:extLst>
                    <a:ext uri="{FF2B5EF4-FFF2-40B4-BE49-F238E27FC236}">
                      <a16:creationId xmlns:a16="http://schemas.microsoft.com/office/drawing/2014/main" id="{F4CDD386-0FB9-4E63-BE7E-58E1C3E818E9}"/>
                    </a:ext>
                  </a:extLst>
                </p:cNvPr>
                <p:cNvSpPr/>
                <p:nvPr/>
              </p:nvSpPr>
              <p:spPr>
                <a:xfrm>
                  <a:off x="1791976" y="2530228"/>
                  <a:ext cx="6182329" cy="495602"/>
                </a:xfrm>
                <a:prstGeom prst="rect">
                  <a:avLst/>
                </a:prstGeom>
                <a:solidFill>
                  <a:srgbClr val="000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pic>
              <p:nvPicPr>
                <p:cNvPr id="128" name="Image 3" descr="gen-dedup-c5aa3a34a2689a37c814728e4dbf9992.png">
                  <a:extLst>
                    <a:ext uri="{FF2B5EF4-FFF2-40B4-BE49-F238E27FC236}">
                      <a16:creationId xmlns:a16="http://schemas.microsoft.com/office/drawing/2014/main" id="{D139ECE5-4207-4A0F-A046-D6DA72A8A1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1897051" y="2607037"/>
                  <a:ext cx="272251" cy="380386"/>
                </a:xfrm>
                <a:prstGeom prst="rect">
                  <a:avLst/>
                </a:prstGeom>
              </p:spPr>
            </p:pic>
          </p:grpSp>
          <p:sp>
            <p:nvSpPr>
              <p:cNvPr id="129" name="Text 21">
                <a:extLst>
                  <a:ext uri="{FF2B5EF4-FFF2-40B4-BE49-F238E27FC236}">
                    <a16:creationId xmlns:a16="http://schemas.microsoft.com/office/drawing/2014/main" id="{49E25240-5AE5-4942-8237-68E7C3D23DFC}"/>
                  </a:ext>
                </a:extLst>
              </p:cNvPr>
              <p:cNvSpPr txBox="1"/>
              <p:nvPr/>
            </p:nvSpPr>
            <p:spPr>
              <a:xfrm>
                <a:off x="2208118" y="2583262"/>
                <a:ext cx="902635" cy="4233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 err="1">
                    <a:solidFill>
                      <a:srgbClr val="FFD7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GameSeed</a:t>
                </a:r>
                <a:endParaRPr lang="en-US" sz="1200" dirty="0"/>
              </a:p>
            </p:txBody>
          </p:sp>
        </p:grpSp>
      </p:grpSp>
      <p:sp>
        <p:nvSpPr>
          <p:cNvPr id="67" name="Shape 13">
            <a:extLst>
              <a:ext uri="{FF2B5EF4-FFF2-40B4-BE49-F238E27FC236}">
                <a16:creationId xmlns:a16="http://schemas.microsoft.com/office/drawing/2014/main" id="{FB7C1823-50C0-4E3B-A124-71F24E0C3DC8}"/>
              </a:ext>
            </a:extLst>
          </p:cNvPr>
          <p:cNvSpPr/>
          <p:nvPr/>
        </p:nvSpPr>
        <p:spPr>
          <a:xfrm>
            <a:off x="5434804" y="1889161"/>
            <a:ext cx="2960879" cy="3911003"/>
          </a:xfrm>
          <a:prstGeom prst="rect">
            <a:avLst/>
          </a:prstGeom>
          <a:solidFill>
            <a:srgbClr val="E8E8E8"/>
          </a:solidFill>
          <a:ln w="25400">
            <a:solidFill>
              <a:schemeClr val="accent1"/>
            </a:solidFill>
            <a:prstDash val="solid"/>
          </a:ln>
        </p:spPr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4D26DAD-41F0-481C-893E-C9C28F523FAD}"/>
              </a:ext>
            </a:extLst>
          </p:cNvPr>
          <p:cNvGrpSpPr/>
          <p:nvPr/>
        </p:nvGrpSpPr>
        <p:grpSpPr>
          <a:xfrm>
            <a:off x="5451908" y="2537792"/>
            <a:ext cx="3040009" cy="1769360"/>
            <a:chOff x="981964" y="4015713"/>
            <a:chExt cx="4156286" cy="670465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1866E94-05F1-4BD6-9505-AF222FA6990F}"/>
                </a:ext>
              </a:extLst>
            </p:cNvPr>
            <p:cNvSpPr txBox="1"/>
            <p:nvPr/>
          </p:nvSpPr>
          <p:spPr>
            <a:xfrm>
              <a:off x="981964" y="4015713"/>
              <a:ext cx="4156286" cy="116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/>
                <a:t>BaseSeed</a:t>
              </a:r>
              <a:r>
                <a:rPr lang="en-US" altLang="ko-KR" sz="1400" b="1" dirty="0"/>
                <a:t>(111111) + Domain(</a:t>
              </a:r>
              <a:r>
                <a:rPr lang="en-US" altLang="ko-KR" sz="1400" b="1" dirty="0" err="1"/>
                <a:t>enum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76BBD0D0-4698-4F83-804A-DC8BAB7B1D52}"/>
                </a:ext>
              </a:extLst>
            </p:cNvPr>
            <p:cNvSpPr/>
            <p:nvPr/>
          </p:nvSpPr>
          <p:spPr>
            <a:xfrm>
              <a:off x="2768867" y="4213643"/>
              <a:ext cx="422117" cy="14296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740EB3-F6EC-49AD-9113-8C69EAC29451}"/>
                </a:ext>
              </a:extLst>
            </p:cNvPr>
            <p:cNvSpPr txBox="1"/>
            <p:nvPr/>
          </p:nvSpPr>
          <p:spPr>
            <a:xfrm>
              <a:off x="995379" y="4371288"/>
              <a:ext cx="3987245" cy="314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effectLst/>
                </a:rPr>
                <a:t>SplitMix64 </a:t>
              </a:r>
              <a:r>
                <a:rPr lang="ko-KR" altLang="en-US" sz="1600" b="1" dirty="0"/>
                <a:t>난수 생성 함수를 통한 도메인별 새로운 </a:t>
              </a:r>
              <a:endParaRPr lang="en-US" altLang="ko-KR" sz="1600" b="1" dirty="0"/>
            </a:p>
            <a:p>
              <a:pPr algn="ctr"/>
              <a:r>
                <a:rPr lang="ko-KR" altLang="en-US" sz="1600" b="1" dirty="0"/>
                <a:t>난수 값 생성</a:t>
              </a:r>
            </a:p>
          </p:txBody>
        </p:sp>
      </p:grpSp>
      <p:sp>
        <p:nvSpPr>
          <p:cNvPr id="52" name="Shape 13">
            <a:extLst>
              <a:ext uri="{FF2B5EF4-FFF2-40B4-BE49-F238E27FC236}">
                <a16:creationId xmlns:a16="http://schemas.microsoft.com/office/drawing/2014/main" id="{CCE4ADDD-BF60-487D-BCD9-CC00D2852892}"/>
              </a:ext>
            </a:extLst>
          </p:cNvPr>
          <p:cNvSpPr/>
          <p:nvPr/>
        </p:nvSpPr>
        <p:spPr>
          <a:xfrm>
            <a:off x="8652726" y="1210916"/>
            <a:ext cx="3004491" cy="4659532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828F9E4C-8959-4784-B69D-EE8FBABD0150}"/>
              </a:ext>
            </a:extLst>
          </p:cNvPr>
          <p:cNvSpPr/>
          <p:nvPr/>
        </p:nvSpPr>
        <p:spPr>
          <a:xfrm>
            <a:off x="8652725" y="1210916"/>
            <a:ext cx="3004492" cy="507997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970D8BCC-E9CD-46E8-ABC8-CE01542F2758}"/>
              </a:ext>
            </a:extLst>
          </p:cNvPr>
          <p:cNvSpPr txBox="1"/>
          <p:nvPr/>
        </p:nvSpPr>
        <p:spPr>
          <a:xfrm>
            <a:off x="8734852" y="1276427"/>
            <a:ext cx="3208900" cy="43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Quest, Class, Skill </a:t>
            </a:r>
            <a:r>
              <a:rPr lang="ko-KR" alt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 </a:t>
            </a:r>
            <a:endParaRPr lang="en-US" altLang="ko-KR" sz="1200" b="1" dirty="0">
              <a:solidFill>
                <a:srgbClr val="FFD7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ko-KR" alt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난수 사용량 기록</a:t>
            </a:r>
            <a:endParaRPr lang="en-US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0DD935-65C3-4E7E-B349-D1C69D5ED989}"/>
              </a:ext>
            </a:extLst>
          </p:cNvPr>
          <p:cNvSpPr txBox="1"/>
          <p:nvPr/>
        </p:nvSpPr>
        <p:spPr>
          <a:xfrm>
            <a:off x="8803441" y="1843359"/>
            <a:ext cx="2597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생성된 </a:t>
            </a:r>
            <a:r>
              <a:rPr lang="ko-KR" altLang="en-US" sz="1400" dirty="0" err="1"/>
              <a:t>난수값을</a:t>
            </a:r>
            <a:r>
              <a:rPr lang="ko-KR" altLang="en-US" sz="1400" dirty="0"/>
              <a:t> 이용해서 각 도메인에 대한 </a:t>
            </a:r>
            <a:r>
              <a:rPr lang="ko-KR" altLang="en-US" sz="1400" dirty="0" err="1"/>
              <a:t>난수값을</a:t>
            </a:r>
            <a:r>
              <a:rPr lang="ko-KR" altLang="en-US" sz="1400" dirty="0"/>
              <a:t> 사용 시 기록한다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EB3091B0-03A5-4E3A-BFE5-D37E9D87CBEC}"/>
              </a:ext>
            </a:extLst>
          </p:cNvPr>
          <p:cNvSpPr/>
          <p:nvPr/>
        </p:nvSpPr>
        <p:spPr>
          <a:xfrm>
            <a:off x="10026450" y="3107686"/>
            <a:ext cx="198329" cy="3509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06915F8-C793-479F-86AB-8DE8BD33D171}"/>
              </a:ext>
            </a:extLst>
          </p:cNvPr>
          <p:cNvSpPr/>
          <p:nvPr/>
        </p:nvSpPr>
        <p:spPr>
          <a:xfrm>
            <a:off x="9113710" y="2616747"/>
            <a:ext cx="2082522" cy="38667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랜덤 생성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ED86E72-DAB6-4239-92B5-CA723DA66BA5}"/>
              </a:ext>
            </a:extLst>
          </p:cNvPr>
          <p:cNvSpPr/>
          <p:nvPr/>
        </p:nvSpPr>
        <p:spPr>
          <a:xfrm>
            <a:off x="8946755" y="3566382"/>
            <a:ext cx="2357718" cy="53945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도메인별 </a:t>
            </a:r>
            <a:endParaRPr lang="en-US" altLang="ko-KR" sz="1600" dirty="0"/>
          </a:p>
          <a:p>
            <a:pPr algn="ctr"/>
            <a:r>
              <a:rPr lang="ko-KR" altLang="en-US" sz="1600" dirty="0"/>
              <a:t>난수 사용량 증가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FA4AD2-0DAE-447C-A873-87CF0ABCBACB}"/>
              </a:ext>
            </a:extLst>
          </p:cNvPr>
          <p:cNvSpPr txBox="1"/>
          <p:nvPr/>
        </p:nvSpPr>
        <p:spPr>
          <a:xfrm>
            <a:off x="8727768" y="4366556"/>
            <a:ext cx="259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해당 난수 사용량을 저장하기 위해서 </a:t>
            </a:r>
            <a:r>
              <a:rPr lang="ko-KR" altLang="en-US" sz="1400" dirty="0" err="1"/>
              <a:t>딕셔너리에</a:t>
            </a:r>
            <a:r>
              <a:rPr lang="ko-KR" altLang="en-US" sz="1400" dirty="0"/>
              <a:t> 저장한다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CD7399-7757-4427-A4BF-8431E55827B3}"/>
              </a:ext>
            </a:extLst>
          </p:cNvPr>
          <p:cNvSpPr txBox="1"/>
          <p:nvPr/>
        </p:nvSpPr>
        <p:spPr>
          <a:xfrm>
            <a:off x="252477" y="5056044"/>
            <a:ext cx="527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0" dirty="0">
                <a:effectLst/>
              </a:rPr>
              <a:t>SplitMix64</a:t>
            </a:r>
            <a:r>
              <a:rPr lang="ko-KR" altLang="en-US" dirty="0"/>
              <a:t> 알고리즘</a:t>
            </a:r>
            <a:r>
              <a:rPr lang="ko-KR" altLang="en-US" b="0" dirty="0">
                <a:effectLst/>
              </a:rPr>
              <a:t> 사용한 난수 생성 </a:t>
            </a:r>
            <a:r>
              <a:rPr lang="en-US" altLang="ko-KR" b="0" dirty="0">
                <a:effectLst/>
              </a:rPr>
              <a:t> </a:t>
            </a:r>
            <a:r>
              <a:rPr lang="ko-KR" altLang="en-US" b="0" dirty="0">
                <a:effectLst/>
              </a:rPr>
              <a:t>함수</a:t>
            </a:r>
            <a:endParaRPr lang="ko-KR" altLang="en-US" dirty="0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CA114729-DA1D-4762-97BF-6E59A856984E}"/>
              </a:ext>
            </a:extLst>
          </p:cNvPr>
          <p:cNvSpPr txBox="1"/>
          <p:nvPr/>
        </p:nvSpPr>
        <p:spPr>
          <a:xfrm>
            <a:off x="588827" y="1811978"/>
            <a:ext cx="3813715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+ </a:t>
            </a:r>
            <a:r>
              <a:rPr lang="en-US" sz="1400" b="1" dirty="0" err="1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도메인</a:t>
            </a:r>
            <a:r>
              <a:rPr 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enum</a:t>
            </a:r>
            <a:r>
              <a:rPr 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각 난수 데이터를 상징</a:t>
            </a:r>
            <a:r>
              <a:rPr lang="en-US" altLang="ko-KR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+ baseSeed (대표 Seed)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+ 난수 사용량을 저장할 딕셔너리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ea typeface="Arial" pitchFamily="34" charset="-122"/>
                <a:cs typeface="Arial" pitchFamily="34" charset="-120"/>
              </a:rPr>
              <a:t>+ SplitMix64 해시 알고리즘 사용한 랜덤성 부여</a:t>
            </a:r>
            <a:endParaRPr lang="en-US" sz="1400" dirty="0"/>
          </a:p>
        </p:txBody>
      </p:sp>
      <p:sp>
        <p:nvSpPr>
          <p:cNvPr id="70" name="Shape 16">
            <a:extLst>
              <a:ext uri="{FF2B5EF4-FFF2-40B4-BE49-F238E27FC236}">
                <a16:creationId xmlns:a16="http://schemas.microsoft.com/office/drawing/2014/main" id="{EAD50C94-C7B1-4C27-A1A4-1E01FE4D51D6}"/>
              </a:ext>
            </a:extLst>
          </p:cNvPr>
          <p:cNvSpPr/>
          <p:nvPr/>
        </p:nvSpPr>
        <p:spPr>
          <a:xfrm>
            <a:off x="5429831" y="1902365"/>
            <a:ext cx="2948256" cy="402503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b="1" dirty="0">
                <a:solidFill>
                  <a:schemeClr val="accent4"/>
                </a:solidFill>
              </a:rPr>
              <a:t>예시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CD276DC-B25B-4623-B90A-7A61AB9C0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76" y="3478297"/>
            <a:ext cx="4851071" cy="1583927"/>
          </a:xfrm>
          <a:prstGeom prst="rect">
            <a:avLst/>
          </a:prstGeom>
        </p:spPr>
      </p:pic>
      <p:sp>
        <p:nvSpPr>
          <p:cNvPr id="72" name="화살표: 아래쪽 71">
            <a:extLst>
              <a:ext uri="{FF2B5EF4-FFF2-40B4-BE49-F238E27FC236}">
                <a16:creationId xmlns:a16="http://schemas.microsoft.com/office/drawing/2014/main" id="{85479D41-180B-4DF8-BA3B-563794C4C51C}"/>
              </a:ext>
            </a:extLst>
          </p:cNvPr>
          <p:cNvSpPr/>
          <p:nvPr/>
        </p:nvSpPr>
        <p:spPr>
          <a:xfrm>
            <a:off x="6749585" y="4363831"/>
            <a:ext cx="308747" cy="377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4B4A92-0E28-49BD-B52C-60AE995089AD}"/>
              </a:ext>
            </a:extLst>
          </p:cNvPr>
          <p:cNvSpPr txBox="1"/>
          <p:nvPr/>
        </p:nvSpPr>
        <p:spPr>
          <a:xfrm>
            <a:off x="5488775" y="4811390"/>
            <a:ext cx="2929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effectLst/>
              </a:rPr>
              <a:t>해당 난수 값을 </a:t>
            </a:r>
            <a:endParaRPr lang="en-US" altLang="ko-KR" sz="1600" b="1" dirty="0">
              <a:effectLst/>
            </a:endParaRPr>
          </a:p>
          <a:p>
            <a:pPr algn="ctr"/>
            <a:r>
              <a:rPr lang="en-US" altLang="ko-KR" sz="1600" b="1" dirty="0">
                <a:effectLst/>
              </a:rPr>
              <a:t>domain(</a:t>
            </a:r>
            <a:r>
              <a:rPr lang="en-US" altLang="ko-KR" sz="1600" b="1" dirty="0" err="1">
                <a:effectLst/>
              </a:rPr>
              <a:t>enum</a:t>
            </a:r>
            <a:r>
              <a:rPr lang="en-US" altLang="ko-KR" sz="1600" b="1" dirty="0">
                <a:effectLst/>
              </a:rPr>
              <a:t>)</a:t>
            </a:r>
            <a:r>
              <a:rPr lang="ko-KR" altLang="en-US" sz="1600" b="1" dirty="0">
                <a:effectLst/>
              </a:rPr>
              <a:t>에 맞는</a:t>
            </a:r>
            <a:endParaRPr lang="en-US" altLang="ko-KR" sz="1600" b="1" dirty="0">
              <a:effectLst/>
            </a:endParaRPr>
          </a:p>
          <a:p>
            <a:pPr algn="ctr"/>
            <a:r>
              <a:rPr lang="ko-KR" altLang="en-US" sz="1600" b="1" dirty="0">
                <a:effectLst/>
              </a:rPr>
              <a:t> </a:t>
            </a:r>
            <a:r>
              <a:rPr lang="ko-KR" altLang="en-US" sz="1600" b="1" dirty="0" err="1">
                <a:effectLst/>
              </a:rPr>
              <a:t>딕셔너리에</a:t>
            </a:r>
            <a:r>
              <a:rPr lang="ko-KR" altLang="en-US" sz="1600" b="1" dirty="0">
                <a:effectLst/>
              </a:rPr>
              <a:t> 저장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2287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8249" y="108000"/>
            <a:ext cx="11716271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67006" y="128444"/>
            <a:ext cx="11676746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51104" y="513958"/>
            <a:ext cx="11489791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51104" y="151855"/>
            <a:ext cx="2414744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351104" y="621772"/>
            <a:ext cx="11489792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800" b="1" dirty="0">
                  <a:solidFill>
                    <a:schemeClr val="accent4"/>
                  </a:solidFill>
                </a:rPr>
                <a:t>Seed</a:t>
              </a:r>
              <a:r>
                <a:rPr lang="ko-KR" altLang="en-US" sz="1800" b="1" dirty="0">
                  <a:solidFill>
                    <a:schemeClr val="accent4"/>
                  </a:solidFill>
                </a:rPr>
                <a:t>기반 </a:t>
              </a:r>
              <a:r>
                <a:rPr lang="en-US" altLang="ko-KR" sz="1800" b="1" dirty="0">
                  <a:solidFill>
                    <a:schemeClr val="accent4"/>
                  </a:solidFill>
                </a:rPr>
                <a:t>Save/Load </a:t>
              </a:r>
              <a:r>
                <a:rPr lang="ko-KR" altLang="en-US" sz="1800" b="1" dirty="0">
                  <a:solidFill>
                    <a:schemeClr val="accent4"/>
                  </a:solidFill>
                </a:rPr>
                <a:t>시스템 설계</a:t>
              </a:r>
              <a:endParaRPr lang="en-US" altLang="ko-KR" sz="1800" b="1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89" name="Shape 14">
            <a:extLst>
              <a:ext uri="{FF2B5EF4-FFF2-40B4-BE49-F238E27FC236}">
                <a16:creationId xmlns:a16="http://schemas.microsoft.com/office/drawing/2014/main" id="{AA82AEEB-CC97-4FF3-9139-471D9959F189}"/>
              </a:ext>
            </a:extLst>
          </p:cNvPr>
          <p:cNvSpPr/>
          <p:nvPr/>
        </p:nvSpPr>
        <p:spPr>
          <a:xfrm>
            <a:off x="4066814" y="1088142"/>
            <a:ext cx="7709818" cy="1863059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8AA7A43-CDE8-4DB1-9B05-520A5D96A657}"/>
              </a:ext>
            </a:extLst>
          </p:cNvPr>
          <p:cNvGrpSpPr/>
          <p:nvPr/>
        </p:nvGrpSpPr>
        <p:grpSpPr>
          <a:xfrm>
            <a:off x="4078683" y="1088142"/>
            <a:ext cx="7705746" cy="333756"/>
            <a:chOff x="3915022" y="674993"/>
            <a:chExt cx="7705746" cy="333756"/>
          </a:xfrm>
        </p:grpSpPr>
        <p:sp>
          <p:nvSpPr>
            <p:cNvPr id="90" name="Shape 17">
              <a:extLst>
                <a:ext uri="{FF2B5EF4-FFF2-40B4-BE49-F238E27FC236}">
                  <a16:creationId xmlns:a16="http://schemas.microsoft.com/office/drawing/2014/main" id="{C1078E4F-1AEA-4D54-BFD2-81F8D611915D}"/>
                </a:ext>
              </a:extLst>
            </p:cNvPr>
            <p:cNvSpPr/>
            <p:nvPr/>
          </p:nvSpPr>
          <p:spPr>
            <a:xfrm>
              <a:off x="3915022" y="674993"/>
              <a:ext cx="7705746" cy="333756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91" name="Image 4" descr="gen-dedup-4a27134ef73b07672dc8685d703bf958.png">
              <a:extLst>
                <a:ext uri="{FF2B5EF4-FFF2-40B4-BE49-F238E27FC236}">
                  <a16:creationId xmlns:a16="http://schemas.microsoft.com/office/drawing/2014/main" id="{4A879648-DB27-4D53-A41E-56FB99965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7143" r="-7143"/>
            <a:stretch/>
          </p:blipFill>
          <p:spPr>
            <a:xfrm>
              <a:off x="4066814" y="751803"/>
              <a:ext cx="152708" cy="190195"/>
            </a:xfrm>
            <a:prstGeom prst="rect">
              <a:avLst/>
            </a:prstGeom>
          </p:spPr>
        </p:pic>
        <p:sp>
          <p:nvSpPr>
            <p:cNvPr id="92" name="Text 23">
              <a:extLst>
                <a:ext uri="{FF2B5EF4-FFF2-40B4-BE49-F238E27FC236}">
                  <a16:creationId xmlns:a16="http://schemas.microsoft.com/office/drawing/2014/main" id="{62594E0C-15AF-4D3F-9B95-2F991F2776A1}"/>
                </a:ext>
              </a:extLst>
            </p:cNvPr>
            <p:cNvSpPr txBox="1"/>
            <p:nvPr/>
          </p:nvSpPr>
          <p:spPr>
            <a:xfrm>
              <a:off x="4353019" y="756375"/>
              <a:ext cx="2030311" cy="1664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세이브</a:t>
              </a:r>
              <a:r>
                <a:rPr lang="en-US" altLang="ko-KR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Save) </a:t>
              </a:r>
              <a:r>
                <a:rPr lang="ko-KR" alt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과정</a:t>
              </a:r>
              <a:endPara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B3C055-5117-4C0E-8BFA-2289A21475AB}"/>
              </a:ext>
            </a:extLst>
          </p:cNvPr>
          <p:cNvGrpSpPr/>
          <p:nvPr/>
        </p:nvGrpSpPr>
        <p:grpSpPr>
          <a:xfrm>
            <a:off x="485089" y="1206988"/>
            <a:ext cx="3441802" cy="3666744"/>
            <a:chOff x="3956840" y="1100481"/>
            <a:chExt cx="3441802" cy="3666744"/>
          </a:xfrm>
        </p:grpSpPr>
        <p:sp>
          <p:nvSpPr>
            <p:cNvPr id="124" name="Shape 14">
              <a:extLst>
                <a:ext uri="{FF2B5EF4-FFF2-40B4-BE49-F238E27FC236}">
                  <a16:creationId xmlns:a16="http://schemas.microsoft.com/office/drawing/2014/main" id="{4F4841B5-42F0-4D1F-B7DF-193DBB3AFDD2}"/>
                </a:ext>
              </a:extLst>
            </p:cNvPr>
            <p:cNvSpPr/>
            <p:nvPr/>
          </p:nvSpPr>
          <p:spPr>
            <a:xfrm>
              <a:off x="3956840" y="1100481"/>
              <a:ext cx="3441802" cy="3666744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27" name="Shape 17">
              <a:extLst>
                <a:ext uri="{FF2B5EF4-FFF2-40B4-BE49-F238E27FC236}">
                  <a16:creationId xmlns:a16="http://schemas.microsoft.com/office/drawing/2014/main" id="{3AA29C6E-1094-4CF1-9401-A465E9988944}"/>
                </a:ext>
              </a:extLst>
            </p:cNvPr>
            <p:cNvSpPr/>
            <p:nvPr/>
          </p:nvSpPr>
          <p:spPr>
            <a:xfrm>
              <a:off x="3995244" y="1137971"/>
              <a:ext cx="3380132" cy="333756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31" name="Image 4" descr="gen-dedup-4a27134ef73b07672dc8685d703bf958.png">
              <a:extLst>
                <a:ext uri="{FF2B5EF4-FFF2-40B4-BE49-F238E27FC236}">
                  <a16:creationId xmlns:a16="http://schemas.microsoft.com/office/drawing/2014/main" id="{24880416-58C8-444E-BF91-58A52E62E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7143" r="-7143"/>
            <a:stretch/>
          </p:blipFill>
          <p:spPr>
            <a:xfrm>
              <a:off x="4147036" y="1214781"/>
              <a:ext cx="152708" cy="190195"/>
            </a:xfrm>
            <a:prstGeom prst="rect">
              <a:avLst/>
            </a:prstGeom>
          </p:spPr>
        </p:pic>
        <p:sp>
          <p:nvSpPr>
            <p:cNvPr id="132" name="Text 23">
              <a:extLst>
                <a:ext uri="{FF2B5EF4-FFF2-40B4-BE49-F238E27FC236}">
                  <a16:creationId xmlns:a16="http://schemas.microsoft.com/office/drawing/2014/main" id="{8989591A-4AFB-4542-B89E-B23F83AD6194}"/>
                </a:ext>
              </a:extLst>
            </p:cNvPr>
            <p:cNvSpPr txBox="1"/>
            <p:nvPr/>
          </p:nvSpPr>
          <p:spPr>
            <a:xfrm>
              <a:off x="4433241" y="1219353"/>
              <a:ext cx="2030311" cy="1664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SaveLoadManager</a:t>
              </a:r>
              <a:endParaRPr lang="en-US" sz="1200" dirty="0"/>
            </a:p>
          </p:txBody>
        </p:sp>
        <p:sp>
          <p:nvSpPr>
            <p:cNvPr id="133" name="Text 24">
              <a:extLst>
                <a:ext uri="{FF2B5EF4-FFF2-40B4-BE49-F238E27FC236}">
                  <a16:creationId xmlns:a16="http://schemas.microsoft.com/office/drawing/2014/main" id="{E0315362-B806-43F5-9218-37B6DEF538B1}"/>
                </a:ext>
              </a:extLst>
            </p:cNvPr>
            <p:cNvSpPr txBox="1"/>
            <p:nvPr/>
          </p:nvSpPr>
          <p:spPr>
            <a:xfrm>
              <a:off x="4099486" y="1624432"/>
              <a:ext cx="3212006" cy="2648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</a:t>
              </a:r>
              <a:r>
                <a:rPr lang="en-US" sz="1200" b="1" dirty="0">
                  <a:solidFill>
                    <a:srgbClr val="0000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 BuildSeedToken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난수 상태 정보를 텍스트(토큰)으로 </a:t>
              </a: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압축해서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토큰을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생성한다.</a:t>
              </a:r>
              <a:endParaRPr lang="en-US" sz="1200" dirty="0"/>
            </a:p>
            <a:p>
              <a:pPr marL="0" indent="0" algn="l">
                <a:buNone/>
              </a:pP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</a:t>
              </a:r>
              <a:r>
                <a:rPr lang="en-US" sz="1200" b="1" dirty="0">
                  <a:solidFill>
                    <a:srgbClr val="0000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 RestoreUsageCount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저장되어 있던 텍스트(토큰)를 해독하여, </a:t>
              </a:r>
            </a:p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난수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사용을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복구한다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1200" dirty="0"/>
            </a:p>
            <a:p>
              <a:pPr marL="0" indent="0" algn="l">
                <a:buNone/>
              </a:pP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</a:t>
              </a:r>
              <a:r>
                <a:rPr lang="en-US" sz="1200" b="1" dirty="0">
                  <a:solidFill>
                    <a:srgbClr val="0000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 SaveSeedTokenToJson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현재 시드와 토큰 정보를 Json 파일에 저장/최신화 한다.</a:t>
              </a:r>
              <a:endParaRPr lang="en-US" sz="1200" dirty="0"/>
            </a:p>
            <a:p>
              <a:pPr marL="0" indent="0" algn="l">
                <a:buNone/>
              </a:pP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</a:t>
              </a:r>
              <a:r>
                <a:rPr lang="en-US" sz="1200" b="1" dirty="0">
                  <a:solidFill>
                    <a:srgbClr val="0000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 TryLoadSeedToken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Json 파일에서 </a:t>
              </a: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토큰을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읽고</a:t>
              </a: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Seed</a:t>
              </a:r>
              <a:r>
                <a:rPr lang="ko-KR" alt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와 </a:t>
              </a:r>
              <a:endParaRPr lang="en-US" altLang="ko-KR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난수 사용량을 불러온다</a:t>
              </a:r>
              <a:endParaRPr lang="en-US" sz="1200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1B51485-3297-4AC4-A747-3050371C0A16}"/>
              </a:ext>
            </a:extLst>
          </p:cNvPr>
          <p:cNvGrpSpPr/>
          <p:nvPr/>
        </p:nvGrpSpPr>
        <p:grpSpPr>
          <a:xfrm>
            <a:off x="462406" y="5424148"/>
            <a:ext cx="11322023" cy="571500"/>
            <a:chOff x="424916" y="5005883"/>
            <a:chExt cx="11322023" cy="571500"/>
          </a:xfrm>
        </p:grpSpPr>
        <p:sp>
          <p:nvSpPr>
            <p:cNvPr id="125" name="Shape 15">
              <a:extLst>
                <a:ext uri="{FF2B5EF4-FFF2-40B4-BE49-F238E27FC236}">
                  <a16:creationId xmlns:a16="http://schemas.microsoft.com/office/drawing/2014/main" id="{37DB9E79-0850-4AC8-9C16-DB73E6D4A9A1}"/>
                </a:ext>
              </a:extLst>
            </p:cNvPr>
            <p:cNvSpPr/>
            <p:nvPr/>
          </p:nvSpPr>
          <p:spPr>
            <a:xfrm>
              <a:off x="424916" y="5005883"/>
              <a:ext cx="11322023" cy="571500"/>
            </a:xfrm>
            <a:prstGeom prst="rect">
              <a:avLst/>
            </a:prstGeom>
            <a:solidFill>
              <a:srgbClr val="D3D3D3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34" name="Text 25">
              <a:extLst>
                <a:ext uri="{FF2B5EF4-FFF2-40B4-BE49-F238E27FC236}">
                  <a16:creationId xmlns:a16="http://schemas.microsoft.com/office/drawing/2014/main" id="{1A74527B-AFAF-4205-9A1B-EA0EF905F583}"/>
                </a:ext>
              </a:extLst>
            </p:cNvPr>
            <p:cNvSpPr txBox="1"/>
            <p:nvPr/>
          </p:nvSpPr>
          <p:spPr>
            <a:xfrm>
              <a:off x="1268907" y="5209794"/>
              <a:ext cx="9712858" cy="1787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80"/>
                  </a:solidFill>
                  <a:ea typeface="Nanum Gothic Coding" pitchFamily="34" charset="-122"/>
                  <a:cs typeface="Nanum Gothic Coding" pitchFamily="34" charset="-120"/>
                </a:rPr>
                <a:t>GameSeed에서 관리되는 난수 상태를 SaveLoadManager가 토큰으로 압축하여 저장/복구 수행</a:t>
              </a:r>
              <a:endParaRPr lang="en-US" sz="1400" dirty="0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5FE8DE-1A39-4C50-8258-2F557979C9D1}"/>
              </a:ext>
            </a:extLst>
          </p:cNvPr>
          <p:cNvSpPr/>
          <p:nvPr/>
        </p:nvSpPr>
        <p:spPr>
          <a:xfrm>
            <a:off x="4623388" y="1530228"/>
            <a:ext cx="2824036" cy="571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/>
              <a:t>SaveSeedTokenToJson</a:t>
            </a:r>
            <a:r>
              <a:rPr lang="en-US" altLang="ko-KR" sz="1600" dirty="0"/>
              <a:t>() </a:t>
            </a:r>
            <a:r>
              <a:rPr lang="ko-KR" altLang="en-US" sz="1600" dirty="0"/>
              <a:t>호출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07DA31F-DEA9-4270-B8D3-C11D407C7190}"/>
              </a:ext>
            </a:extLst>
          </p:cNvPr>
          <p:cNvCxnSpPr>
            <a:cxnSpLocks/>
            <a:stCxn id="9" idx="1"/>
            <a:endCxn id="44" idx="1"/>
          </p:cNvCxnSpPr>
          <p:nvPr/>
        </p:nvCxnSpPr>
        <p:spPr>
          <a:xfrm rot="10800000" flipH="1" flipV="1">
            <a:off x="4623387" y="1815977"/>
            <a:ext cx="3337" cy="729457"/>
          </a:xfrm>
          <a:prstGeom prst="bentConnector3">
            <a:avLst>
              <a:gd name="adj1" fmla="val -899961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7F3B544-8B22-4CC0-B0EC-4D954C4D873F}"/>
              </a:ext>
            </a:extLst>
          </p:cNvPr>
          <p:cNvSpPr/>
          <p:nvPr/>
        </p:nvSpPr>
        <p:spPr>
          <a:xfrm>
            <a:off x="4626725" y="2259685"/>
            <a:ext cx="3397979" cy="571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BuildSeedToken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시드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사용량스냅샷</a:t>
            </a:r>
            <a:r>
              <a:rPr lang="en-US" altLang="ko-KR" sz="1400" dirty="0"/>
              <a:t>) </a:t>
            </a:r>
            <a:r>
              <a:rPr lang="ko-KR" altLang="en-US" sz="1400" dirty="0"/>
              <a:t>호출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2A020B5-FCD8-4958-A28C-B968DA849D6B}"/>
              </a:ext>
            </a:extLst>
          </p:cNvPr>
          <p:cNvCxnSpPr>
            <a:cxnSpLocks/>
            <a:stCxn id="44" idx="3"/>
            <a:endCxn id="58" idx="1"/>
          </p:cNvCxnSpPr>
          <p:nvPr/>
        </p:nvCxnSpPr>
        <p:spPr>
          <a:xfrm flipV="1">
            <a:off x="8024704" y="2542403"/>
            <a:ext cx="380485" cy="3032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C31D41-9BF1-48FC-9269-A28F4CE9BF9E}"/>
              </a:ext>
            </a:extLst>
          </p:cNvPr>
          <p:cNvSpPr/>
          <p:nvPr/>
        </p:nvSpPr>
        <p:spPr>
          <a:xfrm>
            <a:off x="8405189" y="2256653"/>
            <a:ext cx="1126338" cy="5714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Token </a:t>
            </a:r>
            <a:r>
              <a:rPr lang="ko-KR" altLang="en-US" sz="1400" dirty="0"/>
              <a:t>생성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A93C521-6C94-4442-A006-136A1CB67CE3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>
            <a:off x="9531527" y="2542403"/>
            <a:ext cx="496593" cy="42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B78D907-8D9D-4344-B8A0-6E64AA0D3797}"/>
              </a:ext>
            </a:extLst>
          </p:cNvPr>
          <p:cNvSpPr/>
          <p:nvPr/>
        </p:nvSpPr>
        <p:spPr>
          <a:xfrm>
            <a:off x="10028120" y="2257073"/>
            <a:ext cx="1536145" cy="571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 </a:t>
            </a:r>
            <a:r>
              <a:rPr lang="en-US" altLang="ko-KR" sz="1400" dirty="0"/>
              <a:t>JSON </a:t>
            </a:r>
            <a:r>
              <a:rPr lang="ko-KR" altLang="en-US" sz="1400" dirty="0"/>
              <a:t>로컬 저장</a:t>
            </a:r>
          </a:p>
        </p:txBody>
      </p:sp>
      <p:sp>
        <p:nvSpPr>
          <p:cNvPr id="95" name="Shape 14">
            <a:extLst>
              <a:ext uri="{FF2B5EF4-FFF2-40B4-BE49-F238E27FC236}">
                <a16:creationId xmlns:a16="http://schemas.microsoft.com/office/drawing/2014/main" id="{8ED97E7D-46C9-4A0C-B224-A2FEAF391D12}"/>
              </a:ext>
            </a:extLst>
          </p:cNvPr>
          <p:cNvSpPr/>
          <p:nvPr/>
        </p:nvSpPr>
        <p:spPr>
          <a:xfrm>
            <a:off x="4066814" y="3089553"/>
            <a:ext cx="7709818" cy="2254314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6CA8E97-5542-4FD2-86E3-15C6EFC0F0B4}"/>
              </a:ext>
            </a:extLst>
          </p:cNvPr>
          <p:cNvGrpSpPr/>
          <p:nvPr/>
        </p:nvGrpSpPr>
        <p:grpSpPr>
          <a:xfrm>
            <a:off x="4078683" y="3089553"/>
            <a:ext cx="7705746" cy="333756"/>
            <a:chOff x="3915022" y="674993"/>
            <a:chExt cx="7705746" cy="333756"/>
          </a:xfrm>
        </p:grpSpPr>
        <p:sp>
          <p:nvSpPr>
            <p:cNvPr id="97" name="Shape 17">
              <a:extLst>
                <a:ext uri="{FF2B5EF4-FFF2-40B4-BE49-F238E27FC236}">
                  <a16:creationId xmlns:a16="http://schemas.microsoft.com/office/drawing/2014/main" id="{5376530B-17C5-4489-ABE1-9AA8ECAFE8F8}"/>
                </a:ext>
              </a:extLst>
            </p:cNvPr>
            <p:cNvSpPr/>
            <p:nvPr/>
          </p:nvSpPr>
          <p:spPr>
            <a:xfrm>
              <a:off x="3915022" y="674993"/>
              <a:ext cx="7705746" cy="333756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98" name="Image 4" descr="gen-dedup-4a27134ef73b07672dc8685d703bf958.png">
              <a:extLst>
                <a:ext uri="{FF2B5EF4-FFF2-40B4-BE49-F238E27FC236}">
                  <a16:creationId xmlns:a16="http://schemas.microsoft.com/office/drawing/2014/main" id="{0D2134C2-7C7D-4A46-9801-40A9455BE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7143" r="-7143"/>
            <a:stretch/>
          </p:blipFill>
          <p:spPr>
            <a:xfrm>
              <a:off x="4066814" y="751803"/>
              <a:ext cx="152708" cy="190195"/>
            </a:xfrm>
            <a:prstGeom prst="rect">
              <a:avLst/>
            </a:prstGeom>
          </p:spPr>
        </p:pic>
        <p:sp>
          <p:nvSpPr>
            <p:cNvPr id="99" name="Text 23">
              <a:extLst>
                <a:ext uri="{FF2B5EF4-FFF2-40B4-BE49-F238E27FC236}">
                  <a16:creationId xmlns:a16="http://schemas.microsoft.com/office/drawing/2014/main" id="{17AF4453-4CCB-4578-9558-AE4283F07D69}"/>
                </a:ext>
              </a:extLst>
            </p:cNvPr>
            <p:cNvSpPr txBox="1"/>
            <p:nvPr/>
          </p:nvSpPr>
          <p:spPr>
            <a:xfrm>
              <a:off x="4353019" y="756375"/>
              <a:ext cx="2030311" cy="1664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로드</a:t>
              </a:r>
              <a:r>
                <a:rPr lang="en-US" altLang="ko-KR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(Load</a:t>
              </a:r>
              <a:r>
                <a:rPr 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 </a:t>
              </a:r>
              <a:r>
                <a:rPr lang="ko-KR" altLang="en-US" sz="120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과정</a:t>
              </a:r>
              <a:endPara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FCBE136-66D1-4919-9FD7-7DEC47C663DA}"/>
              </a:ext>
            </a:extLst>
          </p:cNvPr>
          <p:cNvSpPr/>
          <p:nvPr/>
        </p:nvSpPr>
        <p:spPr>
          <a:xfrm>
            <a:off x="4579491" y="3645210"/>
            <a:ext cx="3935000" cy="571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/>
              <a:t>TryLoadSeedToken</a:t>
            </a:r>
            <a:r>
              <a:rPr lang="en-US" altLang="ko-KR" sz="1600" dirty="0"/>
              <a:t>(out </a:t>
            </a:r>
            <a:r>
              <a:rPr lang="ko-KR" altLang="en-US" sz="1600" dirty="0"/>
              <a:t>토큰</a:t>
            </a:r>
            <a:r>
              <a:rPr lang="en-US" altLang="ko-KR" sz="1600" dirty="0"/>
              <a:t>, out </a:t>
            </a:r>
            <a:r>
              <a:rPr lang="ko-KR" altLang="en-US" sz="1600" dirty="0" err="1"/>
              <a:t>시드</a:t>
            </a:r>
            <a:r>
              <a:rPr lang="en-US" altLang="ko-KR" sz="1600" dirty="0"/>
              <a:t>) </a:t>
            </a:r>
            <a:r>
              <a:rPr lang="ko-KR" altLang="en-US" sz="1600" dirty="0"/>
              <a:t>호출</a:t>
            </a:r>
            <a:endParaRPr lang="en-US" altLang="ko-KR" sz="1600" dirty="0"/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B9037233-38D4-4A27-976F-FAEFC91C6B61}"/>
              </a:ext>
            </a:extLst>
          </p:cNvPr>
          <p:cNvCxnSpPr>
            <a:cxnSpLocks/>
            <a:stCxn id="100" idx="1"/>
            <a:endCxn id="102" idx="1"/>
          </p:cNvCxnSpPr>
          <p:nvPr/>
        </p:nvCxnSpPr>
        <p:spPr>
          <a:xfrm rot="10800000" flipH="1" flipV="1">
            <a:off x="4579491" y="3930959"/>
            <a:ext cx="86030" cy="744283"/>
          </a:xfrm>
          <a:prstGeom prst="bentConnector3">
            <a:avLst>
              <a:gd name="adj1" fmla="val -265721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AA95A4E-52FE-472E-9812-3CBAC62F406E}"/>
              </a:ext>
            </a:extLst>
          </p:cNvPr>
          <p:cNvSpPr/>
          <p:nvPr/>
        </p:nvSpPr>
        <p:spPr>
          <a:xfrm>
            <a:off x="4665521" y="4389493"/>
            <a:ext cx="3532095" cy="571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 </a:t>
            </a:r>
            <a:r>
              <a:rPr lang="en-US" altLang="ko-KR" sz="1400" b="1" dirty="0" err="1"/>
              <a:t>RestoreUsageCount</a:t>
            </a:r>
            <a:r>
              <a:rPr lang="en-US" altLang="ko-KR" sz="1400" dirty="0"/>
              <a:t>(</a:t>
            </a:r>
            <a:r>
              <a:rPr lang="ko-KR" altLang="en-US" sz="1400" dirty="0"/>
              <a:t>토큰</a:t>
            </a:r>
            <a:r>
              <a:rPr lang="en-US" altLang="ko-KR" sz="1400" dirty="0"/>
              <a:t>) </a:t>
            </a:r>
            <a:r>
              <a:rPr lang="ko-KR" altLang="en-US" sz="1400" dirty="0"/>
              <a:t>호출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BBB9CB5-D832-4261-B55A-4AF16D543DD8}"/>
              </a:ext>
            </a:extLst>
          </p:cNvPr>
          <p:cNvCxnSpPr>
            <a:cxnSpLocks/>
            <a:stCxn id="102" idx="3"/>
            <a:endCxn id="104" idx="1"/>
          </p:cNvCxnSpPr>
          <p:nvPr/>
        </p:nvCxnSpPr>
        <p:spPr>
          <a:xfrm flipV="1">
            <a:off x="8197616" y="4667312"/>
            <a:ext cx="498827" cy="793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72C5C16-4EB5-425B-A32F-6C00D41DE334}"/>
              </a:ext>
            </a:extLst>
          </p:cNvPr>
          <p:cNvSpPr/>
          <p:nvPr/>
        </p:nvSpPr>
        <p:spPr>
          <a:xfrm>
            <a:off x="8696443" y="4381562"/>
            <a:ext cx="2867822" cy="5714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 토큰 파싱 후</a:t>
            </a:r>
            <a:endParaRPr lang="en-US" altLang="ko-KR" sz="1400" dirty="0"/>
          </a:p>
          <a:p>
            <a:pPr algn="ctr"/>
            <a:r>
              <a:rPr lang="en-US" altLang="ko-KR" sz="1400" b="1" dirty="0" err="1"/>
              <a:t>GameSeed.RestoreRNG</a:t>
            </a:r>
            <a:r>
              <a:rPr lang="en-US" altLang="ko-KR" sz="1400" dirty="0"/>
              <a:t>() </a:t>
            </a:r>
            <a:r>
              <a:rPr lang="ko-KR" altLang="en-US" sz="1400" dirty="0"/>
              <a:t>호출  </a:t>
            </a: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9414492C-E4CB-4A26-B99A-8D8563D8F935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8514491" y="3930960"/>
            <a:ext cx="790874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A89F22CB-1E7B-4719-8B0D-FD53DB079950}"/>
              </a:ext>
            </a:extLst>
          </p:cNvPr>
          <p:cNvSpPr/>
          <p:nvPr/>
        </p:nvSpPr>
        <p:spPr>
          <a:xfrm>
            <a:off x="9305365" y="3707501"/>
            <a:ext cx="1126338" cy="4730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Seed </a:t>
            </a:r>
            <a:r>
              <a:rPr lang="ko-KR" altLang="en-US" sz="1400" dirty="0"/>
              <a:t>복구</a:t>
            </a:r>
          </a:p>
        </p:txBody>
      </p:sp>
    </p:spTree>
    <p:extLst>
      <p:ext uri="{BB962C8B-B14F-4D97-AF65-F5344CB8AC3E}">
        <p14:creationId xmlns:p14="http://schemas.microsoft.com/office/powerpoint/2010/main" val="930713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8249" y="108000"/>
            <a:ext cx="11716271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67005" y="128444"/>
            <a:ext cx="11676746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89891" y="513958"/>
            <a:ext cx="11451004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42900" y="178615"/>
            <a:ext cx="2414744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28C39675-80EC-402A-A8F2-4844E5F5A817}"/>
              </a:ext>
            </a:extLst>
          </p:cNvPr>
          <p:cNvSpPr/>
          <p:nvPr/>
        </p:nvSpPr>
        <p:spPr>
          <a:xfrm>
            <a:off x="401134" y="513958"/>
            <a:ext cx="11447965" cy="5577299"/>
          </a:xfrm>
          <a:prstGeom prst="rect">
            <a:avLst/>
          </a:prstGeom>
          <a:solidFill>
            <a:srgbClr val="E8E8E8"/>
          </a:solidFill>
          <a:ln w="25400">
            <a:solidFill>
              <a:srgbClr val="808080"/>
            </a:solidFill>
            <a:prstDash val="solid"/>
          </a:ln>
        </p:spPr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381687" y="666597"/>
            <a:ext cx="11459208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1826533749 Seed</a:t>
              </a:r>
              <a:r>
                <a:rPr lang="ko-KR" altLang="en-US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예시로</a:t>
              </a:r>
              <a:r>
                <a:rPr lang="ko-KR" alt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결과 살펴보기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076F64A-DAA8-44A2-B716-FDAD30AFF4FA}"/>
              </a:ext>
            </a:extLst>
          </p:cNvPr>
          <p:cNvGrpSpPr/>
          <p:nvPr/>
        </p:nvGrpSpPr>
        <p:grpSpPr>
          <a:xfrm>
            <a:off x="2101743" y="1123987"/>
            <a:ext cx="2943090" cy="400507"/>
            <a:chOff x="1295705" y="1185988"/>
            <a:chExt cx="2743200" cy="400507"/>
          </a:xfrm>
        </p:grpSpPr>
        <p:sp>
          <p:nvSpPr>
            <p:cNvPr id="67" name="Shape 7">
              <a:extLst>
                <a:ext uri="{FF2B5EF4-FFF2-40B4-BE49-F238E27FC236}">
                  <a16:creationId xmlns:a16="http://schemas.microsoft.com/office/drawing/2014/main" id="{FCEE23DC-9CE1-4466-A9E9-5AB424CDD079}"/>
                </a:ext>
              </a:extLst>
            </p:cNvPr>
            <p:cNvSpPr/>
            <p:nvPr/>
          </p:nvSpPr>
          <p:spPr>
            <a:xfrm>
              <a:off x="1295705" y="1185988"/>
              <a:ext cx="2743200" cy="400507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69" name="Text 10">
              <a:extLst>
                <a:ext uri="{FF2B5EF4-FFF2-40B4-BE49-F238E27FC236}">
                  <a16:creationId xmlns:a16="http://schemas.microsoft.com/office/drawing/2014/main" id="{529BB2A5-0DCF-4762-8928-4F2657FDB8E3}"/>
                </a:ext>
              </a:extLst>
            </p:cNvPr>
            <p:cNvSpPr txBox="1"/>
            <p:nvPr/>
          </p:nvSpPr>
          <p:spPr>
            <a:xfrm>
              <a:off x="1581912" y="1252739"/>
              <a:ext cx="213329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데이터 인코딩 &amp; JSON 예시</a:t>
              </a:r>
              <a:endParaRPr lang="en-US" sz="12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31A5A10-FBAF-4203-982C-69CEB315100E}"/>
              </a:ext>
            </a:extLst>
          </p:cNvPr>
          <p:cNvGrpSpPr/>
          <p:nvPr/>
        </p:nvGrpSpPr>
        <p:grpSpPr>
          <a:xfrm>
            <a:off x="6818759" y="1622213"/>
            <a:ext cx="4905150" cy="1266444"/>
            <a:chOff x="7741980" y="944565"/>
            <a:chExt cx="4572000" cy="1266444"/>
          </a:xfrm>
        </p:grpSpPr>
        <p:sp>
          <p:nvSpPr>
            <p:cNvPr id="134" name="Shape 45">
              <a:extLst>
                <a:ext uri="{FF2B5EF4-FFF2-40B4-BE49-F238E27FC236}">
                  <a16:creationId xmlns:a16="http://schemas.microsoft.com/office/drawing/2014/main" id="{55104175-B396-4861-A4A6-EA466D2CC326}"/>
                </a:ext>
              </a:extLst>
            </p:cNvPr>
            <p:cNvSpPr/>
            <p:nvPr/>
          </p:nvSpPr>
          <p:spPr>
            <a:xfrm>
              <a:off x="7741980" y="944565"/>
              <a:ext cx="4572000" cy="126644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53A9E03-3D6E-443C-82E6-7B8DAB5EAFB1}"/>
                </a:ext>
              </a:extLst>
            </p:cNvPr>
            <p:cNvGrpSpPr/>
            <p:nvPr/>
          </p:nvGrpSpPr>
          <p:grpSpPr>
            <a:xfrm>
              <a:off x="7999841" y="1202426"/>
              <a:ext cx="4058107" cy="752552"/>
              <a:chOff x="7999841" y="1202426"/>
              <a:chExt cx="4058107" cy="752552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E17D65F1-3397-426D-B516-CFE2B0756ED4}"/>
                  </a:ext>
                </a:extLst>
              </p:cNvPr>
              <p:cNvGrpSpPr/>
              <p:nvPr/>
            </p:nvGrpSpPr>
            <p:grpSpPr>
              <a:xfrm>
                <a:off x="7999841" y="1292952"/>
                <a:ext cx="571500" cy="571500"/>
                <a:chOff x="7999841" y="1292952"/>
                <a:chExt cx="571500" cy="571500"/>
              </a:xfrm>
            </p:grpSpPr>
            <p:sp>
              <p:nvSpPr>
                <p:cNvPr id="135" name="Shape 46">
                  <a:extLst>
                    <a:ext uri="{FF2B5EF4-FFF2-40B4-BE49-F238E27FC236}">
                      <a16:creationId xmlns:a16="http://schemas.microsoft.com/office/drawing/2014/main" id="{2A1B2760-286E-4E1B-AA9F-680131D0CB40}"/>
                    </a:ext>
                  </a:extLst>
                </p:cNvPr>
                <p:cNvSpPr/>
                <p:nvPr/>
              </p:nvSpPr>
              <p:spPr>
                <a:xfrm>
                  <a:off x="7999841" y="1292952"/>
                  <a:ext cx="571500" cy="571500"/>
                </a:xfrm>
                <a:prstGeom prst="ellipse">
                  <a:avLst/>
                </a:prstGeom>
                <a:solidFill>
                  <a:srgbClr val="008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136" name="Image 0" descr="gen-dedup-2fbfd2c3d482395f98fd4bea048be4e8.png">
                  <a:extLst>
                    <a:ext uri="{FF2B5EF4-FFF2-40B4-BE49-F238E27FC236}">
                      <a16:creationId xmlns:a16="http://schemas.microsoft.com/office/drawing/2014/main" id="{7B0D9ECC-7961-4C27-9E69-2459C11A2A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8151631" y="1444742"/>
                  <a:ext cx="267005" cy="267005"/>
                </a:xfrm>
                <a:prstGeom prst="rect">
                  <a:avLst/>
                </a:prstGeom>
              </p:spPr>
            </p:pic>
          </p:grpSp>
          <p:sp>
            <p:nvSpPr>
              <p:cNvPr id="137" name="Text 47">
                <a:extLst>
                  <a:ext uri="{FF2B5EF4-FFF2-40B4-BE49-F238E27FC236}">
                    <a16:creationId xmlns:a16="http://schemas.microsoft.com/office/drawing/2014/main" id="{D51319DF-8085-47A6-B232-E657A1C69911}"/>
                  </a:ext>
                </a:extLst>
              </p:cNvPr>
              <p:cNvSpPr txBox="1"/>
              <p:nvPr/>
            </p:nvSpPr>
            <p:spPr>
              <a:xfrm>
                <a:off x="8761536" y="1202426"/>
                <a:ext cx="3296412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00008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SeedToken 완벽 복원</a:t>
                </a:r>
                <a:endParaRPr lang="en-US" sz="1300" dirty="0"/>
              </a:p>
            </p:txBody>
          </p:sp>
          <p:sp>
            <p:nvSpPr>
              <p:cNvPr id="138" name="Text 48">
                <a:extLst>
                  <a:ext uri="{FF2B5EF4-FFF2-40B4-BE49-F238E27FC236}">
                    <a16:creationId xmlns:a16="http://schemas.microsoft.com/office/drawing/2014/main" id="{6D95C567-37BC-4FD4-A62F-C40F369C71AF}"/>
                  </a:ext>
                </a:extLst>
              </p:cNvPr>
              <p:cNvSpPr txBox="1"/>
              <p:nvPr/>
            </p:nvSpPr>
            <p:spPr>
              <a:xfrm>
                <a:off x="8761536" y="1526124"/>
                <a:ext cx="3296412" cy="428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하나의 SeedToken을 이용해서 게임 내 난수 기능을 완벽히 불러올 수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있었</a:t>
                </a:r>
                <a:r>
                  <a:rPr lang="ko-KR" alt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다</a:t>
                </a:r>
                <a:endParaRPr lang="en-US" sz="1100" dirty="0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3353AC9-1B53-4A6F-BACC-31ED1861CB7D}"/>
              </a:ext>
            </a:extLst>
          </p:cNvPr>
          <p:cNvGrpSpPr/>
          <p:nvPr/>
        </p:nvGrpSpPr>
        <p:grpSpPr>
          <a:xfrm>
            <a:off x="6818759" y="3197811"/>
            <a:ext cx="4905150" cy="1266444"/>
            <a:chOff x="7741980" y="2449668"/>
            <a:chExt cx="4572000" cy="1266444"/>
          </a:xfrm>
        </p:grpSpPr>
        <p:sp>
          <p:nvSpPr>
            <p:cNvPr id="139" name="Shape 49">
              <a:extLst>
                <a:ext uri="{FF2B5EF4-FFF2-40B4-BE49-F238E27FC236}">
                  <a16:creationId xmlns:a16="http://schemas.microsoft.com/office/drawing/2014/main" id="{A93B5277-2A26-4AAA-B609-A76505CE5EEF}"/>
                </a:ext>
              </a:extLst>
            </p:cNvPr>
            <p:cNvSpPr/>
            <p:nvPr/>
          </p:nvSpPr>
          <p:spPr>
            <a:xfrm>
              <a:off x="7741980" y="2449668"/>
              <a:ext cx="4572000" cy="126644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8F142F4-E295-4243-A544-DCF5F9F454BC}"/>
                </a:ext>
              </a:extLst>
            </p:cNvPr>
            <p:cNvGrpSpPr/>
            <p:nvPr/>
          </p:nvGrpSpPr>
          <p:grpSpPr>
            <a:xfrm>
              <a:off x="7999841" y="2706614"/>
              <a:ext cx="4058107" cy="753466"/>
              <a:chOff x="7999841" y="2706614"/>
              <a:chExt cx="4058107" cy="753466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7B4D4FD5-5D44-4528-A48C-AF7D4BDDBF7B}"/>
                  </a:ext>
                </a:extLst>
              </p:cNvPr>
              <p:cNvGrpSpPr/>
              <p:nvPr/>
            </p:nvGrpSpPr>
            <p:grpSpPr>
              <a:xfrm>
                <a:off x="7999841" y="2797140"/>
                <a:ext cx="571500" cy="571500"/>
                <a:chOff x="7999841" y="2797140"/>
                <a:chExt cx="571500" cy="571500"/>
              </a:xfrm>
            </p:grpSpPr>
            <p:sp>
              <p:nvSpPr>
                <p:cNvPr id="140" name="Shape 50">
                  <a:extLst>
                    <a:ext uri="{FF2B5EF4-FFF2-40B4-BE49-F238E27FC236}">
                      <a16:creationId xmlns:a16="http://schemas.microsoft.com/office/drawing/2014/main" id="{E6536E65-D763-4F19-B6E0-FF93540BCF24}"/>
                    </a:ext>
                  </a:extLst>
                </p:cNvPr>
                <p:cNvSpPr/>
                <p:nvPr/>
              </p:nvSpPr>
              <p:spPr>
                <a:xfrm>
                  <a:off x="7999841" y="2797140"/>
                  <a:ext cx="571500" cy="571500"/>
                </a:xfrm>
                <a:prstGeom prst="ellipse">
                  <a:avLst/>
                </a:prstGeom>
                <a:solidFill>
                  <a:srgbClr val="4169E1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141" name="Image 1" descr="gen-dedup-5d54f9a4d5ba0f3092846f8dce0a6696.png">
                  <a:extLst>
                    <a:ext uri="{FF2B5EF4-FFF2-40B4-BE49-F238E27FC236}">
                      <a16:creationId xmlns:a16="http://schemas.microsoft.com/office/drawing/2014/main" id="{A1C5683A-9960-42BC-8B0D-EE70E0AAEE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/>
                <a:stretch/>
              </p:blipFill>
              <p:spPr>
                <a:xfrm>
                  <a:off x="8151631" y="2949844"/>
                  <a:ext cx="267005" cy="267005"/>
                </a:xfrm>
                <a:prstGeom prst="rect">
                  <a:avLst/>
                </a:prstGeom>
              </p:spPr>
            </p:pic>
          </p:grpSp>
          <p:sp>
            <p:nvSpPr>
              <p:cNvPr id="142" name="Text 51">
                <a:extLst>
                  <a:ext uri="{FF2B5EF4-FFF2-40B4-BE49-F238E27FC236}">
                    <a16:creationId xmlns:a16="http://schemas.microsoft.com/office/drawing/2014/main" id="{32759D94-4BF5-4323-8952-E178CF81BCC7}"/>
                  </a:ext>
                </a:extLst>
              </p:cNvPr>
              <p:cNvSpPr txBox="1"/>
              <p:nvPr/>
            </p:nvSpPr>
            <p:spPr>
              <a:xfrm>
                <a:off x="8761536" y="2706614"/>
                <a:ext cx="3296412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00008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64비트 BaseSeed 기반</a:t>
                </a:r>
                <a:endParaRPr lang="en-US" sz="1300" dirty="0"/>
              </a:p>
            </p:txBody>
          </p:sp>
          <p:sp>
            <p:nvSpPr>
              <p:cNvPr id="143" name="Text 52">
                <a:extLst>
                  <a:ext uri="{FF2B5EF4-FFF2-40B4-BE49-F238E27FC236}">
                    <a16:creationId xmlns:a16="http://schemas.microsoft.com/office/drawing/2014/main" id="{36F9A5FE-4256-48DD-9991-99DE9031880E}"/>
                  </a:ext>
                </a:extLst>
              </p:cNvPr>
              <p:cNvSpPr txBox="1"/>
              <p:nvPr/>
            </p:nvSpPr>
            <p:spPr>
              <a:xfrm>
                <a:off x="8761536" y="3031226"/>
                <a:ext cx="3296412" cy="428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총 64비트 단위의 BaseSeed를 이용하여 안정적인 세이브 및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로드가</a:t>
                </a: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가능해</a:t>
                </a:r>
                <a:r>
                  <a:rPr lang="ko-KR" alt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졌다</a:t>
                </a:r>
                <a:endParaRPr lang="en-US" sz="1100" dirty="0"/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FE3652C-72F2-4ACD-AE25-7F188A2EEBFD}"/>
              </a:ext>
            </a:extLst>
          </p:cNvPr>
          <p:cNvGrpSpPr/>
          <p:nvPr/>
        </p:nvGrpSpPr>
        <p:grpSpPr>
          <a:xfrm>
            <a:off x="6818759" y="4773410"/>
            <a:ext cx="4905150" cy="1266444"/>
            <a:chOff x="7741980" y="3954770"/>
            <a:chExt cx="4572000" cy="1266444"/>
          </a:xfrm>
        </p:grpSpPr>
        <p:sp>
          <p:nvSpPr>
            <p:cNvPr id="144" name="Shape 53">
              <a:extLst>
                <a:ext uri="{FF2B5EF4-FFF2-40B4-BE49-F238E27FC236}">
                  <a16:creationId xmlns:a16="http://schemas.microsoft.com/office/drawing/2014/main" id="{A474A68C-739C-4B59-A721-05DDC9C87A71}"/>
                </a:ext>
              </a:extLst>
            </p:cNvPr>
            <p:cNvSpPr/>
            <p:nvPr/>
          </p:nvSpPr>
          <p:spPr>
            <a:xfrm>
              <a:off x="7741980" y="3954770"/>
              <a:ext cx="4572000" cy="126644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65A29B60-1570-4F0D-B63F-1046D109F063}"/>
                </a:ext>
              </a:extLst>
            </p:cNvPr>
            <p:cNvGrpSpPr/>
            <p:nvPr/>
          </p:nvGrpSpPr>
          <p:grpSpPr>
            <a:xfrm>
              <a:off x="7999841" y="4211716"/>
              <a:ext cx="4058107" cy="752552"/>
              <a:chOff x="7999841" y="4211716"/>
              <a:chExt cx="4058107" cy="752552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F16C9DB9-A9AC-4F6B-9FE6-8D99CE6C049A}"/>
                  </a:ext>
                </a:extLst>
              </p:cNvPr>
              <p:cNvGrpSpPr/>
              <p:nvPr/>
            </p:nvGrpSpPr>
            <p:grpSpPr>
              <a:xfrm>
                <a:off x="7999841" y="4302242"/>
                <a:ext cx="571500" cy="571500"/>
                <a:chOff x="7999841" y="4302242"/>
                <a:chExt cx="571500" cy="571500"/>
              </a:xfrm>
            </p:grpSpPr>
            <p:sp>
              <p:nvSpPr>
                <p:cNvPr id="145" name="Shape 54">
                  <a:extLst>
                    <a:ext uri="{FF2B5EF4-FFF2-40B4-BE49-F238E27FC236}">
                      <a16:creationId xmlns:a16="http://schemas.microsoft.com/office/drawing/2014/main" id="{8983FABA-F7BD-4EC0-9926-D94AE900B3B4}"/>
                    </a:ext>
                  </a:extLst>
                </p:cNvPr>
                <p:cNvSpPr/>
                <p:nvPr/>
              </p:nvSpPr>
              <p:spPr>
                <a:xfrm>
                  <a:off x="7999841" y="4302242"/>
                  <a:ext cx="571500" cy="571500"/>
                </a:xfrm>
                <a:prstGeom prst="ellipse">
                  <a:avLst/>
                </a:prstGeom>
                <a:solidFill>
                  <a:srgbClr val="228B22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146" name="Image 2" descr="gen-dedup-cd15f8ad2427af8d86d4ff1e0b552387.png">
                  <a:extLst>
                    <a:ext uri="{FF2B5EF4-FFF2-40B4-BE49-F238E27FC236}">
                      <a16:creationId xmlns:a16="http://schemas.microsoft.com/office/drawing/2014/main" id="{38E8BF37-0D1F-4798-8D6D-5A03C6D828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-16667" r="-16667"/>
                <a:stretch/>
              </p:blipFill>
              <p:spPr>
                <a:xfrm>
                  <a:off x="8151631" y="4454947"/>
                  <a:ext cx="267005" cy="267005"/>
                </a:xfrm>
                <a:prstGeom prst="rect">
                  <a:avLst/>
                </a:prstGeom>
              </p:spPr>
            </p:pic>
          </p:grpSp>
          <p:sp>
            <p:nvSpPr>
              <p:cNvPr id="147" name="Text 55">
                <a:extLst>
                  <a:ext uri="{FF2B5EF4-FFF2-40B4-BE49-F238E27FC236}">
                    <a16:creationId xmlns:a16="http://schemas.microsoft.com/office/drawing/2014/main" id="{0A899E3A-35B4-4956-95E8-6C2B88985FBB}"/>
                  </a:ext>
                </a:extLst>
              </p:cNvPr>
              <p:cNvSpPr txBox="1"/>
              <p:nvPr/>
            </p:nvSpPr>
            <p:spPr>
              <a:xfrm>
                <a:off x="8761536" y="4211716"/>
                <a:ext cx="3296412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00008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대용량 Json 저장 최소화</a:t>
                </a:r>
                <a:endParaRPr lang="en-US" sz="1300" dirty="0"/>
              </a:p>
            </p:txBody>
          </p:sp>
          <p:sp>
            <p:nvSpPr>
              <p:cNvPr id="148" name="Text 56">
                <a:extLst>
                  <a:ext uri="{FF2B5EF4-FFF2-40B4-BE49-F238E27FC236}">
                    <a16:creationId xmlns:a16="http://schemas.microsoft.com/office/drawing/2014/main" id="{5A3EF4A8-581B-494A-BEC6-8D41B4C7CBDC}"/>
                  </a:ext>
                </a:extLst>
              </p:cNvPr>
              <p:cNvSpPr txBox="1"/>
              <p:nvPr/>
            </p:nvSpPr>
            <p:spPr>
              <a:xfrm>
                <a:off x="8761536" y="4535414"/>
                <a:ext cx="3296412" cy="428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일일이 데이터를 저장해서 Json 파일이 커지고 관리하기 번거로워지는 문제를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완벽히</a:t>
                </a: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예방</a:t>
                </a:r>
                <a:r>
                  <a:rPr lang="ko-KR" alt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가능하다</a:t>
                </a:r>
                <a:r>
                  <a:rPr lang="en-US" altLang="ko-KR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.</a:t>
                </a:r>
                <a:endParaRPr lang="en-US" sz="1100" dirty="0"/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5065EE4C-6284-407D-A52E-CA4E320EE5B8}"/>
              </a:ext>
            </a:extLst>
          </p:cNvPr>
          <p:cNvGrpSpPr/>
          <p:nvPr/>
        </p:nvGrpSpPr>
        <p:grpSpPr>
          <a:xfrm>
            <a:off x="475670" y="2778654"/>
            <a:ext cx="6233465" cy="3270840"/>
            <a:chOff x="571500" y="2762402"/>
            <a:chExt cx="5810098" cy="3619195"/>
          </a:xfrm>
        </p:grpSpPr>
        <p:sp>
          <p:nvSpPr>
            <p:cNvPr id="150" name="Shape 18">
              <a:extLst>
                <a:ext uri="{FF2B5EF4-FFF2-40B4-BE49-F238E27FC236}">
                  <a16:creationId xmlns:a16="http://schemas.microsoft.com/office/drawing/2014/main" id="{58484704-E554-4555-922E-E28471101D4B}"/>
                </a:ext>
              </a:extLst>
            </p:cNvPr>
            <p:cNvSpPr/>
            <p:nvPr/>
          </p:nvSpPr>
          <p:spPr>
            <a:xfrm>
              <a:off x="571500" y="2762402"/>
              <a:ext cx="5810098" cy="3619195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rgbClr val="C0C0C0"/>
              </a:solidFill>
              <a:prstDash val="solid"/>
            </a:ln>
          </p:spPr>
        </p:sp>
        <p:sp>
          <p:nvSpPr>
            <p:cNvPr id="151" name="Text 19">
              <a:extLst>
                <a:ext uri="{FF2B5EF4-FFF2-40B4-BE49-F238E27FC236}">
                  <a16:creationId xmlns:a16="http://schemas.microsoft.com/office/drawing/2014/main" id="{79C63817-306D-4ABD-A920-9F07803C5F76}"/>
                </a:ext>
              </a:extLst>
            </p:cNvPr>
            <p:cNvSpPr txBox="1"/>
            <p:nvPr/>
          </p:nvSpPr>
          <p:spPr>
            <a:xfrm>
              <a:off x="780898" y="2971800"/>
              <a:ext cx="5391302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spc="150" dirty="0">
                  <a:solidFill>
                    <a:srgbClr val="87CEFA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DATA ENCODING MAP</a:t>
              </a:r>
              <a:endParaRPr lang="en-US" sz="1300" dirty="0"/>
            </a:p>
          </p:txBody>
        </p:sp>
        <p:sp>
          <p:nvSpPr>
            <p:cNvPr id="152" name="Shape 20">
              <a:extLst>
                <a:ext uri="{FF2B5EF4-FFF2-40B4-BE49-F238E27FC236}">
                  <a16:creationId xmlns:a16="http://schemas.microsoft.com/office/drawing/2014/main" id="{9FCAA9C0-BDFE-411A-9C9F-B6779C342A10}"/>
                </a:ext>
              </a:extLst>
            </p:cNvPr>
            <p:cNvSpPr/>
            <p:nvPr/>
          </p:nvSpPr>
          <p:spPr>
            <a:xfrm>
              <a:off x="780898" y="3362249"/>
              <a:ext cx="5391302" cy="19202"/>
            </a:xfrm>
            <a:prstGeom prst="rect">
              <a:avLst/>
            </a:prstGeom>
            <a:solidFill>
              <a:srgbClr val="87CEFA"/>
            </a:solidFill>
            <a:ln w="12700">
              <a:solidFill>
                <a:srgbClr val="87CEFA">
                  <a:alpha val="0"/>
                </a:srgbClr>
              </a:solidFill>
              <a:prstDash val="solid"/>
            </a:ln>
          </p:spPr>
        </p:sp>
        <p:sp>
          <p:nvSpPr>
            <p:cNvPr id="153" name="Shape 21">
              <a:extLst>
                <a:ext uri="{FF2B5EF4-FFF2-40B4-BE49-F238E27FC236}">
                  <a16:creationId xmlns:a16="http://schemas.microsoft.com/office/drawing/2014/main" id="{B325E42D-AE5D-4BA1-8D2A-F9F2331514F5}"/>
                </a:ext>
              </a:extLst>
            </p:cNvPr>
            <p:cNvSpPr/>
            <p:nvPr/>
          </p:nvSpPr>
          <p:spPr>
            <a:xfrm>
              <a:off x="780898" y="3619195"/>
              <a:ext cx="5391302" cy="466344"/>
            </a:xfrm>
            <a:prstGeom prst="rect">
              <a:avLst/>
            </a:prstGeom>
            <a:noFill/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54" name="Shape 22">
              <a:extLst>
                <a:ext uri="{FF2B5EF4-FFF2-40B4-BE49-F238E27FC236}">
                  <a16:creationId xmlns:a16="http://schemas.microsoft.com/office/drawing/2014/main" id="{0EEFAEBB-591B-4B04-8397-78FBB260EAFE}"/>
                </a:ext>
              </a:extLst>
            </p:cNvPr>
            <p:cNvSpPr/>
            <p:nvPr/>
          </p:nvSpPr>
          <p:spPr>
            <a:xfrm>
              <a:off x="800100" y="3638398"/>
              <a:ext cx="1533449" cy="428854"/>
            </a:xfrm>
            <a:prstGeom prst="rect">
              <a:avLst/>
            </a:prstGeom>
            <a:solidFill>
              <a:srgbClr val="DC143C"/>
            </a:solidFill>
            <a:ln/>
          </p:spPr>
        </p:sp>
        <p:sp>
          <p:nvSpPr>
            <p:cNvPr id="155" name="Shape 23">
              <a:extLst>
                <a:ext uri="{FF2B5EF4-FFF2-40B4-BE49-F238E27FC236}">
                  <a16:creationId xmlns:a16="http://schemas.microsoft.com/office/drawing/2014/main" id="{48033133-3337-465A-9BBD-DFDF37DB5223}"/>
                </a:ext>
              </a:extLst>
            </p:cNvPr>
            <p:cNvSpPr/>
            <p:nvPr/>
          </p:nvSpPr>
          <p:spPr>
            <a:xfrm>
              <a:off x="2314346" y="3638398"/>
              <a:ext cx="19202" cy="4288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6" name="Text 24">
              <a:extLst>
                <a:ext uri="{FF2B5EF4-FFF2-40B4-BE49-F238E27FC236}">
                  <a16:creationId xmlns:a16="http://schemas.microsoft.com/office/drawing/2014/main" id="{7D90B40E-0908-4009-A85A-FF3A8F4C811C}"/>
                </a:ext>
              </a:extLst>
            </p:cNvPr>
            <p:cNvSpPr txBox="1"/>
            <p:nvPr/>
          </p:nvSpPr>
          <p:spPr>
            <a:xfrm>
              <a:off x="1172261" y="3771900"/>
              <a:ext cx="103784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BASE SEED ]</a:t>
              </a:r>
              <a:endParaRPr lang="en-US" sz="900" dirty="0"/>
            </a:p>
          </p:txBody>
        </p:sp>
        <p:sp>
          <p:nvSpPr>
            <p:cNvPr id="157" name="Shape 25">
              <a:extLst>
                <a:ext uri="{FF2B5EF4-FFF2-40B4-BE49-F238E27FC236}">
                  <a16:creationId xmlns:a16="http://schemas.microsoft.com/office/drawing/2014/main" id="{E42AA290-820D-4CEC-9296-7B694D7B958A}"/>
                </a:ext>
              </a:extLst>
            </p:cNvPr>
            <p:cNvSpPr/>
            <p:nvPr/>
          </p:nvSpPr>
          <p:spPr>
            <a:xfrm>
              <a:off x="2332634" y="3638398"/>
              <a:ext cx="780898" cy="428854"/>
            </a:xfrm>
            <a:prstGeom prst="rect">
              <a:avLst/>
            </a:prstGeom>
            <a:solidFill>
              <a:srgbClr val="228B22"/>
            </a:solidFill>
            <a:ln/>
          </p:spPr>
        </p:sp>
        <p:sp>
          <p:nvSpPr>
            <p:cNvPr id="158" name="Shape 26">
              <a:extLst>
                <a:ext uri="{FF2B5EF4-FFF2-40B4-BE49-F238E27FC236}">
                  <a16:creationId xmlns:a16="http://schemas.microsoft.com/office/drawing/2014/main" id="{2B1CBCE4-E61D-4906-A518-7D4C2B43FB1D}"/>
                </a:ext>
              </a:extLst>
            </p:cNvPr>
            <p:cNvSpPr/>
            <p:nvPr/>
          </p:nvSpPr>
          <p:spPr>
            <a:xfrm>
              <a:off x="3094330" y="3638398"/>
              <a:ext cx="19202" cy="4288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9" name="Text 27">
              <a:extLst>
                <a:ext uri="{FF2B5EF4-FFF2-40B4-BE49-F238E27FC236}">
                  <a16:creationId xmlns:a16="http://schemas.microsoft.com/office/drawing/2014/main" id="{4EAA4E00-F7EC-4F42-91E2-4F24D15574B9}"/>
                </a:ext>
              </a:extLst>
            </p:cNvPr>
            <p:cNvSpPr txBox="1"/>
            <p:nvPr/>
          </p:nvSpPr>
          <p:spPr>
            <a:xfrm>
              <a:off x="2435047" y="3771900"/>
              <a:ext cx="72146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COUNT ]</a:t>
              </a:r>
              <a:endParaRPr lang="en-US" sz="900" dirty="0"/>
            </a:p>
          </p:txBody>
        </p:sp>
        <p:sp>
          <p:nvSpPr>
            <p:cNvPr id="160" name="Shape 28">
              <a:extLst>
                <a:ext uri="{FF2B5EF4-FFF2-40B4-BE49-F238E27FC236}">
                  <a16:creationId xmlns:a16="http://schemas.microsoft.com/office/drawing/2014/main" id="{FF8233CE-E6E4-4E63-A0AD-B5A1B1F35072}"/>
                </a:ext>
              </a:extLst>
            </p:cNvPr>
            <p:cNvSpPr/>
            <p:nvPr/>
          </p:nvSpPr>
          <p:spPr>
            <a:xfrm>
              <a:off x="3108046" y="3638398"/>
              <a:ext cx="780898" cy="428854"/>
            </a:xfrm>
            <a:prstGeom prst="rect">
              <a:avLst/>
            </a:prstGeom>
            <a:solidFill>
              <a:srgbClr val="4169E1"/>
            </a:solidFill>
            <a:ln/>
          </p:spPr>
        </p:sp>
        <p:sp>
          <p:nvSpPr>
            <p:cNvPr id="161" name="Shape 29">
              <a:extLst>
                <a:ext uri="{FF2B5EF4-FFF2-40B4-BE49-F238E27FC236}">
                  <a16:creationId xmlns:a16="http://schemas.microsoft.com/office/drawing/2014/main" id="{52B41F55-E886-42FC-979C-4883526D7B09}"/>
                </a:ext>
              </a:extLst>
            </p:cNvPr>
            <p:cNvSpPr/>
            <p:nvPr/>
          </p:nvSpPr>
          <p:spPr>
            <a:xfrm>
              <a:off x="3869741" y="3638398"/>
              <a:ext cx="19202" cy="4288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62" name="Text 30">
              <a:extLst>
                <a:ext uri="{FF2B5EF4-FFF2-40B4-BE49-F238E27FC236}">
                  <a16:creationId xmlns:a16="http://schemas.microsoft.com/office/drawing/2014/main" id="{03A6FC11-F4A8-4341-9FFB-1E01D883C619}"/>
                </a:ext>
              </a:extLst>
            </p:cNvPr>
            <p:cNvSpPr txBox="1"/>
            <p:nvPr/>
          </p:nvSpPr>
          <p:spPr>
            <a:xfrm>
              <a:off x="3351276" y="3771900"/>
              <a:ext cx="45628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ID ]</a:t>
              </a:r>
              <a:endParaRPr lang="en-US" sz="900" dirty="0"/>
            </a:p>
          </p:txBody>
        </p:sp>
        <p:sp>
          <p:nvSpPr>
            <p:cNvPr id="163" name="Shape 31">
              <a:extLst>
                <a:ext uri="{FF2B5EF4-FFF2-40B4-BE49-F238E27FC236}">
                  <a16:creationId xmlns:a16="http://schemas.microsoft.com/office/drawing/2014/main" id="{8F9AE5F4-D451-4F27-9625-A1E5B03F892C}"/>
                </a:ext>
              </a:extLst>
            </p:cNvPr>
            <p:cNvSpPr/>
            <p:nvPr/>
          </p:nvSpPr>
          <p:spPr>
            <a:xfrm>
              <a:off x="3883457" y="3638398"/>
              <a:ext cx="2276856" cy="428854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64" name="Text 32">
              <a:extLst>
                <a:ext uri="{FF2B5EF4-FFF2-40B4-BE49-F238E27FC236}">
                  <a16:creationId xmlns:a16="http://schemas.microsoft.com/office/drawing/2014/main" id="{62AD8A0D-58F2-4894-A216-E3746362215F}"/>
                </a:ext>
              </a:extLst>
            </p:cNvPr>
            <p:cNvSpPr txBox="1"/>
            <p:nvPr/>
          </p:nvSpPr>
          <p:spPr>
            <a:xfrm>
              <a:off x="4375404" y="3771900"/>
              <a:ext cx="1540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USAGE PROGRESS... ]</a:t>
              </a:r>
              <a:endParaRPr lang="en-US" sz="900" dirty="0"/>
            </a:p>
          </p:txBody>
        </p:sp>
        <p:sp>
          <p:nvSpPr>
            <p:cNvPr id="165" name="Shape 33">
              <a:extLst>
                <a:ext uri="{FF2B5EF4-FFF2-40B4-BE49-F238E27FC236}">
                  <a16:creationId xmlns:a16="http://schemas.microsoft.com/office/drawing/2014/main" id="{1AAC978B-1BBE-422D-AE51-392A787E52F2}"/>
                </a:ext>
              </a:extLst>
            </p:cNvPr>
            <p:cNvSpPr/>
            <p:nvPr/>
          </p:nvSpPr>
          <p:spPr>
            <a:xfrm>
              <a:off x="780898" y="4324198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DC143C"/>
              </a:solidFill>
              <a:prstDash val="solid"/>
            </a:ln>
          </p:spPr>
        </p:sp>
        <p:sp>
          <p:nvSpPr>
            <p:cNvPr id="166" name="Text 34">
              <a:extLst>
                <a:ext uri="{FF2B5EF4-FFF2-40B4-BE49-F238E27FC236}">
                  <a16:creationId xmlns:a16="http://schemas.microsoft.com/office/drawing/2014/main" id="{5B76745B-3FA4-402D-99B1-2BD871B87941}"/>
                </a:ext>
              </a:extLst>
            </p:cNvPr>
            <p:cNvSpPr txBox="1"/>
            <p:nvPr/>
          </p:nvSpPr>
          <p:spPr>
            <a:xfrm>
              <a:off x="905256" y="4448556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C143C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00000000001826533749 (20자)</a:t>
              </a:r>
              <a:endParaRPr lang="en-US" sz="1000" dirty="0"/>
            </a:p>
          </p:txBody>
        </p:sp>
        <p:sp>
          <p:nvSpPr>
            <p:cNvPr id="167" name="Text 35">
              <a:extLst>
                <a:ext uri="{FF2B5EF4-FFF2-40B4-BE49-F238E27FC236}">
                  <a16:creationId xmlns:a16="http://schemas.microsoft.com/office/drawing/2014/main" id="{7AE2AFC9-0FC5-4B75-AA30-55C47ADDE7BD}"/>
                </a:ext>
              </a:extLst>
            </p:cNvPr>
            <p:cNvSpPr txBox="1"/>
            <p:nvPr/>
          </p:nvSpPr>
          <p:spPr>
            <a:xfrm>
              <a:off x="905256" y="4695444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맵과 규칙을 생성하는 </a:t>
              </a:r>
              <a:r>
                <a:rPr lang="en-US" sz="900" dirty="0" err="1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고유</a:t>
              </a: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900" dirty="0" err="1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Seed번호</a:t>
              </a:r>
              <a:endParaRPr lang="en-US" sz="900" dirty="0"/>
            </a:p>
          </p:txBody>
        </p:sp>
        <p:sp>
          <p:nvSpPr>
            <p:cNvPr id="168" name="Shape 36">
              <a:extLst>
                <a:ext uri="{FF2B5EF4-FFF2-40B4-BE49-F238E27FC236}">
                  <a16:creationId xmlns:a16="http://schemas.microsoft.com/office/drawing/2014/main" id="{44F32FDC-81AF-4718-92F8-6E5EEF60A27D}"/>
                </a:ext>
              </a:extLst>
            </p:cNvPr>
            <p:cNvSpPr/>
            <p:nvPr/>
          </p:nvSpPr>
          <p:spPr>
            <a:xfrm>
              <a:off x="3600907" y="4324198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228B22"/>
              </a:solidFill>
              <a:prstDash val="solid"/>
            </a:ln>
          </p:spPr>
        </p:sp>
        <p:sp>
          <p:nvSpPr>
            <p:cNvPr id="169" name="Text 37">
              <a:extLst>
                <a:ext uri="{FF2B5EF4-FFF2-40B4-BE49-F238E27FC236}">
                  <a16:creationId xmlns:a16="http://schemas.microsoft.com/office/drawing/2014/main" id="{25786BC6-A799-4C51-A1E8-5096A0868706}"/>
                </a:ext>
              </a:extLst>
            </p:cNvPr>
            <p:cNvSpPr txBox="1"/>
            <p:nvPr/>
          </p:nvSpPr>
          <p:spPr>
            <a:xfrm>
              <a:off x="3724351" y="4448556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28B22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003 (3자)</a:t>
              </a:r>
              <a:endParaRPr lang="en-US" sz="1000" dirty="0"/>
            </a:p>
          </p:txBody>
        </p:sp>
        <p:sp>
          <p:nvSpPr>
            <p:cNvPr id="170" name="Text 38">
              <a:extLst>
                <a:ext uri="{FF2B5EF4-FFF2-40B4-BE49-F238E27FC236}">
                  <a16:creationId xmlns:a16="http://schemas.microsoft.com/office/drawing/2014/main" id="{BB813854-8ACE-4A25-9E8B-7A316BB4370A}"/>
                </a:ext>
              </a:extLst>
            </p:cNvPr>
            <p:cNvSpPr txBox="1"/>
            <p:nvPr/>
          </p:nvSpPr>
          <p:spPr>
            <a:xfrm>
              <a:off x="3724351" y="4695444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저장된 도메인(맵, </a:t>
              </a:r>
              <a:r>
                <a:rPr lang="ko-KR" alt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퀘스트</a:t>
              </a:r>
              <a:r>
                <a:rPr lang="en-US" altLang="ko-KR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, </a:t>
              </a:r>
              <a:r>
                <a:rPr lang="ko-KR" alt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스킬</a:t>
              </a: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등)의 개수</a:t>
              </a:r>
              <a:endParaRPr lang="en-US" sz="900" dirty="0"/>
            </a:p>
          </p:txBody>
        </p:sp>
        <p:sp>
          <p:nvSpPr>
            <p:cNvPr id="171" name="Shape 39">
              <a:extLst>
                <a:ext uri="{FF2B5EF4-FFF2-40B4-BE49-F238E27FC236}">
                  <a16:creationId xmlns:a16="http://schemas.microsoft.com/office/drawing/2014/main" id="{B4CD537F-21C5-48E4-AD5F-35B691F9B11D}"/>
                </a:ext>
              </a:extLst>
            </p:cNvPr>
            <p:cNvSpPr/>
            <p:nvPr/>
          </p:nvSpPr>
          <p:spPr>
            <a:xfrm>
              <a:off x="780898" y="5122469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4169E1"/>
              </a:solidFill>
              <a:prstDash val="solid"/>
            </a:ln>
          </p:spPr>
        </p:sp>
        <p:sp>
          <p:nvSpPr>
            <p:cNvPr id="172" name="Text 40">
              <a:extLst>
                <a:ext uri="{FF2B5EF4-FFF2-40B4-BE49-F238E27FC236}">
                  <a16:creationId xmlns:a16="http://schemas.microsoft.com/office/drawing/2014/main" id="{C337BF5D-F28B-4D3C-8E40-E7FB11F427A5}"/>
                </a:ext>
              </a:extLst>
            </p:cNvPr>
            <p:cNvSpPr txBox="1"/>
            <p:nvPr/>
          </p:nvSpPr>
          <p:spPr>
            <a:xfrm>
              <a:off x="905256" y="5245913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169E1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001 (3자)</a:t>
              </a:r>
              <a:endParaRPr lang="en-US" sz="1000" dirty="0"/>
            </a:p>
          </p:txBody>
        </p:sp>
        <p:sp>
          <p:nvSpPr>
            <p:cNvPr id="173" name="Text 41">
              <a:extLst>
                <a:ext uri="{FF2B5EF4-FFF2-40B4-BE49-F238E27FC236}">
                  <a16:creationId xmlns:a16="http://schemas.microsoft.com/office/drawing/2014/main" id="{59B3A7BA-A6C2-4CC2-871F-4F79D1E9FA84}"/>
                </a:ext>
              </a:extLst>
            </p:cNvPr>
            <p:cNvSpPr txBox="1"/>
            <p:nvPr/>
          </p:nvSpPr>
          <p:spPr>
            <a:xfrm>
              <a:off x="905256" y="5493715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도메인 값</a:t>
              </a:r>
              <a:endParaRPr lang="en-US" sz="900" dirty="0"/>
            </a:p>
          </p:txBody>
        </p:sp>
        <p:sp>
          <p:nvSpPr>
            <p:cNvPr id="174" name="Shape 42">
              <a:extLst>
                <a:ext uri="{FF2B5EF4-FFF2-40B4-BE49-F238E27FC236}">
                  <a16:creationId xmlns:a16="http://schemas.microsoft.com/office/drawing/2014/main" id="{7D361F77-0750-492B-90FD-F39F99B22AB2}"/>
                </a:ext>
              </a:extLst>
            </p:cNvPr>
            <p:cNvSpPr/>
            <p:nvPr/>
          </p:nvSpPr>
          <p:spPr>
            <a:xfrm>
              <a:off x="3600907" y="5122469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808080"/>
              </a:solidFill>
              <a:prstDash val="solid"/>
            </a:ln>
          </p:spPr>
        </p:sp>
        <p:sp>
          <p:nvSpPr>
            <p:cNvPr id="175" name="Text 43">
              <a:extLst>
                <a:ext uri="{FF2B5EF4-FFF2-40B4-BE49-F238E27FC236}">
                  <a16:creationId xmlns:a16="http://schemas.microsoft.com/office/drawing/2014/main" id="{E1FF9A66-56B6-4D31-B2FC-BF69963A23FA}"/>
                </a:ext>
              </a:extLst>
            </p:cNvPr>
            <p:cNvSpPr txBox="1"/>
            <p:nvPr/>
          </p:nvSpPr>
          <p:spPr>
            <a:xfrm>
              <a:off x="3724351" y="5245913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000000000042 (12자)</a:t>
              </a:r>
              <a:endParaRPr lang="en-US" sz="1000" dirty="0"/>
            </a:p>
          </p:txBody>
        </p:sp>
        <p:sp>
          <p:nvSpPr>
            <p:cNvPr id="176" name="Text 44">
              <a:extLst>
                <a:ext uri="{FF2B5EF4-FFF2-40B4-BE49-F238E27FC236}">
                  <a16:creationId xmlns:a16="http://schemas.microsoft.com/office/drawing/2014/main" id="{EE5F3523-AD13-4C37-B31F-88E6EBF0404B}"/>
                </a:ext>
              </a:extLst>
            </p:cNvPr>
            <p:cNvSpPr txBox="1"/>
            <p:nvPr/>
          </p:nvSpPr>
          <p:spPr>
            <a:xfrm>
              <a:off x="3724351" y="5493715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해당 시스템의 난수 사용 누적량</a:t>
              </a:r>
              <a:endParaRPr lang="en-US" sz="900" dirty="0"/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20CD604-A0FB-4F51-AF7B-15CFD06DF985}"/>
              </a:ext>
            </a:extLst>
          </p:cNvPr>
          <p:cNvGrpSpPr/>
          <p:nvPr/>
        </p:nvGrpSpPr>
        <p:grpSpPr>
          <a:xfrm>
            <a:off x="475975" y="1625737"/>
            <a:ext cx="6233465" cy="1109147"/>
            <a:chOff x="571500" y="1333195"/>
            <a:chExt cx="5810098" cy="1238098"/>
          </a:xfrm>
        </p:grpSpPr>
        <p:sp>
          <p:nvSpPr>
            <p:cNvPr id="178" name="Shape 12">
              <a:extLst>
                <a:ext uri="{FF2B5EF4-FFF2-40B4-BE49-F238E27FC236}">
                  <a16:creationId xmlns:a16="http://schemas.microsoft.com/office/drawing/2014/main" id="{C06BC20A-CBB3-418D-A825-351D4600B9A9}"/>
                </a:ext>
              </a:extLst>
            </p:cNvPr>
            <p:cNvSpPr/>
            <p:nvPr/>
          </p:nvSpPr>
          <p:spPr>
            <a:xfrm>
              <a:off x="571500" y="1333195"/>
              <a:ext cx="5810098" cy="1238098"/>
            </a:xfrm>
            <a:prstGeom prst="rect">
              <a:avLst/>
            </a:prstGeom>
            <a:solidFill>
              <a:srgbClr val="1E1E1E"/>
            </a:solidFill>
            <a:ln w="25400">
              <a:solidFill>
                <a:srgbClr val="C0C0C0"/>
              </a:solidFill>
              <a:prstDash val="solid"/>
            </a:ln>
          </p:spPr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3C54F320-776C-40A1-88D3-CCDF6B263DA5}"/>
                </a:ext>
              </a:extLst>
            </p:cNvPr>
            <p:cNvSpPr txBox="1"/>
            <p:nvPr/>
          </p:nvSpPr>
          <p:spPr>
            <a:xfrm>
              <a:off x="733349" y="1495044"/>
              <a:ext cx="54864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D7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</a:t>
              </a:r>
              <a:endParaRPr lang="en-US" sz="1000" dirty="0"/>
            </a:p>
          </p:txBody>
        </p:sp>
        <p:sp>
          <p:nvSpPr>
            <p:cNvPr id="180" name="Text 14">
              <a:extLst>
                <a:ext uri="{FF2B5EF4-FFF2-40B4-BE49-F238E27FC236}">
                  <a16:creationId xmlns:a16="http://schemas.microsoft.com/office/drawing/2014/main" id="{ABD0CEB8-9CF8-4D7A-85BE-E0696A8FBA81}"/>
                </a:ext>
              </a:extLst>
            </p:cNvPr>
            <p:cNvSpPr txBox="1"/>
            <p:nvPr/>
          </p:nvSpPr>
          <p:spPr>
            <a:xfrm>
              <a:off x="923544" y="1695298"/>
              <a:ext cx="529620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"baseSeed"</a:t>
              </a: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FF8C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1826533749</a:t>
              </a: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  <a:endParaRPr lang="en-US" sz="1000" dirty="0"/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EF9C4539-F398-4B90-AC85-E5302CB04AA7}"/>
                </a:ext>
              </a:extLst>
            </p:cNvPr>
            <p:cNvSpPr txBox="1"/>
            <p:nvPr/>
          </p:nvSpPr>
          <p:spPr>
            <a:xfrm>
              <a:off x="923544" y="1895551"/>
              <a:ext cx="529620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"seedToken"</a:t>
              </a: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FFB6C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"0000000000182653374901400100..."</a:t>
              </a: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  <a:endParaRPr lang="en-US" sz="1000" dirty="0"/>
            </a:p>
          </p:txBody>
        </p:sp>
        <p:sp>
          <p:nvSpPr>
            <p:cNvPr id="182" name="Text 16">
              <a:extLst>
                <a:ext uri="{FF2B5EF4-FFF2-40B4-BE49-F238E27FC236}">
                  <a16:creationId xmlns:a16="http://schemas.microsoft.com/office/drawing/2014/main" id="{57C89F42-4960-40DE-8EAC-F04CDA3D7CC2}"/>
                </a:ext>
              </a:extLst>
            </p:cNvPr>
            <p:cNvSpPr txBox="1"/>
            <p:nvPr/>
          </p:nvSpPr>
          <p:spPr>
            <a:xfrm>
              <a:off x="923544" y="2095805"/>
              <a:ext cx="529620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"updatedAt"</a:t>
              </a: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FFB6C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"2026-05-19 21:20:54"</a:t>
              </a:r>
              <a:endParaRPr lang="en-US" sz="1000" dirty="0"/>
            </a:p>
          </p:txBody>
        </p:sp>
        <p:sp>
          <p:nvSpPr>
            <p:cNvPr id="183" name="Text 17">
              <a:extLst>
                <a:ext uri="{FF2B5EF4-FFF2-40B4-BE49-F238E27FC236}">
                  <a16:creationId xmlns:a16="http://schemas.microsoft.com/office/drawing/2014/main" id="{EDEB5FAB-8FD6-45DE-9EBF-48583299D55A}"/>
                </a:ext>
              </a:extLst>
            </p:cNvPr>
            <p:cNvSpPr txBox="1"/>
            <p:nvPr/>
          </p:nvSpPr>
          <p:spPr>
            <a:xfrm>
              <a:off x="733349" y="2295144"/>
              <a:ext cx="54864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D7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000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8116CCE-5FF2-4FFF-853B-6842C6F96682}"/>
              </a:ext>
            </a:extLst>
          </p:cNvPr>
          <p:cNvGrpSpPr/>
          <p:nvPr/>
        </p:nvGrpSpPr>
        <p:grpSpPr>
          <a:xfrm>
            <a:off x="8285842" y="1118323"/>
            <a:ext cx="2125892" cy="400507"/>
            <a:chOff x="7551785" y="392268"/>
            <a:chExt cx="1981505" cy="400507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FCC04471-A8B3-483D-8C4C-0E059EC4AB8A}"/>
                </a:ext>
              </a:extLst>
            </p:cNvPr>
            <p:cNvSpPr/>
            <p:nvPr/>
          </p:nvSpPr>
          <p:spPr>
            <a:xfrm>
              <a:off x="7551785" y="392268"/>
              <a:ext cx="1981505" cy="400507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70" name="Text 11">
              <a:extLst>
                <a:ext uri="{FF2B5EF4-FFF2-40B4-BE49-F238E27FC236}">
                  <a16:creationId xmlns:a16="http://schemas.microsoft.com/office/drawing/2014/main" id="{53D4263D-1F2A-46A7-B3D3-5B147A131159}"/>
                </a:ext>
              </a:extLst>
            </p:cNvPr>
            <p:cNvSpPr txBox="1"/>
            <p:nvPr/>
          </p:nvSpPr>
          <p:spPr>
            <a:xfrm>
              <a:off x="7941319" y="459019"/>
              <a:ext cx="117134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결과</a:t>
              </a:r>
              <a:r>
                <a:rPr lang="en-US" sz="1200" b="1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요약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173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67005" y="108000"/>
            <a:ext cx="11697515" cy="630743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90729" y="128444"/>
            <a:ext cx="11653022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8222" y="513958"/>
            <a:ext cx="11432673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59618" y="158623"/>
            <a:ext cx="242595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42900" y="169331"/>
            <a:ext cx="2409838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0325" y="199511"/>
            <a:ext cx="99581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28C39675-80EC-402A-A8F2-4844E5F5A817}"/>
              </a:ext>
            </a:extLst>
          </p:cNvPr>
          <p:cNvSpPr/>
          <p:nvPr/>
        </p:nvSpPr>
        <p:spPr>
          <a:xfrm>
            <a:off x="419460" y="513958"/>
            <a:ext cx="11429639" cy="5830084"/>
          </a:xfrm>
          <a:prstGeom prst="rect">
            <a:avLst/>
          </a:prstGeom>
          <a:solidFill>
            <a:srgbClr val="E8E8E8"/>
          </a:solidFill>
          <a:ln w="25400">
            <a:solidFill>
              <a:srgbClr val="808080"/>
            </a:solidFill>
            <a:prstDash val="solid"/>
          </a:ln>
        </p:spPr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400019" y="568870"/>
            <a:ext cx="11460318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문제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Seed</a:t>
              </a:r>
              <a:r>
                <a:rPr lang="ko-KR" alt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비교</a:t>
              </a:r>
              <a:r>
                <a:rPr lang="ko-KR" altLang="en-US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예시로 데이터 비교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122089AC-DCAD-4C0A-B5E0-84248FBA38CF}"/>
              </a:ext>
            </a:extLst>
          </p:cNvPr>
          <p:cNvGrpSpPr/>
          <p:nvPr/>
        </p:nvGrpSpPr>
        <p:grpSpPr>
          <a:xfrm>
            <a:off x="515881" y="5341763"/>
            <a:ext cx="11265952" cy="924295"/>
            <a:chOff x="381305" y="5143500"/>
            <a:chExt cx="11468405" cy="1371600"/>
          </a:xfrm>
        </p:grpSpPr>
        <p:sp>
          <p:nvSpPr>
            <p:cNvPr id="132" name="Shape 6">
              <a:extLst>
                <a:ext uri="{FF2B5EF4-FFF2-40B4-BE49-F238E27FC236}">
                  <a16:creationId xmlns:a16="http://schemas.microsoft.com/office/drawing/2014/main" id="{C9CD4571-945A-4FD4-9A13-DC112BF95F34}"/>
                </a:ext>
              </a:extLst>
            </p:cNvPr>
            <p:cNvSpPr/>
            <p:nvPr/>
          </p:nvSpPr>
          <p:spPr>
            <a:xfrm>
              <a:off x="381305" y="5143500"/>
              <a:ext cx="11468405" cy="13716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33" name="Shape 25">
              <a:extLst>
                <a:ext uri="{FF2B5EF4-FFF2-40B4-BE49-F238E27FC236}">
                  <a16:creationId xmlns:a16="http://schemas.microsoft.com/office/drawing/2014/main" id="{32D62AAA-6064-494E-96AF-97D2DB3175E3}"/>
                </a:ext>
              </a:extLst>
            </p:cNvPr>
            <p:cNvSpPr/>
            <p:nvPr/>
          </p:nvSpPr>
          <p:spPr>
            <a:xfrm>
              <a:off x="451797" y="5213618"/>
              <a:ext cx="11319687" cy="121016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sp>
          <p:nvSpPr>
            <p:cNvPr id="184" name="Text 26">
              <a:extLst>
                <a:ext uri="{FF2B5EF4-FFF2-40B4-BE49-F238E27FC236}">
                  <a16:creationId xmlns:a16="http://schemas.microsoft.com/office/drawing/2014/main" id="{7AF8CF9D-996C-4490-9F57-488F70B55EA0}"/>
                </a:ext>
              </a:extLst>
            </p:cNvPr>
            <p:cNvSpPr txBox="1"/>
            <p:nvPr/>
          </p:nvSpPr>
          <p:spPr>
            <a:xfrm>
              <a:off x="1012388" y="5355818"/>
              <a:ext cx="1028700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8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각기 다른 시드 → 완전히 다른 스킬셋 분포 생성</a:t>
              </a:r>
              <a:endParaRPr lang="en-US" sz="1600" dirty="0"/>
            </a:p>
          </p:txBody>
        </p:sp>
        <p:sp>
          <p:nvSpPr>
            <p:cNvPr id="185" name="Text 27">
              <a:extLst>
                <a:ext uri="{FF2B5EF4-FFF2-40B4-BE49-F238E27FC236}">
                  <a16:creationId xmlns:a16="http://schemas.microsoft.com/office/drawing/2014/main" id="{C4EBAB49-EBF0-4F54-9E34-8BFCA014C484}"/>
                </a:ext>
              </a:extLst>
            </p:cNvPr>
            <p:cNvSpPr txBox="1"/>
            <p:nvPr/>
          </p:nvSpPr>
          <p:spPr>
            <a:xfrm>
              <a:off x="994085" y="5764378"/>
              <a:ext cx="10534802" cy="428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스킬이 난수로 판정되기 때문에, </a:t>
              </a:r>
              <a:r>
                <a:rPr lang="en-US" sz="1400" b="1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개발자가 해당 스킬 정보를 일일이 저장하지 않아도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단일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Seed</a:t>
              </a:r>
              <a:r>
                <a:rPr lang="ko-KR" alt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와 </a:t>
              </a:r>
              <a:r>
                <a:rPr lang="en-US" altLang="ko-KR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Token</a:t>
              </a:r>
              <a:r>
                <a:rPr lang="ko-KR" alt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의 해석을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통해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동일한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스킬 정보를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완벽하게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불러올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수 </a:t>
              </a:r>
              <a:r>
                <a:rPr lang="ko-KR" alt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있게 된다</a:t>
              </a:r>
              <a:r>
                <a:rPr lang="en-US" altLang="ko-KR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.</a:t>
              </a:r>
              <a:endParaRPr lang="en-US" sz="1400" dirty="0"/>
            </a:p>
          </p:txBody>
        </p:sp>
        <p:pic>
          <p:nvPicPr>
            <p:cNvPr id="186" name="Image 3" descr="gen-dedup-ecda170b282f86bfff5a5d7c0ada739a.png">
              <a:extLst>
                <a:ext uri="{FF2B5EF4-FFF2-40B4-BE49-F238E27FC236}">
                  <a16:creationId xmlns:a16="http://schemas.microsoft.com/office/drawing/2014/main" id="{FC4646B4-DEE9-40DC-914C-CE764DC07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01029" y="5298403"/>
              <a:ext cx="276888" cy="407093"/>
            </a:xfrm>
            <a:prstGeom prst="rect">
              <a:avLst/>
            </a:prstGeom>
          </p:spPr>
        </p:pic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CCA42E81-AB4C-453A-9779-9E247459C09C}"/>
              </a:ext>
            </a:extLst>
          </p:cNvPr>
          <p:cNvGrpSpPr/>
          <p:nvPr/>
        </p:nvGrpSpPr>
        <p:grpSpPr>
          <a:xfrm>
            <a:off x="5408461" y="2422623"/>
            <a:ext cx="1429032" cy="924458"/>
            <a:chOff x="5429707" y="2762402"/>
            <a:chExt cx="1334110" cy="924458"/>
          </a:xfrm>
        </p:grpSpPr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A801145A-5D34-4D48-82E3-75D01B15B1D3}"/>
                </a:ext>
              </a:extLst>
            </p:cNvPr>
            <p:cNvGrpSpPr/>
            <p:nvPr/>
          </p:nvGrpSpPr>
          <p:grpSpPr>
            <a:xfrm>
              <a:off x="5524805" y="2762402"/>
              <a:ext cx="1181405" cy="514807"/>
              <a:chOff x="5524805" y="2762402"/>
              <a:chExt cx="1181405" cy="514807"/>
            </a:xfrm>
          </p:grpSpPr>
          <p:sp>
            <p:nvSpPr>
              <p:cNvPr id="193" name="Shape 10">
                <a:extLst>
                  <a:ext uri="{FF2B5EF4-FFF2-40B4-BE49-F238E27FC236}">
                    <a16:creationId xmlns:a16="http://schemas.microsoft.com/office/drawing/2014/main" id="{DCAD094D-564E-48FE-94D4-3298CAC80455}"/>
                  </a:ext>
                </a:extLst>
              </p:cNvPr>
              <p:cNvSpPr/>
              <p:nvPr/>
            </p:nvSpPr>
            <p:spPr>
              <a:xfrm>
                <a:off x="5524805" y="2762402"/>
                <a:ext cx="1181405" cy="514807"/>
              </a:xfrm>
              <a:prstGeom prst="rect">
                <a:avLst/>
              </a:prstGeom>
              <a:solidFill>
                <a:srgbClr val="FFD70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pic>
            <p:nvPicPr>
              <p:cNvPr id="194" name="Image 2" descr="gen-dedup-241c89abc8aa8a8bf22f48e163ee5604.png">
                <a:extLst>
                  <a:ext uri="{FF2B5EF4-FFF2-40B4-BE49-F238E27FC236}">
                    <a16:creationId xmlns:a16="http://schemas.microsoft.com/office/drawing/2014/main" id="{B0D50A84-DC97-4072-B695-42A757989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-9904" r="-9904"/>
              <a:stretch/>
            </p:blipFill>
            <p:spPr>
              <a:xfrm>
                <a:off x="5924398" y="2857500"/>
                <a:ext cx="342900" cy="286207"/>
              </a:xfrm>
              <a:prstGeom prst="rect">
                <a:avLst/>
              </a:prstGeom>
            </p:spPr>
          </p:pic>
        </p:grpSp>
        <p:sp>
          <p:nvSpPr>
            <p:cNvPr id="192" name="Text 24">
              <a:extLst>
                <a:ext uri="{FF2B5EF4-FFF2-40B4-BE49-F238E27FC236}">
                  <a16:creationId xmlns:a16="http://schemas.microsoft.com/office/drawing/2014/main" id="{5A22FF49-8B14-4F49-A5DC-1624B1560ECF}"/>
                </a:ext>
              </a:extLst>
            </p:cNvPr>
            <p:cNvSpPr txBox="1"/>
            <p:nvPr/>
          </p:nvSpPr>
          <p:spPr>
            <a:xfrm>
              <a:off x="5429707" y="3333902"/>
              <a:ext cx="133411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latin typeface="굴림" pitchFamily="34" charset="0"/>
                  <a:ea typeface="굴림" pitchFamily="34" charset="-122"/>
                  <a:cs typeface="굴림" pitchFamily="34" charset="-120"/>
                </a:rPr>
                <a:t>시드값에 따른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latin typeface="굴림" pitchFamily="34" charset="0"/>
                  <a:ea typeface="굴림" pitchFamily="34" charset="-122"/>
                  <a:cs typeface="굴림" pitchFamily="34" charset="-120"/>
                </a:rPr>
                <a:t>결과 변화</a:t>
              </a:r>
              <a:endParaRPr lang="en-US" sz="10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7F1FAB0-F1B0-4BFE-9366-43B346225B02}"/>
              </a:ext>
            </a:extLst>
          </p:cNvPr>
          <p:cNvGrpSpPr/>
          <p:nvPr/>
        </p:nvGrpSpPr>
        <p:grpSpPr>
          <a:xfrm>
            <a:off x="504280" y="1011440"/>
            <a:ext cx="4818585" cy="4232727"/>
            <a:chOff x="1254665" y="954048"/>
            <a:chExt cx="4498516" cy="423272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E2478C4-7437-410C-99CA-D78F1547A0AA}"/>
                </a:ext>
              </a:extLst>
            </p:cNvPr>
            <p:cNvGrpSpPr/>
            <p:nvPr/>
          </p:nvGrpSpPr>
          <p:grpSpPr>
            <a:xfrm>
              <a:off x="1254665" y="954048"/>
              <a:ext cx="2171700" cy="400507"/>
              <a:chOff x="1510132" y="1432270"/>
              <a:chExt cx="2171700" cy="400507"/>
            </a:xfrm>
          </p:grpSpPr>
          <p:sp>
            <p:nvSpPr>
              <p:cNvPr id="187" name="Shape 8">
                <a:extLst>
                  <a:ext uri="{FF2B5EF4-FFF2-40B4-BE49-F238E27FC236}">
                    <a16:creationId xmlns:a16="http://schemas.microsoft.com/office/drawing/2014/main" id="{981DA267-C377-4DBF-8DB8-8823E10576DC}"/>
                  </a:ext>
                </a:extLst>
              </p:cNvPr>
              <p:cNvSpPr/>
              <p:nvPr/>
            </p:nvSpPr>
            <p:spPr>
              <a:xfrm>
                <a:off x="1510132" y="1432270"/>
                <a:ext cx="2171700" cy="400507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8" name="Text 12">
                <a:extLst>
                  <a:ext uri="{FF2B5EF4-FFF2-40B4-BE49-F238E27FC236}">
                    <a16:creationId xmlns:a16="http://schemas.microsoft.com/office/drawing/2014/main" id="{DBB40BD4-8B9E-43BE-BBBD-CC412CE1D78A}"/>
                  </a:ext>
                </a:extLst>
              </p:cNvPr>
              <p:cNvSpPr txBox="1"/>
              <p:nvPr/>
            </p:nvSpPr>
            <p:spPr>
              <a:xfrm>
                <a:off x="1649121" y="1499021"/>
                <a:ext cx="1858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Seed A (1459589277)</a:t>
                </a:r>
                <a:endParaRPr lang="en-US" sz="1200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52E33C2-29A4-40D0-B7A3-3F37B6AC9CE1}"/>
                </a:ext>
              </a:extLst>
            </p:cNvPr>
            <p:cNvGrpSpPr/>
            <p:nvPr/>
          </p:nvGrpSpPr>
          <p:grpSpPr>
            <a:xfrm>
              <a:off x="1254665" y="1354554"/>
              <a:ext cx="4498516" cy="3832221"/>
              <a:chOff x="1254665" y="1354554"/>
              <a:chExt cx="4498516" cy="3832221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FDC1A72F-6231-411E-8A4E-C661136D3175}"/>
                  </a:ext>
                </a:extLst>
              </p:cNvPr>
              <p:cNvGrpSpPr/>
              <p:nvPr/>
            </p:nvGrpSpPr>
            <p:grpSpPr>
              <a:xfrm>
                <a:off x="1254665" y="1354554"/>
                <a:ext cx="4498516" cy="3832221"/>
                <a:chOff x="1606682" y="1532347"/>
                <a:chExt cx="3759401" cy="3608582"/>
              </a:xfrm>
            </p:grpSpPr>
            <p:sp>
              <p:nvSpPr>
                <p:cNvPr id="189" name="Shape 4">
                  <a:extLst>
                    <a:ext uri="{FF2B5EF4-FFF2-40B4-BE49-F238E27FC236}">
                      <a16:creationId xmlns:a16="http://schemas.microsoft.com/office/drawing/2014/main" id="{DC4FC854-AF2A-42F7-B345-1F592B0DE5B5}"/>
                    </a:ext>
                  </a:extLst>
                </p:cNvPr>
                <p:cNvSpPr/>
                <p:nvPr/>
              </p:nvSpPr>
              <p:spPr>
                <a:xfrm>
                  <a:off x="1606682" y="1532347"/>
                  <a:ext cx="3759401" cy="3608582"/>
                </a:xfrm>
                <a:prstGeom prst="rect">
                  <a:avLst/>
                </a:prstGeom>
                <a:solidFill>
                  <a:srgbClr val="C0C0C0"/>
                </a:solidFill>
                <a:ln w="25400">
                  <a:solidFill>
                    <a:srgbClr val="FFFFFF"/>
                  </a:solidFill>
                  <a:prstDash val="solid"/>
                </a:ln>
              </p:spPr>
            </p:sp>
            <p:pic>
              <p:nvPicPr>
                <p:cNvPr id="195" name="그림 194">
                  <a:extLst>
                    <a:ext uri="{FF2B5EF4-FFF2-40B4-BE49-F238E27FC236}">
                      <a16:creationId xmlns:a16="http://schemas.microsoft.com/office/drawing/2014/main" id="{81D05FA9-A89A-4F69-B92F-27EA198A99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60307" y="1616285"/>
                  <a:ext cx="3646731" cy="2559918"/>
                </a:xfrm>
                <a:prstGeom prst="rect">
                  <a:avLst/>
                </a:prstGeom>
              </p:spPr>
            </p:pic>
          </p:grpSp>
          <p:pic>
            <p:nvPicPr>
              <p:cNvPr id="196" name="그림 195">
                <a:extLst>
                  <a:ext uri="{FF2B5EF4-FFF2-40B4-BE49-F238E27FC236}">
                    <a16:creationId xmlns:a16="http://schemas.microsoft.com/office/drawing/2014/main" id="{0B5FF32C-8659-49D1-B071-DDD4F7A6B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5845" y="4018547"/>
                <a:ext cx="4363695" cy="1123085"/>
              </a:xfrm>
              <a:prstGeom prst="rect">
                <a:avLst/>
              </a:prstGeom>
            </p:spPr>
          </p:pic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DA65F12-380F-4AB9-907E-1B9EA293041F}"/>
              </a:ext>
            </a:extLst>
          </p:cNvPr>
          <p:cNvGrpSpPr/>
          <p:nvPr/>
        </p:nvGrpSpPr>
        <p:grpSpPr>
          <a:xfrm>
            <a:off x="6963247" y="1038379"/>
            <a:ext cx="4818585" cy="4195955"/>
            <a:chOff x="7287987" y="954048"/>
            <a:chExt cx="4498516" cy="4195955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D0AD78B-F3FE-4326-9620-736FE172072A}"/>
                </a:ext>
              </a:extLst>
            </p:cNvPr>
            <p:cNvGrpSpPr/>
            <p:nvPr/>
          </p:nvGrpSpPr>
          <p:grpSpPr>
            <a:xfrm>
              <a:off x="7287987" y="1317782"/>
              <a:ext cx="4498516" cy="3832221"/>
              <a:chOff x="7361620" y="1357620"/>
              <a:chExt cx="4498516" cy="3832221"/>
            </a:xfrm>
          </p:grpSpPr>
          <p:sp>
            <p:nvSpPr>
              <p:cNvPr id="203" name="Shape 4">
                <a:extLst>
                  <a:ext uri="{FF2B5EF4-FFF2-40B4-BE49-F238E27FC236}">
                    <a16:creationId xmlns:a16="http://schemas.microsoft.com/office/drawing/2014/main" id="{EB5DC59F-2B37-49CC-8A45-6CA5C5307045}"/>
                  </a:ext>
                </a:extLst>
              </p:cNvPr>
              <p:cNvSpPr/>
              <p:nvPr/>
            </p:nvSpPr>
            <p:spPr>
              <a:xfrm>
                <a:off x="7361620" y="1357620"/>
                <a:ext cx="4498516" cy="3832221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pic>
            <p:nvPicPr>
              <p:cNvPr id="206" name="그림 205">
                <a:extLst>
                  <a:ext uri="{FF2B5EF4-FFF2-40B4-BE49-F238E27FC236}">
                    <a16:creationId xmlns:a16="http://schemas.microsoft.com/office/drawing/2014/main" id="{90CA0A28-B5B7-4E1B-8F83-C8E4D4A08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559" y="1438006"/>
                <a:ext cx="4369924" cy="2716848"/>
              </a:xfrm>
              <a:prstGeom prst="rect">
                <a:avLst/>
              </a:prstGeom>
            </p:spPr>
          </p:pic>
          <p:pic>
            <p:nvPicPr>
              <p:cNvPr id="205" name="그림 204">
                <a:extLst>
                  <a:ext uri="{FF2B5EF4-FFF2-40B4-BE49-F238E27FC236}">
                    <a16:creationId xmlns:a16="http://schemas.microsoft.com/office/drawing/2014/main" id="{DBFE918C-622A-4C5D-B3DC-5D2A9FDE7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227" y="4108713"/>
                <a:ext cx="4370256" cy="1072908"/>
              </a:xfrm>
              <a:prstGeom prst="rect">
                <a:avLst/>
              </a:prstGeom>
            </p:spPr>
          </p:pic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988E6C65-C792-4ED7-9B47-85C0E70666D9}"/>
                </a:ext>
              </a:extLst>
            </p:cNvPr>
            <p:cNvGrpSpPr/>
            <p:nvPr/>
          </p:nvGrpSpPr>
          <p:grpSpPr>
            <a:xfrm>
              <a:off x="7287987" y="954048"/>
              <a:ext cx="2171700" cy="400507"/>
              <a:chOff x="1510132" y="1432270"/>
              <a:chExt cx="2171700" cy="400507"/>
            </a:xfrm>
          </p:grpSpPr>
          <p:sp>
            <p:nvSpPr>
              <p:cNvPr id="208" name="Shape 8">
                <a:extLst>
                  <a:ext uri="{FF2B5EF4-FFF2-40B4-BE49-F238E27FC236}">
                    <a16:creationId xmlns:a16="http://schemas.microsoft.com/office/drawing/2014/main" id="{5AD54559-6F76-4478-BF4A-D8A51EAEFF44}"/>
                  </a:ext>
                </a:extLst>
              </p:cNvPr>
              <p:cNvSpPr/>
              <p:nvPr/>
            </p:nvSpPr>
            <p:spPr>
              <a:xfrm>
                <a:off x="1510132" y="1432270"/>
                <a:ext cx="2171700" cy="400507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9" name="Text 12">
                <a:extLst>
                  <a:ext uri="{FF2B5EF4-FFF2-40B4-BE49-F238E27FC236}">
                    <a16:creationId xmlns:a16="http://schemas.microsoft.com/office/drawing/2014/main" id="{FE9E6CA9-03E4-4FFA-A9E4-0362F962C2D0}"/>
                  </a:ext>
                </a:extLst>
              </p:cNvPr>
              <p:cNvSpPr txBox="1"/>
              <p:nvPr/>
            </p:nvSpPr>
            <p:spPr>
              <a:xfrm>
                <a:off x="1649121" y="1499021"/>
                <a:ext cx="1858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Seed A (14595892776)</a:t>
                </a:r>
                <a:endParaRPr 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5932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9" name="Image 1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8114" y="6601054"/>
            <a:ext cx="28437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762DEE6-3821-4BB4-ADB0-9CA052514283}"/>
              </a:ext>
            </a:extLst>
          </p:cNvPr>
          <p:cNvGrpSpPr/>
          <p:nvPr/>
        </p:nvGrpSpPr>
        <p:grpSpPr>
          <a:xfrm>
            <a:off x="2348146" y="1100091"/>
            <a:ext cx="7495708" cy="4253089"/>
            <a:chOff x="3238805" y="1524305"/>
            <a:chExt cx="5715000" cy="3429000"/>
          </a:xfrm>
        </p:grpSpPr>
        <p:sp>
          <p:nvSpPr>
            <p:cNvPr id="8" name="Shape 6"/>
            <p:cNvSpPr/>
            <p:nvPr/>
          </p:nvSpPr>
          <p:spPr>
            <a:xfrm>
              <a:off x="3238805" y="1524305"/>
              <a:ext cx="5715000" cy="3429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258007" y="4914900"/>
              <a:ext cx="5676595" cy="19202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8915400" y="1543507"/>
              <a:ext cx="19202" cy="3390595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276295" y="1561795"/>
              <a:ext cx="56007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8630107" y="1591056"/>
              <a:ext cx="209398" cy="209398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553026" y="4381805"/>
              <a:ext cx="952805" cy="304495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696026" y="4381805"/>
              <a:ext cx="952805" cy="304495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839026" y="4381805"/>
              <a:ext cx="952805" cy="304495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3353105" y="1628546"/>
              <a:ext cx="176113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 Information</a:t>
              </a:r>
              <a:endParaRPr lang="en-US" sz="1000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8695944" y="1633118"/>
              <a:ext cx="85954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pic>
          <p:nvPicPr>
            <p:cNvPr id="25" name="Image 3" descr="gen-dedup-1cf9ab7953bfacf6dacaf14bddb4c2ba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619195" y="2190902"/>
              <a:ext cx="457200" cy="457200"/>
            </a:xfrm>
            <a:prstGeom prst="rect">
              <a:avLst/>
            </a:prstGeom>
          </p:spPr>
        </p:pic>
        <p:sp>
          <p:nvSpPr>
            <p:cNvPr id="26" name="Text 20"/>
            <p:cNvSpPr txBox="1"/>
            <p:nvPr/>
          </p:nvSpPr>
          <p:spPr>
            <a:xfrm>
              <a:off x="4286707" y="2313887"/>
              <a:ext cx="26673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2800" b="1" dirty="0"/>
                <a:t>이민혁</a:t>
              </a:r>
              <a:endParaRPr lang="en-US" sz="2800" b="1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4191153" y="3001061"/>
              <a:ext cx="3810305" cy="427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000" dirty="0" err="1">
                  <a:solidFill>
                    <a:srgbClr val="333333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감사합니다</a:t>
              </a:r>
              <a:r>
                <a:rPr lang="en-US" sz="4000" dirty="0">
                  <a:solidFill>
                    <a:srgbClr val="333333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! </a:t>
              </a:r>
              <a:endParaRPr lang="en-US" sz="40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4846549" y="4438498"/>
              <a:ext cx="372161" cy="191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OK</a:t>
              </a:r>
              <a:endParaRPr lang="en-US" sz="16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5856504" y="4466844"/>
              <a:ext cx="63185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Hire Me</a:t>
              </a:r>
              <a:endParaRPr lang="en-US" sz="16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7043852" y="4466844"/>
              <a:ext cx="5431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Cancel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3605</TotalTime>
  <Words>2054</Words>
  <Application>Microsoft Office PowerPoint</Application>
  <PresentationFormat>와이드스크린</PresentationFormat>
  <Paragraphs>432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Nanum Gothic</vt:lpstr>
      <vt:lpstr>Nanum Gothic Coding</vt:lpstr>
      <vt:lpstr>Noto</vt:lpstr>
      <vt:lpstr>굴림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Minhyuck</cp:lastModifiedBy>
  <cp:revision>232</cp:revision>
  <dcterms:created xsi:type="dcterms:W3CDTF">2026-05-20T14:37:15Z</dcterms:created>
  <dcterms:modified xsi:type="dcterms:W3CDTF">2026-06-28T13:24:31Z</dcterms:modified>
</cp:coreProperties>
</file>